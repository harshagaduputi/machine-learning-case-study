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ORMAL">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48640" y="6355080"/>
            <a:ext cx="7315200" cy="228600"/>
          </a:xfrm>
          <a:prstGeom prst="rect">
            <a:avLst/>
          </a:prstGeom>
          <a:noFill/>
          <a:ln/>
        </p:spPr>
        <p:txBody>
          <a:bodyPr wrap="square" rtlCol="0" anchor="ctr"/>
          <a:lstStyle/>
          <a:p>
            <a:pPr indent="0" marL="0">
              <a:buNone/>
            </a:pPr>
            <a:endParaRPr lang="en-US" sz="90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E322C"/>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22960" y="1737360"/>
            <a:ext cx="9144000" cy="274320"/>
          </a:xfrm>
          <a:prstGeom prst="rect">
            <a:avLst/>
          </a:prstGeom>
          <a:noFill/>
          <a:ln/>
        </p:spPr>
        <p:txBody>
          <a:bodyPr wrap="square" lIns="0" tIns="0" rIns="0" bIns="0" rtlCol="0" anchor="ctr"/>
          <a:lstStyle/>
          <a:p>
            <a:pPr indent="0" marL="0">
              <a:buNone/>
            </a:pPr>
            <a:r>
              <a:rPr lang="en-US" sz="1200" b="1" dirty="0">
                <a:solidFill>
                  <a:srgbClr val="A4613C"/>
                </a:solidFill>
                <a:latin typeface="Calibri" pitchFamily="34" charset="0"/>
                <a:ea typeface="Calibri" pitchFamily="34" charset="-122"/>
                <a:cs typeface="Calibri" pitchFamily="34" charset="-120"/>
              </a:rPr>
              <a:t>MACHINE LEARNING CASE STUDY · REVIEW 2</a:t>
            </a:r>
            <a:endParaRPr lang="en-US" sz="1200" dirty="0"/>
          </a:p>
        </p:txBody>
      </p:sp>
      <p:sp>
        <p:nvSpPr>
          <p:cNvPr id="3" name="Text 1"/>
          <p:cNvSpPr/>
          <p:nvPr/>
        </p:nvSpPr>
        <p:spPr>
          <a:xfrm>
            <a:off x="822960" y="2148840"/>
            <a:ext cx="10332720" cy="1234440"/>
          </a:xfrm>
          <a:prstGeom prst="rect">
            <a:avLst/>
          </a:prstGeom>
          <a:noFill/>
          <a:ln/>
        </p:spPr>
        <p:txBody>
          <a:bodyPr wrap="square" lIns="0" tIns="0" rIns="0" bIns="0" rtlCol="0" anchor="ctr">
            <a:normAutofit/>
          </a:bodyPr>
          <a:lstStyle/>
          <a:p>
            <a:pPr indent="0" marL="0">
              <a:buNone/>
            </a:pPr>
            <a:r>
              <a:rPr lang="en-US" sz="3900" b="1" dirty="0">
                <a:solidFill>
                  <a:srgbClr val="F6F2EA"/>
                </a:solidFill>
                <a:latin typeface="Cambria" pitchFamily="34" charset="0"/>
                <a:ea typeface="Cambria" pitchFamily="34" charset="-122"/>
                <a:cs typeface="Cambria" pitchFamily="34" charset="-120"/>
              </a:rPr>
              <a:t>Water Quality Classification</a:t>
            </a:r>
            <a:endParaRPr lang="en-US" sz="3900" dirty="0"/>
          </a:p>
          <a:p>
            <a:pPr indent="0" marL="0">
              <a:buNone/>
            </a:pPr>
            <a:r>
              <a:rPr lang="en-US" sz="3900" b="1" dirty="0">
                <a:solidFill>
                  <a:srgbClr val="F6F2EA"/>
                </a:solidFill>
                <a:latin typeface="Cambria" pitchFamily="34" charset="0"/>
                <a:ea typeface="Cambria" pitchFamily="34" charset="-122"/>
                <a:cs typeface="Cambria" pitchFamily="34" charset="-120"/>
              </a:rPr>
              <a:t>&amp; Urban Air-Quality Clustering</a:t>
            </a:r>
            <a:endParaRPr lang="en-US" sz="3900" dirty="0"/>
          </a:p>
        </p:txBody>
      </p:sp>
      <p:sp>
        <p:nvSpPr>
          <p:cNvPr id="4" name="Text 2"/>
          <p:cNvSpPr/>
          <p:nvPr/>
        </p:nvSpPr>
        <p:spPr>
          <a:xfrm>
            <a:off x="868680" y="3886200"/>
            <a:ext cx="9784080" cy="822960"/>
          </a:xfrm>
          <a:prstGeom prst="rect">
            <a:avLst/>
          </a:prstGeom>
          <a:noFill/>
          <a:ln/>
        </p:spPr>
        <p:txBody>
          <a:bodyPr wrap="square" lIns="0" tIns="0" rIns="0" bIns="0" rtlCol="0" anchor="ctr">
            <a:normAutofit/>
          </a:bodyPr>
          <a:lstStyle/>
          <a:p>
            <a:pPr indent="0" marL="0">
              <a:buNone/>
            </a:pPr>
            <a:r>
              <a:rPr lang="en-US" sz="1320" dirty="0">
                <a:solidFill>
                  <a:srgbClr val="C9C3B5"/>
                </a:solidFill>
                <a:latin typeface="Calibri" pitchFamily="34" charset="0"/>
                <a:ea typeface="Calibri" pitchFamily="34" charset="-122"/>
                <a:cs typeface="Calibri" pitchFamily="34" charset="-120"/>
              </a:rPr>
              <a:t>Classification Part B with five advanced models, a consolidated ten-model comparison, and full unsupervised clustering with K-Means and Agglomerative Hierarchical Clustering.</a:t>
            </a:r>
            <a:endParaRPr lang="en-US" sz="1320" dirty="0"/>
          </a:p>
        </p:txBody>
      </p:sp>
      <p:sp>
        <p:nvSpPr>
          <p:cNvPr id="5" name="Text 3"/>
          <p:cNvSpPr/>
          <p:nvPr/>
        </p:nvSpPr>
        <p:spPr>
          <a:xfrm>
            <a:off x="868680" y="5193792"/>
            <a:ext cx="9875520" cy="320040"/>
          </a:xfrm>
          <a:prstGeom prst="rect">
            <a:avLst/>
          </a:prstGeom>
          <a:noFill/>
          <a:ln/>
        </p:spPr>
        <p:txBody>
          <a:bodyPr wrap="square" lIns="0" tIns="0" rIns="0" bIns="0" rtlCol="0" anchor="ctr"/>
          <a:lstStyle/>
          <a:p>
            <a:pPr indent="0" marL="0">
              <a:buNone/>
            </a:pPr>
            <a:r>
              <a:rPr lang="en-US" sz="1160" dirty="0">
                <a:solidFill>
                  <a:srgbClr val="9E978A"/>
                </a:solidFill>
                <a:latin typeface="Calibri" pitchFamily="34" charset="0"/>
                <a:ea typeface="Calibri" pitchFamily="34" charset="-122"/>
                <a:cs typeface="Calibri" pitchFamily="34" charset="-120"/>
              </a:rPr>
              <a:t>Part A — Classification Part B   |   Part B — Clustering   |   Streamlit UI</a:t>
            </a:r>
            <a:endParaRPr lang="en-US" sz="11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CONTENTS</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What Review 2 covers</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Contents</a:t>
            </a:r>
            <a:endParaRPr lang="en-US" sz="900" dirty="0"/>
          </a:p>
        </p:txBody>
      </p:sp>
      <p:sp>
        <p:nvSpPr>
          <p:cNvPr id="5" name="Text 3"/>
          <p:cNvSpPr/>
          <p:nvPr/>
        </p:nvSpPr>
        <p:spPr>
          <a:xfrm>
            <a:off x="548640" y="1600200"/>
            <a:ext cx="594360" cy="475488"/>
          </a:xfrm>
          <a:prstGeom prst="rect">
            <a:avLst/>
          </a:prstGeom>
          <a:noFill/>
          <a:ln/>
        </p:spPr>
        <p:txBody>
          <a:bodyPr wrap="square" lIns="0" tIns="0" rIns="0" bIns="0" rtlCol="0" anchor="ctr"/>
          <a:lstStyle/>
          <a:p>
            <a:pPr indent="0" marL="0">
              <a:buNone/>
            </a:pPr>
            <a:r>
              <a:rPr lang="en-US" sz="1400" b="1" dirty="0">
                <a:solidFill>
                  <a:srgbClr val="A4613C"/>
                </a:solidFill>
                <a:latin typeface="Cambria" pitchFamily="34" charset="0"/>
                <a:ea typeface="Cambria" pitchFamily="34" charset="-122"/>
                <a:cs typeface="Cambria" pitchFamily="34" charset="-120"/>
              </a:rPr>
              <a:t>01</a:t>
            </a:r>
            <a:endParaRPr lang="en-US" sz="1400" dirty="0"/>
          </a:p>
        </p:txBody>
      </p:sp>
      <p:sp>
        <p:nvSpPr>
          <p:cNvPr id="6" name="Text 4"/>
          <p:cNvSpPr/>
          <p:nvPr/>
        </p:nvSpPr>
        <p:spPr>
          <a:xfrm>
            <a:off x="1325880" y="1581912"/>
            <a:ext cx="3749040" cy="347472"/>
          </a:xfrm>
          <a:prstGeom prst="rect">
            <a:avLst/>
          </a:prstGeom>
          <a:noFill/>
          <a:ln/>
        </p:spPr>
        <p:txBody>
          <a:bodyPr wrap="square" lIns="0" tIns="0" rIns="0" bIns="0" rtlCol="0" anchor="ctr"/>
          <a:lstStyle/>
          <a:p>
            <a:pPr indent="0" marL="0">
              <a:buNone/>
            </a:pPr>
            <a:r>
              <a:rPr lang="en-US" sz="1600" b="1" dirty="0">
                <a:solidFill>
                  <a:srgbClr val="2B2A26"/>
                </a:solidFill>
                <a:latin typeface="Cambria" pitchFamily="34" charset="0"/>
                <a:ea typeface="Cambria" pitchFamily="34" charset="-122"/>
                <a:cs typeface="Cambria" pitchFamily="34" charset="-120"/>
              </a:rPr>
              <a:t>Classification Part B</a:t>
            </a:r>
            <a:endParaRPr lang="en-US" sz="1600" dirty="0"/>
          </a:p>
        </p:txBody>
      </p:sp>
      <p:sp>
        <p:nvSpPr>
          <p:cNvPr id="7" name="Text 5"/>
          <p:cNvSpPr/>
          <p:nvPr/>
        </p:nvSpPr>
        <p:spPr>
          <a:xfrm>
            <a:off x="5212080" y="1554480"/>
            <a:ext cx="6309360" cy="685800"/>
          </a:xfrm>
          <a:prstGeom prst="rect">
            <a:avLst/>
          </a:prstGeom>
          <a:noFill/>
          <a:ln/>
        </p:spPr>
        <p:txBody>
          <a:bodyPr wrap="square" lIns="0" tIns="0" rIns="0" bIns="0" rtlCol="0" anchor="ctr">
            <a:normAutofit/>
          </a:bodyPr>
          <a:lstStyle/>
          <a:p>
            <a:pPr indent="0" marL="0">
              <a:buNone/>
            </a:pPr>
            <a:r>
              <a:rPr lang="en-US" sz="1130" dirty="0">
                <a:solidFill>
                  <a:srgbClr val="6E6658"/>
                </a:solidFill>
                <a:latin typeface="Calibri" pitchFamily="34" charset="0"/>
                <a:ea typeface="Calibri" pitchFamily="34" charset="-122"/>
                <a:cs typeface="Calibri" pitchFamily="34" charset="-120"/>
              </a:rPr>
              <a:t>Five required Review-2 classifiers, held-out metrics, confusion matrices, ROC-AUC, cross-validation and tuning.</a:t>
            </a:r>
            <a:endParaRPr lang="en-US" sz="1130" dirty="0"/>
          </a:p>
        </p:txBody>
      </p:sp>
      <p:sp>
        <p:nvSpPr>
          <p:cNvPr id="8" name="Shape 6"/>
          <p:cNvSpPr/>
          <p:nvPr/>
        </p:nvSpPr>
        <p:spPr>
          <a:xfrm>
            <a:off x="548640" y="2331720"/>
            <a:ext cx="10972800" cy="0"/>
          </a:xfrm>
          <a:prstGeom prst="line">
            <a:avLst/>
          </a:prstGeom>
          <a:noFill/>
          <a:ln w="8890">
            <a:solidFill>
              <a:srgbClr val="D8D0C1"/>
            </a:solidFill>
            <a:prstDash val="solid"/>
          </a:ln>
        </p:spPr>
      </p:sp>
      <p:sp>
        <p:nvSpPr>
          <p:cNvPr id="9" name="Text 7"/>
          <p:cNvSpPr/>
          <p:nvPr/>
        </p:nvSpPr>
        <p:spPr>
          <a:xfrm>
            <a:off x="548640" y="2670048"/>
            <a:ext cx="594360" cy="475488"/>
          </a:xfrm>
          <a:prstGeom prst="rect">
            <a:avLst/>
          </a:prstGeom>
          <a:noFill/>
          <a:ln/>
        </p:spPr>
        <p:txBody>
          <a:bodyPr wrap="square" lIns="0" tIns="0" rIns="0" bIns="0" rtlCol="0" anchor="ctr"/>
          <a:lstStyle/>
          <a:p>
            <a:pPr indent="0" marL="0">
              <a:buNone/>
            </a:pPr>
            <a:r>
              <a:rPr lang="en-US" sz="1400" b="1" dirty="0">
                <a:solidFill>
                  <a:srgbClr val="A4613C"/>
                </a:solidFill>
                <a:latin typeface="Cambria" pitchFamily="34" charset="0"/>
                <a:ea typeface="Cambria" pitchFamily="34" charset="-122"/>
                <a:cs typeface="Cambria" pitchFamily="34" charset="-120"/>
              </a:rPr>
              <a:t>02</a:t>
            </a:r>
            <a:endParaRPr lang="en-US" sz="1400" dirty="0"/>
          </a:p>
        </p:txBody>
      </p:sp>
      <p:sp>
        <p:nvSpPr>
          <p:cNvPr id="10" name="Text 8"/>
          <p:cNvSpPr/>
          <p:nvPr/>
        </p:nvSpPr>
        <p:spPr>
          <a:xfrm>
            <a:off x="1325880" y="2651760"/>
            <a:ext cx="3749040" cy="347472"/>
          </a:xfrm>
          <a:prstGeom prst="rect">
            <a:avLst/>
          </a:prstGeom>
          <a:noFill/>
          <a:ln/>
        </p:spPr>
        <p:txBody>
          <a:bodyPr wrap="square" lIns="0" tIns="0" rIns="0" bIns="0" rtlCol="0" anchor="ctr"/>
          <a:lstStyle/>
          <a:p>
            <a:pPr indent="0" marL="0">
              <a:buNone/>
            </a:pPr>
            <a:r>
              <a:rPr lang="en-US" sz="1600" b="1" dirty="0">
                <a:solidFill>
                  <a:srgbClr val="2B2A26"/>
                </a:solidFill>
                <a:latin typeface="Cambria" pitchFamily="34" charset="0"/>
                <a:ea typeface="Cambria" pitchFamily="34" charset="-122"/>
                <a:cs typeface="Cambria" pitchFamily="34" charset="-120"/>
              </a:rPr>
              <a:t>Consolidated Classification</a:t>
            </a:r>
            <a:endParaRPr lang="en-US" sz="1600" dirty="0"/>
          </a:p>
        </p:txBody>
      </p:sp>
      <p:sp>
        <p:nvSpPr>
          <p:cNvPr id="11" name="Text 9"/>
          <p:cNvSpPr/>
          <p:nvPr/>
        </p:nvSpPr>
        <p:spPr>
          <a:xfrm>
            <a:off x="5212080" y="2624328"/>
            <a:ext cx="6309360" cy="685800"/>
          </a:xfrm>
          <a:prstGeom prst="rect">
            <a:avLst/>
          </a:prstGeom>
          <a:noFill/>
          <a:ln/>
        </p:spPr>
        <p:txBody>
          <a:bodyPr wrap="square" lIns="0" tIns="0" rIns="0" bIns="0" rtlCol="0" anchor="ctr">
            <a:normAutofit/>
          </a:bodyPr>
          <a:lstStyle/>
          <a:p>
            <a:pPr indent="0" marL="0">
              <a:buNone/>
            </a:pPr>
            <a:r>
              <a:rPr lang="en-US" sz="1130" dirty="0">
                <a:solidFill>
                  <a:srgbClr val="6E6658"/>
                </a:solidFill>
                <a:latin typeface="Calibri" pitchFamily="34" charset="0"/>
                <a:ea typeface="Calibri" pitchFamily="34" charset="-122"/>
                <a:cs typeface="Calibri" pitchFamily="34" charset="-120"/>
              </a:rPr>
              <a:t>One fair comparison across all 10 classifiers and evidence-based final model selection.</a:t>
            </a:r>
            <a:endParaRPr lang="en-US" sz="1130" dirty="0"/>
          </a:p>
        </p:txBody>
      </p:sp>
      <p:sp>
        <p:nvSpPr>
          <p:cNvPr id="12" name="Shape 10"/>
          <p:cNvSpPr/>
          <p:nvPr/>
        </p:nvSpPr>
        <p:spPr>
          <a:xfrm>
            <a:off x="548640" y="3401568"/>
            <a:ext cx="10972800" cy="0"/>
          </a:xfrm>
          <a:prstGeom prst="line">
            <a:avLst/>
          </a:prstGeom>
          <a:noFill/>
          <a:ln w="8890">
            <a:solidFill>
              <a:srgbClr val="D8D0C1"/>
            </a:solidFill>
            <a:prstDash val="solid"/>
          </a:ln>
        </p:spPr>
      </p:sp>
      <p:sp>
        <p:nvSpPr>
          <p:cNvPr id="13" name="Text 11"/>
          <p:cNvSpPr/>
          <p:nvPr/>
        </p:nvSpPr>
        <p:spPr>
          <a:xfrm>
            <a:off x="548640" y="3739896"/>
            <a:ext cx="594360" cy="475488"/>
          </a:xfrm>
          <a:prstGeom prst="rect">
            <a:avLst/>
          </a:prstGeom>
          <a:noFill/>
          <a:ln/>
        </p:spPr>
        <p:txBody>
          <a:bodyPr wrap="square" lIns="0" tIns="0" rIns="0" bIns="0" rtlCol="0" anchor="ctr"/>
          <a:lstStyle/>
          <a:p>
            <a:pPr indent="0" marL="0">
              <a:buNone/>
            </a:pPr>
            <a:r>
              <a:rPr lang="en-US" sz="1400" b="1" dirty="0">
                <a:solidFill>
                  <a:srgbClr val="A4613C"/>
                </a:solidFill>
                <a:latin typeface="Cambria" pitchFamily="34" charset="0"/>
                <a:ea typeface="Cambria" pitchFamily="34" charset="-122"/>
                <a:cs typeface="Cambria" pitchFamily="34" charset="-120"/>
              </a:rPr>
              <a:t>03</a:t>
            </a:r>
            <a:endParaRPr lang="en-US" sz="1400" dirty="0"/>
          </a:p>
        </p:txBody>
      </p:sp>
      <p:sp>
        <p:nvSpPr>
          <p:cNvPr id="14" name="Text 12"/>
          <p:cNvSpPr/>
          <p:nvPr/>
        </p:nvSpPr>
        <p:spPr>
          <a:xfrm>
            <a:off x="1325880" y="3721608"/>
            <a:ext cx="3749040" cy="347472"/>
          </a:xfrm>
          <a:prstGeom prst="rect">
            <a:avLst/>
          </a:prstGeom>
          <a:noFill/>
          <a:ln/>
        </p:spPr>
        <p:txBody>
          <a:bodyPr wrap="square" lIns="0" tIns="0" rIns="0" bIns="0" rtlCol="0" anchor="ctr"/>
          <a:lstStyle/>
          <a:p>
            <a:pPr indent="0" marL="0">
              <a:buNone/>
            </a:pPr>
            <a:r>
              <a:rPr lang="en-US" sz="1600" b="1" dirty="0">
                <a:solidFill>
                  <a:srgbClr val="2B2A26"/>
                </a:solidFill>
                <a:latin typeface="Cambria" pitchFamily="34" charset="0"/>
                <a:ea typeface="Cambria" pitchFamily="34" charset="-122"/>
                <a:cs typeface="Cambria" pitchFamily="34" charset="-120"/>
              </a:rPr>
              <a:t>Clustering Track</a:t>
            </a:r>
            <a:endParaRPr lang="en-US" sz="1600" dirty="0"/>
          </a:p>
        </p:txBody>
      </p:sp>
      <p:sp>
        <p:nvSpPr>
          <p:cNvPr id="15" name="Text 13"/>
          <p:cNvSpPr/>
          <p:nvPr/>
        </p:nvSpPr>
        <p:spPr>
          <a:xfrm>
            <a:off x="5212080" y="3694176"/>
            <a:ext cx="6309360" cy="685800"/>
          </a:xfrm>
          <a:prstGeom prst="rect">
            <a:avLst/>
          </a:prstGeom>
          <a:noFill/>
          <a:ln/>
        </p:spPr>
        <p:txBody>
          <a:bodyPr wrap="square" lIns="0" tIns="0" rIns="0" bIns="0" rtlCol="0" anchor="ctr">
            <a:normAutofit/>
          </a:bodyPr>
          <a:lstStyle/>
          <a:p>
            <a:pPr indent="0" marL="0">
              <a:buNone/>
            </a:pPr>
            <a:r>
              <a:rPr lang="en-US" sz="1130" dirty="0">
                <a:solidFill>
                  <a:srgbClr val="6E6658"/>
                </a:solidFill>
                <a:latin typeface="Calibri" pitchFamily="34" charset="0"/>
                <a:ea typeface="Calibri" pitchFamily="34" charset="-122"/>
                <a:cs typeface="Calibri" pitchFamily="34" charset="-120"/>
              </a:rPr>
              <a:t>Beijing air-quality problem, preprocessing, K-Means, Agglomerative clustering, mandatory metrics and visualisations.</a:t>
            </a:r>
            <a:endParaRPr lang="en-US" sz="1130" dirty="0"/>
          </a:p>
        </p:txBody>
      </p:sp>
      <p:sp>
        <p:nvSpPr>
          <p:cNvPr id="16" name="Shape 14"/>
          <p:cNvSpPr/>
          <p:nvPr/>
        </p:nvSpPr>
        <p:spPr>
          <a:xfrm>
            <a:off x="548640" y="4471416"/>
            <a:ext cx="10972800" cy="0"/>
          </a:xfrm>
          <a:prstGeom prst="line">
            <a:avLst/>
          </a:prstGeom>
          <a:noFill/>
          <a:ln w="8890">
            <a:solidFill>
              <a:srgbClr val="D8D0C1"/>
            </a:solidFill>
            <a:prstDash val="solid"/>
          </a:ln>
        </p:spPr>
      </p:sp>
      <p:sp>
        <p:nvSpPr>
          <p:cNvPr id="17" name="Text 15"/>
          <p:cNvSpPr/>
          <p:nvPr/>
        </p:nvSpPr>
        <p:spPr>
          <a:xfrm>
            <a:off x="548640" y="4809744"/>
            <a:ext cx="594360" cy="475488"/>
          </a:xfrm>
          <a:prstGeom prst="rect">
            <a:avLst/>
          </a:prstGeom>
          <a:noFill/>
          <a:ln/>
        </p:spPr>
        <p:txBody>
          <a:bodyPr wrap="square" lIns="0" tIns="0" rIns="0" bIns="0" rtlCol="0" anchor="ctr"/>
          <a:lstStyle/>
          <a:p>
            <a:pPr indent="0" marL="0">
              <a:buNone/>
            </a:pPr>
            <a:r>
              <a:rPr lang="en-US" sz="1400" b="1" dirty="0">
                <a:solidFill>
                  <a:srgbClr val="A4613C"/>
                </a:solidFill>
                <a:latin typeface="Cambria" pitchFamily="34" charset="0"/>
                <a:ea typeface="Cambria" pitchFamily="34" charset="-122"/>
                <a:cs typeface="Cambria" pitchFamily="34" charset="-120"/>
              </a:rPr>
              <a:t>04</a:t>
            </a:r>
            <a:endParaRPr lang="en-US" sz="1400" dirty="0"/>
          </a:p>
        </p:txBody>
      </p:sp>
      <p:sp>
        <p:nvSpPr>
          <p:cNvPr id="18" name="Text 16"/>
          <p:cNvSpPr/>
          <p:nvPr/>
        </p:nvSpPr>
        <p:spPr>
          <a:xfrm>
            <a:off x="1325880" y="4791456"/>
            <a:ext cx="3749040" cy="347472"/>
          </a:xfrm>
          <a:prstGeom prst="rect">
            <a:avLst/>
          </a:prstGeom>
          <a:noFill/>
          <a:ln/>
        </p:spPr>
        <p:txBody>
          <a:bodyPr wrap="square" lIns="0" tIns="0" rIns="0" bIns="0" rtlCol="0" anchor="ctr"/>
          <a:lstStyle/>
          <a:p>
            <a:pPr indent="0" marL="0">
              <a:buNone/>
            </a:pPr>
            <a:r>
              <a:rPr lang="en-US" sz="1600" b="1" dirty="0">
                <a:solidFill>
                  <a:srgbClr val="2B2A26"/>
                </a:solidFill>
                <a:latin typeface="Cambria" pitchFamily="34" charset="0"/>
                <a:ea typeface="Cambria" pitchFamily="34" charset="-122"/>
                <a:cs typeface="Cambria" pitchFamily="34" charset="-120"/>
              </a:rPr>
              <a:t>Application &amp; Repository</a:t>
            </a:r>
            <a:endParaRPr lang="en-US" sz="1600" dirty="0"/>
          </a:p>
        </p:txBody>
      </p:sp>
      <p:sp>
        <p:nvSpPr>
          <p:cNvPr id="19" name="Text 17"/>
          <p:cNvSpPr/>
          <p:nvPr/>
        </p:nvSpPr>
        <p:spPr>
          <a:xfrm>
            <a:off x="5212080" y="4764024"/>
            <a:ext cx="6309360" cy="685800"/>
          </a:xfrm>
          <a:prstGeom prst="rect">
            <a:avLst/>
          </a:prstGeom>
          <a:noFill/>
          <a:ln/>
        </p:spPr>
        <p:txBody>
          <a:bodyPr wrap="square" lIns="0" tIns="0" rIns="0" bIns="0" rtlCol="0" anchor="ctr">
            <a:normAutofit/>
          </a:bodyPr>
          <a:lstStyle/>
          <a:p>
            <a:pPr indent="0" marL="0">
              <a:buNone/>
            </a:pPr>
            <a:r>
              <a:rPr lang="en-US" sz="1130" dirty="0">
                <a:solidFill>
                  <a:srgbClr val="6E6658"/>
                </a:solidFill>
                <a:latin typeface="Calibri" pitchFamily="34" charset="0"/>
                <a:ea typeface="Calibri" pitchFamily="34" charset="-122"/>
                <a:cs typeface="Calibri" pitchFamily="34" charset="-120"/>
              </a:rPr>
              <a:t>Streamlit interface, saved models/results, README, requirements and current deployment status.</a:t>
            </a:r>
            <a:endParaRPr lang="en-US" sz="113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22960" y="1828800"/>
            <a:ext cx="2743200" cy="914400"/>
          </a:xfrm>
          <a:prstGeom prst="rect">
            <a:avLst/>
          </a:prstGeom>
          <a:noFill/>
          <a:ln/>
        </p:spPr>
        <p:txBody>
          <a:bodyPr wrap="square" lIns="0" tIns="0" rIns="0" bIns="0" rtlCol="0" anchor="ctr"/>
          <a:lstStyle/>
          <a:p>
            <a:pPr indent="0" marL="0">
              <a:buNone/>
            </a:pPr>
            <a:r>
              <a:rPr lang="en-US" sz="8000" b="1" dirty="0">
                <a:solidFill>
                  <a:srgbClr val="A4613C"/>
                </a:solidFill>
                <a:latin typeface="Cambria" pitchFamily="34" charset="0"/>
                <a:ea typeface="Cambria" pitchFamily="34" charset="-122"/>
                <a:cs typeface="Cambria" pitchFamily="34" charset="-120"/>
              </a:rPr>
              <a:t>01</a:t>
            </a:r>
            <a:endParaRPr lang="en-US" sz="8000" dirty="0"/>
          </a:p>
        </p:txBody>
      </p:sp>
      <p:sp>
        <p:nvSpPr>
          <p:cNvPr id="3" name="Text 1"/>
          <p:cNvSpPr/>
          <p:nvPr/>
        </p:nvSpPr>
        <p:spPr>
          <a:xfrm>
            <a:off x="822960" y="3063240"/>
            <a:ext cx="9601200" cy="685800"/>
          </a:xfrm>
          <a:prstGeom prst="rect">
            <a:avLst/>
          </a:prstGeom>
          <a:noFill/>
          <a:ln/>
        </p:spPr>
        <p:txBody>
          <a:bodyPr wrap="square" lIns="0" tIns="0" rIns="0" bIns="0" rtlCol="0" anchor="ctr"/>
          <a:lstStyle/>
          <a:p>
            <a:pPr indent="0" marL="0">
              <a:buNone/>
            </a:pPr>
            <a:r>
              <a:rPr lang="en-US" sz="3800" b="1" dirty="0">
                <a:solidFill>
                  <a:srgbClr val="F6F2EA"/>
                </a:solidFill>
                <a:latin typeface="Cambria" pitchFamily="34" charset="0"/>
                <a:ea typeface="Cambria" pitchFamily="34" charset="-122"/>
                <a:cs typeface="Cambria" pitchFamily="34" charset="-120"/>
              </a:rPr>
              <a:t>Classification Part B</a:t>
            </a:r>
            <a:endParaRPr lang="en-US" sz="3800" dirty="0"/>
          </a:p>
        </p:txBody>
      </p:sp>
      <p:sp>
        <p:nvSpPr>
          <p:cNvPr id="4" name="Text 2"/>
          <p:cNvSpPr/>
          <p:nvPr/>
        </p:nvSpPr>
        <p:spPr>
          <a:xfrm>
            <a:off x="868680" y="3913632"/>
            <a:ext cx="9692640" cy="1051560"/>
          </a:xfrm>
          <a:prstGeom prst="rect">
            <a:avLst/>
          </a:prstGeom>
          <a:noFill/>
          <a:ln/>
        </p:spPr>
        <p:txBody>
          <a:bodyPr wrap="square" lIns="0" tIns="0" rIns="0" bIns="0" rtlCol="0" anchor="ctr">
            <a:normAutofit/>
          </a:bodyPr>
          <a:lstStyle/>
          <a:p>
            <a:pPr indent="0" marL="0">
              <a:buNone/>
            </a:pPr>
            <a:r>
              <a:rPr lang="en-US" sz="1400" dirty="0">
                <a:solidFill>
                  <a:srgbClr val="C9C3B5"/>
                </a:solidFill>
                <a:latin typeface="Calibri" pitchFamily="34" charset="0"/>
                <a:ea typeface="Calibri" pitchFamily="34" charset="-122"/>
                <a:cs typeface="Calibri" pitchFamily="34" charset="-120"/>
              </a:rPr>
              <a:t>Continuing the same water-quality task from Review 1: add the five required advanced classifiers, compare all ten on one held-out test set, and select the final model using training-only cross-validation.</a:t>
            </a:r>
            <a:endParaRPr lang="en-US" sz="140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A · PROBLEM</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Review 2 continues the same classification task</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A · Problem</a:t>
            </a:r>
            <a:endParaRPr lang="en-US" sz="900" dirty="0"/>
          </a:p>
        </p:txBody>
      </p:sp>
      <p:sp>
        <p:nvSpPr>
          <p:cNvPr id="5" name="Shape 3"/>
          <p:cNvSpPr/>
          <p:nvPr/>
        </p:nvSpPr>
        <p:spPr>
          <a:xfrm>
            <a:off x="548640" y="1417320"/>
            <a:ext cx="5577840" cy="2194560"/>
          </a:xfrm>
          <a:prstGeom prst="rect">
            <a:avLst/>
          </a:prstGeom>
          <a:solidFill>
            <a:srgbClr val="EAE3D6"/>
          </a:solidFill>
          <a:ln w="12700">
            <a:solidFill>
              <a:srgbClr val="EAE3D6"/>
            </a:solidFill>
            <a:prstDash val="solid"/>
          </a:ln>
        </p:spPr>
      </p:sp>
      <p:sp>
        <p:nvSpPr>
          <p:cNvPr id="6" name="Text 4"/>
          <p:cNvSpPr/>
          <p:nvPr/>
        </p:nvSpPr>
        <p:spPr>
          <a:xfrm>
            <a:off x="731520" y="1572768"/>
            <a:ext cx="521208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What stays identical</a:t>
            </a:r>
            <a:endParaRPr lang="en-US" sz="1400" dirty="0"/>
          </a:p>
        </p:txBody>
      </p:sp>
      <p:sp>
        <p:nvSpPr>
          <p:cNvPr id="7" name="Text 5"/>
          <p:cNvSpPr/>
          <p:nvPr/>
        </p:nvSpPr>
        <p:spPr>
          <a:xfrm>
            <a:off x="731520" y="1947672"/>
            <a:ext cx="5212080" cy="153619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Target: Water_Quality_Class with three labels — Good, Moderate, Poor.</a:t>
            </a:r>
            <a:endParaRPr lang="en-US" sz="1100" dirty="0"/>
          </a:p>
          <a:p>
            <a:pPr indent="0" marL="0">
              <a:buNone/>
            </a:pP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Review 2 uses the same source dataset as Review 1. All ten algorithms are evaluated under one shared split and preprocessing policy, so the comparison is meaningful.</a:t>
            </a:r>
            <a:endParaRPr lang="en-US" sz="1100" dirty="0"/>
          </a:p>
        </p:txBody>
      </p:sp>
      <p:sp>
        <p:nvSpPr>
          <p:cNvPr id="8" name="Shape 6"/>
          <p:cNvSpPr/>
          <p:nvPr/>
        </p:nvSpPr>
        <p:spPr>
          <a:xfrm>
            <a:off x="6446520" y="1417320"/>
            <a:ext cx="5074920" cy="2194560"/>
          </a:xfrm>
          <a:prstGeom prst="rect">
            <a:avLst/>
          </a:prstGeom>
          <a:solidFill>
            <a:srgbClr val="EAE3D6"/>
          </a:solidFill>
          <a:ln w="12700">
            <a:solidFill>
              <a:srgbClr val="EAE3D6"/>
            </a:solidFill>
            <a:prstDash val="solid"/>
          </a:ln>
        </p:spPr>
      </p:sp>
      <p:sp>
        <p:nvSpPr>
          <p:cNvPr id="9" name="Text 7"/>
          <p:cNvSpPr/>
          <p:nvPr/>
        </p:nvSpPr>
        <p:spPr>
          <a:xfrm>
            <a:off x="6629400" y="1572768"/>
            <a:ext cx="47091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What Review 2 adds</a:t>
            </a:r>
            <a:endParaRPr lang="en-US" sz="1400" dirty="0"/>
          </a:p>
        </p:txBody>
      </p:sp>
      <p:sp>
        <p:nvSpPr>
          <p:cNvPr id="10" name="Text 8"/>
          <p:cNvSpPr/>
          <p:nvPr/>
        </p:nvSpPr>
        <p:spPr>
          <a:xfrm>
            <a:off x="6629400" y="1947672"/>
            <a:ext cx="4709160" cy="153619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Five required algorithms: Random Forest, AdaBoost, Gradient Boosting, Bagging, and MLP Neural Network.</a:t>
            </a:r>
            <a:endParaRPr lang="en-US" sz="1100" dirty="0"/>
          </a:p>
          <a:p>
            <a:pPr indent="0" marL="0">
              <a:buNone/>
            </a:pP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It also adds the consolidated 10-model table, training-only cross-validation and the final model decision.</a:t>
            </a:r>
            <a:endParaRPr lang="en-US" sz="1100" dirty="0"/>
          </a:p>
        </p:txBody>
      </p:sp>
      <p:sp>
        <p:nvSpPr>
          <p:cNvPr id="11" name="Text 9"/>
          <p:cNvSpPr/>
          <p:nvPr/>
        </p:nvSpPr>
        <p:spPr>
          <a:xfrm>
            <a:off x="548640" y="4069080"/>
            <a:ext cx="2103120" cy="566928"/>
          </a:xfrm>
          <a:prstGeom prst="rect">
            <a:avLst/>
          </a:prstGeom>
          <a:noFill/>
          <a:ln/>
        </p:spPr>
        <p:txBody>
          <a:bodyPr wrap="square" lIns="0" tIns="0" rIns="0" bIns="0" rtlCol="0" anchor="ctr"/>
          <a:lstStyle/>
          <a:p>
            <a:pPr algn="l" indent="0" marL="0">
              <a:buNone/>
            </a:pPr>
            <a:r>
              <a:rPr lang="en-US" sz="3400" b="1" dirty="0">
                <a:solidFill>
                  <a:srgbClr val="A4613C"/>
                </a:solidFill>
                <a:latin typeface="Cambria" pitchFamily="34" charset="0"/>
                <a:ea typeface="Cambria" pitchFamily="34" charset="-122"/>
                <a:cs typeface="Cambria" pitchFamily="34" charset="-120"/>
              </a:rPr>
              <a:t>80,000</a:t>
            </a:r>
            <a:endParaRPr lang="en-US" sz="3400" dirty="0"/>
          </a:p>
        </p:txBody>
      </p:sp>
      <p:sp>
        <p:nvSpPr>
          <p:cNvPr id="12" name="Text 10"/>
          <p:cNvSpPr/>
          <p:nvPr/>
        </p:nvSpPr>
        <p:spPr>
          <a:xfrm>
            <a:off x="548640" y="4636008"/>
            <a:ext cx="2103120" cy="384048"/>
          </a:xfrm>
          <a:prstGeom prst="rect">
            <a:avLst/>
          </a:prstGeom>
          <a:noFill/>
          <a:ln/>
        </p:spPr>
        <p:txBody>
          <a:bodyPr wrap="square" lIns="0" tIns="0" rIns="0" bIns="0" rtlCol="0" anchor="ctr"/>
          <a:lstStyle/>
          <a:p>
            <a:pPr indent="0" marL="0">
              <a:buNone/>
            </a:pPr>
            <a:r>
              <a:rPr lang="en-US" sz="1020" dirty="0">
                <a:solidFill>
                  <a:srgbClr val="6E6658"/>
                </a:solidFill>
                <a:latin typeface="Calibri" pitchFamily="34" charset="0"/>
                <a:ea typeface="Calibri" pitchFamily="34" charset="-122"/>
                <a:cs typeface="Calibri" pitchFamily="34" charset="-120"/>
              </a:rPr>
              <a:t>raw rows in source CSV</a:t>
            </a:r>
            <a:endParaRPr lang="en-US" sz="1020" dirty="0"/>
          </a:p>
        </p:txBody>
      </p:sp>
      <p:sp>
        <p:nvSpPr>
          <p:cNvPr id="13" name="Text 11"/>
          <p:cNvSpPr/>
          <p:nvPr/>
        </p:nvSpPr>
        <p:spPr>
          <a:xfrm>
            <a:off x="3017520" y="4069080"/>
            <a:ext cx="2103120" cy="566928"/>
          </a:xfrm>
          <a:prstGeom prst="rect">
            <a:avLst/>
          </a:prstGeom>
          <a:noFill/>
          <a:ln/>
        </p:spPr>
        <p:txBody>
          <a:bodyPr wrap="square" lIns="0" tIns="0" rIns="0" bIns="0" rtlCol="0" anchor="ctr"/>
          <a:lstStyle/>
          <a:p>
            <a:pPr algn="l" indent="0" marL="0">
              <a:buNone/>
            </a:pPr>
            <a:r>
              <a:rPr lang="en-US" sz="3400" b="1" dirty="0">
                <a:solidFill>
                  <a:srgbClr val="A4613C"/>
                </a:solidFill>
                <a:latin typeface="Cambria" pitchFamily="34" charset="0"/>
                <a:ea typeface="Cambria" pitchFamily="34" charset="-122"/>
                <a:cs typeface="Cambria" pitchFamily="34" charset="-120"/>
              </a:rPr>
              <a:t>67,873</a:t>
            </a:r>
            <a:endParaRPr lang="en-US" sz="3400" dirty="0"/>
          </a:p>
        </p:txBody>
      </p:sp>
      <p:sp>
        <p:nvSpPr>
          <p:cNvPr id="14" name="Text 12"/>
          <p:cNvSpPr/>
          <p:nvPr/>
        </p:nvSpPr>
        <p:spPr>
          <a:xfrm>
            <a:off x="3017520" y="4636008"/>
            <a:ext cx="2103120" cy="384048"/>
          </a:xfrm>
          <a:prstGeom prst="rect">
            <a:avLst/>
          </a:prstGeom>
          <a:noFill/>
          <a:ln/>
        </p:spPr>
        <p:txBody>
          <a:bodyPr wrap="square" lIns="0" tIns="0" rIns="0" bIns="0" rtlCol="0" anchor="ctr"/>
          <a:lstStyle/>
          <a:p>
            <a:pPr indent="0" marL="0">
              <a:buNone/>
            </a:pPr>
            <a:r>
              <a:rPr lang="en-US" sz="1020" dirty="0">
                <a:solidFill>
                  <a:srgbClr val="6E6658"/>
                </a:solidFill>
                <a:latin typeface="Calibri" pitchFamily="34" charset="0"/>
                <a:ea typeface="Calibri" pitchFamily="34" charset="-122"/>
                <a:cs typeface="Calibri" pitchFamily="34" charset="-120"/>
              </a:rPr>
              <a:t>labeled unique rows</a:t>
            </a:r>
            <a:endParaRPr lang="en-US" sz="1020" dirty="0"/>
          </a:p>
        </p:txBody>
      </p:sp>
      <p:sp>
        <p:nvSpPr>
          <p:cNvPr id="15" name="Text 13"/>
          <p:cNvSpPr/>
          <p:nvPr/>
        </p:nvSpPr>
        <p:spPr>
          <a:xfrm>
            <a:off x="5486400" y="4069080"/>
            <a:ext cx="1463040" cy="566928"/>
          </a:xfrm>
          <a:prstGeom prst="rect">
            <a:avLst/>
          </a:prstGeom>
          <a:noFill/>
          <a:ln/>
        </p:spPr>
        <p:txBody>
          <a:bodyPr wrap="square" lIns="0" tIns="0" rIns="0" bIns="0" rtlCol="0" anchor="ctr"/>
          <a:lstStyle/>
          <a:p>
            <a:pPr algn="l" indent="0" marL="0">
              <a:buNone/>
            </a:pPr>
            <a:r>
              <a:rPr lang="en-US" sz="3400" b="1" dirty="0">
                <a:solidFill>
                  <a:srgbClr val="77856B"/>
                </a:solidFill>
                <a:latin typeface="Cambria" pitchFamily="34" charset="0"/>
                <a:ea typeface="Cambria" pitchFamily="34" charset="-122"/>
                <a:cs typeface="Cambria" pitchFamily="34" charset="-120"/>
              </a:rPr>
              <a:t>3</a:t>
            </a:r>
            <a:endParaRPr lang="en-US" sz="3400" dirty="0"/>
          </a:p>
        </p:txBody>
      </p:sp>
      <p:sp>
        <p:nvSpPr>
          <p:cNvPr id="16" name="Text 14"/>
          <p:cNvSpPr/>
          <p:nvPr/>
        </p:nvSpPr>
        <p:spPr>
          <a:xfrm>
            <a:off x="5486400" y="4636008"/>
            <a:ext cx="1463040" cy="384048"/>
          </a:xfrm>
          <a:prstGeom prst="rect">
            <a:avLst/>
          </a:prstGeom>
          <a:noFill/>
          <a:ln/>
        </p:spPr>
        <p:txBody>
          <a:bodyPr wrap="square" lIns="0" tIns="0" rIns="0" bIns="0" rtlCol="0" anchor="ctr"/>
          <a:lstStyle/>
          <a:p>
            <a:pPr indent="0" marL="0">
              <a:buNone/>
            </a:pPr>
            <a:r>
              <a:rPr lang="en-US" sz="1020" dirty="0">
                <a:solidFill>
                  <a:srgbClr val="6E6658"/>
                </a:solidFill>
                <a:latin typeface="Calibri" pitchFamily="34" charset="0"/>
                <a:ea typeface="Calibri" pitchFamily="34" charset="-122"/>
                <a:cs typeface="Calibri" pitchFamily="34" charset="-120"/>
              </a:rPr>
              <a:t>target classes</a:t>
            </a:r>
            <a:endParaRPr lang="en-US" sz="1020" dirty="0"/>
          </a:p>
        </p:txBody>
      </p:sp>
      <p:sp>
        <p:nvSpPr>
          <p:cNvPr id="17" name="Text 15"/>
          <p:cNvSpPr/>
          <p:nvPr/>
        </p:nvSpPr>
        <p:spPr>
          <a:xfrm>
            <a:off x="7406640" y="4069080"/>
            <a:ext cx="1828800" cy="566928"/>
          </a:xfrm>
          <a:prstGeom prst="rect">
            <a:avLst/>
          </a:prstGeom>
          <a:noFill/>
          <a:ln/>
        </p:spPr>
        <p:txBody>
          <a:bodyPr wrap="square" lIns="0" tIns="0" rIns="0" bIns="0" rtlCol="0" anchor="ctr"/>
          <a:lstStyle/>
          <a:p>
            <a:pPr algn="l" indent="0" marL="0">
              <a:buNone/>
            </a:pPr>
            <a:r>
              <a:rPr lang="en-US" sz="3400" b="1" dirty="0">
                <a:solidFill>
                  <a:srgbClr val="77856B"/>
                </a:solidFill>
                <a:latin typeface="Cambria" pitchFamily="34" charset="0"/>
                <a:ea typeface="Cambria" pitchFamily="34" charset="-122"/>
                <a:cs typeface="Cambria" pitchFamily="34" charset="-120"/>
              </a:rPr>
              <a:t>29</a:t>
            </a:r>
            <a:endParaRPr lang="en-US" sz="3400" dirty="0"/>
          </a:p>
        </p:txBody>
      </p:sp>
      <p:sp>
        <p:nvSpPr>
          <p:cNvPr id="18" name="Text 16"/>
          <p:cNvSpPr/>
          <p:nvPr/>
        </p:nvSpPr>
        <p:spPr>
          <a:xfrm>
            <a:off x="7406640" y="4636008"/>
            <a:ext cx="1828800" cy="384048"/>
          </a:xfrm>
          <a:prstGeom prst="rect">
            <a:avLst/>
          </a:prstGeom>
          <a:noFill/>
          <a:ln/>
        </p:spPr>
        <p:txBody>
          <a:bodyPr wrap="square" lIns="0" tIns="0" rIns="0" bIns="0" rtlCol="0" anchor="ctr"/>
          <a:lstStyle/>
          <a:p>
            <a:pPr indent="0" marL="0">
              <a:buNone/>
            </a:pPr>
            <a:r>
              <a:rPr lang="en-US" sz="1020" dirty="0">
                <a:solidFill>
                  <a:srgbClr val="6E6658"/>
                </a:solidFill>
                <a:latin typeface="Calibri" pitchFamily="34" charset="0"/>
                <a:ea typeface="Calibri" pitchFamily="34" charset="-122"/>
                <a:cs typeface="Calibri" pitchFamily="34" charset="-120"/>
              </a:rPr>
              <a:t>retained predictors</a:t>
            </a:r>
            <a:endParaRPr lang="en-US" sz="1020" dirty="0"/>
          </a:p>
        </p:txBody>
      </p:sp>
      <p:sp>
        <p:nvSpPr>
          <p:cNvPr id="19" name="Text 17"/>
          <p:cNvSpPr/>
          <p:nvPr/>
        </p:nvSpPr>
        <p:spPr>
          <a:xfrm>
            <a:off x="9646920" y="4069080"/>
            <a:ext cx="1645920" cy="566928"/>
          </a:xfrm>
          <a:prstGeom prst="rect">
            <a:avLst/>
          </a:prstGeom>
          <a:noFill/>
          <a:ln/>
        </p:spPr>
        <p:txBody>
          <a:bodyPr wrap="square" lIns="0" tIns="0" rIns="0" bIns="0" rtlCol="0" anchor="ctr"/>
          <a:lstStyle/>
          <a:p>
            <a:pPr algn="l" indent="0" marL="0">
              <a:buNone/>
            </a:pPr>
            <a:r>
              <a:rPr lang="en-US" sz="3400" b="1" dirty="0">
                <a:solidFill>
                  <a:srgbClr val="77856B"/>
                </a:solidFill>
                <a:latin typeface="Cambria" pitchFamily="34" charset="0"/>
                <a:ea typeface="Cambria" pitchFamily="34" charset="-122"/>
                <a:cs typeface="Cambria" pitchFamily="34" charset="-120"/>
              </a:rPr>
              <a:t>10</a:t>
            </a:r>
            <a:endParaRPr lang="en-US" sz="3400" dirty="0"/>
          </a:p>
        </p:txBody>
      </p:sp>
      <p:sp>
        <p:nvSpPr>
          <p:cNvPr id="20" name="Text 18"/>
          <p:cNvSpPr/>
          <p:nvPr/>
        </p:nvSpPr>
        <p:spPr>
          <a:xfrm>
            <a:off x="9646920" y="4636008"/>
            <a:ext cx="1645920" cy="384048"/>
          </a:xfrm>
          <a:prstGeom prst="rect">
            <a:avLst/>
          </a:prstGeom>
          <a:noFill/>
          <a:ln/>
        </p:spPr>
        <p:txBody>
          <a:bodyPr wrap="square" lIns="0" tIns="0" rIns="0" bIns="0" rtlCol="0" anchor="ctr"/>
          <a:lstStyle/>
          <a:p>
            <a:pPr indent="0" marL="0">
              <a:buNone/>
            </a:pPr>
            <a:r>
              <a:rPr lang="en-US" sz="1020" dirty="0">
                <a:solidFill>
                  <a:srgbClr val="6E6658"/>
                </a:solidFill>
                <a:latin typeface="Calibri" pitchFamily="34" charset="0"/>
                <a:ea typeface="Calibri" pitchFamily="34" charset="-122"/>
                <a:cs typeface="Calibri" pitchFamily="34" charset="-120"/>
              </a:rPr>
              <a:t>classifiers total</a:t>
            </a:r>
            <a:endParaRPr lang="en-US" sz="1020" dirty="0"/>
          </a:p>
        </p:txBody>
      </p:sp>
      <p:sp>
        <p:nvSpPr>
          <p:cNvPr id="21" name="Text 19"/>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Project source: notebooks/classification_review2.ipynb · src/classification.py</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A · DATA</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Dataset audit, class balance and the shared split</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A · Data</a:t>
            </a:r>
            <a:endParaRPr lang="en-US" sz="900" dirty="0"/>
          </a:p>
        </p:txBody>
      </p:sp>
      <p:sp>
        <p:nvSpPr>
          <p:cNvPr id="5" name="Shape 3"/>
          <p:cNvSpPr/>
          <p:nvPr/>
        </p:nvSpPr>
        <p:spPr>
          <a:xfrm>
            <a:off x="594360" y="1481328"/>
            <a:ext cx="1554480" cy="514350"/>
          </a:xfrm>
          <a:prstGeom prst="rect">
            <a:avLst/>
          </a:prstGeom>
          <a:solidFill>
            <a:srgbClr val="2E322C"/>
          </a:solidFill>
          <a:ln w="6350">
            <a:solidFill>
              <a:srgbClr val="F6F2EA"/>
            </a:solidFill>
            <a:prstDash val="solid"/>
          </a:ln>
        </p:spPr>
      </p:sp>
      <p:sp>
        <p:nvSpPr>
          <p:cNvPr id="6" name="Text 4"/>
          <p:cNvSpPr/>
          <p:nvPr/>
        </p:nvSpPr>
        <p:spPr>
          <a:xfrm>
            <a:off x="649224" y="1508760"/>
            <a:ext cx="1444752" cy="459486"/>
          </a:xfrm>
          <a:prstGeom prst="rect">
            <a:avLst/>
          </a:prstGeom>
          <a:noFill/>
          <a:ln/>
        </p:spPr>
        <p:txBody>
          <a:bodyPr wrap="square" lIns="127" tIns="127" rIns="127" bIns="127" rtlCol="0" anchor="ctr">
            <a:normAutofit/>
          </a:bodyPr>
          <a:lstStyle/>
          <a:p>
            <a:pPr algn="l" indent="0" marL="0">
              <a:buNone/>
            </a:pPr>
            <a:r>
              <a:rPr lang="en-US" sz="1000" b="1" dirty="0">
                <a:solidFill>
                  <a:srgbClr val="F6F2EA"/>
                </a:solidFill>
                <a:latin typeface="Calibri" pitchFamily="34" charset="0"/>
                <a:ea typeface="Calibri" pitchFamily="34" charset="-122"/>
                <a:cs typeface="Calibri" pitchFamily="34" charset="-120"/>
              </a:rPr>
              <a:t>Class</a:t>
            </a:r>
            <a:endParaRPr lang="en-US" sz="1000" dirty="0"/>
          </a:p>
        </p:txBody>
      </p:sp>
      <p:sp>
        <p:nvSpPr>
          <p:cNvPr id="7" name="Shape 5"/>
          <p:cNvSpPr/>
          <p:nvPr/>
        </p:nvSpPr>
        <p:spPr>
          <a:xfrm>
            <a:off x="2148840" y="1481328"/>
            <a:ext cx="1234440" cy="514350"/>
          </a:xfrm>
          <a:prstGeom prst="rect">
            <a:avLst/>
          </a:prstGeom>
          <a:solidFill>
            <a:srgbClr val="2E322C"/>
          </a:solidFill>
          <a:ln w="6350">
            <a:solidFill>
              <a:srgbClr val="F6F2EA"/>
            </a:solidFill>
            <a:prstDash val="solid"/>
          </a:ln>
        </p:spPr>
      </p:sp>
      <p:sp>
        <p:nvSpPr>
          <p:cNvPr id="8" name="Text 6"/>
          <p:cNvSpPr/>
          <p:nvPr/>
        </p:nvSpPr>
        <p:spPr>
          <a:xfrm>
            <a:off x="2203704" y="1508760"/>
            <a:ext cx="1124712" cy="459486"/>
          </a:xfrm>
          <a:prstGeom prst="rect">
            <a:avLst/>
          </a:prstGeom>
          <a:noFill/>
          <a:ln/>
        </p:spPr>
        <p:txBody>
          <a:bodyPr wrap="square" lIns="127" tIns="127" rIns="127" bIns="127" rtlCol="0" anchor="ctr">
            <a:normAutofit/>
          </a:bodyPr>
          <a:lstStyle/>
          <a:p>
            <a:pPr algn="ctr" indent="0" marL="0">
              <a:buNone/>
            </a:pPr>
            <a:r>
              <a:rPr lang="en-US" sz="1000" b="1" dirty="0">
                <a:solidFill>
                  <a:srgbClr val="F6F2EA"/>
                </a:solidFill>
                <a:latin typeface="Calibri" pitchFamily="34" charset="0"/>
                <a:ea typeface="Calibri" pitchFamily="34" charset="-122"/>
                <a:cs typeface="Calibri" pitchFamily="34" charset="-120"/>
              </a:rPr>
              <a:t>Rows</a:t>
            </a:r>
            <a:endParaRPr lang="en-US" sz="1000" dirty="0"/>
          </a:p>
        </p:txBody>
      </p:sp>
      <p:sp>
        <p:nvSpPr>
          <p:cNvPr id="9" name="Shape 7"/>
          <p:cNvSpPr/>
          <p:nvPr/>
        </p:nvSpPr>
        <p:spPr>
          <a:xfrm>
            <a:off x="3383280" y="1481328"/>
            <a:ext cx="1234440" cy="514350"/>
          </a:xfrm>
          <a:prstGeom prst="rect">
            <a:avLst/>
          </a:prstGeom>
          <a:solidFill>
            <a:srgbClr val="2E322C"/>
          </a:solidFill>
          <a:ln w="6350">
            <a:solidFill>
              <a:srgbClr val="F6F2EA"/>
            </a:solidFill>
            <a:prstDash val="solid"/>
          </a:ln>
        </p:spPr>
      </p:sp>
      <p:sp>
        <p:nvSpPr>
          <p:cNvPr id="10" name="Text 8"/>
          <p:cNvSpPr/>
          <p:nvPr/>
        </p:nvSpPr>
        <p:spPr>
          <a:xfrm>
            <a:off x="3438144" y="1508760"/>
            <a:ext cx="1124712" cy="459486"/>
          </a:xfrm>
          <a:prstGeom prst="rect">
            <a:avLst/>
          </a:prstGeom>
          <a:noFill/>
          <a:ln/>
        </p:spPr>
        <p:txBody>
          <a:bodyPr wrap="square" lIns="127" tIns="127" rIns="127" bIns="127" rtlCol="0" anchor="ctr">
            <a:normAutofit/>
          </a:bodyPr>
          <a:lstStyle/>
          <a:p>
            <a:pPr algn="ctr" indent="0" marL="0">
              <a:buNone/>
            </a:pPr>
            <a:r>
              <a:rPr lang="en-US" sz="1000" b="1" dirty="0">
                <a:solidFill>
                  <a:srgbClr val="F6F2EA"/>
                </a:solidFill>
                <a:latin typeface="Calibri" pitchFamily="34" charset="0"/>
                <a:ea typeface="Calibri" pitchFamily="34" charset="-122"/>
                <a:cs typeface="Calibri" pitchFamily="34" charset="-120"/>
              </a:rPr>
              <a:t>Share</a:t>
            </a:r>
            <a:endParaRPr lang="en-US" sz="1000" dirty="0"/>
          </a:p>
        </p:txBody>
      </p:sp>
      <p:sp>
        <p:nvSpPr>
          <p:cNvPr id="11" name="Shape 9"/>
          <p:cNvSpPr/>
          <p:nvPr/>
        </p:nvSpPr>
        <p:spPr>
          <a:xfrm>
            <a:off x="594360" y="1995678"/>
            <a:ext cx="1554480" cy="514350"/>
          </a:xfrm>
          <a:prstGeom prst="rect">
            <a:avLst/>
          </a:prstGeom>
          <a:solidFill>
            <a:srgbClr val="F2EEE6"/>
          </a:solidFill>
          <a:ln w="6350">
            <a:solidFill>
              <a:srgbClr val="F6F2EA"/>
            </a:solidFill>
            <a:prstDash val="solid"/>
          </a:ln>
        </p:spPr>
      </p:sp>
      <p:sp>
        <p:nvSpPr>
          <p:cNvPr id="12" name="Text 10"/>
          <p:cNvSpPr/>
          <p:nvPr/>
        </p:nvSpPr>
        <p:spPr>
          <a:xfrm>
            <a:off x="649224" y="2023110"/>
            <a:ext cx="1444752" cy="459486"/>
          </a:xfrm>
          <a:prstGeom prst="rect">
            <a:avLst/>
          </a:prstGeom>
          <a:noFill/>
          <a:ln/>
        </p:spPr>
        <p:txBody>
          <a:bodyPr wrap="square" lIns="127" tIns="127" rIns="127" bIns="127" rtlCol="0" anchor="ctr">
            <a:normAutofit/>
          </a:bodyPr>
          <a:lstStyle/>
          <a:p>
            <a:pPr algn="l" indent="0" marL="0">
              <a:buNone/>
            </a:pPr>
            <a:r>
              <a:rPr lang="en-US" sz="1050" dirty="0">
                <a:solidFill>
                  <a:srgbClr val="6E6658"/>
                </a:solidFill>
                <a:latin typeface="Calibri" pitchFamily="34" charset="0"/>
                <a:ea typeface="Calibri" pitchFamily="34" charset="-122"/>
                <a:cs typeface="Calibri" pitchFamily="34" charset="-120"/>
              </a:rPr>
              <a:t>Moderate</a:t>
            </a:r>
            <a:endParaRPr lang="en-US" sz="1050" dirty="0"/>
          </a:p>
        </p:txBody>
      </p:sp>
      <p:sp>
        <p:nvSpPr>
          <p:cNvPr id="13" name="Shape 11"/>
          <p:cNvSpPr/>
          <p:nvPr/>
        </p:nvSpPr>
        <p:spPr>
          <a:xfrm>
            <a:off x="2148840" y="1995678"/>
            <a:ext cx="1234440" cy="514350"/>
          </a:xfrm>
          <a:prstGeom prst="rect">
            <a:avLst/>
          </a:prstGeom>
          <a:solidFill>
            <a:srgbClr val="F2EEE6"/>
          </a:solidFill>
          <a:ln w="6350">
            <a:solidFill>
              <a:srgbClr val="F6F2EA"/>
            </a:solidFill>
            <a:prstDash val="solid"/>
          </a:ln>
        </p:spPr>
      </p:sp>
      <p:sp>
        <p:nvSpPr>
          <p:cNvPr id="14" name="Text 12"/>
          <p:cNvSpPr/>
          <p:nvPr/>
        </p:nvSpPr>
        <p:spPr>
          <a:xfrm>
            <a:off x="2203704" y="2023110"/>
            <a:ext cx="1124712" cy="459486"/>
          </a:xfrm>
          <a:prstGeom prst="rect">
            <a:avLst/>
          </a:prstGeom>
          <a:noFill/>
          <a:ln/>
        </p:spPr>
        <p:txBody>
          <a:bodyPr wrap="square" lIns="127" tIns="127" rIns="127" bIns="127" rtlCol="0" anchor="ctr">
            <a:normAutofit/>
          </a:bodyPr>
          <a:lstStyle/>
          <a:p>
            <a:pPr algn="ctr" indent="0" marL="0">
              <a:buNone/>
            </a:pPr>
            <a:r>
              <a:rPr lang="en-US" sz="1050" dirty="0">
                <a:solidFill>
                  <a:srgbClr val="6E6658"/>
                </a:solidFill>
                <a:latin typeface="Calibri" pitchFamily="34" charset="0"/>
                <a:ea typeface="Calibri" pitchFamily="34" charset="-122"/>
                <a:cs typeface="Calibri" pitchFamily="34" charset="-120"/>
              </a:rPr>
              <a:t>39,544</a:t>
            </a:r>
            <a:endParaRPr lang="en-US" sz="1050" dirty="0"/>
          </a:p>
        </p:txBody>
      </p:sp>
      <p:sp>
        <p:nvSpPr>
          <p:cNvPr id="15" name="Shape 13"/>
          <p:cNvSpPr/>
          <p:nvPr/>
        </p:nvSpPr>
        <p:spPr>
          <a:xfrm>
            <a:off x="3383280" y="1995678"/>
            <a:ext cx="1234440" cy="514350"/>
          </a:xfrm>
          <a:prstGeom prst="rect">
            <a:avLst/>
          </a:prstGeom>
          <a:solidFill>
            <a:srgbClr val="F2EEE6"/>
          </a:solidFill>
          <a:ln w="6350">
            <a:solidFill>
              <a:srgbClr val="F6F2EA"/>
            </a:solidFill>
            <a:prstDash val="solid"/>
          </a:ln>
        </p:spPr>
      </p:sp>
      <p:sp>
        <p:nvSpPr>
          <p:cNvPr id="16" name="Text 14"/>
          <p:cNvSpPr/>
          <p:nvPr/>
        </p:nvSpPr>
        <p:spPr>
          <a:xfrm>
            <a:off x="3438144" y="2023110"/>
            <a:ext cx="1124712" cy="459486"/>
          </a:xfrm>
          <a:prstGeom prst="rect">
            <a:avLst/>
          </a:prstGeom>
          <a:noFill/>
          <a:ln/>
        </p:spPr>
        <p:txBody>
          <a:bodyPr wrap="square" lIns="127" tIns="127" rIns="127" bIns="127" rtlCol="0" anchor="ctr">
            <a:normAutofit/>
          </a:bodyPr>
          <a:lstStyle/>
          <a:p>
            <a:pPr algn="ctr" indent="0" marL="0">
              <a:buNone/>
            </a:pPr>
            <a:r>
              <a:rPr lang="en-US" sz="1050" dirty="0">
                <a:solidFill>
                  <a:srgbClr val="6E6658"/>
                </a:solidFill>
                <a:latin typeface="Calibri" pitchFamily="34" charset="0"/>
                <a:ea typeface="Calibri" pitchFamily="34" charset="-122"/>
                <a:cs typeface="Calibri" pitchFamily="34" charset="-120"/>
              </a:rPr>
              <a:t>58.26%</a:t>
            </a:r>
            <a:endParaRPr lang="en-US" sz="1050" dirty="0"/>
          </a:p>
        </p:txBody>
      </p:sp>
      <p:sp>
        <p:nvSpPr>
          <p:cNvPr id="17" name="Shape 15"/>
          <p:cNvSpPr/>
          <p:nvPr/>
        </p:nvSpPr>
        <p:spPr>
          <a:xfrm>
            <a:off x="594360" y="2510028"/>
            <a:ext cx="1554480" cy="514350"/>
          </a:xfrm>
          <a:prstGeom prst="rect">
            <a:avLst/>
          </a:prstGeom>
          <a:solidFill>
            <a:srgbClr val="EAE3D6"/>
          </a:solidFill>
          <a:ln w="6350">
            <a:solidFill>
              <a:srgbClr val="F6F2EA"/>
            </a:solidFill>
            <a:prstDash val="solid"/>
          </a:ln>
        </p:spPr>
      </p:sp>
      <p:sp>
        <p:nvSpPr>
          <p:cNvPr id="18" name="Text 16"/>
          <p:cNvSpPr/>
          <p:nvPr/>
        </p:nvSpPr>
        <p:spPr>
          <a:xfrm>
            <a:off x="649224" y="2537460"/>
            <a:ext cx="1444752" cy="459486"/>
          </a:xfrm>
          <a:prstGeom prst="rect">
            <a:avLst/>
          </a:prstGeom>
          <a:noFill/>
          <a:ln/>
        </p:spPr>
        <p:txBody>
          <a:bodyPr wrap="square" lIns="127" tIns="127" rIns="127" bIns="127" rtlCol="0" anchor="ctr">
            <a:normAutofit/>
          </a:bodyPr>
          <a:lstStyle/>
          <a:p>
            <a:pPr algn="l" indent="0" marL="0">
              <a:buNone/>
            </a:pPr>
            <a:r>
              <a:rPr lang="en-US" sz="1050" dirty="0">
                <a:solidFill>
                  <a:srgbClr val="6E6658"/>
                </a:solidFill>
                <a:latin typeface="Calibri" pitchFamily="34" charset="0"/>
                <a:ea typeface="Calibri" pitchFamily="34" charset="-122"/>
                <a:cs typeface="Calibri" pitchFamily="34" charset="-120"/>
              </a:rPr>
              <a:t>Good</a:t>
            </a:r>
            <a:endParaRPr lang="en-US" sz="1050" dirty="0"/>
          </a:p>
        </p:txBody>
      </p:sp>
      <p:sp>
        <p:nvSpPr>
          <p:cNvPr id="19" name="Shape 17"/>
          <p:cNvSpPr/>
          <p:nvPr/>
        </p:nvSpPr>
        <p:spPr>
          <a:xfrm>
            <a:off x="2148840" y="2510028"/>
            <a:ext cx="1234440" cy="514350"/>
          </a:xfrm>
          <a:prstGeom prst="rect">
            <a:avLst/>
          </a:prstGeom>
          <a:solidFill>
            <a:srgbClr val="EAE3D6"/>
          </a:solidFill>
          <a:ln w="6350">
            <a:solidFill>
              <a:srgbClr val="F6F2EA"/>
            </a:solidFill>
            <a:prstDash val="solid"/>
          </a:ln>
        </p:spPr>
      </p:sp>
      <p:sp>
        <p:nvSpPr>
          <p:cNvPr id="20" name="Text 18"/>
          <p:cNvSpPr/>
          <p:nvPr/>
        </p:nvSpPr>
        <p:spPr>
          <a:xfrm>
            <a:off x="2203704" y="2537460"/>
            <a:ext cx="1124712" cy="459486"/>
          </a:xfrm>
          <a:prstGeom prst="rect">
            <a:avLst/>
          </a:prstGeom>
          <a:noFill/>
          <a:ln/>
        </p:spPr>
        <p:txBody>
          <a:bodyPr wrap="square" lIns="127" tIns="127" rIns="127" bIns="127" rtlCol="0" anchor="ctr">
            <a:normAutofit/>
          </a:bodyPr>
          <a:lstStyle/>
          <a:p>
            <a:pPr algn="ctr" indent="0" marL="0">
              <a:buNone/>
            </a:pPr>
            <a:r>
              <a:rPr lang="en-US" sz="1050" dirty="0">
                <a:solidFill>
                  <a:srgbClr val="6E6658"/>
                </a:solidFill>
                <a:latin typeface="Calibri" pitchFamily="34" charset="0"/>
                <a:ea typeface="Calibri" pitchFamily="34" charset="-122"/>
                <a:cs typeface="Calibri" pitchFamily="34" charset="-120"/>
              </a:rPr>
              <a:t>15,644</a:t>
            </a:r>
            <a:endParaRPr lang="en-US" sz="1050" dirty="0"/>
          </a:p>
        </p:txBody>
      </p:sp>
      <p:sp>
        <p:nvSpPr>
          <p:cNvPr id="21" name="Shape 19"/>
          <p:cNvSpPr/>
          <p:nvPr/>
        </p:nvSpPr>
        <p:spPr>
          <a:xfrm>
            <a:off x="3383280" y="2510028"/>
            <a:ext cx="1234440" cy="514350"/>
          </a:xfrm>
          <a:prstGeom prst="rect">
            <a:avLst/>
          </a:prstGeom>
          <a:solidFill>
            <a:srgbClr val="EAE3D6"/>
          </a:solidFill>
          <a:ln w="6350">
            <a:solidFill>
              <a:srgbClr val="F6F2EA"/>
            </a:solidFill>
            <a:prstDash val="solid"/>
          </a:ln>
        </p:spPr>
      </p:sp>
      <p:sp>
        <p:nvSpPr>
          <p:cNvPr id="22" name="Text 20"/>
          <p:cNvSpPr/>
          <p:nvPr/>
        </p:nvSpPr>
        <p:spPr>
          <a:xfrm>
            <a:off x="3438144" y="2537460"/>
            <a:ext cx="1124712" cy="459486"/>
          </a:xfrm>
          <a:prstGeom prst="rect">
            <a:avLst/>
          </a:prstGeom>
          <a:noFill/>
          <a:ln/>
        </p:spPr>
        <p:txBody>
          <a:bodyPr wrap="square" lIns="127" tIns="127" rIns="127" bIns="127" rtlCol="0" anchor="ctr">
            <a:normAutofit/>
          </a:bodyPr>
          <a:lstStyle/>
          <a:p>
            <a:pPr algn="ctr" indent="0" marL="0">
              <a:buNone/>
            </a:pPr>
            <a:r>
              <a:rPr lang="en-US" sz="1050" dirty="0">
                <a:solidFill>
                  <a:srgbClr val="6E6658"/>
                </a:solidFill>
                <a:latin typeface="Calibri" pitchFamily="34" charset="0"/>
                <a:ea typeface="Calibri" pitchFamily="34" charset="-122"/>
                <a:cs typeface="Calibri" pitchFamily="34" charset="-120"/>
              </a:rPr>
              <a:t>23.05%</a:t>
            </a:r>
            <a:endParaRPr lang="en-US" sz="1050" dirty="0"/>
          </a:p>
        </p:txBody>
      </p:sp>
      <p:sp>
        <p:nvSpPr>
          <p:cNvPr id="23" name="Shape 21"/>
          <p:cNvSpPr/>
          <p:nvPr/>
        </p:nvSpPr>
        <p:spPr>
          <a:xfrm>
            <a:off x="594360" y="3024378"/>
            <a:ext cx="1554480" cy="514350"/>
          </a:xfrm>
          <a:prstGeom prst="rect">
            <a:avLst/>
          </a:prstGeom>
          <a:solidFill>
            <a:srgbClr val="F2EEE6"/>
          </a:solidFill>
          <a:ln w="6350">
            <a:solidFill>
              <a:srgbClr val="F6F2EA"/>
            </a:solidFill>
            <a:prstDash val="solid"/>
          </a:ln>
        </p:spPr>
      </p:sp>
      <p:sp>
        <p:nvSpPr>
          <p:cNvPr id="24" name="Text 22"/>
          <p:cNvSpPr/>
          <p:nvPr/>
        </p:nvSpPr>
        <p:spPr>
          <a:xfrm>
            <a:off x="649224" y="3051810"/>
            <a:ext cx="1444752" cy="459486"/>
          </a:xfrm>
          <a:prstGeom prst="rect">
            <a:avLst/>
          </a:prstGeom>
          <a:noFill/>
          <a:ln/>
        </p:spPr>
        <p:txBody>
          <a:bodyPr wrap="square" lIns="127" tIns="127" rIns="127" bIns="127" rtlCol="0" anchor="ctr">
            <a:normAutofit/>
          </a:bodyPr>
          <a:lstStyle/>
          <a:p>
            <a:pPr algn="l" indent="0" marL="0">
              <a:buNone/>
            </a:pPr>
            <a:r>
              <a:rPr lang="en-US" sz="1050" dirty="0">
                <a:solidFill>
                  <a:srgbClr val="6E6658"/>
                </a:solidFill>
                <a:latin typeface="Calibri" pitchFamily="34" charset="0"/>
                <a:ea typeface="Calibri" pitchFamily="34" charset="-122"/>
                <a:cs typeface="Calibri" pitchFamily="34" charset="-120"/>
              </a:rPr>
              <a:t>Poor</a:t>
            </a:r>
            <a:endParaRPr lang="en-US" sz="1050" dirty="0"/>
          </a:p>
        </p:txBody>
      </p:sp>
      <p:sp>
        <p:nvSpPr>
          <p:cNvPr id="25" name="Shape 23"/>
          <p:cNvSpPr/>
          <p:nvPr/>
        </p:nvSpPr>
        <p:spPr>
          <a:xfrm>
            <a:off x="2148840" y="3024378"/>
            <a:ext cx="1234440" cy="514350"/>
          </a:xfrm>
          <a:prstGeom prst="rect">
            <a:avLst/>
          </a:prstGeom>
          <a:solidFill>
            <a:srgbClr val="F2EEE6"/>
          </a:solidFill>
          <a:ln w="6350">
            <a:solidFill>
              <a:srgbClr val="F6F2EA"/>
            </a:solidFill>
            <a:prstDash val="solid"/>
          </a:ln>
        </p:spPr>
      </p:sp>
      <p:sp>
        <p:nvSpPr>
          <p:cNvPr id="26" name="Text 24"/>
          <p:cNvSpPr/>
          <p:nvPr/>
        </p:nvSpPr>
        <p:spPr>
          <a:xfrm>
            <a:off x="2203704" y="3051810"/>
            <a:ext cx="1124712" cy="459486"/>
          </a:xfrm>
          <a:prstGeom prst="rect">
            <a:avLst/>
          </a:prstGeom>
          <a:noFill/>
          <a:ln/>
        </p:spPr>
        <p:txBody>
          <a:bodyPr wrap="square" lIns="127" tIns="127" rIns="127" bIns="127" rtlCol="0" anchor="ctr">
            <a:normAutofit/>
          </a:bodyPr>
          <a:lstStyle/>
          <a:p>
            <a:pPr algn="ctr" indent="0" marL="0">
              <a:buNone/>
            </a:pPr>
            <a:r>
              <a:rPr lang="en-US" sz="1050" dirty="0">
                <a:solidFill>
                  <a:srgbClr val="6E6658"/>
                </a:solidFill>
                <a:latin typeface="Calibri" pitchFamily="34" charset="0"/>
                <a:ea typeface="Calibri" pitchFamily="34" charset="-122"/>
                <a:cs typeface="Calibri" pitchFamily="34" charset="-120"/>
              </a:rPr>
              <a:t>12,685</a:t>
            </a:r>
            <a:endParaRPr lang="en-US" sz="1050" dirty="0"/>
          </a:p>
        </p:txBody>
      </p:sp>
      <p:sp>
        <p:nvSpPr>
          <p:cNvPr id="27" name="Shape 25"/>
          <p:cNvSpPr/>
          <p:nvPr/>
        </p:nvSpPr>
        <p:spPr>
          <a:xfrm>
            <a:off x="3383280" y="3024378"/>
            <a:ext cx="1234440" cy="514350"/>
          </a:xfrm>
          <a:prstGeom prst="rect">
            <a:avLst/>
          </a:prstGeom>
          <a:solidFill>
            <a:srgbClr val="F2EEE6"/>
          </a:solidFill>
          <a:ln w="6350">
            <a:solidFill>
              <a:srgbClr val="F6F2EA"/>
            </a:solidFill>
            <a:prstDash val="solid"/>
          </a:ln>
        </p:spPr>
      </p:sp>
      <p:sp>
        <p:nvSpPr>
          <p:cNvPr id="28" name="Text 26"/>
          <p:cNvSpPr/>
          <p:nvPr/>
        </p:nvSpPr>
        <p:spPr>
          <a:xfrm>
            <a:off x="3438144" y="3051810"/>
            <a:ext cx="1124712" cy="459486"/>
          </a:xfrm>
          <a:prstGeom prst="rect">
            <a:avLst/>
          </a:prstGeom>
          <a:noFill/>
          <a:ln/>
        </p:spPr>
        <p:txBody>
          <a:bodyPr wrap="square" lIns="127" tIns="127" rIns="127" bIns="127" rtlCol="0" anchor="ctr">
            <a:normAutofit/>
          </a:bodyPr>
          <a:lstStyle/>
          <a:p>
            <a:pPr algn="ctr" indent="0" marL="0">
              <a:buNone/>
            </a:pPr>
            <a:r>
              <a:rPr lang="en-US" sz="1050" dirty="0">
                <a:solidFill>
                  <a:srgbClr val="6E6658"/>
                </a:solidFill>
                <a:latin typeface="Calibri" pitchFamily="34" charset="0"/>
                <a:ea typeface="Calibri" pitchFamily="34" charset="-122"/>
                <a:cs typeface="Calibri" pitchFamily="34" charset="-120"/>
              </a:rPr>
              <a:t>18.69%</a:t>
            </a:r>
            <a:endParaRPr lang="en-US" sz="1050" dirty="0"/>
          </a:p>
        </p:txBody>
      </p:sp>
      <p:sp>
        <p:nvSpPr>
          <p:cNvPr id="29" name="Shape 27"/>
          <p:cNvSpPr/>
          <p:nvPr/>
        </p:nvSpPr>
        <p:spPr>
          <a:xfrm>
            <a:off x="4983480" y="1481328"/>
            <a:ext cx="3017520" cy="2057400"/>
          </a:xfrm>
          <a:prstGeom prst="rect">
            <a:avLst/>
          </a:prstGeom>
          <a:solidFill>
            <a:srgbClr val="EAE3D6"/>
          </a:solidFill>
          <a:ln w="12700">
            <a:solidFill>
              <a:srgbClr val="EAE3D6"/>
            </a:solidFill>
            <a:prstDash val="solid"/>
          </a:ln>
        </p:spPr>
      </p:sp>
      <p:sp>
        <p:nvSpPr>
          <p:cNvPr id="30" name="Text 28"/>
          <p:cNvSpPr/>
          <p:nvPr/>
        </p:nvSpPr>
        <p:spPr>
          <a:xfrm>
            <a:off x="5166360" y="1636776"/>
            <a:ext cx="26517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Audit facts</a:t>
            </a:r>
            <a:endParaRPr lang="en-US" sz="1400" dirty="0"/>
          </a:p>
        </p:txBody>
      </p:sp>
      <p:sp>
        <p:nvSpPr>
          <p:cNvPr id="31" name="Text 29"/>
          <p:cNvSpPr/>
          <p:nvPr/>
        </p:nvSpPr>
        <p:spPr>
          <a:xfrm>
            <a:off x="5166360" y="2011680"/>
            <a:ext cx="2651760" cy="139903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12,112 rows have missing target labels and are excluded from supervised modelling.</a:t>
            </a:r>
            <a:endParaRPr lang="en-US" sz="1100" dirty="0"/>
          </a:p>
          <a:p>
            <a:pPr indent="0" marL="0">
              <a:buNone/>
            </a:pP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After target filtering and duplicate removal: 67,873 labeled unique rows.</a:t>
            </a:r>
            <a:endParaRPr lang="en-US" sz="1100" dirty="0"/>
          </a:p>
          <a:p>
            <a:pPr indent="0" marL="0">
              <a:buNone/>
            </a:pP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Initial numeric predictor matrix: 55 columns.</a:t>
            </a:r>
            <a:endParaRPr lang="en-US" sz="1100" dirty="0"/>
          </a:p>
        </p:txBody>
      </p:sp>
      <p:sp>
        <p:nvSpPr>
          <p:cNvPr id="32" name="Shape 30"/>
          <p:cNvSpPr/>
          <p:nvPr/>
        </p:nvSpPr>
        <p:spPr>
          <a:xfrm>
            <a:off x="8275320" y="1481328"/>
            <a:ext cx="3246120" cy="2057400"/>
          </a:xfrm>
          <a:prstGeom prst="rect">
            <a:avLst/>
          </a:prstGeom>
          <a:solidFill>
            <a:srgbClr val="EAE3D6"/>
          </a:solidFill>
          <a:ln w="12700">
            <a:solidFill>
              <a:srgbClr val="EAE3D6"/>
            </a:solidFill>
            <a:prstDash val="solid"/>
          </a:ln>
        </p:spPr>
      </p:sp>
      <p:sp>
        <p:nvSpPr>
          <p:cNvPr id="33" name="Text 31"/>
          <p:cNvSpPr/>
          <p:nvPr/>
        </p:nvSpPr>
        <p:spPr>
          <a:xfrm>
            <a:off x="8458200" y="1636776"/>
            <a:ext cx="28803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Common evaluation plan</a:t>
            </a:r>
            <a:endParaRPr lang="en-US" sz="1400" dirty="0"/>
          </a:p>
        </p:txBody>
      </p:sp>
      <p:sp>
        <p:nvSpPr>
          <p:cNvPr id="34" name="Text 32"/>
          <p:cNvSpPr/>
          <p:nvPr/>
        </p:nvSpPr>
        <p:spPr>
          <a:xfrm>
            <a:off x="8458200" y="2011680"/>
            <a:ext cx="2880360" cy="139903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80:20 stratified split.</a:t>
            </a:r>
            <a:endParaRPr lang="en-US" sz="1100" dirty="0"/>
          </a:p>
          <a:p>
            <a:pPr indent="0" marL="0">
              <a:buNone/>
            </a:pP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Training algorithms use the same 12,000-row stratified training sample for laptop-feasible SVC and CV.</a:t>
            </a:r>
            <a:endParaRPr lang="en-US" sz="1100" dirty="0"/>
          </a:p>
          <a:p>
            <a:pPr indent="0" marL="0">
              <a:buNone/>
            </a:pP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Held-out test set: 13,575 rows.</a:t>
            </a:r>
            <a:endParaRPr lang="en-US" sz="1100" dirty="0"/>
          </a:p>
        </p:txBody>
      </p:sp>
      <p:sp>
        <p:nvSpPr>
          <p:cNvPr id="35" name="Text 33"/>
          <p:cNvSpPr/>
          <p:nvPr/>
        </p:nvSpPr>
        <p:spPr>
          <a:xfrm>
            <a:off x="640080" y="4160520"/>
            <a:ext cx="2103120" cy="566928"/>
          </a:xfrm>
          <a:prstGeom prst="rect">
            <a:avLst/>
          </a:prstGeom>
          <a:noFill/>
          <a:ln/>
        </p:spPr>
        <p:txBody>
          <a:bodyPr wrap="square" lIns="0" tIns="0" rIns="0" bIns="0" rtlCol="0" anchor="ctr"/>
          <a:lstStyle/>
          <a:p>
            <a:pPr algn="l" indent="0" marL="0">
              <a:buNone/>
            </a:pPr>
            <a:r>
              <a:rPr lang="en-US" sz="3400" b="1" dirty="0">
                <a:solidFill>
                  <a:srgbClr val="A4613C"/>
                </a:solidFill>
                <a:latin typeface="Cambria" pitchFamily="34" charset="0"/>
                <a:ea typeface="Cambria" pitchFamily="34" charset="-122"/>
                <a:cs typeface="Cambria" pitchFamily="34" charset="-120"/>
              </a:rPr>
              <a:t>12,000</a:t>
            </a:r>
            <a:endParaRPr lang="en-US" sz="3400" dirty="0"/>
          </a:p>
        </p:txBody>
      </p:sp>
      <p:sp>
        <p:nvSpPr>
          <p:cNvPr id="36" name="Text 34"/>
          <p:cNvSpPr/>
          <p:nvPr/>
        </p:nvSpPr>
        <p:spPr>
          <a:xfrm>
            <a:off x="640080" y="4727448"/>
            <a:ext cx="2103120" cy="384048"/>
          </a:xfrm>
          <a:prstGeom prst="rect">
            <a:avLst/>
          </a:prstGeom>
          <a:noFill/>
          <a:ln/>
        </p:spPr>
        <p:txBody>
          <a:bodyPr wrap="square" lIns="0" tIns="0" rIns="0" bIns="0" rtlCol="0" anchor="ctr"/>
          <a:lstStyle/>
          <a:p>
            <a:pPr indent="0" marL="0">
              <a:buNone/>
            </a:pPr>
            <a:r>
              <a:rPr lang="en-US" sz="1020" dirty="0">
                <a:solidFill>
                  <a:srgbClr val="6E6658"/>
                </a:solidFill>
                <a:latin typeface="Calibri" pitchFamily="34" charset="0"/>
                <a:ea typeface="Calibri" pitchFamily="34" charset="-122"/>
                <a:cs typeface="Calibri" pitchFamily="34" charset="-120"/>
              </a:rPr>
              <a:t>shared training sample</a:t>
            </a:r>
            <a:endParaRPr lang="en-US" sz="1020" dirty="0"/>
          </a:p>
        </p:txBody>
      </p:sp>
      <p:sp>
        <p:nvSpPr>
          <p:cNvPr id="37" name="Text 35"/>
          <p:cNvSpPr/>
          <p:nvPr/>
        </p:nvSpPr>
        <p:spPr>
          <a:xfrm>
            <a:off x="3108960" y="4160520"/>
            <a:ext cx="2103120" cy="566928"/>
          </a:xfrm>
          <a:prstGeom prst="rect">
            <a:avLst/>
          </a:prstGeom>
          <a:noFill/>
          <a:ln/>
        </p:spPr>
        <p:txBody>
          <a:bodyPr wrap="square" lIns="0" tIns="0" rIns="0" bIns="0" rtlCol="0" anchor="ctr"/>
          <a:lstStyle/>
          <a:p>
            <a:pPr algn="l" indent="0" marL="0">
              <a:buNone/>
            </a:pPr>
            <a:r>
              <a:rPr lang="en-US" sz="3400" b="1" dirty="0">
                <a:solidFill>
                  <a:srgbClr val="A4613C"/>
                </a:solidFill>
                <a:latin typeface="Cambria" pitchFamily="34" charset="0"/>
                <a:ea typeface="Cambria" pitchFamily="34" charset="-122"/>
                <a:cs typeface="Cambria" pitchFamily="34" charset="-120"/>
              </a:rPr>
              <a:t>13,575</a:t>
            </a:r>
            <a:endParaRPr lang="en-US" sz="3400" dirty="0"/>
          </a:p>
        </p:txBody>
      </p:sp>
      <p:sp>
        <p:nvSpPr>
          <p:cNvPr id="38" name="Text 36"/>
          <p:cNvSpPr/>
          <p:nvPr/>
        </p:nvSpPr>
        <p:spPr>
          <a:xfrm>
            <a:off x="3108960" y="4727448"/>
            <a:ext cx="2103120" cy="384048"/>
          </a:xfrm>
          <a:prstGeom prst="rect">
            <a:avLst/>
          </a:prstGeom>
          <a:noFill/>
          <a:ln/>
        </p:spPr>
        <p:txBody>
          <a:bodyPr wrap="square" lIns="0" tIns="0" rIns="0" bIns="0" rtlCol="0" anchor="ctr"/>
          <a:lstStyle/>
          <a:p>
            <a:pPr indent="0" marL="0">
              <a:buNone/>
            </a:pPr>
            <a:r>
              <a:rPr lang="en-US" sz="1020" dirty="0">
                <a:solidFill>
                  <a:srgbClr val="6E6658"/>
                </a:solidFill>
                <a:latin typeface="Calibri" pitchFamily="34" charset="0"/>
                <a:ea typeface="Calibri" pitchFamily="34" charset="-122"/>
                <a:cs typeface="Calibri" pitchFamily="34" charset="-120"/>
              </a:rPr>
              <a:t>held-out test rows</a:t>
            </a:r>
            <a:endParaRPr lang="en-US" sz="1020" dirty="0"/>
          </a:p>
        </p:txBody>
      </p:sp>
      <p:sp>
        <p:nvSpPr>
          <p:cNvPr id="39" name="Text 37"/>
          <p:cNvSpPr/>
          <p:nvPr/>
        </p:nvSpPr>
        <p:spPr>
          <a:xfrm>
            <a:off x="5760720" y="4160520"/>
            <a:ext cx="1828800" cy="566928"/>
          </a:xfrm>
          <a:prstGeom prst="rect">
            <a:avLst/>
          </a:prstGeom>
          <a:noFill/>
          <a:ln/>
        </p:spPr>
        <p:txBody>
          <a:bodyPr wrap="square" lIns="0" tIns="0" rIns="0" bIns="0" rtlCol="0" anchor="ctr"/>
          <a:lstStyle/>
          <a:p>
            <a:pPr algn="l" indent="0" marL="0">
              <a:buNone/>
            </a:pPr>
            <a:r>
              <a:rPr lang="en-US" sz="3400" b="1" dirty="0">
                <a:solidFill>
                  <a:srgbClr val="77856B"/>
                </a:solidFill>
                <a:latin typeface="Cambria" pitchFamily="34" charset="0"/>
                <a:ea typeface="Cambria" pitchFamily="34" charset="-122"/>
                <a:cs typeface="Cambria" pitchFamily="34" charset="-120"/>
              </a:rPr>
              <a:t>55 → 29</a:t>
            </a:r>
            <a:endParaRPr lang="en-US" sz="3400" dirty="0"/>
          </a:p>
        </p:txBody>
      </p:sp>
      <p:sp>
        <p:nvSpPr>
          <p:cNvPr id="40" name="Text 38"/>
          <p:cNvSpPr/>
          <p:nvPr/>
        </p:nvSpPr>
        <p:spPr>
          <a:xfrm>
            <a:off x="5760720" y="4727448"/>
            <a:ext cx="1828800" cy="384048"/>
          </a:xfrm>
          <a:prstGeom prst="rect">
            <a:avLst/>
          </a:prstGeom>
          <a:noFill/>
          <a:ln/>
        </p:spPr>
        <p:txBody>
          <a:bodyPr wrap="square" lIns="0" tIns="0" rIns="0" bIns="0" rtlCol="0" anchor="ctr"/>
          <a:lstStyle/>
          <a:p>
            <a:pPr indent="0" marL="0">
              <a:buNone/>
            </a:pPr>
            <a:r>
              <a:rPr lang="en-US" sz="1020" dirty="0">
                <a:solidFill>
                  <a:srgbClr val="6E6658"/>
                </a:solidFill>
                <a:latin typeface="Calibri" pitchFamily="34" charset="0"/>
                <a:ea typeface="Calibri" pitchFamily="34" charset="-122"/>
                <a:cs typeface="Calibri" pitchFamily="34" charset="-120"/>
              </a:rPr>
              <a:t>numeric predictors retained</a:t>
            </a:r>
            <a:endParaRPr lang="en-US" sz="1020" dirty="0"/>
          </a:p>
        </p:txBody>
      </p:sp>
      <p:sp>
        <p:nvSpPr>
          <p:cNvPr id="41" name="Text 39"/>
          <p:cNvSpPr/>
          <p:nvPr/>
        </p:nvSpPr>
        <p:spPr>
          <a:xfrm>
            <a:off x="8412480" y="4160520"/>
            <a:ext cx="2103120" cy="566928"/>
          </a:xfrm>
          <a:prstGeom prst="rect">
            <a:avLst/>
          </a:prstGeom>
          <a:noFill/>
          <a:ln/>
        </p:spPr>
        <p:txBody>
          <a:bodyPr wrap="square" lIns="0" tIns="0" rIns="0" bIns="0" rtlCol="0" anchor="ctr"/>
          <a:lstStyle/>
          <a:p>
            <a:pPr algn="l" indent="0" marL="0">
              <a:buNone/>
            </a:pPr>
            <a:r>
              <a:rPr lang="en-US" sz="3400" b="1" dirty="0">
                <a:solidFill>
                  <a:srgbClr val="77856B"/>
                </a:solidFill>
                <a:latin typeface="Cambria" pitchFamily="34" charset="0"/>
                <a:ea typeface="Cambria" pitchFamily="34" charset="-122"/>
                <a:cs typeface="Cambria" pitchFamily="34" charset="-120"/>
              </a:rPr>
              <a:t>42</a:t>
            </a:r>
            <a:endParaRPr lang="en-US" sz="3400" dirty="0"/>
          </a:p>
        </p:txBody>
      </p:sp>
      <p:sp>
        <p:nvSpPr>
          <p:cNvPr id="42" name="Text 40"/>
          <p:cNvSpPr/>
          <p:nvPr/>
        </p:nvSpPr>
        <p:spPr>
          <a:xfrm>
            <a:off x="8412480" y="4727448"/>
            <a:ext cx="2103120" cy="384048"/>
          </a:xfrm>
          <a:prstGeom prst="rect">
            <a:avLst/>
          </a:prstGeom>
          <a:noFill/>
          <a:ln/>
        </p:spPr>
        <p:txBody>
          <a:bodyPr wrap="square" lIns="0" tIns="0" rIns="0" bIns="0" rtlCol="0" anchor="ctr"/>
          <a:lstStyle/>
          <a:p>
            <a:pPr indent="0" marL="0">
              <a:buNone/>
            </a:pPr>
            <a:r>
              <a:rPr lang="en-US" sz="1020" dirty="0">
                <a:solidFill>
                  <a:srgbClr val="6E6658"/>
                </a:solidFill>
                <a:latin typeface="Calibri" pitchFamily="34" charset="0"/>
                <a:ea typeface="Calibri" pitchFamily="34" charset="-122"/>
                <a:cs typeface="Calibri" pitchFamily="34" charset="-120"/>
              </a:rPr>
              <a:t>random seed</a:t>
            </a:r>
            <a:endParaRPr lang="en-US" sz="1020" dirty="0"/>
          </a:p>
        </p:txBody>
      </p:sp>
      <p:sp>
        <p:nvSpPr>
          <p:cNvPr id="43" name="Text 41"/>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Executed notebook output: classification_review2.ipynb cells 3–5.</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A · METHOD</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Leak-free preprocessing reused across all ten classifiers</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A · Method</a:t>
            </a:r>
            <a:endParaRPr lang="en-US" sz="900" dirty="0"/>
          </a:p>
        </p:txBody>
      </p:sp>
      <p:sp>
        <p:nvSpPr>
          <p:cNvPr id="5" name="Shape 3"/>
          <p:cNvSpPr/>
          <p:nvPr/>
        </p:nvSpPr>
        <p:spPr>
          <a:xfrm>
            <a:off x="640080" y="1472184"/>
            <a:ext cx="411480" cy="411480"/>
          </a:xfrm>
          <a:prstGeom prst="ellipse">
            <a:avLst/>
          </a:prstGeom>
          <a:solidFill>
            <a:srgbClr val="E3DFD2"/>
          </a:solidFill>
          <a:ln w="12700">
            <a:solidFill>
              <a:srgbClr val="E3DFD2"/>
            </a:solidFill>
            <a:prstDash val="solid"/>
          </a:ln>
        </p:spPr>
      </p:sp>
      <p:sp>
        <p:nvSpPr>
          <p:cNvPr id="6" name="Text 4"/>
          <p:cNvSpPr/>
          <p:nvPr/>
        </p:nvSpPr>
        <p:spPr>
          <a:xfrm>
            <a:off x="640080" y="1536192"/>
            <a:ext cx="411480" cy="182880"/>
          </a:xfrm>
          <a:prstGeom prst="rect">
            <a:avLst/>
          </a:prstGeom>
          <a:noFill/>
          <a:ln/>
        </p:spPr>
        <p:txBody>
          <a:bodyPr wrap="square" lIns="0" tIns="0" rIns="0" bIns="0" rtlCol="0" anchor="ctr"/>
          <a:lstStyle/>
          <a:p>
            <a:pPr algn="ctr" indent="0" marL="0">
              <a:buNone/>
            </a:pPr>
            <a:r>
              <a:rPr lang="en-US" sz="1200" b="1" dirty="0">
                <a:solidFill>
                  <a:srgbClr val="A4613C"/>
                </a:solidFill>
                <a:latin typeface="Cambria" pitchFamily="34" charset="0"/>
                <a:ea typeface="Cambria" pitchFamily="34" charset="-122"/>
                <a:cs typeface="Cambria" pitchFamily="34" charset="-120"/>
              </a:rPr>
              <a:t>1</a:t>
            </a:r>
            <a:endParaRPr lang="en-US" sz="1200" dirty="0"/>
          </a:p>
        </p:txBody>
      </p:sp>
      <p:sp>
        <p:nvSpPr>
          <p:cNvPr id="7" name="Text 5"/>
          <p:cNvSpPr/>
          <p:nvPr/>
        </p:nvSpPr>
        <p:spPr>
          <a:xfrm>
            <a:off x="1280160" y="1417320"/>
            <a:ext cx="2971800" cy="256032"/>
          </a:xfrm>
          <a:prstGeom prst="rect">
            <a:avLst/>
          </a:prstGeom>
          <a:noFill/>
          <a:ln/>
        </p:spPr>
        <p:txBody>
          <a:bodyPr wrap="square" lIns="0" tIns="0" rIns="0" bIns="0" rtlCol="0" anchor="ctr"/>
          <a:lstStyle/>
          <a:p>
            <a:pPr indent="0" marL="0">
              <a:buNone/>
            </a:pPr>
            <a:r>
              <a:rPr lang="en-US" sz="1350" b="1" dirty="0">
                <a:solidFill>
                  <a:srgbClr val="2B2A26"/>
                </a:solidFill>
                <a:latin typeface="Cambria" pitchFamily="34" charset="0"/>
                <a:ea typeface="Cambria" pitchFamily="34" charset="-122"/>
                <a:cs typeface="Cambria" pitchFamily="34" charset="-120"/>
              </a:rPr>
              <a:t>Date feature engineering</a:t>
            </a:r>
            <a:endParaRPr lang="en-US" sz="1350" dirty="0"/>
          </a:p>
        </p:txBody>
      </p:sp>
      <p:sp>
        <p:nvSpPr>
          <p:cNvPr id="8" name="Text 6"/>
          <p:cNvSpPr/>
          <p:nvPr/>
        </p:nvSpPr>
        <p:spPr>
          <a:xfrm>
            <a:off x="4297680" y="1380744"/>
            <a:ext cx="6903720" cy="594360"/>
          </a:xfrm>
          <a:prstGeom prst="rect">
            <a:avLst/>
          </a:prstGeom>
          <a:noFill/>
          <a:ln/>
        </p:spPr>
        <p:txBody>
          <a:bodyPr wrap="square" lIns="0" tIns="0" rIns="0" bIns="0" rtlCol="0" anchor="ctr">
            <a:normAutofit/>
          </a:bodyPr>
          <a:lstStyle/>
          <a:p>
            <a:pPr indent="0" marL="0">
              <a:buNone/>
            </a:pPr>
            <a:r>
              <a:rPr lang="en-US" sz="1080" dirty="0">
                <a:solidFill>
                  <a:srgbClr val="6E6658"/>
                </a:solidFill>
                <a:latin typeface="Calibri" pitchFamily="34" charset="0"/>
                <a:ea typeface="Calibri" pitchFamily="34" charset="-122"/>
                <a:cs typeface="Calibri" pitchFamily="34" charset="-120"/>
              </a:rPr>
              <a:t>Sample Date → year, month, day-of-year, month sin/cos. Raw date/time text is not used directly.</a:t>
            </a:r>
            <a:endParaRPr lang="en-US" sz="1080" dirty="0"/>
          </a:p>
        </p:txBody>
      </p:sp>
      <p:sp>
        <p:nvSpPr>
          <p:cNvPr id="9" name="Shape 7"/>
          <p:cNvSpPr/>
          <p:nvPr/>
        </p:nvSpPr>
        <p:spPr>
          <a:xfrm>
            <a:off x="868680" y="1947672"/>
            <a:ext cx="0" cy="658368"/>
          </a:xfrm>
          <a:prstGeom prst="line">
            <a:avLst/>
          </a:prstGeom>
          <a:noFill/>
          <a:ln w="12700">
            <a:solidFill>
              <a:srgbClr val="D8D0C1"/>
            </a:solidFill>
            <a:prstDash val="solid"/>
          </a:ln>
        </p:spPr>
      </p:sp>
      <p:sp>
        <p:nvSpPr>
          <p:cNvPr id="10" name="Shape 8"/>
          <p:cNvSpPr/>
          <p:nvPr/>
        </p:nvSpPr>
        <p:spPr>
          <a:xfrm>
            <a:off x="640080" y="2606040"/>
            <a:ext cx="411480" cy="411480"/>
          </a:xfrm>
          <a:prstGeom prst="ellipse">
            <a:avLst/>
          </a:prstGeom>
          <a:solidFill>
            <a:srgbClr val="E3DFD2"/>
          </a:solidFill>
          <a:ln w="12700">
            <a:solidFill>
              <a:srgbClr val="E3DFD2"/>
            </a:solidFill>
            <a:prstDash val="solid"/>
          </a:ln>
        </p:spPr>
      </p:sp>
      <p:sp>
        <p:nvSpPr>
          <p:cNvPr id="11" name="Text 9"/>
          <p:cNvSpPr/>
          <p:nvPr/>
        </p:nvSpPr>
        <p:spPr>
          <a:xfrm>
            <a:off x="640080" y="2670048"/>
            <a:ext cx="411480" cy="182880"/>
          </a:xfrm>
          <a:prstGeom prst="rect">
            <a:avLst/>
          </a:prstGeom>
          <a:noFill/>
          <a:ln/>
        </p:spPr>
        <p:txBody>
          <a:bodyPr wrap="square" lIns="0" tIns="0" rIns="0" bIns="0" rtlCol="0" anchor="ctr"/>
          <a:lstStyle/>
          <a:p>
            <a:pPr algn="ctr" indent="0" marL="0">
              <a:buNone/>
            </a:pPr>
            <a:r>
              <a:rPr lang="en-US" sz="1200" b="1" dirty="0">
                <a:solidFill>
                  <a:srgbClr val="A4613C"/>
                </a:solidFill>
                <a:latin typeface="Cambria" pitchFamily="34" charset="0"/>
                <a:ea typeface="Cambria" pitchFamily="34" charset="-122"/>
                <a:cs typeface="Cambria" pitchFamily="34" charset="-120"/>
              </a:rPr>
              <a:t>2</a:t>
            </a:r>
            <a:endParaRPr lang="en-US" sz="1200" dirty="0"/>
          </a:p>
        </p:txBody>
      </p:sp>
      <p:sp>
        <p:nvSpPr>
          <p:cNvPr id="12" name="Text 10"/>
          <p:cNvSpPr/>
          <p:nvPr/>
        </p:nvSpPr>
        <p:spPr>
          <a:xfrm>
            <a:off x="1280160" y="2551176"/>
            <a:ext cx="2971800" cy="256032"/>
          </a:xfrm>
          <a:prstGeom prst="rect">
            <a:avLst/>
          </a:prstGeom>
          <a:noFill/>
          <a:ln/>
        </p:spPr>
        <p:txBody>
          <a:bodyPr wrap="square" lIns="0" tIns="0" rIns="0" bIns="0" rtlCol="0" anchor="ctr"/>
          <a:lstStyle/>
          <a:p>
            <a:pPr indent="0" marL="0">
              <a:buNone/>
            </a:pPr>
            <a:r>
              <a:rPr lang="en-US" sz="1350" b="1" dirty="0">
                <a:solidFill>
                  <a:srgbClr val="2B2A26"/>
                </a:solidFill>
                <a:latin typeface="Cambria" pitchFamily="34" charset="0"/>
                <a:ea typeface="Cambria" pitchFamily="34" charset="-122"/>
                <a:cs typeface="Cambria" pitchFamily="34" charset="-120"/>
              </a:rPr>
              <a:t>Train-only feature retention</a:t>
            </a:r>
            <a:endParaRPr lang="en-US" sz="1350" dirty="0"/>
          </a:p>
        </p:txBody>
      </p:sp>
      <p:sp>
        <p:nvSpPr>
          <p:cNvPr id="13" name="Text 11"/>
          <p:cNvSpPr/>
          <p:nvPr/>
        </p:nvSpPr>
        <p:spPr>
          <a:xfrm>
            <a:off x="4297680" y="2514600"/>
            <a:ext cx="6903720" cy="594360"/>
          </a:xfrm>
          <a:prstGeom prst="rect">
            <a:avLst/>
          </a:prstGeom>
          <a:noFill/>
          <a:ln/>
        </p:spPr>
        <p:txBody>
          <a:bodyPr wrap="square" lIns="0" tIns="0" rIns="0" bIns="0" rtlCol="0" anchor="ctr">
            <a:normAutofit/>
          </a:bodyPr>
          <a:lstStyle/>
          <a:p>
            <a:pPr indent="0" marL="0">
              <a:buNone/>
            </a:pPr>
            <a:r>
              <a:rPr lang="en-US" sz="1080" dirty="0">
                <a:solidFill>
                  <a:srgbClr val="6E6658"/>
                </a:solidFill>
                <a:latin typeface="Calibri" pitchFamily="34" charset="0"/>
                <a:ea typeface="Calibri" pitchFamily="34" charset="-122"/>
                <a:cs typeface="Calibri" pitchFamily="34" charset="-120"/>
              </a:rPr>
              <a:t>Columns with &gt;80% missingness are rejected using the training sample only — never the test set.</a:t>
            </a:r>
            <a:endParaRPr lang="en-US" sz="1080" dirty="0"/>
          </a:p>
        </p:txBody>
      </p:sp>
      <p:sp>
        <p:nvSpPr>
          <p:cNvPr id="14" name="Shape 12"/>
          <p:cNvSpPr/>
          <p:nvPr/>
        </p:nvSpPr>
        <p:spPr>
          <a:xfrm>
            <a:off x="868680" y="3081528"/>
            <a:ext cx="0" cy="658368"/>
          </a:xfrm>
          <a:prstGeom prst="line">
            <a:avLst/>
          </a:prstGeom>
          <a:noFill/>
          <a:ln w="12700">
            <a:solidFill>
              <a:srgbClr val="D8D0C1"/>
            </a:solidFill>
            <a:prstDash val="solid"/>
          </a:ln>
        </p:spPr>
      </p:sp>
      <p:sp>
        <p:nvSpPr>
          <p:cNvPr id="15" name="Shape 13"/>
          <p:cNvSpPr/>
          <p:nvPr/>
        </p:nvSpPr>
        <p:spPr>
          <a:xfrm>
            <a:off x="640080" y="3739896"/>
            <a:ext cx="411480" cy="411480"/>
          </a:xfrm>
          <a:prstGeom prst="ellipse">
            <a:avLst/>
          </a:prstGeom>
          <a:solidFill>
            <a:srgbClr val="E3DFD2"/>
          </a:solidFill>
          <a:ln w="12700">
            <a:solidFill>
              <a:srgbClr val="E3DFD2"/>
            </a:solidFill>
            <a:prstDash val="solid"/>
          </a:ln>
        </p:spPr>
      </p:sp>
      <p:sp>
        <p:nvSpPr>
          <p:cNvPr id="16" name="Text 14"/>
          <p:cNvSpPr/>
          <p:nvPr/>
        </p:nvSpPr>
        <p:spPr>
          <a:xfrm>
            <a:off x="640080" y="3803904"/>
            <a:ext cx="411480" cy="182880"/>
          </a:xfrm>
          <a:prstGeom prst="rect">
            <a:avLst/>
          </a:prstGeom>
          <a:noFill/>
          <a:ln/>
        </p:spPr>
        <p:txBody>
          <a:bodyPr wrap="square" lIns="0" tIns="0" rIns="0" bIns="0" rtlCol="0" anchor="ctr"/>
          <a:lstStyle/>
          <a:p>
            <a:pPr algn="ctr" indent="0" marL="0">
              <a:buNone/>
            </a:pPr>
            <a:r>
              <a:rPr lang="en-US" sz="1200" b="1" dirty="0">
                <a:solidFill>
                  <a:srgbClr val="A4613C"/>
                </a:solidFill>
                <a:latin typeface="Cambria" pitchFamily="34" charset="0"/>
                <a:ea typeface="Cambria" pitchFamily="34" charset="-122"/>
                <a:cs typeface="Cambria" pitchFamily="34" charset="-120"/>
              </a:rPr>
              <a:t>3</a:t>
            </a:r>
            <a:endParaRPr lang="en-US" sz="1200" dirty="0"/>
          </a:p>
        </p:txBody>
      </p:sp>
      <p:sp>
        <p:nvSpPr>
          <p:cNvPr id="17" name="Text 15"/>
          <p:cNvSpPr/>
          <p:nvPr/>
        </p:nvSpPr>
        <p:spPr>
          <a:xfrm>
            <a:off x="1280160" y="3685032"/>
            <a:ext cx="2971800" cy="256032"/>
          </a:xfrm>
          <a:prstGeom prst="rect">
            <a:avLst/>
          </a:prstGeom>
          <a:noFill/>
          <a:ln/>
        </p:spPr>
        <p:txBody>
          <a:bodyPr wrap="square" lIns="0" tIns="0" rIns="0" bIns="0" rtlCol="0" anchor="ctr"/>
          <a:lstStyle/>
          <a:p>
            <a:pPr indent="0" marL="0">
              <a:buNone/>
            </a:pPr>
            <a:r>
              <a:rPr lang="en-US" sz="1350" b="1" dirty="0">
                <a:solidFill>
                  <a:srgbClr val="2B2A26"/>
                </a:solidFill>
                <a:latin typeface="Cambria" pitchFamily="34" charset="0"/>
                <a:ea typeface="Cambria" pitchFamily="34" charset="-122"/>
                <a:cs typeface="Cambria" pitchFamily="34" charset="-120"/>
              </a:rPr>
              <a:t>Imputation + missing indicators</a:t>
            </a:r>
            <a:endParaRPr lang="en-US" sz="1350" dirty="0"/>
          </a:p>
        </p:txBody>
      </p:sp>
      <p:sp>
        <p:nvSpPr>
          <p:cNvPr id="18" name="Text 16"/>
          <p:cNvSpPr/>
          <p:nvPr/>
        </p:nvSpPr>
        <p:spPr>
          <a:xfrm>
            <a:off x="4297680" y="3648456"/>
            <a:ext cx="6903720" cy="594360"/>
          </a:xfrm>
          <a:prstGeom prst="rect">
            <a:avLst/>
          </a:prstGeom>
          <a:noFill/>
          <a:ln/>
        </p:spPr>
        <p:txBody>
          <a:bodyPr wrap="square" lIns="0" tIns="0" rIns="0" bIns="0" rtlCol="0" anchor="ctr">
            <a:normAutofit/>
          </a:bodyPr>
          <a:lstStyle/>
          <a:p>
            <a:pPr indent="0" marL="0">
              <a:buNone/>
            </a:pPr>
            <a:r>
              <a:rPr lang="en-US" sz="1080" dirty="0">
                <a:solidFill>
                  <a:srgbClr val="6E6658"/>
                </a:solidFill>
                <a:latin typeface="Calibri" pitchFamily="34" charset="0"/>
                <a:ea typeface="Calibri" pitchFamily="34" charset="-122"/>
                <a:cs typeface="Calibri" pitchFamily="34" charset="-120"/>
              </a:rPr>
              <a:t>Median imputation is fitted inside each Pipeline; missingness indicator columns preserve information that a measurement was absent.</a:t>
            </a:r>
            <a:endParaRPr lang="en-US" sz="1080" dirty="0"/>
          </a:p>
        </p:txBody>
      </p:sp>
      <p:sp>
        <p:nvSpPr>
          <p:cNvPr id="19" name="Shape 17"/>
          <p:cNvSpPr/>
          <p:nvPr/>
        </p:nvSpPr>
        <p:spPr>
          <a:xfrm>
            <a:off x="868680" y="4215384"/>
            <a:ext cx="0" cy="658368"/>
          </a:xfrm>
          <a:prstGeom prst="line">
            <a:avLst/>
          </a:prstGeom>
          <a:noFill/>
          <a:ln w="12700">
            <a:solidFill>
              <a:srgbClr val="D8D0C1"/>
            </a:solidFill>
            <a:prstDash val="solid"/>
          </a:ln>
        </p:spPr>
      </p:sp>
      <p:sp>
        <p:nvSpPr>
          <p:cNvPr id="20" name="Shape 18"/>
          <p:cNvSpPr/>
          <p:nvPr/>
        </p:nvSpPr>
        <p:spPr>
          <a:xfrm>
            <a:off x="640080" y="4873752"/>
            <a:ext cx="411480" cy="411480"/>
          </a:xfrm>
          <a:prstGeom prst="ellipse">
            <a:avLst/>
          </a:prstGeom>
          <a:solidFill>
            <a:srgbClr val="E3DFD2"/>
          </a:solidFill>
          <a:ln w="12700">
            <a:solidFill>
              <a:srgbClr val="E3DFD2"/>
            </a:solidFill>
            <a:prstDash val="solid"/>
          </a:ln>
        </p:spPr>
      </p:sp>
      <p:sp>
        <p:nvSpPr>
          <p:cNvPr id="21" name="Text 19"/>
          <p:cNvSpPr/>
          <p:nvPr/>
        </p:nvSpPr>
        <p:spPr>
          <a:xfrm>
            <a:off x="640080" y="4937760"/>
            <a:ext cx="411480" cy="182880"/>
          </a:xfrm>
          <a:prstGeom prst="rect">
            <a:avLst/>
          </a:prstGeom>
          <a:noFill/>
          <a:ln/>
        </p:spPr>
        <p:txBody>
          <a:bodyPr wrap="square" lIns="0" tIns="0" rIns="0" bIns="0" rtlCol="0" anchor="ctr"/>
          <a:lstStyle/>
          <a:p>
            <a:pPr algn="ctr" indent="0" marL="0">
              <a:buNone/>
            </a:pPr>
            <a:r>
              <a:rPr lang="en-US" sz="1200" b="1" dirty="0">
                <a:solidFill>
                  <a:srgbClr val="A4613C"/>
                </a:solidFill>
                <a:latin typeface="Cambria" pitchFamily="34" charset="0"/>
                <a:ea typeface="Cambria" pitchFamily="34" charset="-122"/>
                <a:cs typeface="Cambria" pitchFamily="34" charset="-120"/>
              </a:rPr>
              <a:t>4</a:t>
            </a:r>
            <a:endParaRPr lang="en-US" sz="1200" dirty="0"/>
          </a:p>
        </p:txBody>
      </p:sp>
      <p:sp>
        <p:nvSpPr>
          <p:cNvPr id="22" name="Text 20"/>
          <p:cNvSpPr/>
          <p:nvPr/>
        </p:nvSpPr>
        <p:spPr>
          <a:xfrm>
            <a:off x="1280160" y="4818888"/>
            <a:ext cx="2971800" cy="256032"/>
          </a:xfrm>
          <a:prstGeom prst="rect">
            <a:avLst/>
          </a:prstGeom>
          <a:noFill/>
          <a:ln/>
        </p:spPr>
        <p:txBody>
          <a:bodyPr wrap="square" lIns="0" tIns="0" rIns="0" bIns="0" rtlCol="0" anchor="ctr"/>
          <a:lstStyle/>
          <a:p>
            <a:pPr indent="0" marL="0">
              <a:buNone/>
            </a:pPr>
            <a:r>
              <a:rPr lang="en-US" sz="1350" b="1" dirty="0">
                <a:solidFill>
                  <a:srgbClr val="2B2A26"/>
                </a:solidFill>
                <a:latin typeface="Cambria" pitchFamily="34" charset="0"/>
                <a:ea typeface="Cambria" pitchFamily="34" charset="-122"/>
                <a:cs typeface="Cambria" pitchFamily="34" charset="-120"/>
              </a:rPr>
              <a:t>Scaling</a:t>
            </a:r>
            <a:endParaRPr lang="en-US" sz="1350" dirty="0"/>
          </a:p>
        </p:txBody>
      </p:sp>
      <p:sp>
        <p:nvSpPr>
          <p:cNvPr id="23" name="Text 21"/>
          <p:cNvSpPr/>
          <p:nvPr/>
        </p:nvSpPr>
        <p:spPr>
          <a:xfrm>
            <a:off x="4297680" y="4782312"/>
            <a:ext cx="6903720" cy="594360"/>
          </a:xfrm>
          <a:prstGeom prst="rect">
            <a:avLst/>
          </a:prstGeom>
          <a:noFill/>
          <a:ln/>
        </p:spPr>
        <p:txBody>
          <a:bodyPr wrap="square" lIns="0" tIns="0" rIns="0" bIns="0" rtlCol="0" anchor="ctr">
            <a:normAutofit/>
          </a:bodyPr>
          <a:lstStyle/>
          <a:p>
            <a:pPr indent="0" marL="0">
              <a:buNone/>
            </a:pPr>
            <a:r>
              <a:rPr lang="en-US" sz="1080" dirty="0">
                <a:solidFill>
                  <a:srgbClr val="6E6658"/>
                </a:solidFill>
                <a:latin typeface="Calibri" pitchFamily="34" charset="0"/>
                <a:ea typeface="Calibri" pitchFamily="34" charset="-122"/>
                <a:cs typeface="Calibri" pitchFamily="34" charset="-120"/>
              </a:rPr>
              <a:t>StandardScaler is fitted inside the Pipeline. The identical policy is applied to every classifier.</a:t>
            </a:r>
            <a:endParaRPr lang="en-US" sz="1080" dirty="0"/>
          </a:p>
        </p:txBody>
      </p:sp>
      <p:sp>
        <p:nvSpPr>
          <p:cNvPr id="24" name="Text 22"/>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Project implementation: src/classification.py · SimpleImputer(add_indicator=True) + StandardScaler inside Pipeline.</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A · MODELS</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Algorithms 6–8 · Random Forest, AdaBoost, Gradient Boosting</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A · Models</a:t>
            </a:r>
            <a:endParaRPr lang="en-US" sz="900" dirty="0"/>
          </a:p>
        </p:txBody>
      </p:sp>
      <p:sp>
        <p:nvSpPr>
          <p:cNvPr id="5" name="Shape 3"/>
          <p:cNvSpPr/>
          <p:nvPr/>
        </p:nvSpPr>
        <p:spPr>
          <a:xfrm>
            <a:off x="594360" y="1417320"/>
            <a:ext cx="3520440" cy="4160520"/>
          </a:xfrm>
          <a:prstGeom prst="rect">
            <a:avLst/>
          </a:prstGeom>
          <a:solidFill>
            <a:srgbClr val="EAE3D6"/>
          </a:solidFill>
          <a:ln w="12700">
            <a:solidFill>
              <a:srgbClr val="EAE3D6"/>
            </a:solidFill>
            <a:prstDash val="solid"/>
          </a:ln>
        </p:spPr>
      </p:sp>
      <p:sp>
        <p:nvSpPr>
          <p:cNvPr id="6" name="Text 4"/>
          <p:cNvSpPr/>
          <p:nvPr/>
        </p:nvSpPr>
        <p:spPr>
          <a:xfrm>
            <a:off x="777240" y="1572768"/>
            <a:ext cx="315468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6. Random Forest</a:t>
            </a:r>
            <a:endParaRPr lang="en-US" sz="1400" dirty="0"/>
          </a:p>
        </p:txBody>
      </p:sp>
      <p:sp>
        <p:nvSpPr>
          <p:cNvPr id="7" name="Text 5"/>
          <p:cNvSpPr/>
          <p:nvPr/>
        </p:nvSpPr>
        <p:spPr>
          <a:xfrm>
            <a:off x="777240" y="1947672"/>
            <a:ext cx="3154680" cy="3502152"/>
          </a:xfrm>
          <a:prstGeom prst="rect">
            <a:avLst/>
          </a:prstGeom>
          <a:noFill/>
          <a:ln/>
        </p:spPr>
        <p:txBody>
          <a:bodyPr wrap="square" lIns="254" tIns="254" rIns="254" bIns="254" rtlCol="0" anchor="t">
            <a:normAutofit/>
          </a:bodyPr>
          <a:lstStyle/>
          <a:p>
            <a:pPr indent="0" marL="0">
              <a:buNone/>
            </a:pPr>
            <a:r>
              <a:rPr lang="en-US" sz="1080" dirty="0">
                <a:solidFill>
                  <a:srgbClr val="6E6658"/>
                </a:solidFill>
                <a:latin typeface="Calibri" pitchFamily="34" charset="0"/>
                <a:ea typeface="Calibri" pitchFamily="34" charset="-122"/>
                <a:cs typeface="Calibri" pitchFamily="34" charset="-120"/>
              </a:rPr>
              <a:t>100 decision trees are fitted on bootstrapped samples with random feature selection. The ensemble reduces the variance of a single tree.</a:t>
            </a:r>
            <a:endParaRPr lang="en-US" sz="1080" dirty="0"/>
          </a:p>
          <a:p>
            <a:pPr indent="0" marL="0">
              <a:buNone/>
            </a:pPr>
            <a:endParaRPr lang="en-US" sz="1080" dirty="0"/>
          </a:p>
          <a:p>
            <a:pPr indent="0" marL="0">
              <a:buNone/>
            </a:pPr>
            <a:r>
              <a:rPr lang="en-US" sz="1080" dirty="0">
                <a:solidFill>
                  <a:srgbClr val="6E6658"/>
                </a:solidFill>
                <a:latin typeface="Calibri" pitchFamily="34" charset="0"/>
                <a:ea typeface="Calibri" pitchFamily="34" charset="-122"/>
                <a:cs typeface="Calibri" pitchFamily="34" charset="-120"/>
              </a:rPr>
              <a:t>Project settings</a:t>
            </a:r>
            <a:endParaRPr lang="en-US" sz="1080" dirty="0"/>
          </a:p>
          <a:p>
            <a:pPr indent="0" marL="0">
              <a:buNone/>
            </a:pPr>
            <a:r>
              <a:rPr lang="en-US" sz="1080" dirty="0">
                <a:solidFill>
                  <a:srgbClr val="6E6658"/>
                </a:solidFill>
                <a:latin typeface="Calibri" pitchFamily="34" charset="0"/>
                <a:ea typeface="Calibri" pitchFamily="34" charset="-122"/>
                <a:cs typeface="Calibri" pitchFamily="34" charset="-120"/>
              </a:rPr>
              <a:t>• n_estimators = 100</a:t>
            </a:r>
            <a:endParaRPr lang="en-US" sz="1080" dirty="0"/>
          </a:p>
          <a:p>
            <a:pPr indent="0" marL="0">
              <a:buNone/>
            </a:pPr>
            <a:r>
              <a:rPr lang="en-US" sz="1080" dirty="0">
                <a:solidFill>
                  <a:srgbClr val="6E6658"/>
                </a:solidFill>
                <a:latin typeface="Calibri" pitchFamily="34" charset="0"/>
                <a:ea typeface="Calibri" pitchFamily="34" charset="-122"/>
                <a:cs typeface="Calibri" pitchFamily="34" charset="-120"/>
              </a:rPr>
              <a:t>• max_depth = 16</a:t>
            </a:r>
            <a:endParaRPr lang="en-US" sz="1080" dirty="0"/>
          </a:p>
          <a:p>
            <a:pPr indent="0" marL="0">
              <a:buNone/>
            </a:pPr>
            <a:r>
              <a:rPr lang="en-US" sz="1080" dirty="0">
                <a:solidFill>
                  <a:srgbClr val="6E6658"/>
                </a:solidFill>
                <a:latin typeface="Calibri" pitchFamily="34" charset="0"/>
                <a:ea typeface="Calibri" pitchFamily="34" charset="-122"/>
                <a:cs typeface="Calibri" pitchFamily="34" charset="-120"/>
              </a:rPr>
              <a:t>• n_jobs = 2</a:t>
            </a:r>
            <a:endParaRPr lang="en-US" sz="1080" dirty="0"/>
          </a:p>
          <a:p>
            <a:pPr indent="0" marL="0">
              <a:buNone/>
            </a:pPr>
            <a:r>
              <a:rPr lang="en-US" sz="1080" dirty="0">
                <a:solidFill>
                  <a:srgbClr val="6E6658"/>
                </a:solidFill>
                <a:latin typeface="Calibri" pitchFamily="34" charset="0"/>
                <a:ea typeface="Calibri" pitchFamily="34" charset="-122"/>
                <a:cs typeface="Calibri" pitchFamily="34" charset="-120"/>
              </a:rPr>
              <a:t>• random_state = 42</a:t>
            </a:r>
            <a:endParaRPr lang="en-US" sz="1080" dirty="0"/>
          </a:p>
          <a:p>
            <a:pPr indent="0" marL="0">
              <a:buNone/>
            </a:pPr>
            <a:endParaRPr lang="en-US" sz="1080" dirty="0"/>
          </a:p>
          <a:p>
            <a:pPr indent="0" marL="0">
              <a:buNone/>
            </a:pPr>
            <a:r>
              <a:rPr lang="en-US" sz="1080" dirty="0">
                <a:solidFill>
                  <a:srgbClr val="6E6658"/>
                </a:solidFill>
                <a:latin typeface="Calibri" pitchFamily="34" charset="0"/>
                <a:ea typeface="Calibri" pitchFamily="34" charset="-122"/>
                <a:cs typeface="Calibri" pitchFamily="34" charset="-120"/>
              </a:rPr>
              <a:t>Held-out: accuracy 0.8855 · weighted F1 0.8837 · ROC-AUC 0.9680</a:t>
            </a:r>
            <a:endParaRPr lang="en-US" sz="1080" dirty="0"/>
          </a:p>
        </p:txBody>
      </p:sp>
      <p:sp>
        <p:nvSpPr>
          <p:cNvPr id="8" name="Shape 6"/>
          <p:cNvSpPr/>
          <p:nvPr/>
        </p:nvSpPr>
        <p:spPr>
          <a:xfrm>
            <a:off x="4343400" y="1417320"/>
            <a:ext cx="3520440" cy="4160520"/>
          </a:xfrm>
          <a:prstGeom prst="rect">
            <a:avLst/>
          </a:prstGeom>
          <a:solidFill>
            <a:srgbClr val="EAE3D6"/>
          </a:solidFill>
          <a:ln w="12700">
            <a:solidFill>
              <a:srgbClr val="EAE3D6"/>
            </a:solidFill>
            <a:prstDash val="solid"/>
          </a:ln>
        </p:spPr>
      </p:sp>
      <p:sp>
        <p:nvSpPr>
          <p:cNvPr id="9" name="Text 7"/>
          <p:cNvSpPr/>
          <p:nvPr/>
        </p:nvSpPr>
        <p:spPr>
          <a:xfrm>
            <a:off x="4526280" y="1572768"/>
            <a:ext cx="315468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7. AdaBoost</a:t>
            </a:r>
            <a:endParaRPr lang="en-US" sz="1400" dirty="0"/>
          </a:p>
        </p:txBody>
      </p:sp>
      <p:sp>
        <p:nvSpPr>
          <p:cNvPr id="10" name="Text 8"/>
          <p:cNvSpPr/>
          <p:nvPr/>
        </p:nvSpPr>
        <p:spPr>
          <a:xfrm>
            <a:off x="4526280" y="1947672"/>
            <a:ext cx="3154680" cy="3502152"/>
          </a:xfrm>
          <a:prstGeom prst="rect">
            <a:avLst/>
          </a:prstGeom>
          <a:noFill/>
          <a:ln/>
        </p:spPr>
        <p:txBody>
          <a:bodyPr wrap="square" lIns="254" tIns="254" rIns="254" bIns="254" rtlCol="0" anchor="t">
            <a:normAutofit/>
          </a:bodyPr>
          <a:lstStyle/>
          <a:p>
            <a:pPr indent="0" marL="0">
              <a:buNone/>
            </a:pPr>
            <a:r>
              <a:rPr lang="en-US" sz="1080" dirty="0">
                <a:solidFill>
                  <a:srgbClr val="6E6658"/>
                </a:solidFill>
                <a:latin typeface="Calibri" pitchFamily="34" charset="0"/>
                <a:ea typeface="Calibri" pitchFamily="34" charset="-122"/>
                <a:cs typeface="Calibri" pitchFamily="34" charset="-120"/>
              </a:rPr>
              <a:t>Sequential weak learners focus progressively on samples earlier learners classified incorrectly.</a:t>
            </a:r>
            <a:endParaRPr lang="en-US" sz="1080" dirty="0"/>
          </a:p>
          <a:p>
            <a:pPr indent="0" marL="0">
              <a:buNone/>
            </a:pPr>
            <a:endParaRPr lang="en-US" sz="1080" dirty="0"/>
          </a:p>
          <a:p>
            <a:pPr indent="0" marL="0">
              <a:buNone/>
            </a:pPr>
            <a:r>
              <a:rPr lang="en-US" sz="1080" dirty="0">
                <a:solidFill>
                  <a:srgbClr val="6E6658"/>
                </a:solidFill>
                <a:latin typeface="Calibri" pitchFamily="34" charset="0"/>
                <a:ea typeface="Calibri" pitchFamily="34" charset="-122"/>
                <a:cs typeface="Calibri" pitchFamily="34" charset="-120"/>
              </a:rPr>
              <a:t>Project settings</a:t>
            </a:r>
            <a:endParaRPr lang="en-US" sz="1080" dirty="0"/>
          </a:p>
          <a:p>
            <a:pPr indent="0" marL="0">
              <a:buNone/>
            </a:pPr>
            <a:r>
              <a:rPr lang="en-US" sz="1080" dirty="0">
                <a:solidFill>
                  <a:srgbClr val="6E6658"/>
                </a:solidFill>
                <a:latin typeface="Calibri" pitchFamily="34" charset="0"/>
                <a:ea typeface="Calibri" pitchFamily="34" charset="-122"/>
                <a:cs typeface="Calibri" pitchFamily="34" charset="-120"/>
              </a:rPr>
              <a:t>• n_estimators = 80</a:t>
            </a:r>
            <a:endParaRPr lang="en-US" sz="1080" dirty="0"/>
          </a:p>
          <a:p>
            <a:pPr indent="0" marL="0">
              <a:buNone/>
            </a:pPr>
            <a:r>
              <a:rPr lang="en-US" sz="1080" dirty="0">
                <a:solidFill>
                  <a:srgbClr val="6E6658"/>
                </a:solidFill>
                <a:latin typeface="Calibri" pitchFamily="34" charset="0"/>
                <a:ea typeface="Calibri" pitchFamily="34" charset="-122"/>
                <a:cs typeface="Calibri" pitchFamily="34" charset="-120"/>
              </a:rPr>
              <a:t>• learning_rate = 0.5</a:t>
            </a:r>
            <a:endParaRPr lang="en-US" sz="1080" dirty="0"/>
          </a:p>
          <a:p>
            <a:pPr indent="0" marL="0">
              <a:buNone/>
            </a:pPr>
            <a:r>
              <a:rPr lang="en-US" sz="1080" dirty="0">
                <a:solidFill>
                  <a:srgbClr val="6E6658"/>
                </a:solidFill>
                <a:latin typeface="Calibri" pitchFamily="34" charset="0"/>
                <a:ea typeface="Calibri" pitchFamily="34" charset="-122"/>
                <a:cs typeface="Calibri" pitchFamily="34" charset="-120"/>
              </a:rPr>
              <a:t>• random_state = 42</a:t>
            </a:r>
            <a:endParaRPr lang="en-US" sz="1080" dirty="0"/>
          </a:p>
          <a:p>
            <a:pPr indent="0" marL="0">
              <a:buNone/>
            </a:pPr>
            <a:endParaRPr lang="en-US" sz="1080" dirty="0"/>
          </a:p>
          <a:p>
            <a:pPr indent="0" marL="0">
              <a:buNone/>
            </a:pPr>
            <a:r>
              <a:rPr lang="en-US" sz="1080" dirty="0">
                <a:solidFill>
                  <a:srgbClr val="6E6658"/>
                </a:solidFill>
                <a:latin typeface="Calibri" pitchFamily="34" charset="0"/>
                <a:ea typeface="Calibri" pitchFamily="34" charset="-122"/>
                <a:cs typeface="Calibri" pitchFamily="34" charset="-120"/>
              </a:rPr>
              <a:t>Held-out: accuracy 0.7169 · weighted F1 0.6891 · ROC-AUC 0.8220</a:t>
            </a:r>
            <a:endParaRPr lang="en-US" sz="1080" dirty="0"/>
          </a:p>
        </p:txBody>
      </p:sp>
      <p:sp>
        <p:nvSpPr>
          <p:cNvPr id="11" name="Shape 9"/>
          <p:cNvSpPr/>
          <p:nvPr/>
        </p:nvSpPr>
        <p:spPr>
          <a:xfrm>
            <a:off x="8092440" y="1417320"/>
            <a:ext cx="3520440" cy="4160520"/>
          </a:xfrm>
          <a:prstGeom prst="rect">
            <a:avLst/>
          </a:prstGeom>
          <a:solidFill>
            <a:srgbClr val="EAE3D6"/>
          </a:solidFill>
          <a:ln w="12700">
            <a:solidFill>
              <a:srgbClr val="EAE3D6"/>
            </a:solidFill>
            <a:prstDash val="solid"/>
          </a:ln>
        </p:spPr>
      </p:sp>
      <p:sp>
        <p:nvSpPr>
          <p:cNvPr id="12" name="Text 10"/>
          <p:cNvSpPr/>
          <p:nvPr/>
        </p:nvSpPr>
        <p:spPr>
          <a:xfrm>
            <a:off x="8275320" y="1572768"/>
            <a:ext cx="315468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8. Gradient Boosting</a:t>
            </a:r>
            <a:endParaRPr lang="en-US" sz="1400" dirty="0"/>
          </a:p>
        </p:txBody>
      </p:sp>
      <p:sp>
        <p:nvSpPr>
          <p:cNvPr id="13" name="Text 11"/>
          <p:cNvSpPr/>
          <p:nvPr/>
        </p:nvSpPr>
        <p:spPr>
          <a:xfrm>
            <a:off x="8275320" y="1947672"/>
            <a:ext cx="3154680" cy="3502152"/>
          </a:xfrm>
          <a:prstGeom prst="rect">
            <a:avLst/>
          </a:prstGeom>
          <a:noFill/>
          <a:ln/>
        </p:spPr>
        <p:txBody>
          <a:bodyPr wrap="square" lIns="254" tIns="254" rIns="254" bIns="254" rtlCol="0" anchor="t">
            <a:normAutofit/>
          </a:bodyPr>
          <a:lstStyle/>
          <a:p>
            <a:pPr indent="0" marL="0">
              <a:buNone/>
            </a:pPr>
            <a:r>
              <a:rPr lang="en-US" sz="1080" dirty="0">
                <a:solidFill>
                  <a:srgbClr val="6E6658"/>
                </a:solidFill>
                <a:latin typeface="Calibri" pitchFamily="34" charset="0"/>
                <a:ea typeface="Calibri" pitchFamily="34" charset="-122"/>
                <a:cs typeface="Calibri" pitchFamily="34" charset="-120"/>
              </a:rPr>
              <a:t>Trees are added sequentially to reduce the residual classification error of the current ensemble.</a:t>
            </a:r>
            <a:endParaRPr lang="en-US" sz="1080" dirty="0"/>
          </a:p>
          <a:p>
            <a:pPr indent="0" marL="0">
              <a:buNone/>
            </a:pPr>
            <a:endParaRPr lang="en-US" sz="1080" dirty="0"/>
          </a:p>
          <a:p>
            <a:pPr indent="0" marL="0">
              <a:buNone/>
            </a:pPr>
            <a:r>
              <a:rPr lang="en-US" sz="1080" dirty="0">
                <a:solidFill>
                  <a:srgbClr val="6E6658"/>
                </a:solidFill>
                <a:latin typeface="Calibri" pitchFamily="34" charset="0"/>
                <a:ea typeface="Calibri" pitchFamily="34" charset="-122"/>
                <a:cs typeface="Calibri" pitchFamily="34" charset="-120"/>
              </a:rPr>
              <a:t>Project settings</a:t>
            </a:r>
            <a:endParaRPr lang="en-US" sz="1080" dirty="0"/>
          </a:p>
          <a:p>
            <a:pPr indent="0" marL="0">
              <a:buNone/>
            </a:pPr>
            <a:r>
              <a:rPr lang="en-US" sz="1080" dirty="0">
                <a:solidFill>
                  <a:srgbClr val="6E6658"/>
                </a:solidFill>
                <a:latin typeface="Calibri" pitchFamily="34" charset="0"/>
                <a:ea typeface="Calibri" pitchFamily="34" charset="-122"/>
                <a:cs typeface="Calibri" pitchFamily="34" charset="-120"/>
              </a:rPr>
              <a:t>• n_estimators = 80</a:t>
            </a:r>
            <a:endParaRPr lang="en-US" sz="1080" dirty="0"/>
          </a:p>
          <a:p>
            <a:pPr indent="0" marL="0">
              <a:buNone/>
            </a:pPr>
            <a:r>
              <a:rPr lang="en-US" sz="1080" dirty="0">
                <a:solidFill>
                  <a:srgbClr val="6E6658"/>
                </a:solidFill>
                <a:latin typeface="Calibri" pitchFamily="34" charset="0"/>
                <a:ea typeface="Calibri" pitchFamily="34" charset="-122"/>
                <a:cs typeface="Calibri" pitchFamily="34" charset="-120"/>
              </a:rPr>
              <a:t>• random_state = 42</a:t>
            </a:r>
            <a:endParaRPr lang="en-US" sz="1080" dirty="0"/>
          </a:p>
          <a:p>
            <a:pPr indent="0" marL="0">
              <a:buNone/>
            </a:pPr>
            <a:endParaRPr lang="en-US" sz="1080" dirty="0"/>
          </a:p>
          <a:p>
            <a:pPr indent="0" marL="0">
              <a:buNone/>
            </a:pPr>
            <a:r>
              <a:rPr lang="en-US" sz="1080" dirty="0">
                <a:solidFill>
                  <a:srgbClr val="6E6658"/>
                </a:solidFill>
                <a:latin typeface="Calibri" pitchFamily="34" charset="0"/>
                <a:ea typeface="Calibri" pitchFamily="34" charset="-122"/>
                <a:cs typeface="Calibri" pitchFamily="34" charset="-120"/>
              </a:rPr>
              <a:t>Held-out: accuracy 0.8770 · weighted F1 0.8750 · ROC-AUC 0.9603</a:t>
            </a:r>
            <a:endParaRPr lang="en-US" sz="1080" dirty="0"/>
          </a:p>
        </p:txBody>
      </p:sp>
      <p:sp>
        <p:nvSpPr>
          <p:cNvPr id="14" name="Text 12"/>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Exact model settings and scores: src/classification.py · results/classification_comparison.csv.</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A · MODELS</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Algorithms 9–10 · Bagging and MLP Neural Network</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A · Models</a:t>
            </a:r>
            <a:endParaRPr lang="en-US" sz="900" dirty="0"/>
          </a:p>
        </p:txBody>
      </p:sp>
      <p:sp>
        <p:nvSpPr>
          <p:cNvPr id="5" name="Shape 3"/>
          <p:cNvSpPr/>
          <p:nvPr/>
        </p:nvSpPr>
        <p:spPr>
          <a:xfrm>
            <a:off x="685800" y="1463040"/>
            <a:ext cx="5257800" cy="4160520"/>
          </a:xfrm>
          <a:prstGeom prst="rect">
            <a:avLst/>
          </a:prstGeom>
          <a:solidFill>
            <a:srgbClr val="EAE3D6"/>
          </a:solidFill>
          <a:ln w="12700">
            <a:solidFill>
              <a:srgbClr val="EAE3D6"/>
            </a:solidFill>
            <a:prstDash val="solid"/>
          </a:ln>
        </p:spPr>
      </p:sp>
      <p:sp>
        <p:nvSpPr>
          <p:cNvPr id="6" name="Text 4"/>
          <p:cNvSpPr/>
          <p:nvPr/>
        </p:nvSpPr>
        <p:spPr>
          <a:xfrm>
            <a:off x="868680" y="1618488"/>
            <a:ext cx="489204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9. Bagging Classifier</a:t>
            </a:r>
            <a:endParaRPr lang="en-US" sz="1400" dirty="0"/>
          </a:p>
        </p:txBody>
      </p:sp>
      <p:sp>
        <p:nvSpPr>
          <p:cNvPr id="7" name="Text 5"/>
          <p:cNvSpPr/>
          <p:nvPr/>
        </p:nvSpPr>
        <p:spPr>
          <a:xfrm>
            <a:off x="868680" y="1993392"/>
            <a:ext cx="4892040" cy="3502152"/>
          </a:xfrm>
          <a:prstGeom prst="rect">
            <a:avLst/>
          </a:prstGeom>
          <a:noFill/>
          <a:ln/>
        </p:spPr>
        <p:txBody>
          <a:bodyPr wrap="square" lIns="254" tIns="254" rIns="254" bIns="254" rtlCol="0" anchor="t">
            <a:normAutofit/>
          </a:bodyPr>
          <a:lstStyle/>
          <a:p>
            <a:pPr indent="0" marL="0">
              <a:buNone/>
            </a:pPr>
            <a:r>
              <a:rPr lang="en-US" sz="1110" dirty="0">
                <a:solidFill>
                  <a:srgbClr val="6E6658"/>
                </a:solidFill>
                <a:latin typeface="Calibri" pitchFamily="34" charset="0"/>
                <a:ea typeface="Calibri" pitchFamily="34" charset="-122"/>
                <a:cs typeface="Calibri" pitchFamily="34" charset="-120"/>
              </a:rPr>
              <a:t>Independent decision trees are fitted to bootstrap samples and their predictions are combined. This reduces the instability of a single decision tree.</a:t>
            </a:r>
            <a:endParaRPr lang="en-US" sz="1110" dirty="0"/>
          </a:p>
          <a:p>
            <a:pPr indent="0" marL="0">
              <a:buNone/>
            </a:pPr>
            <a:endParaRPr lang="en-US" sz="1110" dirty="0"/>
          </a:p>
          <a:p>
            <a:pPr indent="0" marL="0">
              <a:buNone/>
            </a:pPr>
            <a:r>
              <a:rPr lang="en-US" sz="1110" dirty="0">
                <a:solidFill>
                  <a:srgbClr val="6E6658"/>
                </a:solidFill>
                <a:latin typeface="Calibri" pitchFamily="34" charset="0"/>
                <a:ea typeface="Calibri" pitchFamily="34" charset="-122"/>
                <a:cs typeface="Calibri" pitchFamily="34" charset="-120"/>
              </a:rPr>
              <a:t>Project settings</a:t>
            </a:r>
            <a:endParaRPr lang="en-US" sz="1110" dirty="0"/>
          </a:p>
          <a:p>
            <a:pPr indent="0" marL="0">
              <a:buNone/>
            </a:pPr>
            <a:r>
              <a:rPr lang="en-US" sz="1110" dirty="0">
                <a:solidFill>
                  <a:srgbClr val="6E6658"/>
                </a:solidFill>
                <a:latin typeface="Calibri" pitchFamily="34" charset="0"/>
                <a:ea typeface="Calibri" pitchFamily="34" charset="-122"/>
                <a:cs typeface="Calibri" pitchFamily="34" charset="-120"/>
              </a:rPr>
              <a:t>• base estimator: DecisionTree(max_depth=12)</a:t>
            </a:r>
            <a:endParaRPr lang="en-US" sz="1110" dirty="0"/>
          </a:p>
          <a:p>
            <a:pPr indent="0" marL="0">
              <a:buNone/>
            </a:pPr>
            <a:r>
              <a:rPr lang="en-US" sz="1110" dirty="0">
                <a:solidFill>
                  <a:srgbClr val="6E6658"/>
                </a:solidFill>
                <a:latin typeface="Calibri" pitchFamily="34" charset="0"/>
                <a:ea typeface="Calibri" pitchFamily="34" charset="-122"/>
                <a:cs typeface="Calibri" pitchFamily="34" charset="-120"/>
              </a:rPr>
              <a:t>• n_estimators = 60</a:t>
            </a:r>
            <a:endParaRPr lang="en-US" sz="1110" dirty="0"/>
          </a:p>
          <a:p>
            <a:pPr indent="0" marL="0">
              <a:buNone/>
            </a:pPr>
            <a:r>
              <a:rPr lang="en-US" sz="1110" dirty="0">
                <a:solidFill>
                  <a:srgbClr val="6E6658"/>
                </a:solidFill>
                <a:latin typeface="Calibri" pitchFamily="34" charset="0"/>
                <a:ea typeface="Calibri" pitchFamily="34" charset="-122"/>
                <a:cs typeface="Calibri" pitchFamily="34" charset="-120"/>
              </a:rPr>
              <a:t>• n_jobs = 2</a:t>
            </a:r>
            <a:endParaRPr lang="en-US" sz="1110" dirty="0"/>
          </a:p>
          <a:p>
            <a:pPr indent="0" marL="0">
              <a:buNone/>
            </a:pPr>
            <a:r>
              <a:rPr lang="en-US" sz="1110" dirty="0">
                <a:solidFill>
                  <a:srgbClr val="6E6658"/>
                </a:solidFill>
                <a:latin typeface="Calibri" pitchFamily="34" charset="0"/>
                <a:ea typeface="Calibri" pitchFamily="34" charset="-122"/>
                <a:cs typeface="Calibri" pitchFamily="34" charset="-120"/>
              </a:rPr>
              <a:t>• random_state = 42</a:t>
            </a:r>
            <a:endParaRPr lang="en-US" sz="1110" dirty="0"/>
          </a:p>
          <a:p>
            <a:pPr indent="0" marL="0">
              <a:buNone/>
            </a:pPr>
            <a:endParaRPr lang="en-US" sz="1110" dirty="0"/>
          </a:p>
          <a:p>
            <a:pPr indent="0" marL="0">
              <a:buNone/>
            </a:pPr>
            <a:r>
              <a:rPr lang="en-US" sz="1110" dirty="0">
                <a:solidFill>
                  <a:srgbClr val="6E6658"/>
                </a:solidFill>
                <a:latin typeface="Calibri" pitchFamily="34" charset="0"/>
                <a:ea typeface="Calibri" pitchFamily="34" charset="-122"/>
                <a:cs typeface="Calibri" pitchFamily="34" charset="-120"/>
              </a:rPr>
              <a:t>Held-out: accuracy 0.8788 · precision 0.8791 · recall 0.8788 · weighted F1 0.8778 · ROC-AUC 0.9607</a:t>
            </a:r>
            <a:endParaRPr lang="en-US" sz="1110" dirty="0"/>
          </a:p>
        </p:txBody>
      </p:sp>
      <p:sp>
        <p:nvSpPr>
          <p:cNvPr id="8" name="Shape 6"/>
          <p:cNvSpPr/>
          <p:nvPr/>
        </p:nvSpPr>
        <p:spPr>
          <a:xfrm>
            <a:off x="6217920" y="1463040"/>
            <a:ext cx="5257800" cy="4160520"/>
          </a:xfrm>
          <a:prstGeom prst="rect">
            <a:avLst/>
          </a:prstGeom>
          <a:solidFill>
            <a:srgbClr val="EAE3D6"/>
          </a:solidFill>
          <a:ln w="12700">
            <a:solidFill>
              <a:srgbClr val="EAE3D6"/>
            </a:solidFill>
            <a:prstDash val="solid"/>
          </a:ln>
        </p:spPr>
      </p:sp>
      <p:sp>
        <p:nvSpPr>
          <p:cNvPr id="9" name="Text 7"/>
          <p:cNvSpPr/>
          <p:nvPr/>
        </p:nvSpPr>
        <p:spPr>
          <a:xfrm>
            <a:off x="6400800" y="1618488"/>
            <a:ext cx="489204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10. MLP Classifier</a:t>
            </a:r>
            <a:endParaRPr lang="en-US" sz="1400" dirty="0"/>
          </a:p>
        </p:txBody>
      </p:sp>
      <p:sp>
        <p:nvSpPr>
          <p:cNvPr id="10" name="Text 8"/>
          <p:cNvSpPr/>
          <p:nvPr/>
        </p:nvSpPr>
        <p:spPr>
          <a:xfrm>
            <a:off x="6400800" y="1993392"/>
            <a:ext cx="4892040" cy="3502152"/>
          </a:xfrm>
          <a:prstGeom prst="rect">
            <a:avLst/>
          </a:prstGeom>
          <a:noFill/>
          <a:ln/>
        </p:spPr>
        <p:txBody>
          <a:bodyPr wrap="square" lIns="254" tIns="254" rIns="254" bIns="254" rtlCol="0" anchor="t">
            <a:normAutofit/>
          </a:bodyPr>
          <a:lstStyle/>
          <a:p>
            <a:pPr indent="0" marL="0">
              <a:buNone/>
            </a:pPr>
            <a:r>
              <a:rPr lang="en-US" sz="1110" dirty="0">
                <a:solidFill>
                  <a:srgbClr val="6E6658"/>
                </a:solidFill>
                <a:latin typeface="Calibri" pitchFamily="34" charset="0"/>
                <a:ea typeface="Calibri" pitchFamily="34" charset="-122"/>
                <a:cs typeface="Calibri" pitchFamily="34" charset="-120"/>
              </a:rPr>
              <a:t>A feed-forward neural network learns nonlinear feature interactions after imputation and scaling. Early stopping limits unnecessary training once validation performance stops improving.</a:t>
            </a:r>
            <a:endParaRPr lang="en-US" sz="1110" dirty="0"/>
          </a:p>
          <a:p>
            <a:pPr indent="0" marL="0">
              <a:buNone/>
            </a:pPr>
            <a:endParaRPr lang="en-US" sz="1110" dirty="0"/>
          </a:p>
          <a:p>
            <a:pPr indent="0" marL="0">
              <a:buNone/>
            </a:pPr>
            <a:r>
              <a:rPr lang="en-US" sz="1110" dirty="0">
                <a:solidFill>
                  <a:srgbClr val="6E6658"/>
                </a:solidFill>
                <a:latin typeface="Calibri" pitchFamily="34" charset="0"/>
                <a:ea typeface="Calibri" pitchFamily="34" charset="-122"/>
                <a:cs typeface="Calibri" pitchFamily="34" charset="-120"/>
              </a:rPr>
              <a:t>Project settings</a:t>
            </a:r>
            <a:endParaRPr lang="en-US" sz="1110" dirty="0"/>
          </a:p>
          <a:p>
            <a:pPr indent="0" marL="0">
              <a:buNone/>
            </a:pPr>
            <a:r>
              <a:rPr lang="en-US" sz="1110" dirty="0">
                <a:solidFill>
                  <a:srgbClr val="6E6658"/>
                </a:solidFill>
                <a:latin typeface="Calibri" pitchFamily="34" charset="0"/>
                <a:ea typeface="Calibri" pitchFamily="34" charset="-122"/>
                <a:cs typeface="Calibri" pitchFamily="34" charset="-120"/>
              </a:rPr>
              <a:t>• hidden layers = (64, 32)</a:t>
            </a:r>
            <a:endParaRPr lang="en-US" sz="1110" dirty="0"/>
          </a:p>
          <a:p>
            <a:pPr indent="0" marL="0">
              <a:buNone/>
            </a:pPr>
            <a:r>
              <a:rPr lang="en-US" sz="1110" dirty="0">
                <a:solidFill>
                  <a:srgbClr val="6E6658"/>
                </a:solidFill>
                <a:latin typeface="Calibri" pitchFamily="34" charset="0"/>
                <a:ea typeface="Calibri" pitchFamily="34" charset="-122"/>
                <a:cs typeface="Calibri" pitchFamily="34" charset="-120"/>
              </a:rPr>
              <a:t>• activation = ReLU</a:t>
            </a:r>
            <a:endParaRPr lang="en-US" sz="1110" dirty="0"/>
          </a:p>
          <a:p>
            <a:pPr indent="0" marL="0">
              <a:buNone/>
            </a:pPr>
            <a:r>
              <a:rPr lang="en-US" sz="1110" dirty="0">
                <a:solidFill>
                  <a:srgbClr val="6E6658"/>
                </a:solidFill>
                <a:latin typeface="Calibri" pitchFamily="34" charset="0"/>
                <a:ea typeface="Calibri" pitchFamily="34" charset="-122"/>
                <a:cs typeface="Calibri" pitchFamily="34" charset="-120"/>
              </a:rPr>
              <a:t>• early_stopping = True</a:t>
            </a:r>
            <a:endParaRPr lang="en-US" sz="1110" dirty="0"/>
          </a:p>
          <a:p>
            <a:pPr indent="0" marL="0">
              <a:buNone/>
            </a:pPr>
            <a:r>
              <a:rPr lang="en-US" sz="1110" dirty="0">
                <a:solidFill>
                  <a:srgbClr val="6E6658"/>
                </a:solidFill>
                <a:latin typeface="Calibri" pitchFamily="34" charset="0"/>
                <a:ea typeface="Calibri" pitchFamily="34" charset="-122"/>
                <a:cs typeface="Calibri" pitchFamily="34" charset="-120"/>
              </a:rPr>
              <a:t>• max_iter = 120</a:t>
            </a:r>
            <a:endParaRPr lang="en-US" sz="1110" dirty="0"/>
          </a:p>
          <a:p>
            <a:pPr indent="0" marL="0">
              <a:buNone/>
            </a:pPr>
            <a:r>
              <a:rPr lang="en-US" sz="1110" dirty="0">
                <a:solidFill>
                  <a:srgbClr val="6E6658"/>
                </a:solidFill>
                <a:latin typeface="Calibri" pitchFamily="34" charset="0"/>
                <a:ea typeface="Calibri" pitchFamily="34" charset="-122"/>
                <a:cs typeface="Calibri" pitchFamily="34" charset="-120"/>
              </a:rPr>
              <a:t>• random_state = 42</a:t>
            </a:r>
            <a:endParaRPr lang="en-US" sz="1110" dirty="0"/>
          </a:p>
          <a:p>
            <a:pPr indent="0" marL="0">
              <a:buNone/>
            </a:pPr>
            <a:endParaRPr lang="en-US" sz="1110" dirty="0"/>
          </a:p>
          <a:p>
            <a:pPr indent="0" marL="0">
              <a:buNone/>
            </a:pPr>
            <a:r>
              <a:rPr lang="en-US" sz="1110" dirty="0">
                <a:solidFill>
                  <a:srgbClr val="6E6658"/>
                </a:solidFill>
                <a:latin typeface="Calibri" pitchFamily="34" charset="0"/>
                <a:ea typeface="Calibri" pitchFamily="34" charset="-122"/>
                <a:cs typeface="Calibri" pitchFamily="34" charset="-120"/>
              </a:rPr>
              <a:t>Held-out: accuracy 0.8075 · weighted F1 0.8059 · ROC-AUC 0.9088</a:t>
            </a:r>
            <a:endParaRPr lang="en-US" sz="1110" dirty="0"/>
          </a:p>
        </p:txBody>
      </p:sp>
      <p:sp>
        <p:nvSpPr>
          <p:cNvPr id="11" name="Text 9"/>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Exact model settings and scores: src/classification.py · results/classification_comparison.csv.</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A · RESULTS</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Part-B classifiers — held-out comparison</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A · Results</a:t>
            </a:r>
            <a:endParaRPr lang="en-US" sz="900" dirty="0"/>
          </a:p>
        </p:txBody>
      </p:sp>
      <p:sp>
        <p:nvSpPr>
          <p:cNvPr id="5" name="Shape 3"/>
          <p:cNvSpPr/>
          <p:nvPr/>
        </p:nvSpPr>
        <p:spPr>
          <a:xfrm>
            <a:off x="566928" y="1344168"/>
            <a:ext cx="7004304" cy="4306824"/>
          </a:xfrm>
          <a:prstGeom prst="rect">
            <a:avLst/>
          </a:prstGeom>
          <a:solidFill>
            <a:srgbClr val="FFFFFF"/>
          </a:solidFill>
          <a:ln w="7620">
            <a:solidFill>
              <a:srgbClr val="D8D0C1"/>
            </a:solidFill>
            <a:prstDash val="solid"/>
          </a:ln>
        </p:spPr>
      </p:sp>
      <p:pic>
        <p:nvPicPr>
          <p:cNvPr id="6" name="Image 0" descr="/mnt/data/review2_perfect_assets/classification_partb_metrics.png">    </p:cNvPr>
          <p:cNvPicPr>
            <a:picLocks noChangeAspect="1"/>
          </p:cNvPicPr>
          <p:nvPr/>
        </p:nvPicPr>
        <p:blipFill>
          <a:blip r:embed="rId1"/>
          <a:stretch>
            <a:fillRect/>
          </a:stretch>
        </p:blipFill>
        <p:spPr>
          <a:xfrm>
            <a:off x="594360" y="1371600"/>
            <a:ext cx="6949440" cy="4251960"/>
          </a:xfrm>
          <a:prstGeom prst="rect">
            <a:avLst/>
          </a:prstGeom>
        </p:spPr>
      </p:pic>
      <p:sp>
        <p:nvSpPr>
          <p:cNvPr id="7" name="Shape 4"/>
          <p:cNvSpPr/>
          <p:nvPr/>
        </p:nvSpPr>
        <p:spPr>
          <a:xfrm>
            <a:off x="7863840" y="1417320"/>
            <a:ext cx="3611880" cy="1143000"/>
          </a:xfrm>
          <a:prstGeom prst="rect">
            <a:avLst/>
          </a:prstGeom>
          <a:solidFill>
            <a:srgbClr val="EAE3D6"/>
          </a:solidFill>
          <a:ln w="12700">
            <a:solidFill>
              <a:srgbClr val="EAE3D6"/>
            </a:solidFill>
            <a:prstDash val="solid"/>
          </a:ln>
        </p:spPr>
      </p:sp>
      <p:sp>
        <p:nvSpPr>
          <p:cNvPr id="8" name="Text 5"/>
          <p:cNvSpPr/>
          <p:nvPr/>
        </p:nvSpPr>
        <p:spPr>
          <a:xfrm>
            <a:off x="8046720" y="1572768"/>
            <a:ext cx="324612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Random Forest leads</a:t>
            </a:r>
            <a:endParaRPr lang="en-US" sz="1400" dirty="0"/>
          </a:p>
        </p:txBody>
      </p:sp>
      <p:sp>
        <p:nvSpPr>
          <p:cNvPr id="9" name="Text 6"/>
          <p:cNvSpPr/>
          <p:nvPr/>
        </p:nvSpPr>
        <p:spPr>
          <a:xfrm>
            <a:off x="8046720" y="1947672"/>
            <a:ext cx="3246120" cy="484632"/>
          </a:xfrm>
          <a:prstGeom prst="rect">
            <a:avLst/>
          </a:prstGeom>
          <a:noFill/>
          <a:ln/>
        </p:spPr>
        <p:txBody>
          <a:bodyPr wrap="square" lIns="254" tIns="254" rIns="254" bIns="254" rtlCol="0" anchor="t">
            <a:normAutofit/>
          </a:bodyPr>
          <a:lstStyle/>
          <a:p>
            <a:pPr indent="0" marL="0">
              <a:buNone/>
            </a:pPr>
            <a:r>
              <a:rPr lang="en-US" sz="1130" dirty="0">
                <a:solidFill>
                  <a:srgbClr val="6E6658"/>
                </a:solidFill>
                <a:latin typeface="Calibri" pitchFamily="34" charset="0"/>
                <a:ea typeface="Calibri" pitchFamily="34" charset="-122"/>
                <a:cs typeface="Calibri" pitchFamily="34" charset="-120"/>
              </a:rPr>
              <a:t>Accuracy 0.8855</a:t>
            </a:r>
            <a:endParaRPr lang="en-US" sz="1130" dirty="0"/>
          </a:p>
          <a:p>
            <a:pPr indent="0" marL="0">
              <a:buNone/>
            </a:pPr>
            <a:r>
              <a:rPr lang="en-US" sz="1130" dirty="0">
                <a:solidFill>
                  <a:srgbClr val="6E6658"/>
                </a:solidFill>
                <a:latin typeface="Calibri" pitchFamily="34" charset="0"/>
                <a:ea typeface="Calibri" pitchFamily="34" charset="-122"/>
                <a:cs typeface="Calibri" pitchFamily="34" charset="-120"/>
              </a:rPr>
              <a:t>Weighted F1 0.8837</a:t>
            </a:r>
            <a:endParaRPr lang="en-US" sz="1130" dirty="0"/>
          </a:p>
          <a:p>
            <a:pPr indent="0" marL="0">
              <a:buNone/>
            </a:pPr>
            <a:r>
              <a:rPr lang="en-US" sz="1130" dirty="0">
                <a:solidFill>
                  <a:srgbClr val="6E6658"/>
                </a:solidFill>
                <a:latin typeface="Calibri" pitchFamily="34" charset="0"/>
                <a:ea typeface="Calibri" pitchFamily="34" charset="-122"/>
                <a:cs typeface="Calibri" pitchFamily="34" charset="-120"/>
              </a:rPr>
              <a:t>ROC-AUC 0.9680</a:t>
            </a:r>
            <a:endParaRPr lang="en-US" sz="1130" dirty="0"/>
          </a:p>
        </p:txBody>
      </p:sp>
      <p:sp>
        <p:nvSpPr>
          <p:cNvPr id="10" name="Shape 7"/>
          <p:cNvSpPr/>
          <p:nvPr/>
        </p:nvSpPr>
        <p:spPr>
          <a:xfrm>
            <a:off x="7863840" y="2724912"/>
            <a:ext cx="3611880" cy="1143000"/>
          </a:xfrm>
          <a:prstGeom prst="rect">
            <a:avLst/>
          </a:prstGeom>
          <a:solidFill>
            <a:srgbClr val="EAE3D6"/>
          </a:solidFill>
          <a:ln w="12700">
            <a:solidFill>
              <a:srgbClr val="EAE3D6"/>
            </a:solidFill>
            <a:prstDash val="solid"/>
          </a:ln>
        </p:spPr>
      </p:sp>
      <p:sp>
        <p:nvSpPr>
          <p:cNvPr id="11" name="Text 8"/>
          <p:cNvSpPr/>
          <p:nvPr/>
        </p:nvSpPr>
        <p:spPr>
          <a:xfrm>
            <a:off x="8046720" y="2880360"/>
            <a:ext cx="324612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Close ensemble challengers</a:t>
            </a:r>
            <a:endParaRPr lang="en-US" sz="1400" dirty="0"/>
          </a:p>
        </p:txBody>
      </p:sp>
      <p:sp>
        <p:nvSpPr>
          <p:cNvPr id="12" name="Text 9"/>
          <p:cNvSpPr/>
          <p:nvPr/>
        </p:nvSpPr>
        <p:spPr>
          <a:xfrm>
            <a:off x="8046720" y="3255264"/>
            <a:ext cx="3246120" cy="484632"/>
          </a:xfrm>
          <a:prstGeom prst="rect">
            <a:avLst/>
          </a:prstGeom>
          <a:noFill/>
          <a:ln/>
        </p:spPr>
        <p:txBody>
          <a:bodyPr wrap="square" lIns="254" tIns="254" rIns="254" bIns="254" rtlCol="0" anchor="t">
            <a:normAutofit/>
          </a:bodyPr>
          <a:lstStyle/>
          <a:p>
            <a:pPr indent="0" marL="0">
              <a:buNone/>
            </a:pPr>
            <a:r>
              <a:rPr lang="en-US" sz="1130" dirty="0">
                <a:solidFill>
                  <a:srgbClr val="6E6658"/>
                </a:solidFill>
                <a:latin typeface="Calibri" pitchFamily="34" charset="0"/>
                <a:ea typeface="Calibri" pitchFamily="34" charset="-122"/>
                <a:cs typeface="Calibri" pitchFamily="34" charset="-120"/>
              </a:rPr>
              <a:t>Bagging F1 0.8778</a:t>
            </a:r>
            <a:endParaRPr lang="en-US" sz="1130" dirty="0"/>
          </a:p>
          <a:p>
            <a:pPr indent="0" marL="0">
              <a:buNone/>
            </a:pPr>
            <a:r>
              <a:rPr lang="en-US" sz="1130" dirty="0">
                <a:solidFill>
                  <a:srgbClr val="6E6658"/>
                </a:solidFill>
                <a:latin typeface="Calibri" pitchFamily="34" charset="0"/>
                <a:ea typeface="Calibri" pitchFamily="34" charset="-122"/>
                <a:cs typeface="Calibri" pitchFamily="34" charset="-120"/>
              </a:rPr>
              <a:t>Gradient Boosting F1 0.8750</a:t>
            </a:r>
            <a:endParaRPr lang="en-US" sz="1130" dirty="0"/>
          </a:p>
          <a:p>
            <a:pPr indent="0" marL="0">
              <a:buNone/>
            </a:pPr>
            <a:r>
              <a:rPr lang="en-US" sz="1130" dirty="0">
                <a:solidFill>
                  <a:srgbClr val="6E6658"/>
                </a:solidFill>
                <a:latin typeface="Calibri" pitchFamily="34" charset="0"/>
                <a:ea typeface="Calibri" pitchFamily="34" charset="-122"/>
                <a:cs typeface="Calibri" pitchFamily="34" charset="-120"/>
              </a:rPr>
              <a:t>Both ROC-AUC ≈ 0.96</a:t>
            </a:r>
            <a:endParaRPr lang="en-US" sz="1130" dirty="0"/>
          </a:p>
        </p:txBody>
      </p:sp>
      <p:sp>
        <p:nvSpPr>
          <p:cNvPr id="13" name="Shape 10"/>
          <p:cNvSpPr/>
          <p:nvPr/>
        </p:nvSpPr>
        <p:spPr>
          <a:xfrm>
            <a:off x="7863840" y="4041648"/>
            <a:ext cx="3611880" cy="1417320"/>
          </a:xfrm>
          <a:prstGeom prst="rect">
            <a:avLst/>
          </a:prstGeom>
          <a:solidFill>
            <a:srgbClr val="EAE3D6"/>
          </a:solidFill>
          <a:ln w="12700">
            <a:solidFill>
              <a:srgbClr val="EAE3D6"/>
            </a:solidFill>
            <a:prstDash val="solid"/>
          </a:ln>
        </p:spPr>
      </p:sp>
      <p:sp>
        <p:nvSpPr>
          <p:cNvPr id="14" name="Text 11"/>
          <p:cNvSpPr/>
          <p:nvPr/>
        </p:nvSpPr>
        <p:spPr>
          <a:xfrm>
            <a:off x="8046720" y="4197096"/>
            <a:ext cx="324612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What this establishes</a:t>
            </a:r>
            <a:endParaRPr lang="en-US" sz="1400" dirty="0"/>
          </a:p>
        </p:txBody>
      </p:sp>
      <p:sp>
        <p:nvSpPr>
          <p:cNvPr id="15" name="Text 12"/>
          <p:cNvSpPr/>
          <p:nvPr/>
        </p:nvSpPr>
        <p:spPr>
          <a:xfrm>
            <a:off x="8046720" y="4572000"/>
            <a:ext cx="3246120" cy="75895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The three tree ensembles substantially outperform AdaBoost and MLP on this fixed evaluation plan. The test set remains descriptive; model selection uses training-only cross-validation.</a:t>
            </a:r>
            <a:endParaRPr lang="en-US" sz="1100" dirty="0"/>
          </a:p>
        </p:txBody>
      </p:sp>
      <p:sp>
        <p:nvSpPr>
          <p:cNvPr id="16" name="Text 13"/>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Verified values: results/classification_comparison.csv in the GitHub project.</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A · RESULTS</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Confusion matrices — the five Review-2 models</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A · Results</a:t>
            </a:r>
            <a:endParaRPr lang="en-US" sz="900" dirty="0"/>
          </a:p>
        </p:txBody>
      </p:sp>
      <p:sp>
        <p:nvSpPr>
          <p:cNvPr id="5" name="Shape 3"/>
          <p:cNvSpPr/>
          <p:nvPr/>
        </p:nvSpPr>
        <p:spPr>
          <a:xfrm>
            <a:off x="475488" y="1298448"/>
            <a:ext cx="11164824" cy="4306824"/>
          </a:xfrm>
          <a:prstGeom prst="rect">
            <a:avLst/>
          </a:prstGeom>
          <a:solidFill>
            <a:srgbClr val="FFFFFF"/>
          </a:solidFill>
          <a:ln w="7620">
            <a:solidFill>
              <a:srgbClr val="D8D0C1"/>
            </a:solidFill>
            <a:prstDash val="solid"/>
          </a:ln>
        </p:spPr>
      </p:sp>
      <p:pic>
        <p:nvPicPr>
          <p:cNvPr id="6" name="Image 0" descr="/mnt/data/review2_perfect_assets/classification_partb_confusions.png">    </p:cNvPr>
          <p:cNvPicPr>
            <a:picLocks noChangeAspect="1"/>
          </p:cNvPicPr>
          <p:nvPr/>
        </p:nvPicPr>
        <p:blipFill>
          <a:blip r:embed="rId1"/>
          <a:stretch>
            <a:fillRect/>
          </a:stretch>
        </p:blipFill>
        <p:spPr>
          <a:xfrm>
            <a:off x="502920" y="1325880"/>
            <a:ext cx="11109960" cy="4251960"/>
          </a:xfrm>
          <a:prstGeom prst="rect">
            <a:avLst/>
          </a:prstGeom>
        </p:spPr>
      </p:pic>
      <p:sp>
        <p:nvSpPr>
          <p:cNvPr id="7" name="Shape 4"/>
          <p:cNvSpPr/>
          <p:nvPr/>
        </p:nvSpPr>
        <p:spPr>
          <a:xfrm>
            <a:off x="685800" y="5623560"/>
            <a:ext cx="10789920" cy="438912"/>
          </a:xfrm>
          <a:prstGeom prst="rect">
            <a:avLst/>
          </a:prstGeom>
          <a:solidFill>
            <a:srgbClr val="F2EEE6"/>
          </a:solidFill>
          <a:ln w="12700">
            <a:solidFill>
              <a:srgbClr val="F2EEE6"/>
            </a:solidFill>
            <a:prstDash val="solid"/>
          </a:ln>
        </p:spPr>
      </p:sp>
      <p:sp>
        <p:nvSpPr>
          <p:cNvPr id="8" name="Text 5"/>
          <p:cNvSpPr/>
          <p:nvPr/>
        </p:nvSpPr>
        <p:spPr>
          <a:xfrm>
            <a:off x="868680" y="5779008"/>
            <a:ext cx="10424160" cy="256032"/>
          </a:xfrm>
          <a:prstGeom prst="rect">
            <a:avLst/>
          </a:prstGeom>
          <a:noFill/>
          <a:ln/>
        </p:spPr>
        <p:txBody>
          <a:bodyPr wrap="square" lIns="0" tIns="0" rIns="0" bIns="0" rtlCol="0" anchor="ctr"/>
          <a:lstStyle/>
          <a:p>
            <a:pPr indent="0" marL="0">
              <a:buNone/>
            </a:pPr>
            <a:r>
              <a:rPr lang="en-US" sz="1150" b="1" dirty="0">
                <a:solidFill>
                  <a:srgbClr val="2B2A26"/>
                </a:solidFill>
                <a:latin typeface="Cambria" pitchFamily="34" charset="0"/>
                <a:ea typeface="Cambria" pitchFamily="34" charset="-122"/>
                <a:cs typeface="Cambria" pitchFamily="34" charset="-120"/>
              </a:rPr>
              <a:t>Reading the matrices</a:t>
            </a:r>
            <a:endParaRPr lang="en-US" sz="1150" dirty="0"/>
          </a:p>
        </p:txBody>
      </p:sp>
      <p:sp>
        <p:nvSpPr>
          <p:cNvPr id="9" name="Text 6"/>
          <p:cNvSpPr/>
          <p:nvPr/>
        </p:nvSpPr>
        <p:spPr>
          <a:xfrm>
            <a:off x="868680" y="6153912"/>
            <a:ext cx="10424160" cy="-219456"/>
          </a:xfrm>
          <a:prstGeom prst="rect">
            <a:avLst/>
          </a:prstGeom>
          <a:noFill/>
          <a:ln/>
        </p:spPr>
        <p:txBody>
          <a:bodyPr wrap="square" lIns="254" tIns="254" rIns="254" bIns="254" rtlCol="0" anchor="t">
            <a:normAutofit/>
          </a:bodyPr>
          <a:lstStyle/>
          <a:p>
            <a:pPr indent="0" marL="0">
              <a:buNone/>
            </a:pPr>
            <a:r>
              <a:rPr lang="en-US" sz="940" dirty="0">
                <a:solidFill>
                  <a:srgbClr val="6E6658"/>
                </a:solidFill>
                <a:latin typeface="Calibri" pitchFamily="34" charset="0"/>
                <a:ea typeface="Calibri" pitchFamily="34" charset="-122"/>
                <a:cs typeface="Calibri" pitchFamily="34" charset="-120"/>
              </a:rPr>
              <a:t>Random Forest and Bagging sharply reduce confusion between Good/Poor and the majority Moderate class. AdaBoost sends many Good and Poor samples into Moderate, matching its lower weighted F1.</a:t>
            </a:r>
            <a:endParaRPr lang="en-US" sz="940" dirty="0"/>
          </a:p>
        </p:txBody>
      </p:sp>
      <p:sp>
        <p:nvSpPr>
          <p:cNvPr id="10" name="Text 7"/>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Executed project notebook confusion matrices; rows = actual class, columns = predicted class.</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A · RESULTS</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Random Forest ROC-AUC — one-vs-rest</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A · Results</a:t>
            </a:r>
            <a:endParaRPr lang="en-US" sz="900" dirty="0"/>
          </a:p>
        </p:txBody>
      </p:sp>
      <p:sp>
        <p:nvSpPr>
          <p:cNvPr id="5" name="Shape 3"/>
          <p:cNvSpPr/>
          <p:nvPr/>
        </p:nvSpPr>
        <p:spPr>
          <a:xfrm>
            <a:off x="612648" y="1298448"/>
            <a:ext cx="6867144" cy="4581144"/>
          </a:xfrm>
          <a:prstGeom prst="rect">
            <a:avLst/>
          </a:prstGeom>
          <a:solidFill>
            <a:srgbClr val="FFFFFF"/>
          </a:solidFill>
          <a:ln w="7620">
            <a:solidFill>
              <a:srgbClr val="D8D0C1"/>
            </a:solidFill>
            <a:prstDash val="solid"/>
          </a:ln>
        </p:spPr>
      </p:sp>
      <p:pic>
        <p:nvPicPr>
          <p:cNvPr id="6" name="Image 0" descr="/mnt/data/review2_perfect_assets/classification_rf_roc.png">    </p:cNvPr>
          <p:cNvPicPr>
            <a:picLocks noChangeAspect="1"/>
          </p:cNvPicPr>
          <p:nvPr/>
        </p:nvPicPr>
        <p:blipFill>
          <a:blip r:embed="rId1"/>
          <a:stretch>
            <a:fillRect/>
          </a:stretch>
        </p:blipFill>
        <p:spPr>
          <a:xfrm>
            <a:off x="640080" y="1325880"/>
            <a:ext cx="6812280" cy="4526280"/>
          </a:xfrm>
          <a:prstGeom prst="rect">
            <a:avLst/>
          </a:prstGeom>
        </p:spPr>
      </p:pic>
      <p:sp>
        <p:nvSpPr>
          <p:cNvPr id="7" name="Shape 4"/>
          <p:cNvSpPr/>
          <p:nvPr/>
        </p:nvSpPr>
        <p:spPr>
          <a:xfrm>
            <a:off x="7818120" y="1417320"/>
            <a:ext cx="3520440" cy="2057400"/>
          </a:xfrm>
          <a:prstGeom prst="rect">
            <a:avLst/>
          </a:prstGeom>
          <a:solidFill>
            <a:srgbClr val="EAE3D6"/>
          </a:solidFill>
          <a:ln w="12700">
            <a:solidFill>
              <a:srgbClr val="EAE3D6"/>
            </a:solidFill>
            <a:prstDash val="solid"/>
          </a:ln>
        </p:spPr>
      </p:sp>
      <p:sp>
        <p:nvSpPr>
          <p:cNvPr id="8" name="Text 5"/>
          <p:cNvSpPr/>
          <p:nvPr/>
        </p:nvSpPr>
        <p:spPr>
          <a:xfrm>
            <a:off x="8001000" y="1572768"/>
            <a:ext cx="315468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Per-class AUC</a:t>
            </a:r>
            <a:endParaRPr lang="en-US" sz="1400" dirty="0"/>
          </a:p>
        </p:txBody>
      </p:sp>
      <p:sp>
        <p:nvSpPr>
          <p:cNvPr id="9" name="Text 6"/>
          <p:cNvSpPr/>
          <p:nvPr/>
        </p:nvSpPr>
        <p:spPr>
          <a:xfrm>
            <a:off x="8001000" y="1947672"/>
            <a:ext cx="3154680" cy="1399032"/>
          </a:xfrm>
          <a:prstGeom prst="rect">
            <a:avLst/>
          </a:prstGeom>
          <a:noFill/>
          <a:ln/>
        </p:spPr>
        <p:txBody>
          <a:bodyPr wrap="square" lIns="254" tIns="254" rIns="254" bIns="254" rtlCol="0" anchor="t">
            <a:normAutofit/>
          </a:bodyPr>
          <a:lstStyle/>
          <a:p>
            <a:pPr indent="0" marL="0">
              <a:buNone/>
            </a:pPr>
            <a:r>
              <a:rPr lang="en-US" sz="1210" dirty="0">
                <a:solidFill>
                  <a:srgbClr val="6E6658"/>
                </a:solidFill>
                <a:latin typeface="Calibri" pitchFamily="34" charset="0"/>
                <a:ea typeface="Calibri" pitchFamily="34" charset="-122"/>
                <a:cs typeface="Calibri" pitchFamily="34" charset="-120"/>
              </a:rPr>
              <a:t>Good: 0.986</a:t>
            </a:r>
            <a:endParaRPr lang="en-US" sz="1210" dirty="0"/>
          </a:p>
          <a:p>
            <a:pPr indent="0" marL="0">
              <a:buNone/>
            </a:pPr>
            <a:r>
              <a:rPr lang="en-US" sz="1210" dirty="0">
                <a:solidFill>
                  <a:srgbClr val="6E6658"/>
                </a:solidFill>
                <a:latin typeface="Calibri" pitchFamily="34" charset="0"/>
                <a:ea typeface="Calibri" pitchFamily="34" charset="-122"/>
                <a:cs typeface="Calibri" pitchFamily="34" charset="-120"/>
              </a:rPr>
              <a:t>Moderate: 0.956</a:t>
            </a:r>
            <a:endParaRPr lang="en-US" sz="1210" dirty="0"/>
          </a:p>
          <a:p>
            <a:pPr indent="0" marL="0">
              <a:buNone/>
            </a:pPr>
            <a:r>
              <a:rPr lang="en-US" sz="1210" dirty="0">
                <a:solidFill>
                  <a:srgbClr val="6E6658"/>
                </a:solidFill>
                <a:latin typeface="Calibri" pitchFamily="34" charset="0"/>
                <a:ea typeface="Calibri" pitchFamily="34" charset="-122"/>
                <a:cs typeface="Calibri" pitchFamily="34" charset="-120"/>
              </a:rPr>
              <a:t>Poor: 0.984</a:t>
            </a:r>
            <a:endParaRPr lang="en-US" sz="1210" dirty="0"/>
          </a:p>
          <a:p>
            <a:pPr indent="0" marL="0">
              <a:buNone/>
            </a:pPr>
            <a:endParaRPr lang="en-US" sz="1210" dirty="0"/>
          </a:p>
          <a:p>
            <a:pPr indent="0" marL="0">
              <a:buNone/>
            </a:pPr>
            <a:r>
              <a:rPr lang="en-US" sz="1210" dirty="0">
                <a:solidFill>
                  <a:srgbClr val="6E6658"/>
                </a:solidFill>
                <a:latin typeface="Calibri" pitchFamily="34" charset="0"/>
                <a:ea typeface="Calibri" pitchFamily="34" charset="-122"/>
                <a:cs typeface="Calibri" pitchFamily="34" charset="-120"/>
              </a:rPr>
              <a:t>Weighted multiclass OvR ROC-AUC: 0.9680</a:t>
            </a:r>
            <a:endParaRPr lang="en-US" sz="1210" dirty="0"/>
          </a:p>
        </p:txBody>
      </p:sp>
      <p:sp>
        <p:nvSpPr>
          <p:cNvPr id="10" name="Shape 7"/>
          <p:cNvSpPr/>
          <p:nvPr/>
        </p:nvSpPr>
        <p:spPr>
          <a:xfrm>
            <a:off x="7818120" y="3703320"/>
            <a:ext cx="3520440" cy="1645920"/>
          </a:xfrm>
          <a:prstGeom prst="rect">
            <a:avLst/>
          </a:prstGeom>
          <a:solidFill>
            <a:srgbClr val="EAE3D6"/>
          </a:solidFill>
          <a:ln w="12700">
            <a:solidFill>
              <a:srgbClr val="EAE3D6"/>
            </a:solidFill>
            <a:prstDash val="solid"/>
          </a:ln>
        </p:spPr>
      </p:sp>
      <p:sp>
        <p:nvSpPr>
          <p:cNvPr id="11" name="Text 8"/>
          <p:cNvSpPr/>
          <p:nvPr/>
        </p:nvSpPr>
        <p:spPr>
          <a:xfrm>
            <a:off x="8001000" y="3858768"/>
            <a:ext cx="315468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Interpretation</a:t>
            </a:r>
            <a:endParaRPr lang="en-US" sz="1400" dirty="0"/>
          </a:p>
        </p:txBody>
      </p:sp>
      <p:sp>
        <p:nvSpPr>
          <p:cNvPr id="12" name="Text 9"/>
          <p:cNvSpPr/>
          <p:nvPr/>
        </p:nvSpPr>
        <p:spPr>
          <a:xfrm>
            <a:off x="8001000" y="4233672"/>
            <a:ext cx="3154680" cy="98755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The curves stay well above the chance diagonal. Moderate is the hardest one-vs-rest class of the three, but discrimination remains strong.</a:t>
            </a:r>
            <a:endParaRPr lang="en-US" sz="1100" dirty="0"/>
          </a:p>
        </p:txBody>
      </p:sp>
      <p:sp>
        <p:nvSpPr>
          <p:cNvPr id="13" name="Text 10"/>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ROC figure: executed classification_review2.ipynb · weighted ROC-AUC from results/classification_comparison.csv.</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A · MODEL SELECTION</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Five-fold training CV chooses the Part-B winner</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A · Model selection</a:t>
            </a:r>
            <a:endParaRPr lang="en-US" sz="900" dirty="0"/>
          </a:p>
        </p:txBody>
      </p:sp>
      <p:sp>
        <p:nvSpPr>
          <p:cNvPr id="5" name="Shape 3"/>
          <p:cNvSpPr/>
          <p:nvPr/>
        </p:nvSpPr>
        <p:spPr>
          <a:xfrm>
            <a:off x="566928" y="1344168"/>
            <a:ext cx="7004304" cy="4352544"/>
          </a:xfrm>
          <a:prstGeom prst="rect">
            <a:avLst/>
          </a:prstGeom>
          <a:solidFill>
            <a:srgbClr val="FFFFFF"/>
          </a:solidFill>
          <a:ln w="7620">
            <a:solidFill>
              <a:srgbClr val="D8D0C1"/>
            </a:solidFill>
            <a:prstDash val="solid"/>
          </a:ln>
        </p:spPr>
      </p:sp>
      <p:pic>
        <p:nvPicPr>
          <p:cNvPr id="6" name="Image 0" descr="/mnt/data/review2_perfect_assets/classification_cv.png">    </p:cNvPr>
          <p:cNvPicPr>
            <a:picLocks noChangeAspect="1"/>
          </p:cNvPicPr>
          <p:nvPr/>
        </p:nvPicPr>
        <p:blipFill>
          <a:blip r:embed="rId1"/>
          <a:stretch>
            <a:fillRect/>
          </a:stretch>
        </p:blipFill>
        <p:spPr>
          <a:xfrm>
            <a:off x="594360" y="1371600"/>
            <a:ext cx="6949440" cy="4297680"/>
          </a:xfrm>
          <a:prstGeom prst="rect">
            <a:avLst/>
          </a:prstGeom>
        </p:spPr>
      </p:pic>
      <p:sp>
        <p:nvSpPr>
          <p:cNvPr id="7" name="Shape 4"/>
          <p:cNvSpPr/>
          <p:nvPr/>
        </p:nvSpPr>
        <p:spPr>
          <a:xfrm>
            <a:off x="7818120" y="1417320"/>
            <a:ext cx="3611880" cy="1051560"/>
          </a:xfrm>
          <a:prstGeom prst="rect">
            <a:avLst/>
          </a:prstGeom>
          <a:solidFill>
            <a:srgbClr val="EAE3D6"/>
          </a:solidFill>
          <a:ln w="12700">
            <a:solidFill>
              <a:srgbClr val="EAE3D6"/>
            </a:solidFill>
            <a:prstDash val="solid"/>
          </a:ln>
        </p:spPr>
      </p:sp>
      <p:sp>
        <p:nvSpPr>
          <p:cNvPr id="8" name="Text 5"/>
          <p:cNvSpPr/>
          <p:nvPr/>
        </p:nvSpPr>
        <p:spPr>
          <a:xfrm>
            <a:off x="8001000" y="1572768"/>
            <a:ext cx="324612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1 · Random Forest</a:t>
            </a:r>
            <a:endParaRPr lang="en-US" sz="1400" dirty="0"/>
          </a:p>
        </p:txBody>
      </p:sp>
      <p:sp>
        <p:nvSpPr>
          <p:cNvPr id="9" name="Text 6"/>
          <p:cNvSpPr/>
          <p:nvPr/>
        </p:nvSpPr>
        <p:spPr>
          <a:xfrm>
            <a:off x="8001000" y="1947672"/>
            <a:ext cx="3246120" cy="39319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0.8814 ± 0.0042 weighted F1</a:t>
            </a:r>
            <a:endParaRPr lang="en-US" sz="1100" dirty="0"/>
          </a:p>
        </p:txBody>
      </p:sp>
      <p:sp>
        <p:nvSpPr>
          <p:cNvPr id="10" name="Shape 7"/>
          <p:cNvSpPr/>
          <p:nvPr/>
        </p:nvSpPr>
        <p:spPr>
          <a:xfrm>
            <a:off x="7818120" y="2606040"/>
            <a:ext cx="3611880" cy="1051560"/>
          </a:xfrm>
          <a:prstGeom prst="rect">
            <a:avLst/>
          </a:prstGeom>
          <a:solidFill>
            <a:srgbClr val="EAE3D6"/>
          </a:solidFill>
          <a:ln w="12700">
            <a:solidFill>
              <a:srgbClr val="EAE3D6"/>
            </a:solidFill>
            <a:prstDash val="solid"/>
          </a:ln>
        </p:spPr>
      </p:sp>
      <p:sp>
        <p:nvSpPr>
          <p:cNvPr id="11" name="Text 8"/>
          <p:cNvSpPr/>
          <p:nvPr/>
        </p:nvSpPr>
        <p:spPr>
          <a:xfrm>
            <a:off x="8001000" y="2761488"/>
            <a:ext cx="324612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2 · Gradient Boosting</a:t>
            </a:r>
            <a:endParaRPr lang="en-US" sz="1400" dirty="0"/>
          </a:p>
        </p:txBody>
      </p:sp>
      <p:sp>
        <p:nvSpPr>
          <p:cNvPr id="12" name="Text 9"/>
          <p:cNvSpPr/>
          <p:nvPr/>
        </p:nvSpPr>
        <p:spPr>
          <a:xfrm>
            <a:off x="8001000" y="3136392"/>
            <a:ext cx="3246120" cy="39319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0.8764 ± 0.0035 weighted F1</a:t>
            </a:r>
            <a:endParaRPr lang="en-US" sz="1100" dirty="0"/>
          </a:p>
        </p:txBody>
      </p:sp>
      <p:sp>
        <p:nvSpPr>
          <p:cNvPr id="13" name="Shape 10"/>
          <p:cNvSpPr/>
          <p:nvPr/>
        </p:nvSpPr>
        <p:spPr>
          <a:xfrm>
            <a:off x="7818120" y="3794760"/>
            <a:ext cx="3611880" cy="1051560"/>
          </a:xfrm>
          <a:prstGeom prst="rect">
            <a:avLst/>
          </a:prstGeom>
          <a:solidFill>
            <a:srgbClr val="EAE3D6"/>
          </a:solidFill>
          <a:ln w="12700">
            <a:solidFill>
              <a:srgbClr val="EAE3D6"/>
            </a:solidFill>
            <a:prstDash val="solid"/>
          </a:ln>
        </p:spPr>
      </p:sp>
      <p:sp>
        <p:nvSpPr>
          <p:cNvPr id="14" name="Text 11"/>
          <p:cNvSpPr/>
          <p:nvPr/>
        </p:nvSpPr>
        <p:spPr>
          <a:xfrm>
            <a:off x="8001000" y="3950208"/>
            <a:ext cx="324612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3 · Bagging</a:t>
            </a:r>
            <a:endParaRPr lang="en-US" sz="1400" dirty="0"/>
          </a:p>
        </p:txBody>
      </p:sp>
      <p:sp>
        <p:nvSpPr>
          <p:cNvPr id="15" name="Text 12"/>
          <p:cNvSpPr/>
          <p:nvPr/>
        </p:nvSpPr>
        <p:spPr>
          <a:xfrm>
            <a:off x="8001000" y="4325112"/>
            <a:ext cx="3246120" cy="39319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0.8763 ± 0.0075 weighted F1</a:t>
            </a:r>
            <a:endParaRPr lang="en-US" sz="1100" dirty="0"/>
          </a:p>
        </p:txBody>
      </p:sp>
      <p:sp>
        <p:nvSpPr>
          <p:cNvPr id="16" name="Shape 13"/>
          <p:cNvSpPr/>
          <p:nvPr/>
        </p:nvSpPr>
        <p:spPr>
          <a:xfrm>
            <a:off x="7818120" y="4983480"/>
            <a:ext cx="3611880" cy="658368"/>
          </a:xfrm>
          <a:prstGeom prst="rect">
            <a:avLst/>
          </a:prstGeom>
          <a:solidFill>
            <a:srgbClr val="EAE3D6"/>
          </a:solidFill>
          <a:ln w="12700">
            <a:solidFill>
              <a:srgbClr val="EAE3D6"/>
            </a:solidFill>
            <a:prstDash val="solid"/>
          </a:ln>
        </p:spPr>
      </p:sp>
      <p:sp>
        <p:nvSpPr>
          <p:cNvPr id="17" name="Text 14"/>
          <p:cNvSpPr/>
          <p:nvPr/>
        </p:nvSpPr>
        <p:spPr>
          <a:xfrm>
            <a:off x="8001000" y="5138928"/>
            <a:ext cx="3246120" cy="256032"/>
          </a:xfrm>
          <a:prstGeom prst="rect">
            <a:avLst/>
          </a:prstGeom>
          <a:noFill/>
          <a:ln/>
        </p:spPr>
        <p:txBody>
          <a:bodyPr wrap="square" lIns="0" tIns="0" rIns="0" bIns="0" rtlCol="0" anchor="ctr"/>
          <a:lstStyle/>
          <a:p>
            <a:pPr indent="0" marL="0">
              <a:buNone/>
            </a:pPr>
            <a:r>
              <a:rPr lang="en-US" sz="1150" b="1" dirty="0">
                <a:solidFill>
                  <a:srgbClr val="2B2A26"/>
                </a:solidFill>
                <a:latin typeface="Cambria" pitchFamily="34" charset="0"/>
                <a:ea typeface="Cambria" pitchFamily="34" charset="-122"/>
                <a:cs typeface="Cambria" pitchFamily="34" charset="-120"/>
              </a:rPr>
              <a:t>Decision</a:t>
            </a:r>
            <a:endParaRPr lang="en-US" sz="1150" dirty="0"/>
          </a:p>
        </p:txBody>
      </p:sp>
      <p:sp>
        <p:nvSpPr>
          <p:cNvPr id="18" name="Text 15"/>
          <p:cNvSpPr/>
          <p:nvPr/>
        </p:nvSpPr>
        <p:spPr>
          <a:xfrm>
            <a:off x="8001000" y="5513832"/>
            <a:ext cx="3246120" cy="0"/>
          </a:xfrm>
          <a:prstGeom prst="rect">
            <a:avLst/>
          </a:prstGeom>
          <a:noFill/>
          <a:ln/>
        </p:spPr>
        <p:txBody>
          <a:bodyPr wrap="square" lIns="254" tIns="254" rIns="254" bIns="254" rtlCol="0" anchor="t">
            <a:normAutofit/>
          </a:bodyPr>
          <a:lstStyle/>
          <a:p>
            <a:pPr indent="0" marL="0">
              <a:buNone/>
            </a:pPr>
            <a:r>
              <a:rPr lang="en-US" sz="950" dirty="0">
                <a:solidFill>
                  <a:srgbClr val="6E6658"/>
                </a:solidFill>
                <a:latin typeface="Calibri" pitchFamily="34" charset="0"/>
                <a:ea typeface="Calibri" pitchFamily="34" charset="-122"/>
                <a:cs typeface="Calibri" pitchFamily="34" charset="-120"/>
              </a:rPr>
              <a:t>Random Forest is selected because it has the highest mean five-fold F1 on training data.</a:t>
            </a:r>
            <a:endParaRPr lang="en-US" sz="950" dirty="0"/>
          </a:p>
        </p:txBody>
      </p:sp>
      <p:sp>
        <p:nvSpPr>
          <p:cNvPr id="19" name="Text 16"/>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Verified values: results/classification_cv.csv.</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A · TUNING</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GridSearchCV — documented cross-validation improvement</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A · Tuning</a:t>
            </a:r>
            <a:endParaRPr lang="en-US" sz="900" dirty="0"/>
          </a:p>
        </p:txBody>
      </p:sp>
      <p:sp>
        <p:nvSpPr>
          <p:cNvPr id="5" name="Shape 3"/>
          <p:cNvSpPr/>
          <p:nvPr/>
        </p:nvSpPr>
        <p:spPr>
          <a:xfrm>
            <a:off x="612648" y="1435608"/>
            <a:ext cx="6318504" cy="4032504"/>
          </a:xfrm>
          <a:prstGeom prst="rect">
            <a:avLst/>
          </a:prstGeom>
          <a:solidFill>
            <a:srgbClr val="FFFFFF"/>
          </a:solidFill>
          <a:ln w="7620">
            <a:solidFill>
              <a:srgbClr val="D8D0C1"/>
            </a:solidFill>
            <a:prstDash val="solid"/>
          </a:ln>
        </p:spPr>
      </p:sp>
      <p:pic>
        <p:nvPicPr>
          <p:cNvPr id="6" name="Image 0" descr="/mnt/data/review2_perfect_assets/classification_tuning.png">    </p:cNvPr>
          <p:cNvPicPr>
            <a:picLocks noChangeAspect="1"/>
          </p:cNvPicPr>
          <p:nvPr/>
        </p:nvPicPr>
        <p:blipFill>
          <a:blip r:embed="rId1"/>
          <a:stretch>
            <a:fillRect/>
          </a:stretch>
        </p:blipFill>
        <p:spPr>
          <a:xfrm>
            <a:off x="640080" y="1463040"/>
            <a:ext cx="6263640" cy="3977640"/>
          </a:xfrm>
          <a:prstGeom prst="rect">
            <a:avLst/>
          </a:prstGeom>
        </p:spPr>
      </p:pic>
      <p:sp>
        <p:nvSpPr>
          <p:cNvPr id="7" name="Shape 4"/>
          <p:cNvSpPr/>
          <p:nvPr/>
        </p:nvSpPr>
        <p:spPr>
          <a:xfrm>
            <a:off x="7223760" y="1417320"/>
            <a:ext cx="4114800" cy="1417320"/>
          </a:xfrm>
          <a:prstGeom prst="rect">
            <a:avLst/>
          </a:prstGeom>
          <a:solidFill>
            <a:srgbClr val="EAE3D6"/>
          </a:solidFill>
          <a:ln w="12700">
            <a:solidFill>
              <a:srgbClr val="EAE3D6"/>
            </a:solidFill>
            <a:prstDash val="solid"/>
          </a:ln>
        </p:spPr>
      </p:sp>
      <p:sp>
        <p:nvSpPr>
          <p:cNvPr id="8" name="Text 5"/>
          <p:cNvSpPr/>
          <p:nvPr/>
        </p:nvSpPr>
        <p:spPr>
          <a:xfrm>
            <a:off x="7406640" y="1572768"/>
            <a:ext cx="374904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Best parameters</a:t>
            </a:r>
            <a:endParaRPr lang="en-US" sz="1400" dirty="0"/>
          </a:p>
        </p:txBody>
      </p:sp>
      <p:sp>
        <p:nvSpPr>
          <p:cNvPr id="9" name="Text 6"/>
          <p:cNvSpPr/>
          <p:nvPr/>
        </p:nvSpPr>
        <p:spPr>
          <a:xfrm>
            <a:off x="7406640" y="1947672"/>
            <a:ext cx="3749040" cy="758952"/>
          </a:xfrm>
          <a:prstGeom prst="rect">
            <a:avLst/>
          </a:prstGeom>
          <a:noFill/>
          <a:ln/>
        </p:spPr>
        <p:txBody>
          <a:bodyPr wrap="square" lIns="254" tIns="254" rIns="254" bIns="254" rtlCol="0" anchor="t">
            <a:normAutofit/>
          </a:bodyPr>
          <a:lstStyle/>
          <a:p>
            <a:pPr indent="0" marL="0">
              <a:buNone/>
            </a:pPr>
            <a:r>
              <a:rPr lang="en-US" sz="1150" dirty="0">
                <a:solidFill>
                  <a:srgbClr val="6E6658"/>
                </a:solidFill>
                <a:latin typeface="Calibri" pitchFamily="34" charset="0"/>
                <a:ea typeface="Calibri" pitchFamily="34" charset="-122"/>
                <a:cs typeface="Calibri" pitchFamily="34" charset="-120"/>
              </a:rPr>
              <a:t>DecisionTreeClassifier</a:t>
            </a:r>
            <a:endParaRPr lang="en-US" sz="1150" dirty="0"/>
          </a:p>
          <a:p>
            <a:pPr indent="0" marL="0">
              <a:buNone/>
            </a:pPr>
            <a:r>
              <a:rPr lang="en-US" sz="1150" dirty="0">
                <a:solidFill>
                  <a:srgbClr val="6E6658"/>
                </a:solidFill>
                <a:latin typeface="Calibri" pitchFamily="34" charset="0"/>
                <a:ea typeface="Calibri" pitchFamily="34" charset="-122"/>
                <a:cs typeface="Calibri" pitchFamily="34" charset="-120"/>
              </a:rPr>
              <a:t>max_depth = 12</a:t>
            </a:r>
            <a:endParaRPr lang="en-US" sz="1150" dirty="0"/>
          </a:p>
          <a:p>
            <a:pPr indent="0" marL="0">
              <a:buNone/>
            </a:pPr>
            <a:r>
              <a:rPr lang="en-US" sz="1150" dirty="0">
                <a:solidFill>
                  <a:srgbClr val="6E6658"/>
                </a:solidFill>
                <a:latin typeface="Calibri" pitchFamily="34" charset="0"/>
                <a:ea typeface="Calibri" pitchFamily="34" charset="-122"/>
                <a:cs typeface="Calibri" pitchFamily="34" charset="-120"/>
              </a:rPr>
              <a:t>min_samples_leaf = 1</a:t>
            </a:r>
            <a:endParaRPr lang="en-US" sz="1150" dirty="0"/>
          </a:p>
        </p:txBody>
      </p:sp>
      <p:sp>
        <p:nvSpPr>
          <p:cNvPr id="10" name="Shape 7"/>
          <p:cNvSpPr/>
          <p:nvPr/>
        </p:nvSpPr>
        <p:spPr>
          <a:xfrm>
            <a:off x="7223760" y="3035808"/>
            <a:ext cx="4114800" cy="1325880"/>
          </a:xfrm>
          <a:prstGeom prst="rect">
            <a:avLst/>
          </a:prstGeom>
          <a:solidFill>
            <a:srgbClr val="EAE3D6"/>
          </a:solidFill>
          <a:ln w="12700">
            <a:solidFill>
              <a:srgbClr val="EAE3D6"/>
            </a:solidFill>
            <a:prstDash val="solid"/>
          </a:ln>
        </p:spPr>
      </p:sp>
      <p:sp>
        <p:nvSpPr>
          <p:cNvPr id="11" name="Text 8"/>
          <p:cNvSpPr/>
          <p:nvPr/>
        </p:nvSpPr>
        <p:spPr>
          <a:xfrm>
            <a:off x="7406640" y="3191256"/>
            <a:ext cx="374904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Training-CV improvement</a:t>
            </a:r>
            <a:endParaRPr lang="en-US" sz="1400" dirty="0"/>
          </a:p>
        </p:txBody>
      </p:sp>
      <p:sp>
        <p:nvSpPr>
          <p:cNvPr id="12" name="Text 9"/>
          <p:cNvSpPr/>
          <p:nvPr/>
        </p:nvSpPr>
        <p:spPr>
          <a:xfrm>
            <a:off x="7406640" y="3566160"/>
            <a:ext cx="3749040" cy="66751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3-fold weighted F1: 0.8319 → 0.8372</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Improvement: +0.0053</a:t>
            </a:r>
            <a:endParaRPr lang="en-US" sz="1100" dirty="0"/>
          </a:p>
        </p:txBody>
      </p:sp>
      <p:sp>
        <p:nvSpPr>
          <p:cNvPr id="13" name="Shape 10"/>
          <p:cNvSpPr/>
          <p:nvPr/>
        </p:nvSpPr>
        <p:spPr>
          <a:xfrm>
            <a:off x="7223760" y="4553712"/>
            <a:ext cx="4114800" cy="1051560"/>
          </a:xfrm>
          <a:prstGeom prst="rect">
            <a:avLst/>
          </a:prstGeom>
          <a:solidFill>
            <a:srgbClr val="EAE3D6"/>
          </a:solidFill>
          <a:ln w="12700">
            <a:solidFill>
              <a:srgbClr val="EAE3D6"/>
            </a:solidFill>
            <a:prstDash val="solid"/>
          </a:ln>
        </p:spPr>
      </p:sp>
      <p:sp>
        <p:nvSpPr>
          <p:cNvPr id="14" name="Text 11"/>
          <p:cNvSpPr/>
          <p:nvPr/>
        </p:nvSpPr>
        <p:spPr>
          <a:xfrm>
            <a:off x="7406640" y="4709160"/>
            <a:ext cx="374904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Held-out check</a:t>
            </a:r>
            <a:endParaRPr lang="en-US" sz="1400" dirty="0"/>
          </a:p>
        </p:txBody>
      </p:sp>
      <p:sp>
        <p:nvSpPr>
          <p:cNvPr id="15" name="Text 12"/>
          <p:cNvSpPr/>
          <p:nvPr/>
        </p:nvSpPr>
        <p:spPr>
          <a:xfrm>
            <a:off x="7406640" y="5084064"/>
            <a:ext cx="3749040" cy="393192"/>
          </a:xfrm>
          <a:prstGeom prst="rect">
            <a:avLst/>
          </a:prstGeom>
          <a:noFill/>
          <a:ln/>
        </p:spPr>
        <p:txBody>
          <a:bodyPr wrap="square" lIns="254" tIns="254" rIns="254" bIns="254" rtlCol="0" anchor="t">
            <a:normAutofit/>
          </a:bodyPr>
          <a:lstStyle/>
          <a:p>
            <a:pPr indent="0" marL="0">
              <a:buNone/>
            </a:pPr>
            <a:r>
              <a:rPr lang="en-US" sz="1040" dirty="0">
                <a:solidFill>
                  <a:srgbClr val="6E6658"/>
                </a:solidFill>
                <a:latin typeface="Calibri" pitchFamily="34" charset="0"/>
                <a:ea typeface="Calibri" pitchFamily="34" charset="-122"/>
                <a:cs typeface="Calibri" pitchFamily="34" charset="-120"/>
              </a:rPr>
              <a:t>Test F1 changes 0.8484 → 0.8449. The deck reports both results instead of hiding the slight test decrease.</a:t>
            </a:r>
            <a:endParaRPr lang="en-US" sz="1040" dirty="0"/>
          </a:p>
        </p:txBody>
      </p:sp>
      <p:sp>
        <p:nvSpPr>
          <p:cNvPr id="16" name="Text 13"/>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Verified values: results/classification_tuning.csv · tuning performed using training folds only.</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A · RESULTS</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Consolidated ten-algorithm classification comparison</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A · Results</a:t>
            </a:r>
            <a:endParaRPr lang="en-US" sz="900" dirty="0"/>
          </a:p>
        </p:txBody>
      </p:sp>
      <p:sp>
        <p:nvSpPr>
          <p:cNvPr id="5" name="Shape 3"/>
          <p:cNvSpPr/>
          <p:nvPr/>
        </p:nvSpPr>
        <p:spPr>
          <a:xfrm>
            <a:off x="548640" y="1325880"/>
            <a:ext cx="2514600" cy="403167"/>
          </a:xfrm>
          <a:prstGeom prst="rect">
            <a:avLst/>
          </a:prstGeom>
          <a:solidFill>
            <a:srgbClr val="2E322C"/>
          </a:solidFill>
          <a:ln w="6350">
            <a:solidFill>
              <a:srgbClr val="F6F2EA"/>
            </a:solidFill>
            <a:prstDash val="solid"/>
          </a:ln>
        </p:spPr>
      </p:sp>
      <p:sp>
        <p:nvSpPr>
          <p:cNvPr id="6" name="Text 4"/>
          <p:cNvSpPr/>
          <p:nvPr/>
        </p:nvSpPr>
        <p:spPr>
          <a:xfrm>
            <a:off x="603504" y="1353312"/>
            <a:ext cx="2404872" cy="348303"/>
          </a:xfrm>
          <a:prstGeom prst="rect">
            <a:avLst/>
          </a:prstGeom>
          <a:noFill/>
          <a:ln/>
        </p:spPr>
        <p:txBody>
          <a:bodyPr wrap="square" lIns="127" tIns="127" rIns="127" bIns="127" rtlCol="0" anchor="ctr">
            <a:normAutofit/>
          </a:bodyPr>
          <a:lstStyle/>
          <a:p>
            <a:pPr algn="l" indent="0" marL="0">
              <a:buNone/>
            </a:pPr>
            <a:r>
              <a:rPr lang="en-US" sz="870" b="1" dirty="0">
                <a:solidFill>
                  <a:srgbClr val="F6F2EA"/>
                </a:solidFill>
                <a:latin typeface="Calibri" pitchFamily="34" charset="0"/>
                <a:ea typeface="Calibri" pitchFamily="34" charset="-122"/>
                <a:cs typeface="Calibri" pitchFamily="34" charset="-120"/>
              </a:rPr>
              <a:t>Algorithm</a:t>
            </a:r>
            <a:endParaRPr lang="en-US" sz="870" dirty="0"/>
          </a:p>
        </p:txBody>
      </p:sp>
      <p:sp>
        <p:nvSpPr>
          <p:cNvPr id="7" name="Shape 5"/>
          <p:cNvSpPr/>
          <p:nvPr/>
        </p:nvSpPr>
        <p:spPr>
          <a:xfrm>
            <a:off x="3063240" y="1325880"/>
            <a:ext cx="1572768" cy="403167"/>
          </a:xfrm>
          <a:prstGeom prst="rect">
            <a:avLst/>
          </a:prstGeom>
          <a:solidFill>
            <a:srgbClr val="2E322C"/>
          </a:solidFill>
          <a:ln w="6350">
            <a:solidFill>
              <a:srgbClr val="F6F2EA"/>
            </a:solidFill>
            <a:prstDash val="solid"/>
          </a:ln>
        </p:spPr>
      </p:sp>
      <p:sp>
        <p:nvSpPr>
          <p:cNvPr id="8" name="Text 6"/>
          <p:cNvSpPr/>
          <p:nvPr/>
        </p:nvSpPr>
        <p:spPr>
          <a:xfrm>
            <a:off x="3118104" y="1353312"/>
            <a:ext cx="1463040" cy="348303"/>
          </a:xfrm>
          <a:prstGeom prst="rect">
            <a:avLst/>
          </a:prstGeom>
          <a:noFill/>
          <a:ln/>
        </p:spPr>
        <p:txBody>
          <a:bodyPr wrap="square" lIns="127" tIns="127" rIns="127" bIns="127" rtlCol="0" anchor="ctr">
            <a:normAutofit/>
          </a:bodyPr>
          <a:lstStyle/>
          <a:p>
            <a:pPr algn="ctr" indent="0" marL="0">
              <a:buNone/>
            </a:pPr>
            <a:r>
              <a:rPr lang="en-US" sz="870" b="1" dirty="0">
                <a:solidFill>
                  <a:srgbClr val="F6F2EA"/>
                </a:solidFill>
                <a:latin typeface="Calibri" pitchFamily="34" charset="0"/>
                <a:ea typeface="Calibri" pitchFamily="34" charset="-122"/>
                <a:cs typeface="Calibri" pitchFamily="34" charset="-120"/>
              </a:rPr>
              <a:t>Accuracy</a:t>
            </a:r>
            <a:endParaRPr lang="en-US" sz="870" dirty="0"/>
          </a:p>
        </p:txBody>
      </p:sp>
      <p:sp>
        <p:nvSpPr>
          <p:cNvPr id="9" name="Shape 7"/>
          <p:cNvSpPr/>
          <p:nvPr/>
        </p:nvSpPr>
        <p:spPr>
          <a:xfrm>
            <a:off x="4636008" y="1325880"/>
            <a:ext cx="1572768" cy="403167"/>
          </a:xfrm>
          <a:prstGeom prst="rect">
            <a:avLst/>
          </a:prstGeom>
          <a:solidFill>
            <a:srgbClr val="2E322C"/>
          </a:solidFill>
          <a:ln w="6350">
            <a:solidFill>
              <a:srgbClr val="F6F2EA"/>
            </a:solidFill>
            <a:prstDash val="solid"/>
          </a:ln>
        </p:spPr>
      </p:sp>
      <p:sp>
        <p:nvSpPr>
          <p:cNvPr id="10" name="Text 8"/>
          <p:cNvSpPr/>
          <p:nvPr/>
        </p:nvSpPr>
        <p:spPr>
          <a:xfrm>
            <a:off x="4690872" y="1353312"/>
            <a:ext cx="1463040" cy="348303"/>
          </a:xfrm>
          <a:prstGeom prst="rect">
            <a:avLst/>
          </a:prstGeom>
          <a:noFill/>
          <a:ln/>
        </p:spPr>
        <p:txBody>
          <a:bodyPr wrap="square" lIns="127" tIns="127" rIns="127" bIns="127" rtlCol="0" anchor="ctr">
            <a:normAutofit/>
          </a:bodyPr>
          <a:lstStyle/>
          <a:p>
            <a:pPr algn="ctr" indent="0" marL="0">
              <a:buNone/>
            </a:pPr>
            <a:r>
              <a:rPr lang="en-US" sz="870" b="1" dirty="0">
                <a:solidFill>
                  <a:srgbClr val="F6F2EA"/>
                </a:solidFill>
                <a:latin typeface="Calibri" pitchFamily="34" charset="0"/>
                <a:ea typeface="Calibri" pitchFamily="34" charset="-122"/>
                <a:cs typeface="Calibri" pitchFamily="34" charset="-120"/>
              </a:rPr>
              <a:t>Precision</a:t>
            </a:r>
            <a:endParaRPr lang="en-US" sz="870" dirty="0"/>
          </a:p>
        </p:txBody>
      </p:sp>
      <p:sp>
        <p:nvSpPr>
          <p:cNvPr id="11" name="Shape 9"/>
          <p:cNvSpPr/>
          <p:nvPr/>
        </p:nvSpPr>
        <p:spPr>
          <a:xfrm>
            <a:off x="6208776" y="1325880"/>
            <a:ext cx="1572768" cy="403167"/>
          </a:xfrm>
          <a:prstGeom prst="rect">
            <a:avLst/>
          </a:prstGeom>
          <a:solidFill>
            <a:srgbClr val="2E322C"/>
          </a:solidFill>
          <a:ln w="6350">
            <a:solidFill>
              <a:srgbClr val="F6F2EA"/>
            </a:solidFill>
            <a:prstDash val="solid"/>
          </a:ln>
        </p:spPr>
      </p:sp>
      <p:sp>
        <p:nvSpPr>
          <p:cNvPr id="12" name="Text 10"/>
          <p:cNvSpPr/>
          <p:nvPr/>
        </p:nvSpPr>
        <p:spPr>
          <a:xfrm>
            <a:off x="6263640" y="1353312"/>
            <a:ext cx="1463040" cy="348303"/>
          </a:xfrm>
          <a:prstGeom prst="rect">
            <a:avLst/>
          </a:prstGeom>
          <a:noFill/>
          <a:ln/>
        </p:spPr>
        <p:txBody>
          <a:bodyPr wrap="square" lIns="127" tIns="127" rIns="127" bIns="127" rtlCol="0" anchor="ctr">
            <a:normAutofit/>
          </a:bodyPr>
          <a:lstStyle/>
          <a:p>
            <a:pPr algn="ctr" indent="0" marL="0">
              <a:buNone/>
            </a:pPr>
            <a:r>
              <a:rPr lang="en-US" sz="870" b="1" dirty="0">
                <a:solidFill>
                  <a:srgbClr val="F6F2EA"/>
                </a:solidFill>
                <a:latin typeface="Calibri" pitchFamily="34" charset="0"/>
                <a:ea typeface="Calibri" pitchFamily="34" charset="-122"/>
                <a:cs typeface="Calibri" pitchFamily="34" charset="-120"/>
              </a:rPr>
              <a:t>Recall</a:t>
            </a:r>
            <a:endParaRPr lang="en-US" sz="870" dirty="0"/>
          </a:p>
        </p:txBody>
      </p:sp>
      <p:sp>
        <p:nvSpPr>
          <p:cNvPr id="13" name="Shape 11"/>
          <p:cNvSpPr/>
          <p:nvPr/>
        </p:nvSpPr>
        <p:spPr>
          <a:xfrm>
            <a:off x="7781544" y="1325880"/>
            <a:ext cx="1874520" cy="403167"/>
          </a:xfrm>
          <a:prstGeom prst="rect">
            <a:avLst/>
          </a:prstGeom>
          <a:solidFill>
            <a:srgbClr val="2E322C"/>
          </a:solidFill>
          <a:ln w="6350">
            <a:solidFill>
              <a:srgbClr val="F6F2EA"/>
            </a:solidFill>
            <a:prstDash val="solid"/>
          </a:ln>
        </p:spPr>
      </p:sp>
      <p:sp>
        <p:nvSpPr>
          <p:cNvPr id="14" name="Text 12"/>
          <p:cNvSpPr/>
          <p:nvPr/>
        </p:nvSpPr>
        <p:spPr>
          <a:xfrm>
            <a:off x="7836408" y="1353312"/>
            <a:ext cx="1764792" cy="348303"/>
          </a:xfrm>
          <a:prstGeom prst="rect">
            <a:avLst/>
          </a:prstGeom>
          <a:noFill/>
          <a:ln/>
        </p:spPr>
        <p:txBody>
          <a:bodyPr wrap="square" lIns="127" tIns="127" rIns="127" bIns="127" rtlCol="0" anchor="ctr">
            <a:normAutofit/>
          </a:bodyPr>
          <a:lstStyle/>
          <a:p>
            <a:pPr algn="ctr" indent="0" marL="0">
              <a:buNone/>
            </a:pPr>
            <a:r>
              <a:rPr lang="en-US" sz="870" b="1" dirty="0">
                <a:solidFill>
                  <a:srgbClr val="F6F2EA"/>
                </a:solidFill>
                <a:latin typeface="Calibri" pitchFamily="34" charset="0"/>
                <a:ea typeface="Calibri" pitchFamily="34" charset="-122"/>
                <a:cs typeface="Calibri" pitchFamily="34" charset="-120"/>
              </a:rPr>
              <a:t>Weighted F1</a:t>
            </a:r>
            <a:endParaRPr lang="en-US" sz="870" dirty="0"/>
          </a:p>
        </p:txBody>
      </p:sp>
      <p:sp>
        <p:nvSpPr>
          <p:cNvPr id="15" name="Shape 13"/>
          <p:cNvSpPr/>
          <p:nvPr/>
        </p:nvSpPr>
        <p:spPr>
          <a:xfrm>
            <a:off x="9656064" y="1325880"/>
            <a:ext cx="2002536" cy="403167"/>
          </a:xfrm>
          <a:prstGeom prst="rect">
            <a:avLst/>
          </a:prstGeom>
          <a:solidFill>
            <a:srgbClr val="2E322C"/>
          </a:solidFill>
          <a:ln w="6350">
            <a:solidFill>
              <a:srgbClr val="F6F2EA"/>
            </a:solidFill>
            <a:prstDash val="solid"/>
          </a:ln>
        </p:spPr>
      </p:sp>
      <p:sp>
        <p:nvSpPr>
          <p:cNvPr id="16" name="Text 14"/>
          <p:cNvSpPr/>
          <p:nvPr/>
        </p:nvSpPr>
        <p:spPr>
          <a:xfrm>
            <a:off x="9710928" y="1353312"/>
            <a:ext cx="1892808" cy="348303"/>
          </a:xfrm>
          <a:prstGeom prst="rect">
            <a:avLst/>
          </a:prstGeom>
          <a:noFill/>
          <a:ln/>
        </p:spPr>
        <p:txBody>
          <a:bodyPr wrap="square" lIns="127" tIns="127" rIns="127" bIns="127" rtlCol="0" anchor="ctr">
            <a:normAutofit/>
          </a:bodyPr>
          <a:lstStyle/>
          <a:p>
            <a:pPr algn="ctr" indent="0" marL="0">
              <a:buNone/>
            </a:pPr>
            <a:r>
              <a:rPr lang="en-US" sz="870" b="1" dirty="0">
                <a:solidFill>
                  <a:srgbClr val="F6F2EA"/>
                </a:solidFill>
                <a:latin typeface="Calibri" pitchFamily="34" charset="0"/>
                <a:ea typeface="Calibri" pitchFamily="34" charset="-122"/>
                <a:cs typeface="Calibri" pitchFamily="34" charset="-120"/>
              </a:rPr>
              <a:t>ROC-AUC</a:t>
            </a:r>
            <a:endParaRPr lang="en-US" sz="870" dirty="0"/>
          </a:p>
        </p:txBody>
      </p:sp>
      <p:sp>
        <p:nvSpPr>
          <p:cNvPr id="17" name="Shape 15"/>
          <p:cNvSpPr/>
          <p:nvPr/>
        </p:nvSpPr>
        <p:spPr>
          <a:xfrm>
            <a:off x="548640" y="1729047"/>
            <a:ext cx="2514600" cy="403167"/>
          </a:xfrm>
          <a:prstGeom prst="rect">
            <a:avLst/>
          </a:prstGeom>
          <a:solidFill>
            <a:srgbClr val="F2EEE6"/>
          </a:solidFill>
          <a:ln w="6350">
            <a:solidFill>
              <a:srgbClr val="F6F2EA"/>
            </a:solidFill>
            <a:prstDash val="solid"/>
          </a:ln>
        </p:spPr>
      </p:sp>
      <p:sp>
        <p:nvSpPr>
          <p:cNvPr id="18" name="Text 16"/>
          <p:cNvSpPr/>
          <p:nvPr/>
        </p:nvSpPr>
        <p:spPr>
          <a:xfrm>
            <a:off x="603504" y="1756479"/>
            <a:ext cx="2404872" cy="348303"/>
          </a:xfrm>
          <a:prstGeom prst="rect">
            <a:avLst/>
          </a:prstGeom>
          <a:noFill/>
          <a:ln/>
        </p:spPr>
        <p:txBody>
          <a:bodyPr wrap="square" lIns="127" tIns="127" rIns="127" bIns="127" rtlCol="0" anchor="ctr">
            <a:normAutofit/>
          </a:bodyPr>
          <a:lstStyle/>
          <a:p>
            <a:pPr algn="l" indent="0" marL="0">
              <a:buNone/>
            </a:pPr>
            <a:r>
              <a:rPr lang="en-US" sz="860" dirty="0">
                <a:solidFill>
                  <a:srgbClr val="6E6658"/>
                </a:solidFill>
                <a:latin typeface="Calibri" pitchFamily="34" charset="0"/>
                <a:ea typeface="Calibri" pitchFamily="34" charset="-122"/>
                <a:cs typeface="Calibri" pitchFamily="34" charset="-120"/>
              </a:rPr>
              <a:t>Random Forest</a:t>
            </a:r>
            <a:endParaRPr lang="en-US" sz="860" dirty="0"/>
          </a:p>
        </p:txBody>
      </p:sp>
      <p:sp>
        <p:nvSpPr>
          <p:cNvPr id="19" name="Shape 17"/>
          <p:cNvSpPr/>
          <p:nvPr/>
        </p:nvSpPr>
        <p:spPr>
          <a:xfrm>
            <a:off x="3063240" y="1729047"/>
            <a:ext cx="1572768" cy="403167"/>
          </a:xfrm>
          <a:prstGeom prst="rect">
            <a:avLst/>
          </a:prstGeom>
          <a:solidFill>
            <a:srgbClr val="F2EEE6"/>
          </a:solidFill>
          <a:ln w="6350">
            <a:solidFill>
              <a:srgbClr val="F6F2EA"/>
            </a:solidFill>
            <a:prstDash val="solid"/>
          </a:ln>
        </p:spPr>
      </p:sp>
      <p:sp>
        <p:nvSpPr>
          <p:cNvPr id="20" name="Text 18"/>
          <p:cNvSpPr/>
          <p:nvPr/>
        </p:nvSpPr>
        <p:spPr>
          <a:xfrm>
            <a:off x="3118104" y="1756479"/>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0.8855</a:t>
            </a:r>
            <a:endParaRPr lang="en-US" sz="860" dirty="0"/>
          </a:p>
        </p:txBody>
      </p:sp>
      <p:sp>
        <p:nvSpPr>
          <p:cNvPr id="21" name="Shape 19"/>
          <p:cNvSpPr/>
          <p:nvPr/>
        </p:nvSpPr>
        <p:spPr>
          <a:xfrm>
            <a:off x="4636008" y="1729047"/>
            <a:ext cx="1572768" cy="403167"/>
          </a:xfrm>
          <a:prstGeom prst="rect">
            <a:avLst/>
          </a:prstGeom>
          <a:solidFill>
            <a:srgbClr val="F2EEE6"/>
          </a:solidFill>
          <a:ln w="6350">
            <a:solidFill>
              <a:srgbClr val="F6F2EA"/>
            </a:solidFill>
            <a:prstDash val="solid"/>
          </a:ln>
        </p:spPr>
      </p:sp>
      <p:sp>
        <p:nvSpPr>
          <p:cNvPr id="22" name="Text 20"/>
          <p:cNvSpPr/>
          <p:nvPr/>
        </p:nvSpPr>
        <p:spPr>
          <a:xfrm>
            <a:off x="4690872" y="1756479"/>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0.8893</a:t>
            </a:r>
            <a:endParaRPr lang="en-US" sz="860" dirty="0"/>
          </a:p>
        </p:txBody>
      </p:sp>
      <p:sp>
        <p:nvSpPr>
          <p:cNvPr id="23" name="Shape 21"/>
          <p:cNvSpPr/>
          <p:nvPr/>
        </p:nvSpPr>
        <p:spPr>
          <a:xfrm>
            <a:off x="6208776" y="1729047"/>
            <a:ext cx="1572768" cy="403167"/>
          </a:xfrm>
          <a:prstGeom prst="rect">
            <a:avLst/>
          </a:prstGeom>
          <a:solidFill>
            <a:srgbClr val="F2EEE6"/>
          </a:solidFill>
          <a:ln w="6350">
            <a:solidFill>
              <a:srgbClr val="F6F2EA"/>
            </a:solidFill>
            <a:prstDash val="solid"/>
          </a:ln>
        </p:spPr>
      </p:sp>
      <p:sp>
        <p:nvSpPr>
          <p:cNvPr id="24" name="Text 22"/>
          <p:cNvSpPr/>
          <p:nvPr/>
        </p:nvSpPr>
        <p:spPr>
          <a:xfrm>
            <a:off x="6263640" y="1756479"/>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0.8855</a:t>
            </a:r>
            <a:endParaRPr lang="en-US" sz="860" dirty="0"/>
          </a:p>
        </p:txBody>
      </p:sp>
      <p:sp>
        <p:nvSpPr>
          <p:cNvPr id="25" name="Shape 23"/>
          <p:cNvSpPr/>
          <p:nvPr/>
        </p:nvSpPr>
        <p:spPr>
          <a:xfrm>
            <a:off x="7781544" y="1729047"/>
            <a:ext cx="1874520" cy="403167"/>
          </a:xfrm>
          <a:prstGeom prst="rect">
            <a:avLst/>
          </a:prstGeom>
          <a:solidFill>
            <a:srgbClr val="F2EEE6"/>
          </a:solidFill>
          <a:ln w="6350">
            <a:solidFill>
              <a:srgbClr val="F6F2EA"/>
            </a:solidFill>
            <a:prstDash val="solid"/>
          </a:ln>
        </p:spPr>
      </p:sp>
      <p:sp>
        <p:nvSpPr>
          <p:cNvPr id="26" name="Text 24"/>
          <p:cNvSpPr/>
          <p:nvPr/>
        </p:nvSpPr>
        <p:spPr>
          <a:xfrm>
            <a:off x="7836408" y="1756479"/>
            <a:ext cx="1764792"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0.8837</a:t>
            </a:r>
            <a:endParaRPr lang="en-US" sz="860" dirty="0"/>
          </a:p>
        </p:txBody>
      </p:sp>
      <p:sp>
        <p:nvSpPr>
          <p:cNvPr id="27" name="Shape 25"/>
          <p:cNvSpPr/>
          <p:nvPr/>
        </p:nvSpPr>
        <p:spPr>
          <a:xfrm>
            <a:off x="9656064" y="1729047"/>
            <a:ext cx="2002536" cy="403167"/>
          </a:xfrm>
          <a:prstGeom prst="rect">
            <a:avLst/>
          </a:prstGeom>
          <a:solidFill>
            <a:srgbClr val="F2EEE6"/>
          </a:solidFill>
          <a:ln w="6350">
            <a:solidFill>
              <a:srgbClr val="F6F2EA"/>
            </a:solidFill>
            <a:prstDash val="solid"/>
          </a:ln>
        </p:spPr>
      </p:sp>
      <p:sp>
        <p:nvSpPr>
          <p:cNvPr id="28" name="Text 26"/>
          <p:cNvSpPr/>
          <p:nvPr/>
        </p:nvSpPr>
        <p:spPr>
          <a:xfrm>
            <a:off x="9710928" y="1756479"/>
            <a:ext cx="1892808"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0.9680</a:t>
            </a:r>
            <a:endParaRPr lang="en-US" sz="860" dirty="0"/>
          </a:p>
        </p:txBody>
      </p:sp>
      <p:sp>
        <p:nvSpPr>
          <p:cNvPr id="29" name="Shape 27"/>
          <p:cNvSpPr/>
          <p:nvPr/>
        </p:nvSpPr>
        <p:spPr>
          <a:xfrm>
            <a:off x="548640" y="2132215"/>
            <a:ext cx="2514600" cy="403167"/>
          </a:xfrm>
          <a:prstGeom prst="rect">
            <a:avLst/>
          </a:prstGeom>
          <a:solidFill>
            <a:srgbClr val="EAE3D6"/>
          </a:solidFill>
          <a:ln w="6350">
            <a:solidFill>
              <a:srgbClr val="F6F2EA"/>
            </a:solidFill>
            <a:prstDash val="solid"/>
          </a:ln>
        </p:spPr>
      </p:sp>
      <p:sp>
        <p:nvSpPr>
          <p:cNvPr id="30" name="Text 28"/>
          <p:cNvSpPr/>
          <p:nvPr/>
        </p:nvSpPr>
        <p:spPr>
          <a:xfrm>
            <a:off x="603504" y="2159647"/>
            <a:ext cx="2404872" cy="348303"/>
          </a:xfrm>
          <a:prstGeom prst="rect">
            <a:avLst/>
          </a:prstGeom>
          <a:noFill/>
          <a:ln/>
        </p:spPr>
        <p:txBody>
          <a:bodyPr wrap="square" lIns="127" tIns="127" rIns="127" bIns="127" rtlCol="0" anchor="ctr">
            <a:normAutofit/>
          </a:bodyPr>
          <a:lstStyle/>
          <a:p>
            <a:pPr algn="l" indent="0" marL="0">
              <a:buNone/>
            </a:pPr>
            <a:r>
              <a:rPr lang="en-US" sz="860" dirty="0">
                <a:solidFill>
                  <a:srgbClr val="6E6658"/>
                </a:solidFill>
                <a:latin typeface="Calibri" pitchFamily="34" charset="0"/>
                <a:ea typeface="Calibri" pitchFamily="34" charset="-122"/>
                <a:cs typeface="Calibri" pitchFamily="34" charset="-120"/>
              </a:rPr>
              <a:t>Bagging</a:t>
            </a:r>
            <a:endParaRPr lang="en-US" sz="860" dirty="0"/>
          </a:p>
        </p:txBody>
      </p:sp>
      <p:sp>
        <p:nvSpPr>
          <p:cNvPr id="31" name="Shape 29"/>
          <p:cNvSpPr/>
          <p:nvPr/>
        </p:nvSpPr>
        <p:spPr>
          <a:xfrm>
            <a:off x="3063240" y="2132215"/>
            <a:ext cx="1572768" cy="403167"/>
          </a:xfrm>
          <a:prstGeom prst="rect">
            <a:avLst/>
          </a:prstGeom>
          <a:solidFill>
            <a:srgbClr val="EAE3D6"/>
          </a:solidFill>
          <a:ln w="6350">
            <a:solidFill>
              <a:srgbClr val="F6F2EA"/>
            </a:solidFill>
            <a:prstDash val="solid"/>
          </a:ln>
        </p:spPr>
      </p:sp>
      <p:sp>
        <p:nvSpPr>
          <p:cNvPr id="32" name="Text 30"/>
          <p:cNvSpPr/>
          <p:nvPr/>
        </p:nvSpPr>
        <p:spPr>
          <a:xfrm>
            <a:off x="3118104" y="2159647"/>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0.8788</a:t>
            </a:r>
            <a:endParaRPr lang="en-US" sz="860" dirty="0"/>
          </a:p>
        </p:txBody>
      </p:sp>
      <p:sp>
        <p:nvSpPr>
          <p:cNvPr id="33" name="Shape 31"/>
          <p:cNvSpPr/>
          <p:nvPr/>
        </p:nvSpPr>
        <p:spPr>
          <a:xfrm>
            <a:off x="4636008" y="2132215"/>
            <a:ext cx="1572768" cy="403167"/>
          </a:xfrm>
          <a:prstGeom prst="rect">
            <a:avLst/>
          </a:prstGeom>
          <a:solidFill>
            <a:srgbClr val="EAE3D6"/>
          </a:solidFill>
          <a:ln w="6350">
            <a:solidFill>
              <a:srgbClr val="F6F2EA"/>
            </a:solidFill>
            <a:prstDash val="solid"/>
          </a:ln>
        </p:spPr>
      </p:sp>
      <p:sp>
        <p:nvSpPr>
          <p:cNvPr id="34" name="Text 32"/>
          <p:cNvSpPr/>
          <p:nvPr/>
        </p:nvSpPr>
        <p:spPr>
          <a:xfrm>
            <a:off x="4690872" y="2159647"/>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0.8791</a:t>
            </a:r>
            <a:endParaRPr lang="en-US" sz="860" dirty="0"/>
          </a:p>
        </p:txBody>
      </p:sp>
      <p:sp>
        <p:nvSpPr>
          <p:cNvPr id="35" name="Shape 33"/>
          <p:cNvSpPr/>
          <p:nvPr/>
        </p:nvSpPr>
        <p:spPr>
          <a:xfrm>
            <a:off x="6208776" y="2132215"/>
            <a:ext cx="1572768" cy="403167"/>
          </a:xfrm>
          <a:prstGeom prst="rect">
            <a:avLst/>
          </a:prstGeom>
          <a:solidFill>
            <a:srgbClr val="EAE3D6"/>
          </a:solidFill>
          <a:ln w="6350">
            <a:solidFill>
              <a:srgbClr val="F6F2EA"/>
            </a:solidFill>
            <a:prstDash val="solid"/>
          </a:ln>
        </p:spPr>
      </p:sp>
      <p:sp>
        <p:nvSpPr>
          <p:cNvPr id="36" name="Text 34"/>
          <p:cNvSpPr/>
          <p:nvPr/>
        </p:nvSpPr>
        <p:spPr>
          <a:xfrm>
            <a:off x="6263640" y="2159647"/>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0.8788</a:t>
            </a:r>
            <a:endParaRPr lang="en-US" sz="860" dirty="0"/>
          </a:p>
        </p:txBody>
      </p:sp>
      <p:sp>
        <p:nvSpPr>
          <p:cNvPr id="37" name="Shape 35"/>
          <p:cNvSpPr/>
          <p:nvPr/>
        </p:nvSpPr>
        <p:spPr>
          <a:xfrm>
            <a:off x="7781544" y="2132215"/>
            <a:ext cx="1874520" cy="403167"/>
          </a:xfrm>
          <a:prstGeom prst="rect">
            <a:avLst/>
          </a:prstGeom>
          <a:solidFill>
            <a:srgbClr val="EAE3D6"/>
          </a:solidFill>
          <a:ln w="6350">
            <a:solidFill>
              <a:srgbClr val="F6F2EA"/>
            </a:solidFill>
            <a:prstDash val="solid"/>
          </a:ln>
        </p:spPr>
      </p:sp>
      <p:sp>
        <p:nvSpPr>
          <p:cNvPr id="38" name="Text 36"/>
          <p:cNvSpPr/>
          <p:nvPr/>
        </p:nvSpPr>
        <p:spPr>
          <a:xfrm>
            <a:off x="7836408" y="2159647"/>
            <a:ext cx="1764792"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0.8778</a:t>
            </a:r>
            <a:endParaRPr lang="en-US" sz="860" dirty="0"/>
          </a:p>
        </p:txBody>
      </p:sp>
      <p:sp>
        <p:nvSpPr>
          <p:cNvPr id="39" name="Shape 37"/>
          <p:cNvSpPr/>
          <p:nvPr/>
        </p:nvSpPr>
        <p:spPr>
          <a:xfrm>
            <a:off x="9656064" y="2132215"/>
            <a:ext cx="2002536" cy="403167"/>
          </a:xfrm>
          <a:prstGeom prst="rect">
            <a:avLst/>
          </a:prstGeom>
          <a:solidFill>
            <a:srgbClr val="EAE3D6"/>
          </a:solidFill>
          <a:ln w="6350">
            <a:solidFill>
              <a:srgbClr val="F6F2EA"/>
            </a:solidFill>
            <a:prstDash val="solid"/>
          </a:ln>
        </p:spPr>
      </p:sp>
      <p:sp>
        <p:nvSpPr>
          <p:cNvPr id="40" name="Text 38"/>
          <p:cNvSpPr/>
          <p:nvPr/>
        </p:nvSpPr>
        <p:spPr>
          <a:xfrm>
            <a:off x="9710928" y="2159647"/>
            <a:ext cx="1892808"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0.9607</a:t>
            </a:r>
            <a:endParaRPr lang="en-US" sz="860" dirty="0"/>
          </a:p>
        </p:txBody>
      </p:sp>
      <p:sp>
        <p:nvSpPr>
          <p:cNvPr id="41" name="Shape 39"/>
          <p:cNvSpPr/>
          <p:nvPr/>
        </p:nvSpPr>
        <p:spPr>
          <a:xfrm>
            <a:off x="548640" y="2535382"/>
            <a:ext cx="2514600" cy="403167"/>
          </a:xfrm>
          <a:prstGeom prst="rect">
            <a:avLst/>
          </a:prstGeom>
          <a:solidFill>
            <a:srgbClr val="F2EEE6"/>
          </a:solidFill>
          <a:ln w="6350">
            <a:solidFill>
              <a:srgbClr val="F6F2EA"/>
            </a:solidFill>
            <a:prstDash val="solid"/>
          </a:ln>
        </p:spPr>
      </p:sp>
      <p:sp>
        <p:nvSpPr>
          <p:cNvPr id="42" name="Text 40"/>
          <p:cNvSpPr/>
          <p:nvPr/>
        </p:nvSpPr>
        <p:spPr>
          <a:xfrm>
            <a:off x="603504" y="2562814"/>
            <a:ext cx="2404872" cy="348303"/>
          </a:xfrm>
          <a:prstGeom prst="rect">
            <a:avLst/>
          </a:prstGeom>
          <a:noFill/>
          <a:ln/>
        </p:spPr>
        <p:txBody>
          <a:bodyPr wrap="square" lIns="127" tIns="127" rIns="127" bIns="127" rtlCol="0" anchor="ctr">
            <a:normAutofit/>
          </a:bodyPr>
          <a:lstStyle/>
          <a:p>
            <a:pPr algn="l" indent="0" marL="0">
              <a:buNone/>
            </a:pPr>
            <a:r>
              <a:rPr lang="en-US" sz="860" dirty="0">
                <a:solidFill>
                  <a:srgbClr val="6E6658"/>
                </a:solidFill>
                <a:latin typeface="Calibri" pitchFamily="34" charset="0"/>
                <a:ea typeface="Calibri" pitchFamily="34" charset="-122"/>
                <a:cs typeface="Calibri" pitchFamily="34" charset="-120"/>
              </a:rPr>
              <a:t>Gradient Boosting</a:t>
            </a:r>
            <a:endParaRPr lang="en-US" sz="860" dirty="0"/>
          </a:p>
        </p:txBody>
      </p:sp>
      <p:sp>
        <p:nvSpPr>
          <p:cNvPr id="43" name="Shape 41"/>
          <p:cNvSpPr/>
          <p:nvPr/>
        </p:nvSpPr>
        <p:spPr>
          <a:xfrm>
            <a:off x="3063240" y="2535382"/>
            <a:ext cx="1572768" cy="403167"/>
          </a:xfrm>
          <a:prstGeom prst="rect">
            <a:avLst/>
          </a:prstGeom>
          <a:solidFill>
            <a:srgbClr val="F2EEE6"/>
          </a:solidFill>
          <a:ln w="6350">
            <a:solidFill>
              <a:srgbClr val="F6F2EA"/>
            </a:solidFill>
            <a:prstDash val="solid"/>
          </a:ln>
        </p:spPr>
      </p:sp>
      <p:sp>
        <p:nvSpPr>
          <p:cNvPr id="44" name="Text 42"/>
          <p:cNvSpPr/>
          <p:nvPr/>
        </p:nvSpPr>
        <p:spPr>
          <a:xfrm>
            <a:off x="3118104" y="2562814"/>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0.8770</a:t>
            </a:r>
            <a:endParaRPr lang="en-US" sz="860" dirty="0"/>
          </a:p>
        </p:txBody>
      </p:sp>
      <p:sp>
        <p:nvSpPr>
          <p:cNvPr id="45" name="Shape 43"/>
          <p:cNvSpPr/>
          <p:nvPr/>
        </p:nvSpPr>
        <p:spPr>
          <a:xfrm>
            <a:off x="4636008" y="2535382"/>
            <a:ext cx="1572768" cy="403167"/>
          </a:xfrm>
          <a:prstGeom prst="rect">
            <a:avLst/>
          </a:prstGeom>
          <a:solidFill>
            <a:srgbClr val="F2EEE6"/>
          </a:solidFill>
          <a:ln w="6350">
            <a:solidFill>
              <a:srgbClr val="F6F2EA"/>
            </a:solidFill>
            <a:prstDash val="solid"/>
          </a:ln>
        </p:spPr>
      </p:sp>
      <p:sp>
        <p:nvSpPr>
          <p:cNvPr id="46" name="Text 44"/>
          <p:cNvSpPr/>
          <p:nvPr/>
        </p:nvSpPr>
        <p:spPr>
          <a:xfrm>
            <a:off x="4690872" y="2562814"/>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0.8799</a:t>
            </a:r>
            <a:endParaRPr lang="en-US" sz="860" dirty="0"/>
          </a:p>
        </p:txBody>
      </p:sp>
      <p:sp>
        <p:nvSpPr>
          <p:cNvPr id="47" name="Shape 45"/>
          <p:cNvSpPr/>
          <p:nvPr/>
        </p:nvSpPr>
        <p:spPr>
          <a:xfrm>
            <a:off x="6208776" y="2535382"/>
            <a:ext cx="1572768" cy="403167"/>
          </a:xfrm>
          <a:prstGeom prst="rect">
            <a:avLst/>
          </a:prstGeom>
          <a:solidFill>
            <a:srgbClr val="F2EEE6"/>
          </a:solidFill>
          <a:ln w="6350">
            <a:solidFill>
              <a:srgbClr val="F6F2EA"/>
            </a:solidFill>
            <a:prstDash val="solid"/>
          </a:ln>
        </p:spPr>
      </p:sp>
      <p:sp>
        <p:nvSpPr>
          <p:cNvPr id="48" name="Text 46"/>
          <p:cNvSpPr/>
          <p:nvPr/>
        </p:nvSpPr>
        <p:spPr>
          <a:xfrm>
            <a:off x="6263640" y="2562814"/>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0.8770</a:t>
            </a:r>
            <a:endParaRPr lang="en-US" sz="860" dirty="0"/>
          </a:p>
        </p:txBody>
      </p:sp>
      <p:sp>
        <p:nvSpPr>
          <p:cNvPr id="49" name="Shape 47"/>
          <p:cNvSpPr/>
          <p:nvPr/>
        </p:nvSpPr>
        <p:spPr>
          <a:xfrm>
            <a:off x="7781544" y="2535382"/>
            <a:ext cx="1874520" cy="403167"/>
          </a:xfrm>
          <a:prstGeom prst="rect">
            <a:avLst/>
          </a:prstGeom>
          <a:solidFill>
            <a:srgbClr val="F2EEE6"/>
          </a:solidFill>
          <a:ln w="6350">
            <a:solidFill>
              <a:srgbClr val="F6F2EA"/>
            </a:solidFill>
            <a:prstDash val="solid"/>
          </a:ln>
        </p:spPr>
      </p:sp>
      <p:sp>
        <p:nvSpPr>
          <p:cNvPr id="50" name="Text 48"/>
          <p:cNvSpPr/>
          <p:nvPr/>
        </p:nvSpPr>
        <p:spPr>
          <a:xfrm>
            <a:off x="7836408" y="2562814"/>
            <a:ext cx="1764792"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0.8750</a:t>
            </a:r>
            <a:endParaRPr lang="en-US" sz="860" dirty="0"/>
          </a:p>
        </p:txBody>
      </p:sp>
      <p:sp>
        <p:nvSpPr>
          <p:cNvPr id="51" name="Shape 49"/>
          <p:cNvSpPr/>
          <p:nvPr/>
        </p:nvSpPr>
        <p:spPr>
          <a:xfrm>
            <a:off x="9656064" y="2535382"/>
            <a:ext cx="2002536" cy="403167"/>
          </a:xfrm>
          <a:prstGeom prst="rect">
            <a:avLst/>
          </a:prstGeom>
          <a:solidFill>
            <a:srgbClr val="F2EEE6"/>
          </a:solidFill>
          <a:ln w="6350">
            <a:solidFill>
              <a:srgbClr val="F6F2EA"/>
            </a:solidFill>
            <a:prstDash val="solid"/>
          </a:ln>
        </p:spPr>
      </p:sp>
      <p:sp>
        <p:nvSpPr>
          <p:cNvPr id="52" name="Text 50"/>
          <p:cNvSpPr/>
          <p:nvPr/>
        </p:nvSpPr>
        <p:spPr>
          <a:xfrm>
            <a:off x="9710928" y="2562814"/>
            <a:ext cx="1892808"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0.9603</a:t>
            </a:r>
            <a:endParaRPr lang="en-US" sz="860" dirty="0"/>
          </a:p>
        </p:txBody>
      </p:sp>
      <p:sp>
        <p:nvSpPr>
          <p:cNvPr id="53" name="Shape 51"/>
          <p:cNvSpPr/>
          <p:nvPr/>
        </p:nvSpPr>
        <p:spPr>
          <a:xfrm>
            <a:off x="548640" y="2938549"/>
            <a:ext cx="2514600" cy="403167"/>
          </a:xfrm>
          <a:prstGeom prst="rect">
            <a:avLst/>
          </a:prstGeom>
          <a:solidFill>
            <a:srgbClr val="EAE3D6"/>
          </a:solidFill>
          <a:ln w="6350">
            <a:solidFill>
              <a:srgbClr val="F6F2EA"/>
            </a:solidFill>
            <a:prstDash val="solid"/>
          </a:ln>
        </p:spPr>
      </p:sp>
      <p:sp>
        <p:nvSpPr>
          <p:cNvPr id="54" name="Text 52"/>
          <p:cNvSpPr/>
          <p:nvPr/>
        </p:nvSpPr>
        <p:spPr>
          <a:xfrm>
            <a:off x="603504" y="2965981"/>
            <a:ext cx="2404872" cy="348303"/>
          </a:xfrm>
          <a:prstGeom prst="rect">
            <a:avLst/>
          </a:prstGeom>
          <a:noFill/>
          <a:ln/>
        </p:spPr>
        <p:txBody>
          <a:bodyPr wrap="square" lIns="127" tIns="127" rIns="127" bIns="127" rtlCol="0" anchor="ctr">
            <a:normAutofit/>
          </a:bodyPr>
          <a:lstStyle/>
          <a:p>
            <a:pPr algn="l" indent="0" marL="0">
              <a:buNone/>
            </a:pPr>
            <a:r>
              <a:rPr lang="en-US" sz="860" dirty="0">
                <a:solidFill>
                  <a:srgbClr val="6E6658"/>
                </a:solidFill>
                <a:latin typeface="Calibri" pitchFamily="34" charset="0"/>
                <a:ea typeface="Calibri" pitchFamily="34" charset="-122"/>
                <a:cs typeface="Calibri" pitchFamily="34" charset="-120"/>
              </a:rPr>
              <a:t>Decision Tree</a:t>
            </a:r>
            <a:endParaRPr lang="en-US" sz="860" dirty="0"/>
          </a:p>
        </p:txBody>
      </p:sp>
      <p:sp>
        <p:nvSpPr>
          <p:cNvPr id="55" name="Shape 53"/>
          <p:cNvSpPr/>
          <p:nvPr/>
        </p:nvSpPr>
        <p:spPr>
          <a:xfrm>
            <a:off x="3063240" y="2938549"/>
            <a:ext cx="1572768" cy="403167"/>
          </a:xfrm>
          <a:prstGeom prst="rect">
            <a:avLst/>
          </a:prstGeom>
          <a:solidFill>
            <a:srgbClr val="EAE3D6"/>
          </a:solidFill>
          <a:ln w="6350">
            <a:solidFill>
              <a:srgbClr val="F6F2EA"/>
            </a:solidFill>
            <a:prstDash val="solid"/>
          </a:ln>
        </p:spPr>
      </p:sp>
      <p:sp>
        <p:nvSpPr>
          <p:cNvPr id="56" name="Text 54"/>
          <p:cNvSpPr/>
          <p:nvPr/>
        </p:nvSpPr>
        <p:spPr>
          <a:xfrm>
            <a:off x="3118104" y="2965981"/>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0.8455</a:t>
            </a:r>
            <a:endParaRPr lang="en-US" sz="860" dirty="0"/>
          </a:p>
        </p:txBody>
      </p:sp>
      <p:sp>
        <p:nvSpPr>
          <p:cNvPr id="57" name="Shape 55"/>
          <p:cNvSpPr/>
          <p:nvPr/>
        </p:nvSpPr>
        <p:spPr>
          <a:xfrm>
            <a:off x="4636008" y="2938549"/>
            <a:ext cx="1572768" cy="403167"/>
          </a:xfrm>
          <a:prstGeom prst="rect">
            <a:avLst/>
          </a:prstGeom>
          <a:solidFill>
            <a:srgbClr val="EAE3D6"/>
          </a:solidFill>
          <a:ln w="6350">
            <a:solidFill>
              <a:srgbClr val="F6F2EA"/>
            </a:solidFill>
            <a:prstDash val="solid"/>
          </a:ln>
        </p:spPr>
      </p:sp>
      <p:sp>
        <p:nvSpPr>
          <p:cNvPr id="58" name="Text 56"/>
          <p:cNvSpPr/>
          <p:nvPr/>
        </p:nvSpPr>
        <p:spPr>
          <a:xfrm>
            <a:off x="4690872" y="2965981"/>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0.8449</a:t>
            </a:r>
            <a:endParaRPr lang="en-US" sz="860" dirty="0"/>
          </a:p>
        </p:txBody>
      </p:sp>
      <p:sp>
        <p:nvSpPr>
          <p:cNvPr id="59" name="Shape 57"/>
          <p:cNvSpPr/>
          <p:nvPr/>
        </p:nvSpPr>
        <p:spPr>
          <a:xfrm>
            <a:off x="6208776" y="2938549"/>
            <a:ext cx="1572768" cy="403167"/>
          </a:xfrm>
          <a:prstGeom prst="rect">
            <a:avLst/>
          </a:prstGeom>
          <a:solidFill>
            <a:srgbClr val="EAE3D6"/>
          </a:solidFill>
          <a:ln w="6350">
            <a:solidFill>
              <a:srgbClr val="F6F2EA"/>
            </a:solidFill>
            <a:prstDash val="solid"/>
          </a:ln>
        </p:spPr>
      </p:sp>
      <p:sp>
        <p:nvSpPr>
          <p:cNvPr id="60" name="Text 58"/>
          <p:cNvSpPr/>
          <p:nvPr/>
        </p:nvSpPr>
        <p:spPr>
          <a:xfrm>
            <a:off x="6263640" y="2965981"/>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0.8455</a:t>
            </a:r>
            <a:endParaRPr lang="en-US" sz="860" dirty="0"/>
          </a:p>
        </p:txBody>
      </p:sp>
      <p:sp>
        <p:nvSpPr>
          <p:cNvPr id="61" name="Shape 59"/>
          <p:cNvSpPr/>
          <p:nvPr/>
        </p:nvSpPr>
        <p:spPr>
          <a:xfrm>
            <a:off x="7781544" y="2938549"/>
            <a:ext cx="1874520" cy="403167"/>
          </a:xfrm>
          <a:prstGeom prst="rect">
            <a:avLst/>
          </a:prstGeom>
          <a:solidFill>
            <a:srgbClr val="EAE3D6"/>
          </a:solidFill>
          <a:ln w="6350">
            <a:solidFill>
              <a:srgbClr val="F6F2EA"/>
            </a:solidFill>
            <a:prstDash val="solid"/>
          </a:ln>
        </p:spPr>
      </p:sp>
      <p:sp>
        <p:nvSpPr>
          <p:cNvPr id="62" name="Text 60"/>
          <p:cNvSpPr/>
          <p:nvPr/>
        </p:nvSpPr>
        <p:spPr>
          <a:xfrm>
            <a:off x="7836408" y="2965981"/>
            <a:ext cx="1764792"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0.8449</a:t>
            </a:r>
            <a:endParaRPr lang="en-US" sz="860" dirty="0"/>
          </a:p>
        </p:txBody>
      </p:sp>
      <p:sp>
        <p:nvSpPr>
          <p:cNvPr id="63" name="Shape 61"/>
          <p:cNvSpPr/>
          <p:nvPr/>
        </p:nvSpPr>
        <p:spPr>
          <a:xfrm>
            <a:off x="9656064" y="2938549"/>
            <a:ext cx="2002536" cy="403167"/>
          </a:xfrm>
          <a:prstGeom prst="rect">
            <a:avLst/>
          </a:prstGeom>
          <a:solidFill>
            <a:srgbClr val="EAE3D6"/>
          </a:solidFill>
          <a:ln w="6350">
            <a:solidFill>
              <a:srgbClr val="F6F2EA"/>
            </a:solidFill>
            <a:prstDash val="solid"/>
          </a:ln>
        </p:spPr>
      </p:sp>
      <p:sp>
        <p:nvSpPr>
          <p:cNvPr id="64" name="Text 62"/>
          <p:cNvSpPr/>
          <p:nvPr/>
        </p:nvSpPr>
        <p:spPr>
          <a:xfrm>
            <a:off x="9710928" y="2965981"/>
            <a:ext cx="1892808"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0.8834</a:t>
            </a:r>
            <a:endParaRPr lang="en-US" sz="860" dirty="0"/>
          </a:p>
        </p:txBody>
      </p:sp>
      <p:sp>
        <p:nvSpPr>
          <p:cNvPr id="65" name="Shape 63"/>
          <p:cNvSpPr/>
          <p:nvPr/>
        </p:nvSpPr>
        <p:spPr>
          <a:xfrm>
            <a:off x="548640" y="3341716"/>
            <a:ext cx="2514600" cy="403167"/>
          </a:xfrm>
          <a:prstGeom prst="rect">
            <a:avLst/>
          </a:prstGeom>
          <a:solidFill>
            <a:srgbClr val="F2EEE6"/>
          </a:solidFill>
          <a:ln w="6350">
            <a:solidFill>
              <a:srgbClr val="F6F2EA"/>
            </a:solidFill>
            <a:prstDash val="solid"/>
          </a:ln>
        </p:spPr>
      </p:sp>
      <p:sp>
        <p:nvSpPr>
          <p:cNvPr id="66" name="Text 64"/>
          <p:cNvSpPr/>
          <p:nvPr/>
        </p:nvSpPr>
        <p:spPr>
          <a:xfrm>
            <a:off x="603504" y="3369148"/>
            <a:ext cx="2404872" cy="348303"/>
          </a:xfrm>
          <a:prstGeom prst="rect">
            <a:avLst/>
          </a:prstGeom>
          <a:noFill/>
          <a:ln/>
        </p:spPr>
        <p:txBody>
          <a:bodyPr wrap="square" lIns="127" tIns="127" rIns="127" bIns="127" rtlCol="0" anchor="ctr">
            <a:normAutofit/>
          </a:bodyPr>
          <a:lstStyle/>
          <a:p>
            <a:pPr algn="l" indent="0" marL="0">
              <a:buNone/>
            </a:pPr>
            <a:r>
              <a:rPr lang="en-US" sz="860" dirty="0">
                <a:solidFill>
                  <a:srgbClr val="6E6658"/>
                </a:solidFill>
                <a:latin typeface="Calibri" pitchFamily="34" charset="0"/>
                <a:ea typeface="Calibri" pitchFamily="34" charset="-122"/>
                <a:cs typeface="Calibri" pitchFamily="34" charset="-120"/>
              </a:rPr>
              <a:t>MLP Neural Network</a:t>
            </a:r>
            <a:endParaRPr lang="en-US" sz="860" dirty="0"/>
          </a:p>
        </p:txBody>
      </p:sp>
      <p:sp>
        <p:nvSpPr>
          <p:cNvPr id="67" name="Shape 65"/>
          <p:cNvSpPr/>
          <p:nvPr/>
        </p:nvSpPr>
        <p:spPr>
          <a:xfrm>
            <a:off x="3063240" y="3341716"/>
            <a:ext cx="1572768" cy="403167"/>
          </a:xfrm>
          <a:prstGeom prst="rect">
            <a:avLst/>
          </a:prstGeom>
          <a:solidFill>
            <a:srgbClr val="F2EEE6"/>
          </a:solidFill>
          <a:ln w="6350">
            <a:solidFill>
              <a:srgbClr val="F6F2EA"/>
            </a:solidFill>
            <a:prstDash val="solid"/>
          </a:ln>
        </p:spPr>
      </p:sp>
      <p:sp>
        <p:nvSpPr>
          <p:cNvPr id="68" name="Text 66"/>
          <p:cNvSpPr/>
          <p:nvPr/>
        </p:nvSpPr>
        <p:spPr>
          <a:xfrm>
            <a:off x="3118104" y="3369148"/>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0.8075</a:t>
            </a:r>
            <a:endParaRPr lang="en-US" sz="860" dirty="0"/>
          </a:p>
        </p:txBody>
      </p:sp>
      <p:sp>
        <p:nvSpPr>
          <p:cNvPr id="69" name="Shape 67"/>
          <p:cNvSpPr/>
          <p:nvPr/>
        </p:nvSpPr>
        <p:spPr>
          <a:xfrm>
            <a:off x="4636008" y="3341716"/>
            <a:ext cx="1572768" cy="403167"/>
          </a:xfrm>
          <a:prstGeom prst="rect">
            <a:avLst/>
          </a:prstGeom>
          <a:solidFill>
            <a:srgbClr val="F2EEE6"/>
          </a:solidFill>
          <a:ln w="6350">
            <a:solidFill>
              <a:srgbClr val="F6F2EA"/>
            </a:solidFill>
            <a:prstDash val="solid"/>
          </a:ln>
        </p:spPr>
      </p:sp>
      <p:sp>
        <p:nvSpPr>
          <p:cNvPr id="70" name="Text 68"/>
          <p:cNvSpPr/>
          <p:nvPr/>
        </p:nvSpPr>
        <p:spPr>
          <a:xfrm>
            <a:off x="4690872" y="3369148"/>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0.8066</a:t>
            </a:r>
            <a:endParaRPr lang="en-US" sz="860" dirty="0"/>
          </a:p>
        </p:txBody>
      </p:sp>
      <p:sp>
        <p:nvSpPr>
          <p:cNvPr id="71" name="Shape 69"/>
          <p:cNvSpPr/>
          <p:nvPr/>
        </p:nvSpPr>
        <p:spPr>
          <a:xfrm>
            <a:off x="6208776" y="3341716"/>
            <a:ext cx="1572768" cy="403167"/>
          </a:xfrm>
          <a:prstGeom prst="rect">
            <a:avLst/>
          </a:prstGeom>
          <a:solidFill>
            <a:srgbClr val="F2EEE6"/>
          </a:solidFill>
          <a:ln w="6350">
            <a:solidFill>
              <a:srgbClr val="F6F2EA"/>
            </a:solidFill>
            <a:prstDash val="solid"/>
          </a:ln>
        </p:spPr>
      </p:sp>
      <p:sp>
        <p:nvSpPr>
          <p:cNvPr id="72" name="Text 70"/>
          <p:cNvSpPr/>
          <p:nvPr/>
        </p:nvSpPr>
        <p:spPr>
          <a:xfrm>
            <a:off x="6263640" y="3369148"/>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0.8075</a:t>
            </a:r>
            <a:endParaRPr lang="en-US" sz="860" dirty="0"/>
          </a:p>
        </p:txBody>
      </p:sp>
      <p:sp>
        <p:nvSpPr>
          <p:cNvPr id="73" name="Shape 71"/>
          <p:cNvSpPr/>
          <p:nvPr/>
        </p:nvSpPr>
        <p:spPr>
          <a:xfrm>
            <a:off x="7781544" y="3341716"/>
            <a:ext cx="1874520" cy="403167"/>
          </a:xfrm>
          <a:prstGeom prst="rect">
            <a:avLst/>
          </a:prstGeom>
          <a:solidFill>
            <a:srgbClr val="F2EEE6"/>
          </a:solidFill>
          <a:ln w="6350">
            <a:solidFill>
              <a:srgbClr val="F6F2EA"/>
            </a:solidFill>
            <a:prstDash val="solid"/>
          </a:ln>
        </p:spPr>
      </p:sp>
      <p:sp>
        <p:nvSpPr>
          <p:cNvPr id="74" name="Text 72"/>
          <p:cNvSpPr/>
          <p:nvPr/>
        </p:nvSpPr>
        <p:spPr>
          <a:xfrm>
            <a:off x="7836408" y="3369148"/>
            <a:ext cx="1764792"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0.8059</a:t>
            </a:r>
            <a:endParaRPr lang="en-US" sz="860" dirty="0"/>
          </a:p>
        </p:txBody>
      </p:sp>
      <p:sp>
        <p:nvSpPr>
          <p:cNvPr id="75" name="Shape 73"/>
          <p:cNvSpPr/>
          <p:nvPr/>
        </p:nvSpPr>
        <p:spPr>
          <a:xfrm>
            <a:off x="9656064" y="3341716"/>
            <a:ext cx="2002536" cy="403167"/>
          </a:xfrm>
          <a:prstGeom prst="rect">
            <a:avLst/>
          </a:prstGeom>
          <a:solidFill>
            <a:srgbClr val="F2EEE6"/>
          </a:solidFill>
          <a:ln w="6350">
            <a:solidFill>
              <a:srgbClr val="F6F2EA"/>
            </a:solidFill>
            <a:prstDash val="solid"/>
          </a:ln>
        </p:spPr>
      </p:sp>
      <p:sp>
        <p:nvSpPr>
          <p:cNvPr id="76" name="Text 74"/>
          <p:cNvSpPr/>
          <p:nvPr/>
        </p:nvSpPr>
        <p:spPr>
          <a:xfrm>
            <a:off x="9710928" y="3369148"/>
            <a:ext cx="1892808"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0.9088</a:t>
            </a:r>
            <a:endParaRPr lang="en-US" sz="860" dirty="0"/>
          </a:p>
        </p:txBody>
      </p:sp>
      <p:sp>
        <p:nvSpPr>
          <p:cNvPr id="77" name="Shape 75"/>
          <p:cNvSpPr/>
          <p:nvPr/>
        </p:nvSpPr>
        <p:spPr>
          <a:xfrm>
            <a:off x="548640" y="3744884"/>
            <a:ext cx="2514600" cy="403167"/>
          </a:xfrm>
          <a:prstGeom prst="rect">
            <a:avLst/>
          </a:prstGeom>
          <a:solidFill>
            <a:srgbClr val="EAE3D6"/>
          </a:solidFill>
          <a:ln w="6350">
            <a:solidFill>
              <a:srgbClr val="F6F2EA"/>
            </a:solidFill>
            <a:prstDash val="solid"/>
          </a:ln>
        </p:spPr>
      </p:sp>
      <p:sp>
        <p:nvSpPr>
          <p:cNvPr id="78" name="Text 76"/>
          <p:cNvSpPr/>
          <p:nvPr/>
        </p:nvSpPr>
        <p:spPr>
          <a:xfrm>
            <a:off x="603504" y="3772316"/>
            <a:ext cx="2404872" cy="348303"/>
          </a:xfrm>
          <a:prstGeom prst="rect">
            <a:avLst/>
          </a:prstGeom>
          <a:noFill/>
          <a:ln/>
        </p:spPr>
        <p:txBody>
          <a:bodyPr wrap="square" lIns="127" tIns="127" rIns="127" bIns="127" rtlCol="0" anchor="ctr">
            <a:normAutofit/>
          </a:bodyPr>
          <a:lstStyle/>
          <a:p>
            <a:pPr algn="l" indent="0" marL="0">
              <a:buNone/>
            </a:pPr>
            <a:r>
              <a:rPr lang="en-US" sz="860" dirty="0">
                <a:solidFill>
                  <a:srgbClr val="6E6658"/>
                </a:solidFill>
                <a:latin typeface="Calibri" pitchFamily="34" charset="0"/>
                <a:ea typeface="Calibri" pitchFamily="34" charset="-122"/>
                <a:cs typeface="Calibri" pitchFamily="34" charset="-120"/>
              </a:rPr>
              <a:t>Logistic Regression</a:t>
            </a:r>
            <a:endParaRPr lang="en-US" sz="860" dirty="0"/>
          </a:p>
        </p:txBody>
      </p:sp>
      <p:sp>
        <p:nvSpPr>
          <p:cNvPr id="79" name="Shape 77"/>
          <p:cNvSpPr/>
          <p:nvPr/>
        </p:nvSpPr>
        <p:spPr>
          <a:xfrm>
            <a:off x="3063240" y="3744884"/>
            <a:ext cx="1572768" cy="403167"/>
          </a:xfrm>
          <a:prstGeom prst="rect">
            <a:avLst/>
          </a:prstGeom>
          <a:solidFill>
            <a:srgbClr val="EAE3D6"/>
          </a:solidFill>
          <a:ln w="6350">
            <a:solidFill>
              <a:srgbClr val="F6F2EA"/>
            </a:solidFill>
            <a:prstDash val="solid"/>
          </a:ln>
        </p:spPr>
      </p:sp>
      <p:sp>
        <p:nvSpPr>
          <p:cNvPr id="80" name="Text 78"/>
          <p:cNvSpPr/>
          <p:nvPr/>
        </p:nvSpPr>
        <p:spPr>
          <a:xfrm>
            <a:off x="3118104" y="3772316"/>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0.7164</a:t>
            </a:r>
            <a:endParaRPr lang="en-US" sz="860" dirty="0"/>
          </a:p>
        </p:txBody>
      </p:sp>
      <p:sp>
        <p:nvSpPr>
          <p:cNvPr id="81" name="Shape 79"/>
          <p:cNvSpPr/>
          <p:nvPr/>
        </p:nvSpPr>
        <p:spPr>
          <a:xfrm>
            <a:off x="4636008" y="3744884"/>
            <a:ext cx="1572768" cy="403167"/>
          </a:xfrm>
          <a:prstGeom prst="rect">
            <a:avLst/>
          </a:prstGeom>
          <a:solidFill>
            <a:srgbClr val="EAE3D6"/>
          </a:solidFill>
          <a:ln w="6350">
            <a:solidFill>
              <a:srgbClr val="F6F2EA"/>
            </a:solidFill>
            <a:prstDash val="solid"/>
          </a:ln>
        </p:spPr>
      </p:sp>
      <p:sp>
        <p:nvSpPr>
          <p:cNvPr id="82" name="Text 80"/>
          <p:cNvSpPr/>
          <p:nvPr/>
        </p:nvSpPr>
        <p:spPr>
          <a:xfrm>
            <a:off x="4690872" y="3772316"/>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0.7251</a:t>
            </a:r>
            <a:endParaRPr lang="en-US" sz="860" dirty="0"/>
          </a:p>
        </p:txBody>
      </p:sp>
      <p:sp>
        <p:nvSpPr>
          <p:cNvPr id="83" name="Shape 81"/>
          <p:cNvSpPr/>
          <p:nvPr/>
        </p:nvSpPr>
        <p:spPr>
          <a:xfrm>
            <a:off x="6208776" y="3744884"/>
            <a:ext cx="1572768" cy="403167"/>
          </a:xfrm>
          <a:prstGeom prst="rect">
            <a:avLst/>
          </a:prstGeom>
          <a:solidFill>
            <a:srgbClr val="EAE3D6"/>
          </a:solidFill>
          <a:ln w="6350">
            <a:solidFill>
              <a:srgbClr val="F6F2EA"/>
            </a:solidFill>
            <a:prstDash val="solid"/>
          </a:ln>
        </p:spPr>
      </p:sp>
      <p:sp>
        <p:nvSpPr>
          <p:cNvPr id="84" name="Text 82"/>
          <p:cNvSpPr/>
          <p:nvPr/>
        </p:nvSpPr>
        <p:spPr>
          <a:xfrm>
            <a:off x="6263640" y="3772316"/>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0.7164</a:t>
            </a:r>
            <a:endParaRPr lang="en-US" sz="860" dirty="0"/>
          </a:p>
        </p:txBody>
      </p:sp>
      <p:sp>
        <p:nvSpPr>
          <p:cNvPr id="85" name="Shape 83"/>
          <p:cNvSpPr/>
          <p:nvPr/>
        </p:nvSpPr>
        <p:spPr>
          <a:xfrm>
            <a:off x="7781544" y="3744884"/>
            <a:ext cx="1874520" cy="403167"/>
          </a:xfrm>
          <a:prstGeom prst="rect">
            <a:avLst/>
          </a:prstGeom>
          <a:solidFill>
            <a:srgbClr val="EAE3D6"/>
          </a:solidFill>
          <a:ln w="6350">
            <a:solidFill>
              <a:srgbClr val="F6F2EA"/>
            </a:solidFill>
            <a:prstDash val="solid"/>
          </a:ln>
        </p:spPr>
      </p:sp>
      <p:sp>
        <p:nvSpPr>
          <p:cNvPr id="86" name="Text 84"/>
          <p:cNvSpPr/>
          <p:nvPr/>
        </p:nvSpPr>
        <p:spPr>
          <a:xfrm>
            <a:off x="7836408" y="3772316"/>
            <a:ext cx="1764792"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0.6946</a:t>
            </a:r>
            <a:endParaRPr lang="en-US" sz="860" dirty="0"/>
          </a:p>
        </p:txBody>
      </p:sp>
      <p:sp>
        <p:nvSpPr>
          <p:cNvPr id="87" name="Shape 85"/>
          <p:cNvSpPr/>
          <p:nvPr/>
        </p:nvSpPr>
        <p:spPr>
          <a:xfrm>
            <a:off x="9656064" y="3744884"/>
            <a:ext cx="2002536" cy="403167"/>
          </a:xfrm>
          <a:prstGeom prst="rect">
            <a:avLst/>
          </a:prstGeom>
          <a:solidFill>
            <a:srgbClr val="EAE3D6"/>
          </a:solidFill>
          <a:ln w="6350">
            <a:solidFill>
              <a:srgbClr val="F6F2EA"/>
            </a:solidFill>
            <a:prstDash val="solid"/>
          </a:ln>
        </p:spPr>
      </p:sp>
      <p:sp>
        <p:nvSpPr>
          <p:cNvPr id="88" name="Text 86"/>
          <p:cNvSpPr/>
          <p:nvPr/>
        </p:nvSpPr>
        <p:spPr>
          <a:xfrm>
            <a:off x="9710928" y="3772316"/>
            <a:ext cx="1892808"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0.8187</a:t>
            </a:r>
            <a:endParaRPr lang="en-US" sz="860" dirty="0"/>
          </a:p>
        </p:txBody>
      </p:sp>
      <p:sp>
        <p:nvSpPr>
          <p:cNvPr id="89" name="Shape 87"/>
          <p:cNvSpPr/>
          <p:nvPr/>
        </p:nvSpPr>
        <p:spPr>
          <a:xfrm>
            <a:off x="548640" y="4148051"/>
            <a:ext cx="2514600" cy="403167"/>
          </a:xfrm>
          <a:prstGeom prst="rect">
            <a:avLst/>
          </a:prstGeom>
          <a:solidFill>
            <a:srgbClr val="F2EEE6"/>
          </a:solidFill>
          <a:ln w="6350">
            <a:solidFill>
              <a:srgbClr val="F6F2EA"/>
            </a:solidFill>
            <a:prstDash val="solid"/>
          </a:ln>
        </p:spPr>
      </p:sp>
      <p:sp>
        <p:nvSpPr>
          <p:cNvPr id="90" name="Text 88"/>
          <p:cNvSpPr/>
          <p:nvPr/>
        </p:nvSpPr>
        <p:spPr>
          <a:xfrm>
            <a:off x="603504" y="4175483"/>
            <a:ext cx="2404872" cy="348303"/>
          </a:xfrm>
          <a:prstGeom prst="rect">
            <a:avLst/>
          </a:prstGeom>
          <a:noFill/>
          <a:ln/>
        </p:spPr>
        <p:txBody>
          <a:bodyPr wrap="square" lIns="127" tIns="127" rIns="127" bIns="127" rtlCol="0" anchor="ctr">
            <a:normAutofit/>
          </a:bodyPr>
          <a:lstStyle/>
          <a:p>
            <a:pPr algn="l" indent="0" marL="0">
              <a:buNone/>
            </a:pPr>
            <a:r>
              <a:rPr lang="en-US" sz="860" dirty="0">
                <a:solidFill>
                  <a:srgbClr val="6E6658"/>
                </a:solidFill>
                <a:latin typeface="Calibri" pitchFamily="34" charset="0"/>
                <a:ea typeface="Calibri" pitchFamily="34" charset="-122"/>
                <a:cs typeface="Calibri" pitchFamily="34" charset="-120"/>
              </a:rPr>
              <a:t>AdaBoost</a:t>
            </a:r>
            <a:endParaRPr lang="en-US" sz="860" dirty="0"/>
          </a:p>
        </p:txBody>
      </p:sp>
      <p:sp>
        <p:nvSpPr>
          <p:cNvPr id="91" name="Shape 89"/>
          <p:cNvSpPr/>
          <p:nvPr/>
        </p:nvSpPr>
        <p:spPr>
          <a:xfrm>
            <a:off x="3063240" y="4148051"/>
            <a:ext cx="1572768" cy="403167"/>
          </a:xfrm>
          <a:prstGeom prst="rect">
            <a:avLst/>
          </a:prstGeom>
          <a:solidFill>
            <a:srgbClr val="F2EEE6"/>
          </a:solidFill>
          <a:ln w="6350">
            <a:solidFill>
              <a:srgbClr val="F6F2EA"/>
            </a:solidFill>
            <a:prstDash val="solid"/>
          </a:ln>
        </p:spPr>
      </p:sp>
      <p:sp>
        <p:nvSpPr>
          <p:cNvPr id="92" name="Text 90"/>
          <p:cNvSpPr/>
          <p:nvPr/>
        </p:nvSpPr>
        <p:spPr>
          <a:xfrm>
            <a:off x="3118104" y="4175483"/>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0.7169</a:t>
            </a:r>
            <a:endParaRPr lang="en-US" sz="860" dirty="0"/>
          </a:p>
        </p:txBody>
      </p:sp>
      <p:sp>
        <p:nvSpPr>
          <p:cNvPr id="93" name="Shape 91"/>
          <p:cNvSpPr/>
          <p:nvPr/>
        </p:nvSpPr>
        <p:spPr>
          <a:xfrm>
            <a:off x="4636008" y="4148051"/>
            <a:ext cx="1572768" cy="403167"/>
          </a:xfrm>
          <a:prstGeom prst="rect">
            <a:avLst/>
          </a:prstGeom>
          <a:solidFill>
            <a:srgbClr val="F2EEE6"/>
          </a:solidFill>
          <a:ln w="6350">
            <a:solidFill>
              <a:srgbClr val="F6F2EA"/>
            </a:solidFill>
            <a:prstDash val="solid"/>
          </a:ln>
        </p:spPr>
      </p:sp>
      <p:sp>
        <p:nvSpPr>
          <p:cNvPr id="94" name="Text 92"/>
          <p:cNvSpPr/>
          <p:nvPr/>
        </p:nvSpPr>
        <p:spPr>
          <a:xfrm>
            <a:off x="4690872" y="4175483"/>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0.7499</a:t>
            </a:r>
            <a:endParaRPr lang="en-US" sz="860" dirty="0"/>
          </a:p>
        </p:txBody>
      </p:sp>
      <p:sp>
        <p:nvSpPr>
          <p:cNvPr id="95" name="Shape 93"/>
          <p:cNvSpPr/>
          <p:nvPr/>
        </p:nvSpPr>
        <p:spPr>
          <a:xfrm>
            <a:off x="6208776" y="4148051"/>
            <a:ext cx="1572768" cy="403167"/>
          </a:xfrm>
          <a:prstGeom prst="rect">
            <a:avLst/>
          </a:prstGeom>
          <a:solidFill>
            <a:srgbClr val="F2EEE6"/>
          </a:solidFill>
          <a:ln w="6350">
            <a:solidFill>
              <a:srgbClr val="F6F2EA"/>
            </a:solidFill>
            <a:prstDash val="solid"/>
          </a:ln>
        </p:spPr>
      </p:sp>
      <p:sp>
        <p:nvSpPr>
          <p:cNvPr id="96" name="Text 94"/>
          <p:cNvSpPr/>
          <p:nvPr/>
        </p:nvSpPr>
        <p:spPr>
          <a:xfrm>
            <a:off x="6263640" y="4175483"/>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0.7169</a:t>
            </a:r>
            <a:endParaRPr lang="en-US" sz="860" dirty="0"/>
          </a:p>
        </p:txBody>
      </p:sp>
      <p:sp>
        <p:nvSpPr>
          <p:cNvPr id="97" name="Shape 95"/>
          <p:cNvSpPr/>
          <p:nvPr/>
        </p:nvSpPr>
        <p:spPr>
          <a:xfrm>
            <a:off x="7781544" y="4148051"/>
            <a:ext cx="1874520" cy="403167"/>
          </a:xfrm>
          <a:prstGeom prst="rect">
            <a:avLst/>
          </a:prstGeom>
          <a:solidFill>
            <a:srgbClr val="F2EEE6"/>
          </a:solidFill>
          <a:ln w="6350">
            <a:solidFill>
              <a:srgbClr val="F6F2EA"/>
            </a:solidFill>
            <a:prstDash val="solid"/>
          </a:ln>
        </p:spPr>
      </p:sp>
      <p:sp>
        <p:nvSpPr>
          <p:cNvPr id="98" name="Text 96"/>
          <p:cNvSpPr/>
          <p:nvPr/>
        </p:nvSpPr>
        <p:spPr>
          <a:xfrm>
            <a:off x="7836408" y="4175483"/>
            <a:ext cx="1764792"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0.6891</a:t>
            </a:r>
            <a:endParaRPr lang="en-US" sz="860" dirty="0"/>
          </a:p>
        </p:txBody>
      </p:sp>
      <p:sp>
        <p:nvSpPr>
          <p:cNvPr id="99" name="Shape 97"/>
          <p:cNvSpPr/>
          <p:nvPr/>
        </p:nvSpPr>
        <p:spPr>
          <a:xfrm>
            <a:off x="9656064" y="4148051"/>
            <a:ext cx="2002536" cy="403167"/>
          </a:xfrm>
          <a:prstGeom prst="rect">
            <a:avLst/>
          </a:prstGeom>
          <a:solidFill>
            <a:srgbClr val="F2EEE6"/>
          </a:solidFill>
          <a:ln w="6350">
            <a:solidFill>
              <a:srgbClr val="F6F2EA"/>
            </a:solidFill>
            <a:prstDash val="solid"/>
          </a:ln>
        </p:spPr>
      </p:sp>
      <p:sp>
        <p:nvSpPr>
          <p:cNvPr id="100" name="Text 98"/>
          <p:cNvSpPr/>
          <p:nvPr/>
        </p:nvSpPr>
        <p:spPr>
          <a:xfrm>
            <a:off x="9710928" y="4175483"/>
            <a:ext cx="1892808"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0.8220</a:t>
            </a:r>
            <a:endParaRPr lang="en-US" sz="860" dirty="0"/>
          </a:p>
        </p:txBody>
      </p:sp>
      <p:sp>
        <p:nvSpPr>
          <p:cNvPr id="101" name="Shape 99"/>
          <p:cNvSpPr/>
          <p:nvPr/>
        </p:nvSpPr>
        <p:spPr>
          <a:xfrm>
            <a:off x="548640" y="4551218"/>
            <a:ext cx="2514600" cy="403167"/>
          </a:xfrm>
          <a:prstGeom prst="rect">
            <a:avLst/>
          </a:prstGeom>
          <a:solidFill>
            <a:srgbClr val="EAE3D6"/>
          </a:solidFill>
          <a:ln w="6350">
            <a:solidFill>
              <a:srgbClr val="F6F2EA"/>
            </a:solidFill>
            <a:prstDash val="solid"/>
          </a:ln>
        </p:spPr>
      </p:sp>
      <p:sp>
        <p:nvSpPr>
          <p:cNvPr id="102" name="Text 100"/>
          <p:cNvSpPr/>
          <p:nvPr/>
        </p:nvSpPr>
        <p:spPr>
          <a:xfrm>
            <a:off x="603504" y="4578650"/>
            <a:ext cx="2404872" cy="348303"/>
          </a:xfrm>
          <a:prstGeom prst="rect">
            <a:avLst/>
          </a:prstGeom>
          <a:noFill/>
          <a:ln/>
        </p:spPr>
        <p:txBody>
          <a:bodyPr wrap="square" lIns="127" tIns="127" rIns="127" bIns="127" rtlCol="0" anchor="ctr">
            <a:normAutofit/>
          </a:bodyPr>
          <a:lstStyle/>
          <a:p>
            <a:pPr algn="l" indent="0" marL="0">
              <a:buNone/>
            </a:pPr>
            <a:r>
              <a:rPr lang="en-US" sz="860" dirty="0">
                <a:solidFill>
                  <a:srgbClr val="6E6658"/>
                </a:solidFill>
                <a:latin typeface="Calibri" pitchFamily="34" charset="0"/>
                <a:ea typeface="Calibri" pitchFamily="34" charset="-122"/>
                <a:cs typeface="Calibri" pitchFamily="34" charset="-120"/>
              </a:rPr>
              <a:t>Support Vector Machine</a:t>
            </a:r>
            <a:endParaRPr lang="en-US" sz="860" dirty="0"/>
          </a:p>
        </p:txBody>
      </p:sp>
      <p:sp>
        <p:nvSpPr>
          <p:cNvPr id="103" name="Shape 101"/>
          <p:cNvSpPr/>
          <p:nvPr/>
        </p:nvSpPr>
        <p:spPr>
          <a:xfrm>
            <a:off x="3063240" y="4551218"/>
            <a:ext cx="1572768" cy="403167"/>
          </a:xfrm>
          <a:prstGeom prst="rect">
            <a:avLst/>
          </a:prstGeom>
          <a:solidFill>
            <a:srgbClr val="EAE3D6"/>
          </a:solidFill>
          <a:ln w="6350">
            <a:solidFill>
              <a:srgbClr val="F6F2EA"/>
            </a:solidFill>
            <a:prstDash val="solid"/>
          </a:ln>
        </p:spPr>
      </p:sp>
      <p:sp>
        <p:nvSpPr>
          <p:cNvPr id="104" name="Text 102"/>
          <p:cNvSpPr/>
          <p:nvPr/>
        </p:nvSpPr>
        <p:spPr>
          <a:xfrm>
            <a:off x="3118104" y="4578650"/>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0.7090</a:t>
            </a:r>
            <a:endParaRPr lang="en-US" sz="860" dirty="0"/>
          </a:p>
        </p:txBody>
      </p:sp>
      <p:sp>
        <p:nvSpPr>
          <p:cNvPr id="105" name="Shape 103"/>
          <p:cNvSpPr/>
          <p:nvPr/>
        </p:nvSpPr>
        <p:spPr>
          <a:xfrm>
            <a:off x="4636008" y="4551218"/>
            <a:ext cx="1572768" cy="403167"/>
          </a:xfrm>
          <a:prstGeom prst="rect">
            <a:avLst/>
          </a:prstGeom>
          <a:solidFill>
            <a:srgbClr val="EAE3D6"/>
          </a:solidFill>
          <a:ln w="6350">
            <a:solidFill>
              <a:srgbClr val="F6F2EA"/>
            </a:solidFill>
            <a:prstDash val="solid"/>
          </a:ln>
        </p:spPr>
      </p:sp>
      <p:sp>
        <p:nvSpPr>
          <p:cNvPr id="106" name="Text 104"/>
          <p:cNvSpPr/>
          <p:nvPr/>
        </p:nvSpPr>
        <p:spPr>
          <a:xfrm>
            <a:off x="4690872" y="4578650"/>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0.7226</a:t>
            </a:r>
            <a:endParaRPr lang="en-US" sz="860" dirty="0"/>
          </a:p>
        </p:txBody>
      </p:sp>
      <p:sp>
        <p:nvSpPr>
          <p:cNvPr id="107" name="Shape 105"/>
          <p:cNvSpPr/>
          <p:nvPr/>
        </p:nvSpPr>
        <p:spPr>
          <a:xfrm>
            <a:off x="6208776" y="4551218"/>
            <a:ext cx="1572768" cy="403167"/>
          </a:xfrm>
          <a:prstGeom prst="rect">
            <a:avLst/>
          </a:prstGeom>
          <a:solidFill>
            <a:srgbClr val="EAE3D6"/>
          </a:solidFill>
          <a:ln w="6350">
            <a:solidFill>
              <a:srgbClr val="F6F2EA"/>
            </a:solidFill>
            <a:prstDash val="solid"/>
          </a:ln>
        </p:spPr>
      </p:sp>
      <p:sp>
        <p:nvSpPr>
          <p:cNvPr id="108" name="Text 106"/>
          <p:cNvSpPr/>
          <p:nvPr/>
        </p:nvSpPr>
        <p:spPr>
          <a:xfrm>
            <a:off x="6263640" y="4578650"/>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0.7090</a:t>
            </a:r>
            <a:endParaRPr lang="en-US" sz="860" dirty="0"/>
          </a:p>
        </p:txBody>
      </p:sp>
      <p:sp>
        <p:nvSpPr>
          <p:cNvPr id="109" name="Shape 107"/>
          <p:cNvSpPr/>
          <p:nvPr/>
        </p:nvSpPr>
        <p:spPr>
          <a:xfrm>
            <a:off x="7781544" y="4551218"/>
            <a:ext cx="1874520" cy="403167"/>
          </a:xfrm>
          <a:prstGeom prst="rect">
            <a:avLst/>
          </a:prstGeom>
          <a:solidFill>
            <a:srgbClr val="EAE3D6"/>
          </a:solidFill>
          <a:ln w="6350">
            <a:solidFill>
              <a:srgbClr val="F6F2EA"/>
            </a:solidFill>
            <a:prstDash val="solid"/>
          </a:ln>
        </p:spPr>
      </p:sp>
      <p:sp>
        <p:nvSpPr>
          <p:cNvPr id="110" name="Text 108"/>
          <p:cNvSpPr/>
          <p:nvPr/>
        </p:nvSpPr>
        <p:spPr>
          <a:xfrm>
            <a:off x="7836408" y="4578650"/>
            <a:ext cx="1764792"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0.6841</a:t>
            </a:r>
            <a:endParaRPr lang="en-US" sz="860" dirty="0"/>
          </a:p>
        </p:txBody>
      </p:sp>
      <p:sp>
        <p:nvSpPr>
          <p:cNvPr id="111" name="Shape 109"/>
          <p:cNvSpPr/>
          <p:nvPr/>
        </p:nvSpPr>
        <p:spPr>
          <a:xfrm>
            <a:off x="9656064" y="4551218"/>
            <a:ext cx="2002536" cy="403167"/>
          </a:xfrm>
          <a:prstGeom prst="rect">
            <a:avLst/>
          </a:prstGeom>
          <a:solidFill>
            <a:srgbClr val="EAE3D6"/>
          </a:solidFill>
          <a:ln w="6350">
            <a:solidFill>
              <a:srgbClr val="F6F2EA"/>
            </a:solidFill>
            <a:prstDash val="solid"/>
          </a:ln>
        </p:spPr>
      </p:sp>
      <p:sp>
        <p:nvSpPr>
          <p:cNvPr id="112" name="Text 110"/>
          <p:cNvSpPr/>
          <p:nvPr/>
        </p:nvSpPr>
        <p:spPr>
          <a:xfrm>
            <a:off x="9710928" y="4578650"/>
            <a:ext cx="1892808"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0.8390</a:t>
            </a:r>
            <a:endParaRPr lang="en-US" sz="860" dirty="0"/>
          </a:p>
        </p:txBody>
      </p:sp>
      <p:sp>
        <p:nvSpPr>
          <p:cNvPr id="113" name="Shape 111"/>
          <p:cNvSpPr/>
          <p:nvPr/>
        </p:nvSpPr>
        <p:spPr>
          <a:xfrm>
            <a:off x="548640" y="4954385"/>
            <a:ext cx="2514600" cy="403167"/>
          </a:xfrm>
          <a:prstGeom prst="rect">
            <a:avLst/>
          </a:prstGeom>
          <a:solidFill>
            <a:srgbClr val="F2EEE6"/>
          </a:solidFill>
          <a:ln w="6350">
            <a:solidFill>
              <a:srgbClr val="F6F2EA"/>
            </a:solidFill>
            <a:prstDash val="solid"/>
          </a:ln>
        </p:spPr>
      </p:sp>
      <p:sp>
        <p:nvSpPr>
          <p:cNvPr id="114" name="Text 112"/>
          <p:cNvSpPr/>
          <p:nvPr/>
        </p:nvSpPr>
        <p:spPr>
          <a:xfrm>
            <a:off x="603504" y="4981817"/>
            <a:ext cx="2404872" cy="348303"/>
          </a:xfrm>
          <a:prstGeom prst="rect">
            <a:avLst/>
          </a:prstGeom>
          <a:noFill/>
          <a:ln/>
        </p:spPr>
        <p:txBody>
          <a:bodyPr wrap="square" lIns="127" tIns="127" rIns="127" bIns="127" rtlCol="0" anchor="ctr">
            <a:normAutofit/>
          </a:bodyPr>
          <a:lstStyle/>
          <a:p>
            <a:pPr algn="l" indent="0" marL="0">
              <a:buNone/>
            </a:pPr>
            <a:r>
              <a:rPr lang="en-US" sz="860" dirty="0">
                <a:solidFill>
                  <a:srgbClr val="6E6658"/>
                </a:solidFill>
                <a:latin typeface="Calibri" pitchFamily="34" charset="0"/>
                <a:ea typeface="Calibri" pitchFamily="34" charset="-122"/>
                <a:cs typeface="Calibri" pitchFamily="34" charset="-120"/>
              </a:rPr>
              <a:t>K-Nearest Neighbors</a:t>
            </a:r>
            <a:endParaRPr lang="en-US" sz="860" dirty="0"/>
          </a:p>
        </p:txBody>
      </p:sp>
      <p:sp>
        <p:nvSpPr>
          <p:cNvPr id="115" name="Shape 113"/>
          <p:cNvSpPr/>
          <p:nvPr/>
        </p:nvSpPr>
        <p:spPr>
          <a:xfrm>
            <a:off x="3063240" y="4954385"/>
            <a:ext cx="1572768" cy="403167"/>
          </a:xfrm>
          <a:prstGeom prst="rect">
            <a:avLst/>
          </a:prstGeom>
          <a:solidFill>
            <a:srgbClr val="F2EEE6"/>
          </a:solidFill>
          <a:ln w="6350">
            <a:solidFill>
              <a:srgbClr val="F6F2EA"/>
            </a:solidFill>
            <a:prstDash val="solid"/>
          </a:ln>
        </p:spPr>
      </p:sp>
      <p:sp>
        <p:nvSpPr>
          <p:cNvPr id="116" name="Text 114"/>
          <p:cNvSpPr/>
          <p:nvPr/>
        </p:nvSpPr>
        <p:spPr>
          <a:xfrm>
            <a:off x="3118104" y="4981817"/>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0.6817</a:t>
            </a:r>
            <a:endParaRPr lang="en-US" sz="860" dirty="0"/>
          </a:p>
        </p:txBody>
      </p:sp>
      <p:sp>
        <p:nvSpPr>
          <p:cNvPr id="117" name="Shape 115"/>
          <p:cNvSpPr/>
          <p:nvPr/>
        </p:nvSpPr>
        <p:spPr>
          <a:xfrm>
            <a:off x="4636008" y="4954385"/>
            <a:ext cx="1572768" cy="403167"/>
          </a:xfrm>
          <a:prstGeom prst="rect">
            <a:avLst/>
          </a:prstGeom>
          <a:solidFill>
            <a:srgbClr val="F2EEE6"/>
          </a:solidFill>
          <a:ln w="6350">
            <a:solidFill>
              <a:srgbClr val="F6F2EA"/>
            </a:solidFill>
            <a:prstDash val="solid"/>
          </a:ln>
        </p:spPr>
      </p:sp>
      <p:sp>
        <p:nvSpPr>
          <p:cNvPr id="118" name="Text 116"/>
          <p:cNvSpPr/>
          <p:nvPr/>
        </p:nvSpPr>
        <p:spPr>
          <a:xfrm>
            <a:off x="4690872" y="4981817"/>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0.6761</a:t>
            </a:r>
            <a:endParaRPr lang="en-US" sz="860" dirty="0"/>
          </a:p>
        </p:txBody>
      </p:sp>
      <p:sp>
        <p:nvSpPr>
          <p:cNvPr id="119" name="Shape 117"/>
          <p:cNvSpPr/>
          <p:nvPr/>
        </p:nvSpPr>
        <p:spPr>
          <a:xfrm>
            <a:off x="6208776" y="4954385"/>
            <a:ext cx="1572768" cy="403167"/>
          </a:xfrm>
          <a:prstGeom prst="rect">
            <a:avLst/>
          </a:prstGeom>
          <a:solidFill>
            <a:srgbClr val="F2EEE6"/>
          </a:solidFill>
          <a:ln w="6350">
            <a:solidFill>
              <a:srgbClr val="F6F2EA"/>
            </a:solidFill>
            <a:prstDash val="solid"/>
          </a:ln>
        </p:spPr>
      </p:sp>
      <p:sp>
        <p:nvSpPr>
          <p:cNvPr id="120" name="Text 118"/>
          <p:cNvSpPr/>
          <p:nvPr/>
        </p:nvSpPr>
        <p:spPr>
          <a:xfrm>
            <a:off x="6263640" y="4981817"/>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0.6817</a:t>
            </a:r>
            <a:endParaRPr lang="en-US" sz="860" dirty="0"/>
          </a:p>
        </p:txBody>
      </p:sp>
      <p:sp>
        <p:nvSpPr>
          <p:cNvPr id="121" name="Shape 119"/>
          <p:cNvSpPr/>
          <p:nvPr/>
        </p:nvSpPr>
        <p:spPr>
          <a:xfrm>
            <a:off x="7781544" y="4954385"/>
            <a:ext cx="1874520" cy="403167"/>
          </a:xfrm>
          <a:prstGeom prst="rect">
            <a:avLst/>
          </a:prstGeom>
          <a:solidFill>
            <a:srgbClr val="F2EEE6"/>
          </a:solidFill>
          <a:ln w="6350">
            <a:solidFill>
              <a:srgbClr val="F6F2EA"/>
            </a:solidFill>
            <a:prstDash val="solid"/>
          </a:ln>
        </p:spPr>
      </p:sp>
      <p:sp>
        <p:nvSpPr>
          <p:cNvPr id="122" name="Text 120"/>
          <p:cNvSpPr/>
          <p:nvPr/>
        </p:nvSpPr>
        <p:spPr>
          <a:xfrm>
            <a:off x="7836408" y="4981817"/>
            <a:ext cx="1764792"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0.6664</a:t>
            </a:r>
            <a:endParaRPr lang="en-US" sz="860" dirty="0"/>
          </a:p>
        </p:txBody>
      </p:sp>
      <p:sp>
        <p:nvSpPr>
          <p:cNvPr id="123" name="Shape 121"/>
          <p:cNvSpPr/>
          <p:nvPr/>
        </p:nvSpPr>
        <p:spPr>
          <a:xfrm>
            <a:off x="9656064" y="4954385"/>
            <a:ext cx="2002536" cy="403167"/>
          </a:xfrm>
          <a:prstGeom prst="rect">
            <a:avLst/>
          </a:prstGeom>
          <a:solidFill>
            <a:srgbClr val="F2EEE6"/>
          </a:solidFill>
          <a:ln w="6350">
            <a:solidFill>
              <a:srgbClr val="F6F2EA"/>
            </a:solidFill>
            <a:prstDash val="solid"/>
          </a:ln>
        </p:spPr>
      </p:sp>
      <p:sp>
        <p:nvSpPr>
          <p:cNvPr id="124" name="Text 122"/>
          <p:cNvSpPr/>
          <p:nvPr/>
        </p:nvSpPr>
        <p:spPr>
          <a:xfrm>
            <a:off x="9710928" y="4981817"/>
            <a:ext cx="1892808"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0.7807</a:t>
            </a:r>
            <a:endParaRPr lang="en-US" sz="860" dirty="0"/>
          </a:p>
        </p:txBody>
      </p:sp>
      <p:sp>
        <p:nvSpPr>
          <p:cNvPr id="125" name="Shape 123"/>
          <p:cNvSpPr/>
          <p:nvPr/>
        </p:nvSpPr>
        <p:spPr>
          <a:xfrm>
            <a:off x="548640" y="5357553"/>
            <a:ext cx="2514600" cy="403167"/>
          </a:xfrm>
          <a:prstGeom prst="rect">
            <a:avLst/>
          </a:prstGeom>
          <a:solidFill>
            <a:srgbClr val="EAE3D6"/>
          </a:solidFill>
          <a:ln w="6350">
            <a:solidFill>
              <a:srgbClr val="F6F2EA"/>
            </a:solidFill>
            <a:prstDash val="solid"/>
          </a:ln>
        </p:spPr>
      </p:sp>
      <p:sp>
        <p:nvSpPr>
          <p:cNvPr id="126" name="Text 124"/>
          <p:cNvSpPr/>
          <p:nvPr/>
        </p:nvSpPr>
        <p:spPr>
          <a:xfrm>
            <a:off x="603504" y="5384985"/>
            <a:ext cx="2404872" cy="348303"/>
          </a:xfrm>
          <a:prstGeom prst="rect">
            <a:avLst/>
          </a:prstGeom>
          <a:noFill/>
          <a:ln/>
        </p:spPr>
        <p:txBody>
          <a:bodyPr wrap="square" lIns="127" tIns="127" rIns="127" bIns="127" rtlCol="0" anchor="ctr">
            <a:normAutofit/>
          </a:bodyPr>
          <a:lstStyle/>
          <a:p>
            <a:pPr algn="l" indent="0" marL="0">
              <a:buNone/>
            </a:pPr>
            <a:r>
              <a:rPr lang="en-US" sz="860" dirty="0">
                <a:solidFill>
                  <a:srgbClr val="6E6658"/>
                </a:solidFill>
                <a:latin typeface="Calibri" pitchFamily="34" charset="0"/>
                <a:ea typeface="Calibri" pitchFamily="34" charset="-122"/>
                <a:cs typeface="Calibri" pitchFamily="34" charset="-120"/>
              </a:rPr>
              <a:t>Gaussian Naive Bayes</a:t>
            </a:r>
            <a:endParaRPr lang="en-US" sz="860" dirty="0"/>
          </a:p>
        </p:txBody>
      </p:sp>
      <p:sp>
        <p:nvSpPr>
          <p:cNvPr id="127" name="Shape 125"/>
          <p:cNvSpPr/>
          <p:nvPr/>
        </p:nvSpPr>
        <p:spPr>
          <a:xfrm>
            <a:off x="3063240" y="5357553"/>
            <a:ext cx="1572768" cy="403167"/>
          </a:xfrm>
          <a:prstGeom prst="rect">
            <a:avLst/>
          </a:prstGeom>
          <a:solidFill>
            <a:srgbClr val="EAE3D6"/>
          </a:solidFill>
          <a:ln w="6350">
            <a:solidFill>
              <a:srgbClr val="F6F2EA"/>
            </a:solidFill>
            <a:prstDash val="solid"/>
          </a:ln>
        </p:spPr>
      </p:sp>
      <p:sp>
        <p:nvSpPr>
          <p:cNvPr id="128" name="Text 126"/>
          <p:cNvSpPr/>
          <p:nvPr/>
        </p:nvSpPr>
        <p:spPr>
          <a:xfrm>
            <a:off x="3118104" y="5384985"/>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0.3976</a:t>
            </a:r>
            <a:endParaRPr lang="en-US" sz="860" dirty="0"/>
          </a:p>
        </p:txBody>
      </p:sp>
      <p:sp>
        <p:nvSpPr>
          <p:cNvPr id="129" name="Shape 127"/>
          <p:cNvSpPr/>
          <p:nvPr/>
        </p:nvSpPr>
        <p:spPr>
          <a:xfrm>
            <a:off x="4636008" y="5357553"/>
            <a:ext cx="1572768" cy="403167"/>
          </a:xfrm>
          <a:prstGeom prst="rect">
            <a:avLst/>
          </a:prstGeom>
          <a:solidFill>
            <a:srgbClr val="EAE3D6"/>
          </a:solidFill>
          <a:ln w="6350">
            <a:solidFill>
              <a:srgbClr val="F6F2EA"/>
            </a:solidFill>
            <a:prstDash val="solid"/>
          </a:ln>
        </p:spPr>
      </p:sp>
      <p:sp>
        <p:nvSpPr>
          <p:cNvPr id="130" name="Text 128"/>
          <p:cNvSpPr/>
          <p:nvPr/>
        </p:nvSpPr>
        <p:spPr>
          <a:xfrm>
            <a:off x="4690872" y="5384985"/>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0.5654</a:t>
            </a:r>
            <a:endParaRPr lang="en-US" sz="860" dirty="0"/>
          </a:p>
        </p:txBody>
      </p:sp>
      <p:sp>
        <p:nvSpPr>
          <p:cNvPr id="131" name="Shape 129"/>
          <p:cNvSpPr/>
          <p:nvPr/>
        </p:nvSpPr>
        <p:spPr>
          <a:xfrm>
            <a:off x="6208776" y="5357553"/>
            <a:ext cx="1572768" cy="403167"/>
          </a:xfrm>
          <a:prstGeom prst="rect">
            <a:avLst/>
          </a:prstGeom>
          <a:solidFill>
            <a:srgbClr val="EAE3D6"/>
          </a:solidFill>
          <a:ln w="6350">
            <a:solidFill>
              <a:srgbClr val="F6F2EA"/>
            </a:solidFill>
            <a:prstDash val="solid"/>
          </a:ln>
        </p:spPr>
      </p:sp>
      <p:sp>
        <p:nvSpPr>
          <p:cNvPr id="132" name="Text 130"/>
          <p:cNvSpPr/>
          <p:nvPr/>
        </p:nvSpPr>
        <p:spPr>
          <a:xfrm>
            <a:off x="6263640" y="5384985"/>
            <a:ext cx="1463040"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0.3976</a:t>
            </a:r>
            <a:endParaRPr lang="en-US" sz="860" dirty="0"/>
          </a:p>
        </p:txBody>
      </p:sp>
      <p:sp>
        <p:nvSpPr>
          <p:cNvPr id="133" name="Shape 131"/>
          <p:cNvSpPr/>
          <p:nvPr/>
        </p:nvSpPr>
        <p:spPr>
          <a:xfrm>
            <a:off x="7781544" y="5357553"/>
            <a:ext cx="1874520" cy="403167"/>
          </a:xfrm>
          <a:prstGeom prst="rect">
            <a:avLst/>
          </a:prstGeom>
          <a:solidFill>
            <a:srgbClr val="EAE3D6"/>
          </a:solidFill>
          <a:ln w="6350">
            <a:solidFill>
              <a:srgbClr val="F6F2EA"/>
            </a:solidFill>
            <a:prstDash val="solid"/>
          </a:ln>
        </p:spPr>
      </p:sp>
      <p:sp>
        <p:nvSpPr>
          <p:cNvPr id="134" name="Text 132"/>
          <p:cNvSpPr/>
          <p:nvPr/>
        </p:nvSpPr>
        <p:spPr>
          <a:xfrm>
            <a:off x="7836408" y="5384985"/>
            <a:ext cx="1764792"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0.3603</a:t>
            </a:r>
            <a:endParaRPr lang="en-US" sz="860" dirty="0"/>
          </a:p>
        </p:txBody>
      </p:sp>
      <p:sp>
        <p:nvSpPr>
          <p:cNvPr id="135" name="Shape 133"/>
          <p:cNvSpPr/>
          <p:nvPr/>
        </p:nvSpPr>
        <p:spPr>
          <a:xfrm>
            <a:off x="9656064" y="5357553"/>
            <a:ext cx="2002536" cy="403167"/>
          </a:xfrm>
          <a:prstGeom prst="rect">
            <a:avLst/>
          </a:prstGeom>
          <a:solidFill>
            <a:srgbClr val="EAE3D6"/>
          </a:solidFill>
          <a:ln w="6350">
            <a:solidFill>
              <a:srgbClr val="F6F2EA"/>
            </a:solidFill>
            <a:prstDash val="solid"/>
          </a:ln>
        </p:spPr>
      </p:sp>
      <p:sp>
        <p:nvSpPr>
          <p:cNvPr id="136" name="Text 134"/>
          <p:cNvSpPr/>
          <p:nvPr/>
        </p:nvSpPr>
        <p:spPr>
          <a:xfrm>
            <a:off x="9710928" y="5384985"/>
            <a:ext cx="1892808" cy="348303"/>
          </a:xfrm>
          <a:prstGeom prst="rect">
            <a:avLst/>
          </a:prstGeom>
          <a:noFill/>
          <a:ln/>
        </p:spPr>
        <p:txBody>
          <a:bodyPr wrap="square" lIns="127" tIns="127" rIns="127" bIns="127" rtlCol="0" anchor="ctr">
            <a:normAutofit/>
          </a:bodyPr>
          <a:lstStyle/>
          <a:p>
            <a:pPr algn="ctr" indent="0" marL="0">
              <a:buNone/>
            </a:pPr>
            <a:r>
              <a:rPr lang="en-US" sz="860" dirty="0">
                <a:solidFill>
                  <a:srgbClr val="6E6658"/>
                </a:solidFill>
                <a:latin typeface="Calibri" pitchFamily="34" charset="0"/>
                <a:ea typeface="Calibri" pitchFamily="34" charset="-122"/>
                <a:cs typeface="Calibri" pitchFamily="34" charset="-120"/>
              </a:rPr>
              <a:t>0.6544</a:t>
            </a:r>
            <a:endParaRPr lang="en-US" sz="860" dirty="0"/>
          </a:p>
        </p:txBody>
      </p:sp>
      <p:sp>
        <p:nvSpPr>
          <p:cNvPr id="137" name="Shape 135"/>
          <p:cNvSpPr/>
          <p:nvPr/>
        </p:nvSpPr>
        <p:spPr>
          <a:xfrm>
            <a:off x="685800" y="5833872"/>
            <a:ext cx="10652760" cy="310896"/>
          </a:xfrm>
          <a:prstGeom prst="rect">
            <a:avLst/>
          </a:prstGeom>
          <a:solidFill>
            <a:srgbClr val="F2EEE6"/>
          </a:solidFill>
          <a:ln w="12700">
            <a:solidFill>
              <a:srgbClr val="F2EEE6"/>
            </a:solidFill>
            <a:prstDash val="solid"/>
          </a:ln>
        </p:spPr>
      </p:sp>
      <p:sp>
        <p:nvSpPr>
          <p:cNvPr id="138" name="Text 136"/>
          <p:cNvSpPr/>
          <p:nvPr/>
        </p:nvSpPr>
        <p:spPr>
          <a:xfrm>
            <a:off x="868680" y="5989320"/>
            <a:ext cx="10287000" cy="256032"/>
          </a:xfrm>
          <a:prstGeom prst="rect">
            <a:avLst/>
          </a:prstGeom>
          <a:noFill/>
          <a:ln/>
        </p:spPr>
        <p:txBody>
          <a:bodyPr wrap="square" lIns="0" tIns="0" rIns="0" bIns="0" rtlCol="0" anchor="ctr"/>
          <a:lstStyle/>
          <a:p>
            <a:pPr indent="0" marL="0">
              <a:buNone/>
            </a:pPr>
            <a:r>
              <a:rPr lang="en-US" sz="950" b="1" dirty="0">
                <a:solidFill>
                  <a:srgbClr val="2B2A26"/>
                </a:solidFill>
                <a:latin typeface="Cambria" pitchFamily="34" charset="0"/>
                <a:ea typeface="Cambria" pitchFamily="34" charset="-122"/>
                <a:cs typeface="Cambria" pitchFamily="34" charset="-120"/>
              </a:rPr>
              <a:t>Rubric requirement met</a:t>
            </a:r>
            <a:endParaRPr lang="en-US" sz="950" dirty="0"/>
          </a:p>
        </p:txBody>
      </p:sp>
      <p:sp>
        <p:nvSpPr>
          <p:cNvPr id="139" name="Text 137"/>
          <p:cNvSpPr/>
          <p:nvPr/>
        </p:nvSpPr>
        <p:spPr>
          <a:xfrm>
            <a:off x="868680" y="6364224"/>
            <a:ext cx="10287000" cy="-347472"/>
          </a:xfrm>
          <a:prstGeom prst="rect">
            <a:avLst/>
          </a:prstGeom>
          <a:noFill/>
          <a:ln/>
        </p:spPr>
        <p:txBody>
          <a:bodyPr wrap="square" lIns="254" tIns="254" rIns="254" bIns="254" rtlCol="0" anchor="t">
            <a:normAutofit/>
          </a:bodyPr>
          <a:lstStyle/>
          <a:p>
            <a:pPr indent="0" marL="0">
              <a:buNone/>
            </a:pPr>
            <a:r>
              <a:rPr lang="en-US" sz="780" dirty="0">
                <a:solidFill>
                  <a:srgbClr val="6E6658"/>
                </a:solidFill>
                <a:latin typeface="Calibri" pitchFamily="34" charset="0"/>
                <a:ea typeface="Calibri" pitchFamily="34" charset="-122"/>
                <a:cs typeface="Calibri" pitchFamily="34" charset="-120"/>
              </a:rPr>
              <a:t>One table contains Accuracy, Precision, Recall, weighted F1 and ROC-AUC for all ten classifiers on the same held-out test set.</a:t>
            </a:r>
            <a:endParaRPr lang="en-US" sz="780" dirty="0"/>
          </a:p>
        </p:txBody>
      </p:sp>
      <p:sp>
        <p:nvSpPr>
          <p:cNvPr id="140" name="Text 138"/>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Exact table: results/classification_comparison.csv.</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A · RESULTS</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Which classifiers lead the prediction task?</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A · Results</a:t>
            </a:r>
            <a:endParaRPr lang="en-US" sz="900" dirty="0"/>
          </a:p>
        </p:txBody>
      </p:sp>
      <p:sp>
        <p:nvSpPr>
          <p:cNvPr id="5" name="Shape 3"/>
          <p:cNvSpPr/>
          <p:nvPr/>
        </p:nvSpPr>
        <p:spPr>
          <a:xfrm>
            <a:off x="566928" y="1325880"/>
            <a:ext cx="6958584" cy="4535424"/>
          </a:xfrm>
          <a:prstGeom prst="rect">
            <a:avLst/>
          </a:prstGeom>
          <a:solidFill>
            <a:srgbClr val="FFFFFF"/>
          </a:solidFill>
          <a:ln w="7620">
            <a:solidFill>
              <a:srgbClr val="D8D0C1"/>
            </a:solidFill>
            <a:prstDash val="solid"/>
          </a:ln>
        </p:spPr>
      </p:sp>
      <p:pic>
        <p:nvPicPr>
          <p:cNvPr id="6" name="Image 0" descr="/mnt/data/review2_perfect_assets/classification_full10_f1.png">    </p:cNvPr>
          <p:cNvPicPr>
            <a:picLocks noChangeAspect="1"/>
          </p:cNvPicPr>
          <p:nvPr/>
        </p:nvPicPr>
        <p:blipFill>
          <a:blip r:embed="rId1"/>
          <a:stretch>
            <a:fillRect/>
          </a:stretch>
        </p:blipFill>
        <p:spPr>
          <a:xfrm>
            <a:off x="594360" y="1353312"/>
            <a:ext cx="6903720" cy="4480560"/>
          </a:xfrm>
          <a:prstGeom prst="rect">
            <a:avLst/>
          </a:prstGeom>
        </p:spPr>
      </p:pic>
      <p:sp>
        <p:nvSpPr>
          <p:cNvPr id="7" name="Shape 4"/>
          <p:cNvSpPr/>
          <p:nvPr/>
        </p:nvSpPr>
        <p:spPr>
          <a:xfrm>
            <a:off x="7818120" y="1444752"/>
            <a:ext cx="3611880" cy="1051560"/>
          </a:xfrm>
          <a:prstGeom prst="rect">
            <a:avLst/>
          </a:prstGeom>
          <a:solidFill>
            <a:srgbClr val="EAE3D6"/>
          </a:solidFill>
          <a:ln w="12700">
            <a:solidFill>
              <a:srgbClr val="EAE3D6"/>
            </a:solidFill>
            <a:prstDash val="solid"/>
          </a:ln>
        </p:spPr>
      </p:sp>
      <p:sp>
        <p:nvSpPr>
          <p:cNvPr id="8" name="Text 5"/>
          <p:cNvSpPr/>
          <p:nvPr/>
        </p:nvSpPr>
        <p:spPr>
          <a:xfrm>
            <a:off x="8001000" y="1600200"/>
            <a:ext cx="324612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1 · Random Forest</a:t>
            </a:r>
            <a:endParaRPr lang="en-US" sz="1400" dirty="0"/>
          </a:p>
        </p:txBody>
      </p:sp>
      <p:sp>
        <p:nvSpPr>
          <p:cNvPr id="9" name="Text 6"/>
          <p:cNvSpPr/>
          <p:nvPr/>
        </p:nvSpPr>
        <p:spPr>
          <a:xfrm>
            <a:off x="8001000" y="1975104"/>
            <a:ext cx="3246120" cy="39319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Weighted F1 0.8837</a:t>
            </a:r>
            <a:endParaRPr lang="en-US" sz="1100" dirty="0"/>
          </a:p>
        </p:txBody>
      </p:sp>
      <p:sp>
        <p:nvSpPr>
          <p:cNvPr id="10" name="Shape 7"/>
          <p:cNvSpPr/>
          <p:nvPr/>
        </p:nvSpPr>
        <p:spPr>
          <a:xfrm>
            <a:off x="7818120" y="2633472"/>
            <a:ext cx="3611880" cy="1051560"/>
          </a:xfrm>
          <a:prstGeom prst="rect">
            <a:avLst/>
          </a:prstGeom>
          <a:solidFill>
            <a:srgbClr val="EAE3D6"/>
          </a:solidFill>
          <a:ln w="12700">
            <a:solidFill>
              <a:srgbClr val="EAE3D6"/>
            </a:solidFill>
            <a:prstDash val="solid"/>
          </a:ln>
        </p:spPr>
      </p:sp>
      <p:sp>
        <p:nvSpPr>
          <p:cNvPr id="11" name="Text 8"/>
          <p:cNvSpPr/>
          <p:nvPr/>
        </p:nvSpPr>
        <p:spPr>
          <a:xfrm>
            <a:off x="8001000" y="2788920"/>
            <a:ext cx="324612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2 · Bagging</a:t>
            </a:r>
            <a:endParaRPr lang="en-US" sz="1400" dirty="0"/>
          </a:p>
        </p:txBody>
      </p:sp>
      <p:sp>
        <p:nvSpPr>
          <p:cNvPr id="12" name="Text 9"/>
          <p:cNvSpPr/>
          <p:nvPr/>
        </p:nvSpPr>
        <p:spPr>
          <a:xfrm>
            <a:off x="8001000" y="3163824"/>
            <a:ext cx="3246120" cy="39319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Weighted F1 0.8778</a:t>
            </a:r>
            <a:endParaRPr lang="en-US" sz="1100" dirty="0"/>
          </a:p>
        </p:txBody>
      </p:sp>
      <p:sp>
        <p:nvSpPr>
          <p:cNvPr id="13" name="Shape 10"/>
          <p:cNvSpPr/>
          <p:nvPr/>
        </p:nvSpPr>
        <p:spPr>
          <a:xfrm>
            <a:off x="7818120" y="3822192"/>
            <a:ext cx="3611880" cy="1051560"/>
          </a:xfrm>
          <a:prstGeom prst="rect">
            <a:avLst/>
          </a:prstGeom>
          <a:solidFill>
            <a:srgbClr val="EAE3D6"/>
          </a:solidFill>
          <a:ln w="12700">
            <a:solidFill>
              <a:srgbClr val="EAE3D6"/>
            </a:solidFill>
            <a:prstDash val="solid"/>
          </a:ln>
        </p:spPr>
      </p:sp>
      <p:sp>
        <p:nvSpPr>
          <p:cNvPr id="14" name="Text 11"/>
          <p:cNvSpPr/>
          <p:nvPr/>
        </p:nvSpPr>
        <p:spPr>
          <a:xfrm>
            <a:off x="8001000" y="3977640"/>
            <a:ext cx="324612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3 · Gradient Boosting</a:t>
            </a:r>
            <a:endParaRPr lang="en-US" sz="1400" dirty="0"/>
          </a:p>
        </p:txBody>
      </p:sp>
      <p:sp>
        <p:nvSpPr>
          <p:cNvPr id="15" name="Text 12"/>
          <p:cNvSpPr/>
          <p:nvPr/>
        </p:nvSpPr>
        <p:spPr>
          <a:xfrm>
            <a:off x="8001000" y="4352544"/>
            <a:ext cx="3246120" cy="39319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Weighted F1 0.8750</a:t>
            </a:r>
            <a:endParaRPr lang="en-US" sz="1100" dirty="0"/>
          </a:p>
        </p:txBody>
      </p:sp>
      <p:sp>
        <p:nvSpPr>
          <p:cNvPr id="16" name="Shape 13"/>
          <p:cNvSpPr/>
          <p:nvPr/>
        </p:nvSpPr>
        <p:spPr>
          <a:xfrm>
            <a:off x="7818120" y="5010912"/>
            <a:ext cx="3611880" cy="658368"/>
          </a:xfrm>
          <a:prstGeom prst="rect">
            <a:avLst/>
          </a:prstGeom>
          <a:solidFill>
            <a:srgbClr val="EAE3D6"/>
          </a:solidFill>
          <a:ln w="12700">
            <a:solidFill>
              <a:srgbClr val="EAE3D6"/>
            </a:solidFill>
            <a:prstDash val="solid"/>
          </a:ln>
        </p:spPr>
      </p:sp>
      <p:sp>
        <p:nvSpPr>
          <p:cNvPr id="17" name="Text 14"/>
          <p:cNvSpPr/>
          <p:nvPr/>
        </p:nvSpPr>
        <p:spPr>
          <a:xfrm>
            <a:off x="8001000" y="5166360"/>
            <a:ext cx="3246120" cy="256032"/>
          </a:xfrm>
          <a:prstGeom prst="rect">
            <a:avLst/>
          </a:prstGeom>
          <a:noFill/>
          <a:ln/>
        </p:spPr>
        <p:txBody>
          <a:bodyPr wrap="square" lIns="0" tIns="0" rIns="0" bIns="0" rtlCol="0" anchor="ctr"/>
          <a:lstStyle/>
          <a:p>
            <a:pPr indent="0" marL="0">
              <a:buNone/>
            </a:pPr>
            <a:r>
              <a:rPr lang="en-US" sz="1150" b="1" dirty="0">
                <a:solidFill>
                  <a:srgbClr val="2B2A26"/>
                </a:solidFill>
                <a:latin typeface="Cambria" pitchFamily="34" charset="0"/>
                <a:ea typeface="Cambria" pitchFamily="34" charset="-122"/>
                <a:cs typeface="Cambria" pitchFamily="34" charset="-120"/>
              </a:rPr>
              <a:t>Result</a:t>
            </a:r>
            <a:endParaRPr lang="en-US" sz="1150" dirty="0"/>
          </a:p>
        </p:txBody>
      </p:sp>
      <p:sp>
        <p:nvSpPr>
          <p:cNvPr id="18" name="Text 15"/>
          <p:cNvSpPr/>
          <p:nvPr/>
        </p:nvSpPr>
        <p:spPr>
          <a:xfrm>
            <a:off x="8001000" y="5541264"/>
            <a:ext cx="3246120" cy="0"/>
          </a:xfrm>
          <a:prstGeom prst="rect">
            <a:avLst/>
          </a:prstGeom>
          <a:noFill/>
          <a:ln/>
        </p:spPr>
        <p:txBody>
          <a:bodyPr wrap="square" lIns="254" tIns="254" rIns="254" bIns="254" rtlCol="0" anchor="t">
            <a:normAutofit/>
          </a:bodyPr>
          <a:lstStyle/>
          <a:p>
            <a:pPr indent="0" marL="0">
              <a:buNone/>
            </a:pPr>
            <a:r>
              <a:rPr lang="en-US" sz="940" dirty="0">
                <a:solidFill>
                  <a:srgbClr val="6E6658"/>
                </a:solidFill>
                <a:latin typeface="Calibri" pitchFamily="34" charset="0"/>
                <a:ea typeface="Calibri" pitchFamily="34" charset="-122"/>
                <a:cs typeface="Calibri" pitchFamily="34" charset="-120"/>
              </a:rPr>
              <a:t>Ensemble trees are the strongest family on this dataset.</a:t>
            </a:r>
            <a:endParaRPr lang="en-US" sz="940" dirty="0"/>
          </a:p>
        </p:txBody>
      </p:sp>
      <p:sp>
        <p:nvSpPr>
          <p:cNvPr id="19" name="Text 16"/>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Weighted F1 values from the executed 10-model comparison.</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A · CONCLUSION</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Classification Part B — what we learned</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A · Conclusion</a:t>
            </a:r>
            <a:endParaRPr lang="en-US" sz="900" dirty="0"/>
          </a:p>
        </p:txBody>
      </p:sp>
      <p:sp>
        <p:nvSpPr>
          <p:cNvPr id="5" name="Shape 3"/>
          <p:cNvSpPr/>
          <p:nvPr/>
        </p:nvSpPr>
        <p:spPr>
          <a:xfrm>
            <a:off x="594360" y="1417320"/>
            <a:ext cx="3474720" cy="1920240"/>
          </a:xfrm>
          <a:prstGeom prst="rect">
            <a:avLst/>
          </a:prstGeom>
          <a:solidFill>
            <a:srgbClr val="EAE3D6"/>
          </a:solidFill>
          <a:ln w="12700">
            <a:solidFill>
              <a:srgbClr val="EAE3D6"/>
            </a:solidFill>
            <a:prstDash val="solid"/>
          </a:ln>
        </p:spPr>
      </p:sp>
      <p:sp>
        <p:nvSpPr>
          <p:cNvPr id="6" name="Text 4"/>
          <p:cNvSpPr/>
          <p:nvPr/>
        </p:nvSpPr>
        <p:spPr>
          <a:xfrm>
            <a:off x="777240" y="157276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Best final model</a:t>
            </a:r>
            <a:endParaRPr lang="en-US" sz="1400" dirty="0"/>
          </a:p>
        </p:txBody>
      </p:sp>
      <p:sp>
        <p:nvSpPr>
          <p:cNvPr id="7" name="Text 5"/>
          <p:cNvSpPr/>
          <p:nvPr/>
        </p:nvSpPr>
        <p:spPr>
          <a:xfrm>
            <a:off x="777240" y="1947672"/>
            <a:ext cx="3108960" cy="1261872"/>
          </a:xfrm>
          <a:prstGeom prst="rect">
            <a:avLst/>
          </a:prstGeom>
          <a:noFill/>
          <a:ln/>
        </p:spPr>
        <p:txBody>
          <a:bodyPr wrap="square" lIns="254" tIns="254" rIns="254" bIns="254" rtlCol="0" anchor="t">
            <a:normAutofit/>
          </a:bodyPr>
          <a:lstStyle/>
          <a:p>
            <a:pPr indent="0" marL="0">
              <a:buNone/>
            </a:pPr>
            <a:r>
              <a:rPr lang="en-US" sz="1170" dirty="0">
                <a:solidFill>
                  <a:srgbClr val="6E6658"/>
                </a:solidFill>
                <a:latin typeface="Calibri" pitchFamily="34" charset="0"/>
                <a:ea typeface="Calibri" pitchFamily="34" charset="-122"/>
                <a:cs typeface="Calibri" pitchFamily="34" charset="-120"/>
              </a:rPr>
              <a:t>Random Forest</a:t>
            </a:r>
            <a:endParaRPr lang="en-US" sz="1170" dirty="0"/>
          </a:p>
          <a:p>
            <a:pPr indent="0" marL="0">
              <a:buNone/>
            </a:pPr>
            <a:endParaRPr lang="en-US" sz="1170" dirty="0"/>
          </a:p>
          <a:p>
            <a:pPr indent="0" marL="0">
              <a:buNone/>
            </a:pPr>
            <a:r>
              <a:rPr lang="en-US" sz="1170" dirty="0">
                <a:solidFill>
                  <a:srgbClr val="6E6658"/>
                </a:solidFill>
                <a:latin typeface="Calibri" pitchFamily="34" charset="0"/>
                <a:ea typeface="Calibri" pitchFamily="34" charset="-122"/>
                <a:cs typeface="Calibri" pitchFamily="34" charset="-120"/>
              </a:rPr>
              <a:t>Held-out accuracy: 0.8855</a:t>
            </a:r>
            <a:endParaRPr lang="en-US" sz="1170" dirty="0"/>
          </a:p>
          <a:p>
            <a:pPr indent="0" marL="0">
              <a:buNone/>
            </a:pPr>
            <a:r>
              <a:rPr lang="en-US" sz="1170" dirty="0">
                <a:solidFill>
                  <a:srgbClr val="6E6658"/>
                </a:solidFill>
                <a:latin typeface="Calibri" pitchFamily="34" charset="0"/>
                <a:ea typeface="Calibri" pitchFamily="34" charset="-122"/>
                <a:cs typeface="Calibri" pitchFamily="34" charset="-120"/>
              </a:rPr>
              <a:t>Weighted F1: 0.8837</a:t>
            </a:r>
            <a:endParaRPr lang="en-US" sz="1170" dirty="0"/>
          </a:p>
          <a:p>
            <a:pPr indent="0" marL="0">
              <a:buNone/>
            </a:pPr>
            <a:r>
              <a:rPr lang="en-US" sz="1170" dirty="0">
                <a:solidFill>
                  <a:srgbClr val="6E6658"/>
                </a:solidFill>
                <a:latin typeface="Calibri" pitchFamily="34" charset="0"/>
                <a:ea typeface="Calibri" pitchFamily="34" charset="-122"/>
                <a:cs typeface="Calibri" pitchFamily="34" charset="-120"/>
              </a:rPr>
              <a:t>Weighted OvR ROC-AUC: 0.9680</a:t>
            </a:r>
            <a:endParaRPr lang="en-US" sz="1170" dirty="0"/>
          </a:p>
        </p:txBody>
      </p:sp>
      <p:sp>
        <p:nvSpPr>
          <p:cNvPr id="8" name="Shape 6"/>
          <p:cNvSpPr/>
          <p:nvPr/>
        </p:nvSpPr>
        <p:spPr>
          <a:xfrm>
            <a:off x="4343400" y="1417320"/>
            <a:ext cx="3474720" cy="1920240"/>
          </a:xfrm>
          <a:prstGeom prst="rect">
            <a:avLst/>
          </a:prstGeom>
          <a:solidFill>
            <a:srgbClr val="EAE3D6"/>
          </a:solidFill>
          <a:ln w="12700">
            <a:solidFill>
              <a:srgbClr val="EAE3D6"/>
            </a:solidFill>
            <a:prstDash val="solid"/>
          </a:ln>
        </p:spPr>
      </p:sp>
      <p:sp>
        <p:nvSpPr>
          <p:cNvPr id="9" name="Text 7"/>
          <p:cNvSpPr/>
          <p:nvPr/>
        </p:nvSpPr>
        <p:spPr>
          <a:xfrm>
            <a:off x="4526280" y="157276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Selection rule</a:t>
            </a:r>
            <a:endParaRPr lang="en-US" sz="1400" dirty="0"/>
          </a:p>
        </p:txBody>
      </p:sp>
      <p:sp>
        <p:nvSpPr>
          <p:cNvPr id="10" name="Text 8"/>
          <p:cNvSpPr/>
          <p:nvPr/>
        </p:nvSpPr>
        <p:spPr>
          <a:xfrm>
            <a:off x="4526280" y="1947672"/>
            <a:ext cx="3108960" cy="126187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The winner is selected using training-only 5-fold weighted F1 — not by searching the test set. Random Forest leads at 0.8814 ± 0.0042.</a:t>
            </a:r>
            <a:endParaRPr lang="en-US" sz="1100" dirty="0"/>
          </a:p>
        </p:txBody>
      </p:sp>
      <p:sp>
        <p:nvSpPr>
          <p:cNvPr id="11" name="Shape 9"/>
          <p:cNvSpPr/>
          <p:nvPr/>
        </p:nvSpPr>
        <p:spPr>
          <a:xfrm>
            <a:off x="8092440" y="1417320"/>
            <a:ext cx="3474720" cy="1920240"/>
          </a:xfrm>
          <a:prstGeom prst="rect">
            <a:avLst/>
          </a:prstGeom>
          <a:solidFill>
            <a:srgbClr val="EAE3D6"/>
          </a:solidFill>
          <a:ln w="12700">
            <a:solidFill>
              <a:srgbClr val="EAE3D6"/>
            </a:solidFill>
            <a:prstDash val="solid"/>
          </a:ln>
        </p:spPr>
      </p:sp>
      <p:sp>
        <p:nvSpPr>
          <p:cNvPr id="12" name="Text 10"/>
          <p:cNvSpPr/>
          <p:nvPr/>
        </p:nvSpPr>
        <p:spPr>
          <a:xfrm>
            <a:off x="8275320" y="157276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Trade-off</a:t>
            </a:r>
            <a:endParaRPr lang="en-US" sz="1400" dirty="0"/>
          </a:p>
        </p:txBody>
      </p:sp>
      <p:sp>
        <p:nvSpPr>
          <p:cNvPr id="13" name="Text 11"/>
          <p:cNvSpPr/>
          <p:nvPr/>
        </p:nvSpPr>
        <p:spPr>
          <a:xfrm>
            <a:off x="8275320" y="1947672"/>
            <a:ext cx="3108960" cy="126187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Bagging and Gradient Boosting are extremely close. Their test F1 scores are 0.8778 and 0.8750, showing that several ensemble approaches are viable.</a:t>
            </a:r>
            <a:endParaRPr lang="en-US" sz="1100" dirty="0"/>
          </a:p>
        </p:txBody>
      </p:sp>
      <p:sp>
        <p:nvSpPr>
          <p:cNvPr id="14" name="Shape 12"/>
          <p:cNvSpPr/>
          <p:nvPr/>
        </p:nvSpPr>
        <p:spPr>
          <a:xfrm>
            <a:off x="594360" y="3703320"/>
            <a:ext cx="3474720" cy="1600200"/>
          </a:xfrm>
          <a:prstGeom prst="rect">
            <a:avLst/>
          </a:prstGeom>
          <a:solidFill>
            <a:srgbClr val="EAE3D6"/>
          </a:solidFill>
          <a:ln w="12700">
            <a:solidFill>
              <a:srgbClr val="EAE3D6"/>
            </a:solidFill>
            <a:prstDash val="solid"/>
          </a:ln>
        </p:spPr>
      </p:sp>
      <p:sp>
        <p:nvSpPr>
          <p:cNvPr id="15" name="Text 13"/>
          <p:cNvSpPr/>
          <p:nvPr/>
        </p:nvSpPr>
        <p:spPr>
          <a:xfrm>
            <a:off x="777240" y="385876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Class imbalance</a:t>
            </a:r>
            <a:endParaRPr lang="en-US" sz="1400" dirty="0"/>
          </a:p>
        </p:txBody>
      </p:sp>
      <p:sp>
        <p:nvSpPr>
          <p:cNvPr id="16" name="Text 14"/>
          <p:cNvSpPr/>
          <p:nvPr/>
        </p:nvSpPr>
        <p:spPr>
          <a:xfrm>
            <a:off x="777240" y="4233672"/>
            <a:ext cx="3108960" cy="94183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Moderate represents 58.26% of labeled data. Weighted F1 is therefore reported alongside accuracy, precision, recall and ROC-AUC.</a:t>
            </a:r>
            <a:endParaRPr lang="en-US" sz="1100" dirty="0"/>
          </a:p>
        </p:txBody>
      </p:sp>
      <p:sp>
        <p:nvSpPr>
          <p:cNvPr id="17" name="Shape 15"/>
          <p:cNvSpPr/>
          <p:nvPr/>
        </p:nvSpPr>
        <p:spPr>
          <a:xfrm>
            <a:off x="4343400" y="3703320"/>
            <a:ext cx="3474720" cy="1600200"/>
          </a:xfrm>
          <a:prstGeom prst="rect">
            <a:avLst/>
          </a:prstGeom>
          <a:solidFill>
            <a:srgbClr val="EAE3D6"/>
          </a:solidFill>
          <a:ln w="12700">
            <a:solidFill>
              <a:srgbClr val="EAE3D6"/>
            </a:solidFill>
            <a:prstDash val="solid"/>
          </a:ln>
        </p:spPr>
      </p:sp>
      <p:sp>
        <p:nvSpPr>
          <p:cNvPr id="18" name="Text 16"/>
          <p:cNvSpPr/>
          <p:nvPr/>
        </p:nvSpPr>
        <p:spPr>
          <a:xfrm>
            <a:off x="4526280" y="385876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Tuning evidence</a:t>
            </a:r>
            <a:endParaRPr lang="en-US" sz="1400" dirty="0"/>
          </a:p>
        </p:txBody>
      </p:sp>
      <p:sp>
        <p:nvSpPr>
          <p:cNvPr id="19" name="Text 17"/>
          <p:cNvSpPr/>
          <p:nvPr/>
        </p:nvSpPr>
        <p:spPr>
          <a:xfrm>
            <a:off x="4526280" y="4233672"/>
            <a:ext cx="3108960" cy="94183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GridSearchCV improved Decision Tree training-CV F1 by +0.0053. Test F1 decreased slightly, which is transparently reported.</a:t>
            </a:r>
            <a:endParaRPr lang="en-US" sz="1100" dirty="0"/>
          </a:p>
        </p:txBody>
      </p:sp>
      <p:sp>
        <p:nvSpPr>
          <p:cNvPr id="20" name="Shape 18"/>
          <p:cNvSpPr/>
          <p:nvPr/>
        </p:nvSpPr>
        <p:spPr>
          <a:xfrm>
            <a:off x="8092440" y="3703320"/>
            <a:ext cx="3474720" cy="1600200"/>
          </a:xfrm>
          <a:prstGeom prst="rect">
            <a:avLst/>
          </a:prstGeom>
          <a:solidFill>
            <a:srgbClr val="EAE3D6"/>
          </a:solidFill>
          <a:ln w="12700">
            <a:solidFill>
              <a:srgbClr val="EAE3D6"/>
            </a:solidFill>
            <a:prstDash val="solid"/>
          </a:ln>
        </p:spPr>
      </p:sp>
      <p:sp>
        <p:nvSpPr>
          <p:cNvPr id="21" name="Text 19"/>
          <p:cNvSpPr/>
          <p:nvPr/>
        </p:nvSpPr>
        <p:spPr>
          <a:xfrm>
            <a:off x="8275320" y="385876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Saved output</a:t>
            </a:r>
            <a:endParaRPr lang="en-US" sz="1400" dirty="0"/>
          </a:p>
        </p:txBody>
      </p:sp>
      <p:sp>
        <p:nvSpPr>
          <p:cNvPr id="22" name="Text 20"/>
          <p:cNvSpPr/>
          <p:nvPr/>
        </p:nvSpPr>
        <p:spPr>
          <a:xfrm>
            <a:off x="8275320" y="4233672"/>
            <a:ext cx="3108960" cy="94183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The project exports the full comparison, cross-validation and tuning CSVs and saves the selected classifier for the Streamlit application.</a:t>
            </a:r>
            <a:endParaRPr lang="en-US" sz="1100" dirty="0"/>
          </a:p>
        </p:txBody>
      </p:sp>
      <p:sp>
        <p:nvSpPr>
          <p:cNvPr id="23" name="Text 21"/>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Review-2 classification evidence: results/ + models/classification_model.joblib.</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822960" y="1828800"/>
            <a:ext cx="2743200" cy="914400"/>
          </a:xfrm>
          <a:prstGeom prst="rect">
            <a:avLst/>
          </a:prstGeom>
          <a:noFill/>
          <a:ln/>
        </p:spPr>
        <p:txBody>
          <a:bodyPr wrap="square" lIns="0" tIns="0" rIns="0" bIns="0" rtlCol="0" anchor="ctr"/>
          <a:lstStyle/>
          <a:p>
            <a:pPr indent="0" marL="0">
              <a:buNone/>
            </a:pPr>
            <a:r>
              <a:rPr lang="en-US" sz="8000" b="1" dirty="0">
                <a:solidFill>
                  <a:srgbClr val="A4613C"/>
                </a:solidFill>
                <a:latin typeface="Cambria" pitchFamily="34" charset="0"/>
                <a:ea typeface="Cambria" pitchFamily="34" charset="-122"/>
                <a:cs typeface="Cambria" pitchFamily="34" charset="-120"/>
              </a:rPr>
              <a:t>02</a:t>
            </a:r>
            <a:endParaRPr lang="en-US" sz="8000" dirty="0"/>
          </a:p>
        </p:txBody>
      </p:sp>
      <p:sp>
        <p:nvSpPr>
          <p:cNvPr id="3" name="Text 1"/>
          <p:cNvSpPr/>
          <p:nvPr/>
        </p:nvSpPr>
        <p:spPr>
          <a:xfrm>
            <a:off x="822960" y="3063240"/>
            <a:ext cx="9601200" cy="685800"/>
          </a:xfrm>
          <a:prstGeom prst="rect">
            <a:avLst/>
          </a:prstGeom>
          <a:noFill/>
          <a:ln/>
        </p:spPr>
        <p:txBody>
          <a:bodyPr wrap="square" lIns="0" tIns="0" rIns="0" bIns="0" rtlCol="0" anchor="ctr"/>
          <a:lstStyle/>
          <a:p>
            <a:pPr indent="0" marL="0">
              <a:buNone/>
            </a:pPr>
            <a:r>
              <a:rPr lang="en-US" sz="3800" b="1" dirty="0">
                <a:solidFill>
                  <a:srgbClr val="F6F2EA"/>
                </a:solidFill>
                <a:latin typeface="Cambria" pitchFamily="34" charset="0"/>
                <a:ea typeface="Cambria" pitchFamily="34" charset="-122"/>
                <a:cs typeface="Cambria" pitchFamily="34" charset="-120"/>
              </a:rPr>
              <a:t>Part B — Clustering</a:t>
            </a:r>
            <a:endParaRPr lang="en-US" sz="3800" dirty="0"/>
          </a:p>
        </p:txBody>
      </p:sp>
      <p:sp>
        <p:nvSpPr>
          <p:cNvPr id="4" name="Text 2"/>
          <p:cNvSpPr/>
          <p:nvPr/>
        </p:nvSpPr>
        <p:spPr>
          <a:xfrm>
            <a:off x="868680" y="3913632"/>
            <a:ext cx="9692640" cy="1051560"/>
          </a:xfrm>
          <a:prstGeom prst="rect">
            <a:avLst/>
          </a:prstGeom>
          <a:noFill/>
          <a:ln/>
        </p:spPr>
        <p:txBody>
          <a:bodyPr wrap="square" lIns="0" tIns="0" rIns="0" bIns="0" rtlCol="0" anchor="ctr">
            <a:normAutofit/>
          </a:bodyPr>
          <a:lstStyle/>
          <a:p>
            <a:pPr indent="0" marL="0">
              <a:buNone/>
            </a:pPr>
            <a:r>
              <a:rPr lang="en-US" sz="1400" dirty="0">
                <a:solidFill>
                  <a:srgbClr val="C9C3B5"/>
                </a:solidFill>
                <a:latin typeface="Calibri" pitchFamily="34" charset="0"/>
                <a:ea typeface="Calibri" pitchFamily="34" charset="-122"/>
                <a:cs typeface="Calibri" pitchFamily="34" charset="-120"/>
              </a:rPr>
              <a:t>Discover recurring urban air-pollution and weather patterns without using a target label. The official rubric requires two clustering algorithms: K-Means and Agglomerative Hierarchical Clustering.</a:t>
            </a:r>
            <a:endParaRPr lang="en-US" sz="140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B · PROBLEM</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Urban air-pollution pattern discovery</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B · Problem</a:t>
            </a:r>
            <a:endParaRPr lang="en-US" sz="900" dirty="0"/>
          </a:p>
        </p:txBody>
      </p:sp>
      <p:sp>
        <p:nvSpPr>
          <p:cNvPr id="5" name="Shape 3"/>
          <p:cNvSpPr/>
          <p:nvPr/>
        </p:nvSpPr>
        <p:spPr>
          <a:xfrm>
            <a:off x="594360" y="1417320"/>
            <a:ext cx="6400800" cy="2194560"/>
          </a:xfrm>
          <a:prstGeom prst="rect">
            <a:avLst/>
          </a:prstGeom>
          <a:solidFill>
            <a:srgbClr val="EAE3D6"/>
          </a:solidFill>
          <a:ln w="12700">
            <a:solidFill>
              <a:srgbClr val="EAE3D6"/>
            </a:solidFill>
            <a:prstDash val="solid"/>
          </a:ln>
        </p:spPr>
      </p:sp>
      <p:sp>
        <p:nvSpPr>
          <p:cNvPr id="6" name="Text 4"/>
          <p:cNvSpPr/>
          <p:nvPr/>
        </p:nvSpPr>
        <p:spPr>
          <a:xfrm>
            <a:off x="777240" y="1572768"/>
            <a:ext cx="603504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Problem statement</a:t>
            </a:r>
            <a:endParaRPr lang="en-US" sz="1400" dirty="0"/>
          </a:p>
        </p:txBody>
      </p:sp>
      <p:sp>
        <p:nvSpPr>
          <p:cNvPr id="7" name="Text 5"/>
          <p:cNvSpPr/>
          <p:nvPr/>
        </p:nvSpPr>
        <p:spPr>
          <a:xfrm>
            <a:off x="777240" y="1947672"/>
            <a:ext cx="6035040" cy="153619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Use unsupervised learning to group Beijing air-quality observations according to pollutant concentrations, weather, time and wind conditions. The goal is to discover recurring environmental regimes rather than predict a predefined class.</a:t>
            </a:r>
            <a:endParaRPr lang="en-US" sz="1100" dirty="0"/>
          </a:p>
        </p:txBody>
      </p:sp>
      <p:sp>
        <p:nvSpPr>
          <p:cNvPr id="8" name="Shape 6"/>
          <p:cNvSpPr/>
          <p:nvPr/>
        </p:nvSpPr>
        <p:spPr>
          <a:xfrm>
            <a:off x="7269480" y="1417320"/>
            <a:ext cx="4251960" cy="2194560"/>
          </a:xfrm>
          <a:prstGeom prst="rect">
            <a:avLst/>
          </a:prstGeom>
          <a:solidFill>
            <a:srgbClr val="EAE3D6"/>
          </a:solidFill>
          <a:ln w="12700">
            <a:solidFill>
              <a:srgbClr val="EAE3D6"/>
            </a:solidFill>
            <a:prstDash val="solid"/>
          </a:ln>
        </p:spPr>
      </p:sp>
      <p:sp>
        <p:nvSpPr>
          <p:cNvPr id="9" name="Text 7"/>
          <p:cNvSpPr/>
          <p:nvPr/>
        </p:nvSpPr>
        <p:spPr>
          <a:xfrm>
            <a:off x="7452360" y="1572768"/>
            <a:ext cx="388620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Why clustering is appropriate</a:t>
            </a:r>
            <a:endParaRPr lang="en-US" sz="1400" dirty="0"/>
          </a:p>
        </p:txBody>
      </p:sp>
      <p:sp>
        <p:nvSpPr>
          <p:cNvPr id="10" name="Text 8"/>
          <p:cNvSpPr/>
          <p:nvPr/>
        </p:nvSpPr>
        <p:spPr>
          <a:xfrm>
            <a:off x="7452360" y="1947672"/>
            <a:ext cx="3886200" cy="153619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No air-quality class label is used during model fitting. K-Means and Agglomerative clustering are evaluated using internal clustering metrics and low-dimensional visualisations.</a:t>
            </a:r>
            <a:endParaRPr lang="en-US" sz="1100" dirty="0"/>
          </a:p>
        </p:txBody>
      </p:sp>
      <p:sp>
        <p:nvSpPr>
          <p:cNvPr id="11" name="Shape 9"/>
          <p:cNvSpPr/>
          <p:nvPr/>
        </p:nvSpPr>
        <p:spPr>
          <a:xfrm>
            <a:off x="594360" y="3886200"/>
            <a:ext cx="3474720" cy="1417320"/>
          </a:xfrm>
          <a:prstGeom prst="rect">
            <a:avLst/>
          </a:prstGeom>
          <a:solidFill>
            <a:srgbClr val="EAE3D6"/>
          </a:solidFill>
          <a:ln w="12700">
            <a:solidFill>
              <a:srgbClr val="EAE3D6"/>
            </a:solidFill>
            <a:prstDash val="solid"/>
          </a:ln>
        </p:spPr>
      </p:sp>
      <p:sp>
        <p:nvSpPr>
          <p:cNvPr id="12" name="Text 10"/>
          <p:cNvSpPr/>
          <p:nvPr/>
        </p:nvSpPr>
        <p:spPr>
          <a:xfrm>
            <a:off x="777240" y="404164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SDG connection</a:t>
            </a:r>
            <a:endParaRPr lang="en-US" sz="1400" dirty="0"/>
          </a:p>
        </p:txBody>
      </p:sp>
      <p:sp>
        <p:nvSpPr>
          <p:cNvPr id="13" name="Text 11"/>
          <p:cNvSpPr/>
          <p:nvPr/>
        </p:nvSpPr>
        <p:spPr>
          <a:xfrm>
            <a:off x="777240" y="4416552"/>
            <a:ext cx="3108960" cy="75895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SDG 11 — Sustainable Cities &amp; Communities. The analysis supports understanding and monitoring urban air-quality patterns.</a:t>
            </a:r>
            <a:endParaRPr lang="en-US" sz="1100" dirty="0"/>
          </a:p>
        </p:txBody>
      </p:sp>
      <p:sp>
        <p:nvSpPr>
          <p:cNvPr id="14" name="Shape 12"/>
          <p:cNvSpPr/>
          <p:nvPr/>
        </p:nvSpPr>
        <p:spPr>
          <a:xfrm>
            <a:off x="4343400" y="3886200"/>
            <a:ext cx="3474720" cy="1417320"/>
          </a:xfrm>
          <a:prstGeom prst="rect">
            <a:avLst/>
          </a:prstGeom>
          <a:solidFill>
            <a:srgbClr val="EAE3D6"/>
          </a:solidFill>
          <a:ln w="12700">
            <a:solidFill>
              <a:srgbClr val="EAE3D6"/>
            </a:solidFill>
            <a:prstDash val="solid"/>
          </a:ln>
        </p:spPr>
      </p:sp>
      <p:sp>
        <p:nvSpPr>
          <p:cNvPr id="15" name="Text 13"/>
          <p:cNvSpPr/>
          <p:nvPr/>
        </p:nvSpPr>
        <p:spPr>
          <a:xfrm>
            <a:off x="4526280" y="404164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Practical use</a:t>
            </a:r>
            <a:endParaRPr lang="en-US" sz="1400" dirty="0"/>
          </a:p>
        </p:txBody>
      </p:sp>
      <p:sp>
        <p:nvSpPr>
          <p:cNvPr id="16" name="Text 14"/>
          <p:cNvSpPr/>
          <p:nvPr/>
        </p:nvSpPr>
        <p:spPr>
          <a:xfrm>
            <a:off x="4526280" y="4416552"/>
            <a:ext cx="3108960" cy="75895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Environmental teams can identify recurring pollution regimes, compare monitoring periods, and understand when high-pollution patterns occur.</a:t>
            </a:r>
            <a:endParaRPr lang="en-US" sz="1100" dirty="0"/>
          </a:p>
        </p:txBody>
      </p:sp>
      <p:sp>
        <p:nvSpPr>
          <p:cNvPr id="17" name="Shape 15"/>
          <p:cNvSpPr/>
          <p:nvPr/>
        </p:nvSpPr>
        <p:spPr>
          <a:xfrm>
            <a:off x="8092440" y="3886200"/>
            <a:ext cx="3474720" cy="1417320"/>
          </a:xfrm>
          <a:prstGeom prst="rect">
            <a:avLst/>
          </a:prstGeom>
          <a:solidFill>
            <a:srgbClr val="EAE3D6"/>
          </a:solidFill>
          <a:ln w="12700">
            <a:solidFill>
              <a:srgbClr val="EAE3D6"/>
            </a:solidFill>
            <a:prstDash val="solid"/>
          </a:ln>
        </p:spPr>
      </p:sp>
      <p:sp>
        <p:nvSpPr>
          <p:cNvPr id="18" name="Text 16"/>
          <p:cNvSpPr/>
          <p:nvPr/>
        </p:nvSpPr>
        <p:spPr>
          <a:xfrm>
            <a:off x="8275320" y="404164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Important limit</a:t>
            </a:r>
            <a:endParaRPr lang="en-US" sz="1400" dirty="0"/>
          </a:p>
        </p:txBody>
      </p:sp>
      <p:sp>
        <p:nvSpPr>
          <p:cNvPr id="19" name="Text 17"/>
          <p:cNvSpPr/>
          <p:nvPr/>
        </p:nvSpPr>
        <p:spPr>
          <a:xfrm>
            <a:off x="8275320" y="4416552"/>
            <a:ext cx="3108960" cy="75895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Cluster IDs are arbitrary pattern labels. They are not official AQI classes and they are not medical or public-health advice.</a:t>
            </a:r>
            <a:endParaRPr lang="en-US" sz="1100" dirty="0"/>
          </a:p>
        </p:txBody>
      </p:sp>
      <p:sp>
        <p:nvSpPr>
          <p:cNvPr id="20" name="Text 18"/>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Project statement: README.md · notebooks/clustering.ipynb · UCI Beijing Multi-Site Air Quality data.</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B · DATA</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Dataset audit — Beijing Multi-Site Air Quality</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B · Data</a:t>
            </a:r>
            <a:endParaRPr lang="en-US" sz="900" dirty="0"/>
          </a:p>
        </p:txBody>
      </p:sp>
      <p:sp>
        <p:nvSpPr>
          <p:cNvPr id="5" name="Text 3"/>
          <p:cNvSpPr/>
          <p:nvPr/>
        </p:nvSpPr>
        <p:spPr>
          <a:xfrm>
            <a:off x="594360" y="1417320"/>
            <a:ext cx="2194560" cy="566928"/>
          </a:xfrm>
          <a:prstGeom prst="rect">
            <a:avLst/>
          </a:prstGeom>
          <a:noFill/>
          <a:ln/>
        </p:spPr>
        <p:txBody>
          <a:bodyPr wrap="square" lIns="0" tIns="0" rIns="0" bIns="0" rtlCol="0" anchor="ctr"/>
          <a:lstStyle/>
          <a:p>
            <a:pPr algn="l" indent="0" marL="0">
              <a:buNone/>
            </a:pPr>
            <a:r>
              <a:rPr lang="en-US" sz="3400" b="1" dirty="0">
                <a:solidFill>
                  <a:srgbClr val="A4613C"/>
                </a:solidFill>
                <a:latin typeface="Cambria" pitchFamily="34" charset="0"/>
                <a:ea typeface="Cambria" pitchFamily="34" charset="-122"/>
                <a:cs typeface="Cambria" pitchFamily="34" charset="-120"/>
              </a:rPr>
              <a:t>420,768</a:t>
            </a:r>
            <a:endParaRPr lang="en-US" sz="3400" dirty="0"/>
          </a:p>
        </p:txBody>
      </p:sp>
      <p:sp>
        <p:nvSpPr>
          <p:cNvPr id="6" name="Text 4"/>
          <p:cNvSpPr/>
          <p:nvPr/>
        </p:nvSpPr>
        <p:spPr>
          <a:xfrm>
            <a:off x="594360" y="1984248"/>
            <a:ext cx="2194560" cy="384048"/>
          </a:xfrm>
          <a:prstGeom prst="rect">
            <a:avLst/>
          </a:prstGeom>
          <a:noFill/>
          <a:ln/>
        </p:spPr>
        <p:txBody>
          <a:bodyPr wrap="square" lIns="0" tIns="0" rIns="0" bIns="0" rtlCol="0" anchor="ctr"/>
          <a:lstStyle/>
          <a:p>
            <a:pPr indent="0" marL="0">
              <a:buNone/>
            </a:pPr>
            <a:r>
              <a:rPr lang="en-US" sz="1020" dirty="0">
                <a:solidFill>
                  <a:srgbClr val="6E6658"/>
                </a:solidFill>
                <a:latin typeface="Calibri" pitchFamily="34" charset="0"/>
                <a:ea typeface="Calibri" pitchFamily="34" charset="-122"/>
                <a:cs typeface="Calibri" pitchFamily="34" charset="-120"/>
              </a:rPr>
              <a:t>hourly observations</a:t>
            </a:r>
            <a:endParaRPr lang="en-US" sz="1020" dirty="0"/>
          </a:p>
        </p:txBody>
      </p:sp>
      <p:sp>
        <p:nvSpPr>
          <p:cNvPr id="7" name="Text 5"/>
          <p:cNvSpPr/>
          <p:nvPr/>
        </p:nvSpPr>
        <p:spPr>
          <a:xfrm>
            <a:off x="2926080" y="1417320"/>
            <a:ext cx="1828800" cy="566928"/>
          </a:xfrm>
          <a:prstGeom prst="rect">
            <a:avLst/>
          </a:prstGeom>
          <a:noFill/>
          <a:ln/>
        </p:spPr>
        <p:txBody>
          <a:bodyPr wrap="square" lIns="0" tIns="0" rIns="0" bIns="0" rtlCol="0" anchor="ctr"/>
          <a:lstStyle/>
          <a:p>
            <a:pPr algn="l" indent="0" marL="0">
              <a:buNone/>
            </a:pPr>
            <a:r>
              <a:rPr lang="en-US" sz="3400" b="1" dirty="0">
                <a:solidFill>
                  <a:srgbClr val="A4613C"/>
                </a:solidFill>
                <a:latin typeface="Cambria" pitchFamily="34" charset="0"/>
                <a:ea typeface="Cambria" pitchFamily="34" charset="-122"/>
                <a:cs typeface="Cambria" pitchFamily="34" charset="-120"/>
              </a:rPr>
              <a:t>12</a:t>
            </a:r>
            <a:endParaRPr lang="en-US" sz="3400" dirty="0"/>
          </a:p>
        </p:txBody>
      </p:sp>
      <p:sp>
        <p:nvSpPr>
          <p:cNvPr id="8" name="Text 6"/>
          <p:cNvSpPr/>
          <p:nvPr/>
        </p:nvSpPr>
        <p:spPr>
          <a:xfrm>
            <a:off x="2926080" y="1984248"/>
            <a:ext cx="1828800" cy="384048"/>
          </a:xfrm>
          <a:prstGeom prst="rect">
            <a:avLst/>
          </a:prstGeom>
          <a:noFill/>
          <a:ln/>
        </p:spPr>
        <p:txBody>
          <a:bodyPr wrap="square" lIns="0" tIns="0" rIns="0" bIns="0" rtlCol="0" anchor="ctr"/>
          <a:lstStyle/>
          <a:p>
            <a:pPr indent="0" marL="0">
              <a:buNone/>
            </a:pPr>
            <a:r>
              <a:rPr lang="en-US" sz="1020" dirty="0">
                <a:solidFill>
                  <a:srgbClr val="6E6658"/>
                </a:solidFill>
                <a:latin typeface="Calibri" pitchFamily="34" charset="0"/>
                <a:ea typeface="Calibri" pitchFamily="34" charset="-122"/>
                <a:cs typeface="Calibri" pitchFamily="34" charset="-120"/>
              </a:rPr>
              <a:t>monitoring stations</a:t>
            </a:r>
            <a:endParaRPr lang="en-US" sz="1020" dirty="0"/>
          </a:p>
        </p:txBody>
      </p:sp>
      <p:sp>
        <p:nvSpPr>
          <p:cNvPr id="9" name="Text 7"/>
          <p:cNvSpPr/>
          <p:nvPr/>
        </p:nvSpPr>
        <p:spPr>
          <a:xfrm>
            <a:off x="5074920" y="1417320"/>
            <a:ext cx="1828800" cy="566928"/>
          </a:xfrm>
          <a:prstGeom prst="rect">
            <a:avLst/>
          </a:prstGeom>
          <a:noFill/>
          <a:ln/>
        </p:spPr>
        <p:txBody>
          <a:bodyPr wrap="square" lIns="0" tIns="0" rIns="0" bIns="0" rtlCol="0" anchor="ctr"/>
          <a:lstStyle/>
          <a:p>
            <a:pPr algn="l" indent="0" marL="0">
              <a:buNone/>
            </a:pPr>
            <a:r>
              <a:rPr lang="en-US" sz="3400" b="1" dirty="0">
                <a:solidFill>
                  <a:srgbClr val="A4613C"/>
                </a:solidFill>
                <a:latin typeface="Cambria" pitchFamily="34" charset="0"/>
                <a:ea typeface="Cambria" pitchFamily="34" charset="-122"/>
                <a:cs typeface="Cambria" pitchFamily="34" charset="-120"/>
              </a:rPr>
              <a:t>35,064</a:t>
            </a:r>
            <a:endParaRPr lang="en-US" sz="3400" dirty="0"/>
          </a:p>
        </p:txBody>
      </p:sp>
      <p:sp>
        <p:nvSpPr>
          <p:cNvPr id="10" name="Text 8"/>
          <p:cNvSpPr/>
          <p:nvPr/>
        </p:nvSpPr>
        <p:spPr>
          <a:xfrm>
            <a:off x="5074920" y="1984248"/>
            <a:ext cx="1828800" cy="384048"/>
          </a:xfrm>
          <a:prstGeom prst="rect">
            <a:avLst/>
          </a:prstGeom>
          <a:noFill/>
          <a:ln/>
        </p:spPr>
        <p:txBody>
          <a:bodyPr wrap="square" lIns="0" tIns="0" rIns="0" bIns="0" rtlCol="0" anchor="ctr"/>
          <a:lstStyle/>
          <a:p>
            <a:pPr indent="0" marL="0">
              <a:buNone/>
            </a:pPr>
            <a:r>
              <a:rPr lang="en-US" sz="1020" dirty="0">
                <a:solidFill>
                  <a:srgbClr val="6E6658"/>
                </a:solidFill>
                <a:latin typeface="Calibri" pitchFamily="34" charset="0"/>
                <a:ea typeface="Calibri" pitchFamily="34" charset="-122"/>
                <a:cs typeface="Calibri" pitchFamily="34" charset="-120"/>
              </a:rPr>
              <a:t>rows per station</a:t>
            </a:r>
            <a:endParaRPr lang="en-US" sz="1020" dirty="0"/>
          </a:p>
        </p:txBody>
      </p:sp>
      <p:sp>
        <p:nvSpPr>
          <p:cNvPr id="11" name="Text 9"/>
          <p:cNvSpPr/>
          <p:nvPr/>
        </p:nvSpPr>
        <p:spPr>
          <a:xfrm>
            <a:off x="7635240" y="1417320"/>
            <a:ext cx="1645920" cy="566928"/>
          </a:xfrm>
          <a:prstGeom prst="rect">
            <a:avLst/>
          </a:prstGeom>
          <a:noFill/>
          <a:ln/>
        </p:spPr>
        <p:txBody>
          <a:bodyPr wrap="square" lIns="0" tIns="0" rIns="0" bIns="0" rtlCol="0" anchor="ctr"/>
          <a:lstStyle/>
          <a:p>
            <a:pPr algn="l" indent="0" marL="0">
              <a:buNone/>
            </a:pPr>
            <a:r>
              <a:rPr lang="en-US" sz="3400" b="1" dirty="0">
                <a:solidFill>
                  <a:srgbClr val="A4613C"/>
                </a:solidFill>
                <a:latin typeface="Cambria" pitchFamily="34" charset="0"/>
                <a:ea typeface="Cambria" pitchFamily="34" charset="-122"/>
                <a:cs typeface="Cambria" pitchFamily="34" charset="-120"/>
              </a:rPr>
              <a:t>18</a:t>
            </a:r>
            <a:endParaRPr lang="en-US" sz="3400" dirty="0"/>
          </a:p>
        </p:txBody>
      </p:sp>
      <p:sp>
        <p:nvSpPr>
          <p:cNvPr id="12" name="Text 10"/>
          <p:cNvSpPr/>
          <p:nvPr/>
        </p:nvSpPr>
        <p:spPr>
          <a:xfrm>
            <a:off x="7635240" y="1984248"/>
            <a:ext cx="1645920" cy="384048"/>
          </a:xfrm>
          <a:prstGeom prst="rect">
            <a:avLst/>
          </a:prstGeom>
          <a:noFill/>
          <a:ln/>
        </p:spPr>
        <p:txBody>
          <a:bodyPr wrap="square" lIns="0" tIns="0" rIns="0" bIns="0" rtlCol="0" anchor="ctr"/>
          <a:lstStyle/>
          <a:p>
            <a:pPr indent="0" marL="0">
              <a:buNone/>
            </a:pPr>
            <a:r>
              <a:rPr lang="en-US" sz="1020" dirty="0">
                <a:solidFill>
                  <a:srgbClr val="6E6658"/>
                </a:solidFill>
                <a:latin typeface="Calibri" pitchFamily="34" charset="0"/>
                <a:ea typeface="Calibri" pitchFamily="34" charset="-122"/>
                <a:cs typeface="Calibri" pitchFamily="34" charset="-120"/>
              </a:rPr>
              <a:t>raw columns</a:t>
            </a:r>
            <a:endParaRPr lang="en-US" sz="1020" dirty="0"/>
          </a:p>
        </p:txBody>
      </p:sp>
      <p:sp>
        <p:nvSpPr>
          <p:cNvPr id="13" name="Text 11"/>
          <p:cNvSpPr/>
          <p:nvPr/>
        </p:nvSpPr>
        <p:spPr>
          <a:xfrm>
            <a:off x="9601200" y="1417320"/>
            <a:ext cx="1645920" cy="566928"/>
          </a:xfrm>
          <a:prstGeom prst="rect">
            <a:avLst/>
          </a:prstGeom>
          <a:noFill/>
          <a:ln/>
        </p:spPr>
        <p:txBody>
          <a:bodyPr wrap="square" lIns="0" tIns="0" rIns="0" bIns="0" rtlCol="0" anchor="ctr"/>
          <a:lstStyle/>
          <a:p>
            <a:pPr algn="l" indent="0" marL="0">
              <a:buNone/>
            </a:pPr>
            <a:r>
              <a:rPr lang="en-US" sz="3400" b="1" dirty="0">
                <a:solidFill>
                  <a:srgbClr val="77856B"/>
                </a:solidFill>
                <a:latin typeface="Cambria" pitchFamily="34" charset="0"/>
                <a:ea typeface="Cambria" pitchFamily="34" charset="-122"/>
                <a:cs typeface="Cambria" pitchFamily="34" charset="-120"/>
              </a:rPr>
              <a:t>2013–17</a:t>
            </a:r>
            <a:endParaRPr lang="en-US" sz="3400" dirty="0"/>
          </a:p>
        </p:txBody>
      </p:sp>
      <p:sp>
        <p:nvSpPr>
          <p:cNvPr id="14" name="Text 12"/>
          <p:cNvSpPr/>
          <p:nvPr/>
        </p:nvSpPr>
        <p:spPr>
          <a:xfrm>
            <a:off x="9601200" y="1984248"/>
            <a:ext cx="1645920" cy="384048"/>
          </a:xfrm>
          <a:prstGeom prst="rect">
            <a:avLst/>
          </a:prstGeom>
          <a:noFill/>
          <a:ln/>
        </p:spPr>
        <p:txBody>
          <a:bodyPr wrap="square" lIns="0" tIns="0" rIns="0" bIns="0" rtlCol="0" anchor="ctr"/>
          <a:lstStyle/>
          <a:p>
            <a:pPr indent="0" marL="0">
              <a:buNone/>
            </a:pPr>
            <a:r>
              <a:rPr lang="en-US" sz="1020" dirty="0">
                <a:solidFill>
                  <a:srgbClr val="6E6658"/>
                </a:solidFill>
                <a:latin typeface="Calibri" pitchFamily="34" charset="0"/>
                <a:ea typeface="Calibri" pitchFamily="34" charset="-122"/>
                <a:cs typeface="Calibri" pitchFamily="34" charset="-120"/>
              </a:rPr>
              <a:t>measurement period</a:t>
            </a:r>
            <a:endParaRPr lang="en-US" sz="1020" dirty="0"/>
          </a:p>
        </p:txBody>
      </p:sp>
      <p:sp>
        <p:nvSpPr>
          <p:cNvPr id="15" name="Shape 13"/>
          <p:cNvSpPr/>
          <p:nvPr/>
        </p:nvSpPr>
        <p:spPr>
          <a:xfrm>
            <a:off x="594360" y="2743200"/>
            <a:ext cx="3520440" cy="2423160"/>
          </a:xfrm>
          <a:prstGeom prst="rect">
            <a:avLst/>
          </a:prstGeom>
          <a:solidFill>
            <a:srgbClr val="EAE3D6"/>
          </a:solidFill>
          <a:ln w="12700">
            <a:solidFill>
              <a:srgbClr val="EAE3D6"/>
            </a:solidFill>
            <a:prstDash val="solid"/>
          </a:ln>
        </p:spPr>
      </p:sp>
      <p:sp>
        <p:nvSpPr>
          <p:cNvPr id="16" name="Text 14"/>
          <p:cNvSpPr/>
          <p:nvPr/>
        </p:nvSpPr>
        <p:spPr>
          <a:xfrm>
            <a:off x="777240" y="2898648"/>
            <a:ext cx="315468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Pollutants</a:t>
            </a:r>
            <a:endParaRPr lang="en-US" sz="1400" dirty="0"/>
          </a:p>
        </p:txBody>
      </p:sp>
      <p:sp>
        <p:nvSpPr>
          <p:cNvPr id="17" name="Text 15"/>
          <p:cNvSpPr/>
          <p:nvPr/>
        </p:nvSpPr>
        <p:spPr>
          <a:xfrm>
            <a:off x="777240" y="3273552"/>
            <a:ext cx="3154680" cy="1764792"/>
          </a:xfrm>
          <a:prstGeom prst="rect">
            <a:avLst/>
          </a:prstGeom>
          <a:noFill/>
          <a:ln/>
        </p:spPr>
        <p:txBody>
          <a:bodyPr wrap="square" lIns="254" tIns="254" rIns="254" bIns="254" rtlCol="0" anchor="t">
            <a:normAutofit/>
          </a:bodyPr>
          <a:lstStyle/>
          <a:p>
            <a:pPr indent="0" marL="0">
              <a:buNone/>
            </a:pPr>
            <a:r>
              <a:rPr lang="en-US" sz="1200" dirty="0">
                <a:solidFill>
                  <a:srgbClr val="6E6658"/>
                </a:solidFill>
                <a:latin typeface="Calibri" pitchFamily="34" charset="0"/>
                <a:ea typeface="Calibri" pitchFamily="34" charset="-122"/>
                <a:cs typeface="Calibri" pitchFamily="34" charset="-120"/>
              </a:rPr>
              <a:t>PM2.5</a:t>
            </a:r>
            <a:endParaRPr lang="en-US" sz="1200" dirty="0"/>
          </a:p>
          <a:p>
            <a:pPr indent="0" marL="0">
              <a:buNone/>
            </a:pPr>
            <a:r>
              <a:rPr lang="en-US" sz="1200" dirty="0">
                <a:solidFill>
                  <a:srgbClr val="6E6658"/>
                </a:solidFill>
                <a:latin typeface="Calibri" pitchFamily="34" charset="0"/>
                <a:ea typeface="Calibri" pitchFamily="34" charset="-122"/>
                <a:cs typeface="Calibri" pitchFamily="34" charset="-120"/>
              </a:rPr>
              <a:t>PM10</a:t>
            </a:r>
            <a:endParaRPr lang="en-US" sz="1200" dirty="0"/>
          </a:p>
          <a:p>
            <a:pPr indent="0" marL="0">
              <a:buNone/>
            </a:pPr>
            <a:r>
              <a:rPr lang="en-US" sz="1200" dirty="0">
                <a:solidFill>
                  <a:srgbClr val="6E6658"/>
                </a:solidFill>
                <a:latin typeface="Calibri" pitchFamily="34" charset="0"/>
                <a:ea typeface="Calibri" pitchFamily="34" charset="-122"/>
                <a:cs typeface="Calibri" pitchFamily="34" charset="-120"/>
              </a:rPr>
              <a:t>SO₂</a:t>
            </a:r>
            <a:endParaRPr lang="en-US" sz="1200" dirty="0"/>
          </a:p>
          <a:p>
            <a:pPr indent="0" marL="0">
              <a:buNone/>
            </a:pPr>
            <a:r>
              <a:rPr lang="en-US" sz="1200" dirty="0">
                <a:solidFill>
                  <a:srgbClr val="6E6658"/>
                </a:solidFill>
                <a:latin typeface="Calibri" pitchFamily="34" charset="0"/>
                <a:ea typeface="Calibri" pitchFamily="34" charset="-122"/>
                <a:cs typeface="Calibri" pitchFamily="34" charset="-120"/>
              </a:rPr>
              <a:t>NO₂</a:t>
            </a:r>
            <a:endParaRPr lang="en-US" sz="1200" dirty="0"/>
          </a:p>
          <a:p>
            <a:pPr indent="0" marL="0">
              <a:buNone/>
            </a:pPr>
            <a:r>
              <a:rPr lang="en-US" sz="1200" dirty="0">
                <a:solidFill>
                  <a:srgbClr val="6E6658"/>
                </a:solidFill>
                <a:latin typeface="Calibri" pitchFamily="34" charset="0"/>
                <a:ea typeface="Calibri" pitchFamily="34" charset="-122"/>
                <a:cs typeface="Calibri" pitchFamily="34" charset="-120"/>
              </a:rPr>
              <a:t>CO</a:t>
            </a:r>
            <a:endParaRPr lang="en-US" sz="1200" dirty="0"/>
          </a:p>
          <a:p>
            <a:pPr indent="0" marL="0">
              <a:buNone/>
            </a:pPr>
            <a:r>
              <a:rPr lang="en-US" sz="1200" dirty="0">
                <a:solidFill>
                  <a:srgbClr val="6E6658"/>
                </a:solidFill>
                <a:latin typeface="Calibri" pitchFamily="34" charset="0"/>
                <a:ea typeface="Calibri" pitchFamily="34" charset="-122"/>
                <a:cs typeface="Calibri" pitchFamily="34" charset="-120"/>
              </a:rPr>
              <a:t>O₃</a:t>
            </a:r>
            <a:endParaRPr lang="en-US" sz="1200" dirty="0"/>
          </a:p>
        </p:txBody>
      </p:sp>
      <p:sp>
        <p:nvSpPr>
          <p:cNvPr id="18" name="Shape 16"/>
          <p:cNvSpPr/>
          <p:nvPr/>
        </p:nvSpPr>
        <p:spPr>
          <a:xfrm>
            <a:off x="4343400" y="2743200"/>
            <a:ext cx="3520440" cy="2423160"/>
          </a:xfrm>
          <a:prstGeom prst="rect">
            <a:avLst/>
          </a:prstGeom>
          <a:solidFill>
            <a:srgbClr val="EAE3D6"/>
          </a:solidFill>
          <a:ln w="12700">
            <a:solidFill>
              <a:srgbClr val="EAE3D6"/>
            </a:solidFill>
            <a:prstDash val="solid"/>
          </a:ln>
        </p:spPr>
      </p:sp>
      <p:sp>
        <p:nvSpPr>
          <p:cNvPr id="19" name="Text 17"/>
          <p:cNvSpPr/>
          <p:nvPr/>
        </p:nvSpPr>
        <p:spPr>
          <a:xfrm>
            <a:off x="4526280" y="2898648"/>
            <a:ext cx="315468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Weather</a:t>
            </a:r>
            <a:endParaRPr lang="en-US" sz="1400" dirty="0"/>
          </a:p>
        </p:txBody>
      </p:sp>
      <p:sp>
        <p:nvSpPr>
          <p:cNvPr id="20" name="Text 18"/>
          <p:cNvSpPr/>
          <p:nvPr/>
        </p:nvSpPr>
        <p:spPr>
          <a:xfrm>
            <a:off x="4526280" y="3273552"/>
            <a:ext cx="3154680" cy="176479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Temperature (TEMP)</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Pressure (PRES)</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Dew point (DEWP)</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Rain (RAIN)</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Wind speed (WSPM)</a:t>
            </a:r>
            <a:endParaRPr lang="en-US" sz="1100" dirty="0"/>
          </a:p>
        </p:txBody>
      </p:sp>
      <p:sp>
        <p:nvSpPr>
          <p:cNvPr id="21" name="Shape 19"/>
          <p:cNvSpPr/>
          <p:nvPr/>
        </p:nvSpPr>
        <p:spPr>
          <a:xfrm>
            <a:off x="8092440" y="2743200"/>
            <a:ext cx="3474720" cy="2423160"/>
          </a:xfrm>
          <a:prstGeom prst="rect">
            <a:avLst/>
          </a:prstGeom>
          <a:solidFill>
            <a:srgbClr val="EAE3D6"/>
          </a:solidFill>
          <a:ln w="12700">
            <a:solidFill>
              <a:srgbClr val="EAE3D6"/>
            </a:solidFill>
            <a:prstDash val="solid"/>
          </a:ln>
        </p:spPr>
      </p:sp>
      <p:sp>
        <p:nvSpPr>
          <p:cNvPr id="22" name="Text 20"/>
          <p:cNvSpPr/>
          <p:nvPr/>
        </p:nvSpPr>
        <p:spPr>
          <a:xfrm>
            <a:off x="8275320" y="289864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Context / metadata</a:t>
            </a:r>
            <a:endParaRPr lang="en-US" sz="1400" dirty="0"/>
          </a:p>
        </p:txBody>
      </p:sp>
      <p:sp>
        <p:nvSpPr>
          <p:cNvPr id="23" name="Text 21"/>
          <p:cNvSpPr/>
          <p:nvPr/>
        </p:nvSpPr>
        <p:spPr>
          <a:xfrm>
            <a:off x="8275320" y="3273552"/>
            <a:ext cx="3108960" cy="176479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Year · month · day · hour</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Wind direction (wd)</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Station</a:t>
            </a:r>
            <a:endParaRPr lang="en-US" sz="1100" dirty="0"/>
          </a:p>
          <a:p>
            <a:pPr indent="0" marL="0">
              <a:buNone/>
            </a:pP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Station names and calendar values are retained for interpretation; no ground-truth pollution class is used.</a:t>
            </a:r>
            <a:endParaRPr lang="en-US" sz="1100" dirty="0"/>
          </a:p>
        </p:txBody>
      </p:sp>
      <p:sp>
        <p:nvSpPr>
          <p:cNvPr id="24" name="Text 22"/>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Executed clustering notebook audit: 12 × 35,064 = 420,768 rows.</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B · DATA</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Missing-value analysis and final clustering feature space</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B · Data</a:t>
            </a:r>
            <a:endParaRPr lang="en-US" sz="900" dirty="0"/>
          </a:p>
        </p:txBody>
      </p:sp>
      <p:sp>
        <p:nvSpPr>
          <p:cNvPr id="5" name="Shape 3"/>
          <p:cNvSpPr/>
          <p:nvPr/>
        </p:nvSpPr>
        <p:spPr>
          <a:xfrm>
            <a:off x="594360" y="1371600"/>
            <a:ext cx="2011680" cy="400050"/>
          </a:xfrm>
          <a:prstGeom prst="rect">
            <a:avLst/>
          </a:prstGeom>
          <a:solidFill>
            <a:srgbClr val="2E322C"/>
          </a:solidFill>
          <a:ln w="6350">
            <a:solidFill>
              <a:srgbClr val="F6F2EA"/>
            </a:solidFill>
            <a:prstDash val="solid"/>
          </a:ln>
        </p:spPr>
      </p:sp>
      <p:sp>
        <p:nvSpPr>
          <p:cNvPr id="6" name="Text 4"/>
          <p:cNvSpPr/>
          <p:nvPr/>
        </p:nvSpPr>
        <p:spPr>
          <a:xfrm>
            <a:off x="649224" y="1399032"/>
            <a:ext cx="1901952" cy="345186"/>
          </a:xfrm>
          <a:prstGeom prst="rect">
            <a:avLst/>
          </a:prstGeom>
          <a:noFill/>
          <a:ln/>
        </p:spPr>
        <p:txBody>
          <a:bodyPr wrap="square" lIns="127" tIns="127" rIns="127" bIns="127" rtlCol="0" anchor="ctr">
            <a:normAutofit/>
          </a:bodyPr>
          <a:lstStyle/>
          <a:p>
            <a:pPr algn="l" indent="0" marL="0">
              <a:buNone/>
            </a:pPr>
            <a:r>
              <a:rPr lang="en-US" sz="980" b="1" dirty="0">
                <a:solidFill>
                  <a:srgbClr val="F6F2EA"/>
                </a:solidFill>
                <a:latin typeface="Calibri" pitchFamily="34" charset="0"/>
                <a:ea typeface="Calibri" pitchFamily="34" charset="-122"/>
                <a:cs typeface="Calibri" pitchFamily="34" charset="-120"/>
              </a:rPr>
              <a:t>Variable</a:t>
            </a:r>
            <a:endParaRPr lang="en-US" sz="980" dirty="0"/>
          </a:p>
        </p:txBody>
      </p:sp>
      <p:sp>
        <p:nvSpPr>
          <p:cNvPr id="7" name="Shape 5"/>
          <p:cNvSpPr/>
          <p:nvPr/>
        </p:nvSpPr>
        <p:spPr>
          <a:xfrm>
            <a:off x="2606040" y="1371600"/>
            <a:ext cx="1737360" cy="400050"/>
          </a:xfrm>
          <a:prstGeom prst="rect">
            <a:avLst/>
          </a:prstGeom>
          <a:solidFill>
            <a:srgbClr val="2E322C"/>
          </a:solidFill>
          <a:ln w="6350">
            <a:solidFill>
              <a:srgbClr val="F6F2EA"/>
            </a:solidFill>
            <a:prstDash val="solid"/>
          </a:ln>
        </p:spPr>
      </p:sp>
      <p:sp>
        <p:nvSpPr>
          <p:cNvPr id="8" name="Text 6"/>
          <p:cNvSpPr/>
          <p:nvPr/>
        </p:nvSpPr>
        <p:spPr>
          <a:xfrm>
            <a:off x="2660904" y="1399032"/>
            <a:ext cx="1627632" cy="345186"/>
          </a:xfrm>
          <a:prstGeom prst="rect">
            <a:avLst/>
          </a:prstGeom>
          <a:noFill/>
          <a:ln/>
        </p:spPr>
        <p:txBody>
          <a:bodyPr wrap="square" lIns="127" tIns="127" rIns="127" bIns="127" rtlCol="0" anchor="ctr">
            <a:normAutofit/>
          </a:bodyPr>
          <a:lstStyle/>
          <a:p>
            <a:pPr algn="ctr" indent="0" marL="0">
              <a:buNone/>
            </a:pPr>
            <a:r>
              <a:rPr lang="en-US" sz="980" b="1" dirty="0">
                <a:solidFill>
                  <a:srgbClr val="F6F2EA"/>
                </a:solidFill>
                <a:latin typeface="Calibri" pitchFamily="34" charset="0"/>
                <a:ea typeface="Calibri" pitchFamily="34" charset="-122"/>
                <a:cs typeface="Calibri" pitchFamily="34" charset="-120"/>
              </a:rPr>
              <a:t>Missing rows</a:t>
            </a:r>
            <a:endParaRPr lang="en-US" sz="980" dirty="0"/>
          </a:p>
        </p:txBody>
      </p:sp>
      <p:sp>
        <p:nvSpPr>
          <p:cNvPr id="9" name="Shape 7"/>
          <p:cNvSpPr/>
          <p:nvPr/>
        </p:nvSpPr>
        <p:spPr>
          <a:xfrm>
            <a:off x="594360" y="1771650"/>
            <a:ext cx="2011680" cy="400050"/>
          </a:xfrm>
          <a:prstGeom prst="rect">
            <a:avLst/>
          </a:prstGeom>
          <a:solidFill>
            <a:srgbClr val="F2EEE6"/>
          </a:solidFill>
          <a:ln w="6350">
            <a:solidFill>
              <a:srgbClr val="F6F2EA"/>
            </a:solidFill>
            <a:prstDash val="solid"/>
          </a:ln>
        </p:spPr>
      </p:sp>
      <p:sp>
        <p:nvSpPr>
          <p:cNvPr id="10" name="Text 8"/>
          <p:cNvSpPr/>
          <p:nvPr/>
        </p:nvSpPr>
        <p:spPr>
          <a:xfrm>
            <a:off x="649224" y="1799082"/>
            <a:ext cx="1901952" cy="345186"/>
          </a:xfrm>
          <a:prstGeom prst="rect">
            <a:avLst/>
          </a:prstGeom>
          <a:noFill/>
          <a:ln/>
        </p:spPr>
        <p:txBody>
          <a:bodyPr wrap="square" lIns="127" tIns="127" rIns="127" bIns="127" rtlCol="0" anchor="ctr">
            <a:normAutofit/>
          </a:bodyPr>
          <a:lstStyle/>
          <a:p>
            <a:pPr algn="l" indent="0" marL="0">
              <a:buNone/>
            </a:pPr>
            <a:r>
              <a:rPr lang="en-US" sz="980" dirty="0">
                <a:solidFill>
                  <a:srgbClr val="6E6658"/>
                </a:solidFill>
                <a:latin typeface="Calibri" pitchFamily="34" charset="0"/>
                <a:ea typeface="Calibri" pitchFamily="34" charset="-122"/>
                <a:cs typeface="Calibri" pitchFamily="34" charset="-120"/>
              </a:rPr>
              <a:t>CO</a:t>
            </a:r>
            <a:endParaRPr lang="en-US" sz="980" dirty="0"/>
          </a:p>
        </p:txBody>
      </p:sp>
      <p:sp>
        <p:nvSpPr>
          <p:cNvPr id="11" name="Shape 9"/>
          <p:cNvSpPr/>
          <p:nvPr/>
        </p:nvSpPr>
        <p:spPr>
          <a:xfrm>
            <a:off x="2606040" y="1771650"/>
            <a:ext cx="1737360" cy="400050"/>
          </a:xfrm>
          <a:prstGeom prst="rect">
            <a:avLst/>
          </a:prstGeom>
          <a:solidFill>
            <a:srgbClr val="F2EEE6"/>
          </a:solidFill>
          <a:ln w="6350">
            <a:solidFill>
              <a:srgbClr val="F6F2EA"/>
            </a:solidFill>
            <a:prstDash val="solid"/>
          </a:ln>
        </p:spPr>
      </p:sp>
      <p:sp>
        <p:nvSpPr>
          <p:cNvPr id="12" name="Text 10"/>
          <p:cNvSpPr/>
          <p:nvPr/>
        </p:nvSpPr>
        <p:spPr>
          <a:xfrm>
            <a:off x="2660904" y="1799082"/>
            <a:ext cx="1627632" cy="345186"/>
          </a:xfrm>
          <a:prstGeom prst="rect">
            <a:avLst/>
          </a:prstGeom>
          <a:noFill/>
          <a:ln/>
        </p:spPr>
        <p:txBody>
          <a:bodyPr wrap="square" lIns="127" tIns="127" rIns="127" bIns="127" rtlCol="0" anchor="ctr">
            <a:normAutofit/>
          </a:bodyPr>
          <a:lstStyle/>
          <a:p>
            <a:pPr algn="ctr" indent="0" marL="0">
              <a:buNone/>
            </a:pPr>
            <a:r>
              <a:rPr lang="en-US" sz="980" dirty="0">
                <a:solidFill>
                  <a:srgbClr val="6E6658"/>
                </a:solidFill>
                <a:latin typeface="Calibri" pitchFamily="34" charset="0"/>
                <a:ea typeface="Calibri" pitchFamily="34" charset="-122"/>
                <a:cs typeface="Calibri" pitchFamily="34" charset="-120"/>
              </a:rPr>
              <a:t>20,701</a:t>
            </a:r>
            <a:endParaRPr lang="en-US" sz="980" dirty="0"/>
          </a:p>
        </p:txBody>
      </p:sp>
      <p:sp>
        <p:nvSpPr>
          <p:cNvPr id="13" name="Shape 11"/>
          <p:cNvSpPr/>
          <p:nvPr/>
        </p:nvSpPr>
        <p:spPr>
          <a:xfrm>
            <a:off x="594360" y="2171700"/>
            <a:ext cx="2011680" cy="400050"/>
          </a:xfrm>
          <a:prstGeom prst="rect">
            <a:avLst/>
          </a:prstGeom>
          <a:solidFill>
            <a:srgbClr val="EAE3D6"/>
          </a:solidFill>
          <a:ln w="6350">
            <a:solidFill>
              <a:srgbClr val="F6F2EA"/>
            </a:solidFill>
            <a:prstDash val="solid"/>
          </a:ln>
        </p:spPr>
      </p:sp>
      <p:sp>
        <p:nvSpPr>
          <p:cNvPr id="14" name="Text 12"/>
          <p:cNvSpPr/>
          <p:nvPr/>
        </p:nvSpPr>
        <p:spPr>
          <a:xfrm>
            <a:off x="649224" y="2199132"/>
            <a:ext cx="1901952" cy="345186"/>
          </a:xfrm>
          <a:prstGeom prst="rect">
            <a:avLst/>
          </a:prstGeom>
          <a:noFill/>
          <a:ln/>
        </p:spPr>
        <p:txBody>
          <a:bodyPr wrap="square" lIns="127" tIns="127" rIns="127" bIns="127" rtlCol="0" anchor="ctr">
            <a:normAutofit/>
          </a:bodyPr>
          <a:lstStyle/>
          <a:p>
            <a:pPr algn="l" indent="0" marL="0">
              <a:buNone/>
            </a:pPr>
            <a:r>
              <a:rPr lang="en-US" sz="980" dirty="0">
                <a:solidFill>
                  <a:srgbClr val="6E6658"/>
                </a:solidFill>
                <a:latin typeface="Calibri" pitchFamily="34" charset="0"/>
                <a:ea typeface="Calibri" pitchFamily="34" charset="-122"/>
                <a:cs typeface="Calibri" pitchFamily="34" charset="-120"/>
              </a:rPr>
              <a:t>O3</a:t>
            </a:r>
            <a:endParaRPr lang="en-US" sz="980" dirty="0"/>
          </a:p>
        </p:txBody>
      </p:sp>
      <p:sp>
        <p:nvSpPr>
          <p:cNvPr id="15" name="Shape 13"/>
          <p:cNvSpPr/>
          <p:nvPr/>
        </p:nvSpPr>
        <p:spPr>
          <a:xfrm>
            <a:off x="2606040" y="2171700"/>
            <a:ext cx="1737360" cy="400050"/>
          </a:xfrm>
          <a:prstGeom prst="rect">
            <a:avLst/>
          </a:prstGeom>
          <a:solidFill>
            <a:srgbClr val="EAE3D6"/>
          </a:solidFill>
          <a:ln w="6350">
            <a:solidFill>
              <a:srgbClr val="F6F2EA"/>
            </a:solidFill>
            <a:prstDash val="solid"/>
          </a:ln>
        </p:spPr>
      </p:sp>
      <p:sp>
        <p:nvSpPr>
          <p:cNvPr id="16" name="Text 14"/>
          <p:cNvSpPr/>
          <p:nvPr/>
        </p:nvSpPr>
        <p:spPr>
          <a:xfrm>
            <a:off x="2660904" y="2199132"/>
            <a:ext cx="1627632" cy="345186"/>
          </a:xfrm>
          <a:prstGeom prst="rect">
            <a:avLst/>
          </a:prstGeom>
          <a:noFill/>
          <a:ln/>
        </p:spPr>
        <p:txBody>
          <a:bodyPr wrap="square" lIns="127" tIns="127" rIns="127" bIns="127" rtlCol="0" anchor="ctr">
            <a:normAutofit/>
          </a:bodyPr>
          <a:lstStyle/>
          <a:p>
            <a:pPr algn="ctr" indent="0" marL="0">
              <a:buNone/>
            </a:pPr>
            <a:r>
              <a:rPr lang="en-US" sz="980" dirty="0">
                <a:solidFill>
                  <a:srgbClr val="6E6658"/>
                </a:solidFill>
                <a:latin typeface="Calibri" pitchFamily="34" charset="0"/>
                <a:ea typeface="Calibri" pitchFamily="34" charset="-122"/>
                <a:cs typeface="Calibri" pitchFamily="34" charset="-120"/>
              </a:rPr>
              <a:t>13,277</a:t>
            </a:r>
            <a:endParaRPr lang="en-US" sz="980" dirty="0"/>
          </a:p>
        </p:txBody>
      </p:sp>
      <p:sp>
        <p:nvSpPr>
          <p:cNvPr id="17" name="Shape 15"/>
          <p:cNvSpPr/>
          <p:nvPr/>
        </p:nvSpPr>
        <p:spPr>
          <a:xfrm>
            <a:off x="594360" y="2571750"/>
            <a:ext cx="2011680" cy="400050"/>
          </a:xfrm>
          <a:prstGeom prst="rect">
            <a:avLst/>
          </a:prstGeom>
          <a:solidFill>
            <a:srgbClr val="F2EEE6"/>
          </a:solidFill>
          <a:ln w="6350">
            <a:solidFill>
              <a:srgbClr val="F6F2EA"/>
            </a:solidFill>
            <a:prstDash val="solid"/>
          </a:ln>
        </p:spPr>
      </p:sp>
      <p:sp>
        <p:nvSpPr>
          <p:cNvPr id="18" name="Text 16"/>
          <p:cNvSpPr/>
          <p:nvPr/>
        </p:nvSpPr>
        <p:spPr>
          <a:xfrm>
            <a:off x="649224" y="2599182"/>
            <a:ext cx="1901952" cy="345186"/>
          </a:xfrm>
          <a:prstGeom prst="rect">
            <a:avLst/>
          </a:prstGeom>
          <a:noFill/>
          <a:ln/>
        </p:spPr>
        <p:txBody>
          <a:bodyPr wrap="square" lIns="127" tIns="127" rIns="127" bIns="127" rtlCol="0" anchor="ctr">
            <a:normAutofit/>
          </a:bodyPr>
          <a:lstStyle/>
          <a:p>
            <a:pPr algn="l" indent="0" marL="0">
              <a:buNone/>
            </a:pPr>
            <a:r>
              <a:rPr lang="en-US" sz="980" dirty="0">
                <a:solidFill>
                  <a:srgbClr val="6E6658"/>
                </a:solidFill>
                <a:latin typeface="Calibri" pitchFamily="34" charset="0"/>
                <a:ea typeface="Calibri" pitchFamily="34" charset="-122"/>
                <a:cs typeface="Calibri" pitchFamily="34" charset="-120"/>
              </a:rPr>
              <a:t>NO2</a:t>
            </a:r>
            <a:endParaRPr lang="en-US" sz="980" dirty="0"/>
          </a:p>
        </p:txBody>
      </p:sp>
      <p:sp>
        <p:nvSpPr>
          <p:cNvPr id="19" name="Shape 17"/>
          <p:cNvSpPr/>
          <p:nvPr/>
        </p:nvSpPr>
        <p:spPr>
          <a:xfrm>
            <a:off x="2606040" y="2571750"/>
            <a:ext cx="1737360" cy="400050"/>
          </a:xfrm>
          <a:prstGeom prst="rect">
            <a:avLst/>
          </a:prstGeom>
          <a:solidFill>
            <a:srgbClr val="F2EEE6"/>
          </a:solidFill>
          <a:ln w="6350">
            <a:solidFill>
              <a:srgbClr val="F6F2EA"/>
            </a:solidFill>
            <a:prstDash val="solid"/>
          </a:ln>
        </p:spPr>
      </p:sp>
      <p:sp>
        <p:nvSpPr>
          <p:cNvPr id="20" name="Text 18"/>
          <p:cNvSpPr/>
          <p:nvPr/>
        </p:nvSpPr>
        <p:spPr>
          <a:xfrm>
            <a:off x="2660904" y="2599182"/>
            <a:ext cx="1627632" cy="345186"/>
          </a:xfrm>
          <a:prstGeom prst="rect">
            <a:avLst/>
          </a:prstGeom>
          <a:noFill/>
          <a:ln/>
        </p:spPr>
        <p:txBody>
          <a:bodyPr wrap="square" lIns="127" tIns="127" rIns="127" bIns="127" rtlCol="0" anchor="ctr">
            <a:normAutofit/>
          </a:bodyPr>
          <a:lstStyle/>
          <a:p>
            <a:pPr algn="ctr" indent="0" marL="0">
              <a:buNone/>
            </a:pPr>
            <a:r>
              <a:rPr lang="en-US" sz="980" dirty="0">
                <a:solidFill>
                  <a:srgbClr val="6E6658"/>
                </a:solidFill>
                <a:latin typeface="Calibri" pitchFamily="34" charset="0"/>
                <a:ea typeface="Calibri" pitchFamily="34" charset="-122"/>
                <a:cs typeface="Calibri" pitchFamily="34" charset="-120"/>
              </a:rPr>
              <a:t>12,116</a:t>
            </a:r>
            <a:endParaRPr lang="en-US" sz="980" dirty="0"/>
          </a:p>
        </p:txBody>
      </p:sp>
      <p:sp>
        <p:nvSpPr>
          <p:cNvPr id="21" name="Shape 19"/>
          <p:cNvSpPr/>
          <p:nvPr/>
        </p:nvSpPr>
        <p:spPr>
          <a:xfrm>
            <a:off x="594360" y="2971800"/>
            <a:ext cx="2011680" cy="400050"/>
          </a:xfrm>
          <a:prstGeom prst="rect">
            <a:avLst/>
          </a:prstGeom>
          <a:solidFill>
            <a:srgbClr val="EAE3D6"/>
          </a:solidFill>
          <a:ln w="6350">
            <a:solidFill>
              <a:srgbClr val="F6F2EA"/>
            </a:solidFill>
            <a:prstDash val="solid"/>
          </a:ln>
        </p:spPr>
      </p:sp>
      <p:sp>
        <p:nvSpPr>
          <p:cNvPr id="22" name="Text 20"/>
          <p:cNvSpPr/>
          <p:nvPr/>
        </p:nvSpPr>
        <p:spPr>
          <a:xfrm>
            <a:off x="649224" y="2999232"/>
            <a:ext cx="1901952" cy="345186"/>
          </a:xfrm>
          <a:prstGeom prst="rect">
            <a:avLst/>
          </a:prstGeom>
          <a:noFill/>
          <a:ln/>
        </p:spPr>
        <p:txBody>
          <a:bodyPr wrap="square" lIns="127" tIns="127" rIns="127" bIns="127" rtlCol="0" anchor="ctr">
            <a:normAutofit/>
          </a:bodyPr>
          <a:lstStyle/>
          <a:p>
            <a:pPr algn="l" indent="0" marL="0">
              <a:buNone/>
            </a:pPr>
            <a:r>
              <a:rPr lang="en-US" sz="980" dirty="0">
                <a:solidFill>
                  <a:srgbClr val="6E6658"/>
                </a:solidFill>
                <a:latin typeface="Calibri" pitchFamily="34" charset="0"/>
                <a:ea typeface="Calibri" pitchFamily="34" charset="-122"/>
                <a:cs typeface="Calibri" pitchFamily="34" charset="-120"/>
              </a:rPr>
              <a:t>SO2</a:t>
            </a:r>
            <a:endParaRPr lang="en-US" sz="980" dirty="0"/>
          </a:p>
        </p:txBody>
      </p:sp>
      <p:sp>
        <p:nvSpPr>
          <p:cNvPr id="23" name="Shape 21"/>
          <p:cNvSpPr/>
          <p:nvPr/>
        </p:nvSpPr>
        <p:spPr>
          <a:xfrm>
            <a:off x="2606040" y="2971800"/>
            <a:ext cx="1737360" cy="400050"/>
          </a:xfrm>
          <a:prstGeom prst="rect">
            <a:avLst/>
          </a:prstGeom>
          <a:solidFill>
            <a:srgbClr val="EAE3D6"/>
          </a:solidFill>
          <a:ln w="6350">
            <a:solidFill>
              <a:srgbClr val="F6F2EA"/>
            </a:solidFill>
            <a:prstDash val="solid"/>
          </a:ln>
        </p:spPr>
      </p:sp>
      <p:sp>
        <p:nvSpPr>
          <p:cNvPr id="24" name="Text 22"/>
          <p:cNvSpPr/>
          <p:nvPr/>
        </p:nvSpPr>
        <p:spPr>
          <a:xfrm>
            <a:off x="2660904" y="2999232"/>
            <a:ext cx="1627632" cy="345186"/>
          </a:xfrm>
          <a:prstGeom prst="rect">
            <a:avLst/>
          </a:prstGeom>
          <a:noFill/>
          <a:ln/>
        </p:spPr>
        <p:txBody>
          <a:bodyPr wrap="square" lIns="127" tIns="127" rIns="127" bIns="127" rtlCol="0" anchor="ctr">
            <a:normAutofit/>
          </a:bodyPr>
          <a:lstStyle/>
          <a:p>
            <a:pPr algn="ctr" indent="0" marL="0">
              <a:buNone/>
            </a:pPr>
            <a:r>
              <a:rPr lang="en-US" sz="980" dirty="0">
                <a:solidFill>
                  <a:srgbClr val="6E6658"/>
                </a:solidFill>
                <a:latin typeface="Calibri" pitchFamily="34" charset="0"/>
                <a:ea typeface="Calibri" pitchFamily="34" charset="-122"/>
                <a:cs typeface="Calibri" pitchFamily="34" charset="-120"/>
              </a:rPr>
              <a:t>9,021</a:t>
            </a:r>
            <a:endParaRPr lang="en-US" sz="980" dirty="0"/>
          </a:p>
        </p:txBody>
      </p:sp>
      <p:sp>
        <p:nvSpPr>
          <p:cNvPr id="25" name="Shape 23"/>
          <p:cNvSpPr/>
          <p:nvPr/>
        </p:nvSpPr>
        <p:spPr>
          <a:xfrm>
            <a:off x="594360" y="3371850"/>
            <a:ext cx="2011680" cy="400050"/>
          </a:xfrm>
          <a:prstGeom prst="rect">
            <a:avLst/>
          </a:prstGeom>
          <a:solidFill>
            <a:srgbClr val="F2EEE6"/>
          </a:solidFill>
          <a:ln w="6350">
            <a:solidFill>
              <a:srgbClr val="F6F2EA"/>
            </a:solidFill>
            <a:prstDash val="solid"/>
          </a:ln>
        </p:spPr>
      </p:sp>
      <p:sp>
        <p:nvSpPr>
          <p:cNvPr id="26" name="Text 24"/>
          <p:cNvSpPr/>
          <p:nvPr/>
        </p:nvSpPr>
        <p:spPr>
          <a:xfrm>
            <a:off x="649224" y="3399282"/>
            <a:ext cx="1901952" cy="345186"/>
          </a:xfrm>
          <a:prstGeom prst="rect">
            <a:avLst/>
          </a:prstGeom>
          <a:noFill/>
          <a:ln/>
        </p:spPr>
        <p:txBody>
          <a:bodyPr wrap="square" lIns="127" tIns="127" rIns="127" bIns="127" rtlCol="0" anchor="ctr">
            <a:normAutofit/>
          </a:bodyPr>
          <a:lstStyle/>
          <a:p>
            <a:pPr algn="l" indent="0" marL="0">
              <a:buNone/>
            </a:pPr>
            <a:r>
              <a:rPr lang="en-US" sz="980" dirty="0">
                <a:solidFill>
                  <a:srgbClr val="6E6658"/>
                </a:solidFill>
                <a:latin typeface="Calibri" pitchFamily="34" charset="0"/>
                <a:ea typeface="Calibri" pitchFamily="34" charset="-122"/>
                <a:cs typeface="Calibri" pitchFamily="34" charset="-120"/>
              </a:rPr>
              <a:t>PM2.5</a:t>
            </a:r>
            <a:endParaRPr lang="en-US" sz="980" dirty="0"/>
          </a:p>
        </p:txBody>
      </p:sp>
      <p:sp>
        <p:nvSpPr>
          <p:cNvPr id="27" name="Shape 25"/>
          <p:cNvSpPr/>
          <p:nvPr/>
        </p:nvSpPr>
        <p:spPr>
          <a:xfrm>
            <a:off x="2606040" y="3371850"/>
            <a:ext cx="1737360" cy="400050"/>
          </a:xfrm>
          <a:prstGeom prst="rect">
            <a:avLst/>
          </a:prstGeom>
          <a:solidFill>
            <a:srgbClr val="F2EEE6"/>
          </a:solidFill>
          <a:ln w="6350">
            <a:solidFill>
              <a:srgbClr val="F6F2EA"/>
            </a:solidFill>
            <a:prstDash val="solid"/>
          </a:ln>
        </p:spPr>
      </p:sp>
      <p:sp>
        <p:nvSpPr>
          <p:cNvPr id="28" name="Text 26"/>
          <p:cNvSpPr/>
          <p:nvPr/>
        </p:nvSpPr>
        <p:spPr>
          <a:xfrm>
            <a:off x="2660904" y="3399282"/>
            <a:ext cx="1627632" cy="345186"/>
          </a:xfrm>
          <a:prstGeom prst="rect">
            <a:avLst/>
          </a:prstGeom>
          <a:noFill/>
          <a:ln/>
        </p:spPr>
        <p:txBody>
          <a:bodyPr wrap="square" lIns="127" tIns="127" rIns="127" bIns="127" rtlCol="0" anchor="ctr">
            <a:normAutofit/>
          </a:bodyPr>
          <a:lstStyle/>
          <a:p>
            <a:pPr algn="ctr" indent="0" marL="0">
              <a:buNone/>
            </a:pPr>
            <a:r>
              <a:rPr lang="en-US" sz="980" dirty="0">
                <a:solidFill>
                  <a:srgbClr val="6E6658"/>
                </a:solidFill>
                <a:latin typeface="Calibri" pitchFamily="34" charset="0"/>
                <a:ea typeface="Calibri" pitchFamily="34" charset="-122"/>
                <a:cs typeface="Calibri" pitchFamily="34" charset="-120"/>
              </a:rPr>
              <a:t>8,739</a:t>
            </a:r>
            <a:endParaRPr lang="en-US" sz="980" dirty="0"/>
          </a:p>
        </p:txBody>
      </p:sp>
      <p:sp>
        <p:nvSpPr>
          <p:cNvPr id="29" name="Shape 27"/>
          <p:cNvSpPr/>
          <p:nvPr/>
        </p:nvSpPr>
        <p:spPr>
          <a:xfrm>
            <a:off x="594360" y="3771900"/>
            <a:ext cx="2011680" cy="400050"/>
          </a:xfrm>
          <a:prstGeom prst="rect">
            <a:avLst/>
          </a:prstGeom>
          <a:solidFill>
            <a:srgbClr val="EAE3D6"/>
          </a:solidFill>
          <a:ln w="6350">
            <a:solidFill>
              <a:srgbClr val="F6F2EA"/>
            </a:solidFill>
            <a:prstDash val="solid"/>
          </a:ln>
        </p:spPr>
      </p:sp>
      <p:sp>
        <p:nvSpPr>
          <p:cNvPr id="30" name="Text 28"/>
          <p:cNvSpPr/>
          <p:nvPr/>
        </p:nvSpPr>
        <p:spPr>
          <a:xfrm>
            <a:off x="649224" y="3799332"/>
            <a:ext cx="1901952" cy="345186"/>
          </a:xfrm>
          <a:prstGeom prst="rect">
            <a:avLst/>
          </a:prstGeom>
          <a:noFill/>
          <a:ln/>
        </p:spPr>
        <p:txBody>
          <a:bodyPr wrap="square" lIns="127" tIns="127" rIns="127" bIns="127" rtlCol="0" anchor="ctr">
            <a:normAutofit/>
          </a:bodyPr>
          <a:lstStyle/>
          <a:p>
            <a:pPr algn="l" indent="0" marL="0">
              <a:buNone/>
            </a:pPr>
            <a:r>
              <a:rPr lang="en-US" sz="980" dirty="0">
                <a:solidFill>
                  <a:srgbClr val="6E6658"/>
                </a:solidFill>
                <a:latin typeface="Calibri" pitchFamily="34" charset="0"/>
                <a:ea typeface="Calibri" pitchFamily="34" charset="-122"/>
                <a:cs typeface="Calibri" pitchFamily="34" charset="-120"/>
              </a:rPr>
              <a:t>PM10</a:t>
            </a:r>
            <a:endParaRPr lang="en-US" sz="980" dirty="0"/>
          </a:p>
        </p:txBody>
      </p:sp>
      <p:sp>
        <p:nvSpPr>
          <p:cNvPr id="31" name="Shape 29"/>
          <p:cNvSpPr/>
          <p:nvPr/>
        </p:nvSpPr>
        <p:spPr>
          <a:xfrm>
            <a:off x="2606040" y="3771900"/>
            <a:ext cx="1737360" cy="400050"/>
          </a:xfrm>
          <a:prstGeom prst="rect">
            <a:avLst/>
          </a:prstGeom>
          <a:solidFill>
            <a:srgbClr val="EAE3D6"/>
          </a:solidFill>
          <a:ln w="6350">
            <a:solidFill>
              <a:srgbClr val="F6F2EA"/>
            </a:solidFill>
            <a:prstDash val="solid"/>
          </a:ln>
        </p:spPr>
      </p:sp>
      <p:sp>
        <p:nvSpPr>
          <p:cNvPr id="32" name="Text 30"/>
          <p:cNvSpPr/>
          <p:nvPr/>
        </p:nvSpPr>
        <p:spPr>
          <a:xfrm>
            <a:off x="2660904" y="3799332"/>
            <a:ext cx="1627632" cy="345186"/>
          </a:xfrm>
          <a:prstGeom prst="rect">
            <a:avLst/>
          </a:prstGeom>
          <a:noFill/>
          <a:ln/>
        </p:spPr>
        <p:txBody>
          <a:bodyPr wrap="square" lIns="127" tIns="127" rIns="127" bIns="127" rtlCol="0" anchor="ctr">
            <a:normAutofit/>
          </a:bodyPr>
          <a:lstStyle/>
          <a:p>
            <a:pPr algn="ctr" indent="0" marL="0">
              <a:buNone/>
            </a:pPr>
            <a:r>
              <a:rPr lang="en-US" sz="980" dirty="0">
                <a:solidFill>
                  <a:srgbClr val="6E6658"/>
                </a:solidFill>
                <a:latin typeface="Calibri" pitchFamily="34" charset="0"/>
                <a:ea typeface="Calibri" pitchFamily="34" charset="-122"/>
                <a:cs typeface="Calibri" pitchFamily="34" charset="-120"/>
              </a:rPr>
              <a:t>6,449</a:t>
            </a:r>
            <a:endParaRPr lang="en-US" sz="980" dirty="0"/>
          </a:p>
        </p:txBody>
      </p:sp>
      <p:sp>
        <p:nvSpPr>
          <p:cNvPr id="33" name="Shape 31"/>
          <p:cNvSpPr/>
          <p:nvPr/>
        </p:nvSpPr>
        <p:spPr>
          <a:xfrm>
            <a:off x="594360" y="4171950"/>
            <a:ext cx="2011680" cy="400050"/>
          </a:xfrm>
          <a:prstGeom prst="rect">
            <a:avLst/>
          </a:prstGeom>
          <a:solidFill>
            <a:srgbClr val="F2EEE6"/>
          </a:solidFill>
          <a:ln w="6350">
            <a:solidFill>
              <a:srgbClr val="F6F2EA"/>
            </a:solidFill>
            <a:prstDash val="solid"/>
          </a:ln>
        </p:spPr>
      </p:sp>
      <p:sp>
        <p:nvSpPr>
          <p:cNvPr id="34" name="Text 32"/>
          <p:cNvSpPr/>
          <p:nvPr/>
        </p:nvSpPr>
        <p:spPr>
          <a:xfrm>
            <a:off x="649224" y="4199382"/>
            <a:ext cx="1901952" cy="345186"/>
          </a:xfrm>
          <a:prstGeom prst="rect">
            <a:avLst/>
          </a:prstGeom>
          <a:noFill/>
          <a:ln/>
        </p:spPr>
        <p:txBody>
          <a:bodyPr wrap="square" lIns="127" tIns="127" rIns="127" bIns="127" rtlCol="0" anchor="ctr">
            <a:normAutofit/>
          </a:bodyPr>
          <a:lstStyle/>
          <a:p>
            <a:pPr algn="l" indent="0" marL="0">
              <a:buNone/>
            </a:pPr>
            <a:r>
              <a:rPr lang="en-US" sz="980" dirty="0">
                <a:solidFill>
                  <a:srgbClr val="6E6658"/>
                </a:solidFill>
                <a:latin typeface="Calibri" pitchFamily="34" charset="0"/>
                <a:ea typeface="Calibri" pitchFamily="34" charset="-122"/>
                <a:cs typeface="Calibri" pitchFamily="34" charset="-120"/>
              </a:rPr>
              <a:t>wd</a:t>
            </a:r>
            <a:endParaRPr lang="en-US" sz="980" dirty="0"/>
          </a:p>
        </p:txBody>
      </p:sp>
      <p:sp>
        <p:nvSpPr>
          <p:cNvPr id="35" name="Shape 33"/>
          <p:cNvSpPr/>
          <p:nvPr/>
        </p:nvSpPr>
        <p:spPr>
          <a:xfrm>
            <a:off x="2606040" y="4171950"/>
            <a:ext cx="1737360" cy="400050"/>
          </a:xfrm>
          <a:prstGeom prst="rect">
            <a:avLst/>
          </a:prstGeom>
          <a:solidFill>
            <a:srgbClr val="F2EEE6"/>
          </a:solidFill>
          <a:ln w="6350">
            <a:solidFill>
              <a:srgbClr val="F6F2EA"/>
            </a:solidFill>
            <a:prstDash val="solid"/>
          </a:ln>
        </p:spPr>
      </p:sp>
      <p:sp>
        <p:nvSpPr>
          <p:cNvPr id="36" name="Text 34"/>
          <p:cNvSpPr/>
          <p:nvPr/>
        </p:nvSpPr>
        <p:spPr>
          <a:xfrm>
            <a:off x="2660904" y="4199382"/>
            <a:ext cx="1627632" cy="345186"/>
          </a:xfrm>
          <a:prstGeom prst="rect">
            <a:avLst/>
          </a:prstGeom>
          <a:noFill/>
          <a:ln/>
        </p:spPr>
        <p:txBody>
          <a:bodyPr wrap="square" lIns="127" tIns="127" rIns="127" bIns="127" rtlCol="0" anchor="ctr">
            <a:normAutofit/>
          </a:bodyPr>
          <a:lstStyle/>
          <a:p>
            <a:pPr algn="ctr" indent="0" marL="0">
              <a:buNone/>
            </a:pPr>
            <a:r>
              <a:rPr lang="en-US" sz="980" dirty="0">
                <a:solidFill>
                  <a:srgbClr val="6E6658"/>
                </a:solidFill>
                <a:latin typeface="Calibri" pitchFamily="34" charset="0"/>
                <a:ea typeface="Calibri" pitchFamily="34" charset="-122"/>
                <a:cs typeface="Calibri" pitchFamily="34" charset="-120"/>
              </a:rPr>
              <a:t>1,822</a:t>
            </a:r>
            <a:endParaRPr lang="en-US" sz="980" dirty="0"/>
          </a:p>
        </p:txBody>
      </p:sp>
      <p:sp>
        <p:nvSpPr>
          <p:cNvPr id="37" name="Shape 35"/>
          <p:cNvSpPr/>
          <p:nvPr/>
        </p:nvSpPr>
        <p:spPr>
          <a:xfrm>
            <a:off x="4617720" y="1371600"/>
            <a:ext cx="3200400" cy="3200400"/>
          </a:xfrm>
          <a:prstGeom prst="rect">
            <a:avLst/>
          </a:prstGeom>
          <a:solidFill>
            <a:srgbClr val="EAE3D6"/>
          </a:solidFill>
          <a:ln w="12700">
            <a:solidFill>
              <a:srgbClr val="EAE3D6"/>
            </a:solidFill>
            <a:prstDash val="solid"/>
          </a:ln>
        </p:spPr>
      </p:sp>
      <p:sp>
        <p:nvSpPr>
          <p:cNvPr id="38" name="Text 36"/>
          <p:cNvSpPr/>
          <p:nvPr/>
        </p:nvSpPr>
        <p:spPr>
          <a:xfrm>
            <a:off x="4800600" y="1527048"/>
            <a:ext cx="283464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Project treatment</a:t>
            </a:r>
            <a:endParaRPr lang="en-US" sz="1400" dirty="0"/>
          </a:p>
        </p:txBody>
      </p:sp>
      <p:sp>
        <p:nvSpPr>
          <p:cNvPr id="39" name="Text 37"/>
          <p:cNvSpPr/>
          <p:nvPr/>
        </p:nvSpPr>
        <p:spPr>
          <a:xfrm>
            <a:off x="4800600" y="1901952"/>
            <a:ext cx="2834640" cy="2542032"/>
          </a:xfrm>
          <a:prstGeom prst="rect">
            <a:avLst/>
          </a:prstGeom>
          <a:noFill/>
          <a:ln/>
        </p:spPr>
        <p:txBody>
          <a:bodyPr wrap="square" lIns="254" tIns="254" rIns="254" bIns="254" rtlCol="0" anchor="t">
            <a:normAutofit/>
          </a:bodyPr>
          <a:lstStyle/>
          <a:p>
            <a:pPr indent="0" marL="0">
              <a:buNone/>
            </a:pPr>
            <a:r>
              <a:rPr lang="en-US" sz="1080" dirty="0">
                <a:solidFill>
                  <a:srgbClr val="6E6658"/>
                </a:solidFill>
                <a:latin typeface="Calibri" pitchFamily="34" charset="0"/>
                <a:ea typeface="Calibri" pitchFamily="34" charset="-122"/>
                <a:cs typeface="Calibri" pitchFamily="34" charset="-120"/>
              </a:rPr>
              <a:t>• Negative pollutant concentrations are treated as missing.</a:t>
            </a:r>
            <a:endParaRPr lang="en-US" sz="1080" dirty="0"/>
          </a:p>
          <a:p>
            <a:pPr indent="0" marL="0">
              <a:buNone/>
            </a:pPr>
            <a:r>
              <a:rPr lang="en-US" sz="1080" dirty="0">
                <a:solidFill>
                  <a:srgbClr val="6E6658"/>
                </a:solidFill>
                <a:latin typeface="Calibri" pitchFamily="34" charset="0"/>
                <a:ea typeface="Calibri" pitchFamily="34" charset="-122"/>
                <a:cs typeface="Calibri" pitchFamily="34" charset="-120"/>
              </a:rPr>
              <a:t>• Median imputation is fitted before scaling.</a:t>
            </a:r>
            <a:endParaRPr lang="en-US" sz="1080" dirty="0"/>
          </a:p>
          <a:p>
            <a:pPr indent="0" marL="0">
              <a:buNone/>
            </a:pPr>
            <a:r>
              <a:rPr lang="en-US" sz="1080" dirty="0">
                <a:solidFill>
                  <a:srgbClr val="6E6658"/>
                </a:solidFill>
                <a:latin typeface="Calibri" pitchFamily="34" charset="0"/>
                <a:ea typeface="Calibri" pitchFamily="34" charset="-122"/>
                <a:cs typeface="Calibri" pitchFamily="34" charset="-120"/>
              </a:rPr>
              <a:t>• Six pollutant variables use log1p.</a:t>
            </a:r>
            <a:endParaRPr lang="en-US" sz="1080" dirty="0"/>
          </a:p>
          <a:p>
            <a:pPr indent="0" marL="0">
              <a:buNone/>
            </a:pPr>
            <a:r>
              <a:rPr lang="en-US" sz="1080" dirty="0">
                <a:solidFill>
                  <a:srgbClr val="6E6658"/>
                </a:solidFill>
                <a:latin typeface="Calibri" pitchFamily="34" charset="0"/>
                <a:ea typeface="Calibri" pitchFamily="34" charset="-122"/>
                <a:cs typeface="Calibri" pitchFamily="34" charset="-120"/>
              </a:rPr>
              <a:t>• Hour, month and wind direction become cyclic sin/cos features.</a:t>
            </a:r>
            <a:endParaRPr lang="en-US" sz="1080" dirty="0"/>
          </a:p>
          <a:p>
            <a:pPr indent="0" marL="0">
              <a:buNone/>
            </a:pPr>
            <a:r>
              <a:rPr lang="en-US" sz="1080" dirty="0">
                <a:solidFill>
                  <a:srgbClr val="6E6658"/>
                </a:solidFill>
                <a:latin typeface="Calibri" pitchFamily="34" charset="0"/>
                <a:ea typeface="Calibri" pitchFamily="34" charset="-122"/>
                <a:cs typeface="Calibri" pitchFamily="34" charset="-120"/>
              </a:rPr>
              <a:t>• StandardScaler puts all dimensions on a comparable scale.</a:t>
            </a:r>
            <a:endParaRPr lang="en-US" sz="1080" dirty="0"/>
          </a:p>
        </p:txBody>
      </p:sp>
      <p:sp>
        <p:nvSpPr>
          <p:cNvPr id="40" name="Shape 38"/>
          <p:cNvSpPr/>
          <p:nvPr/>
        </p:nvSpPr>
        <p:spPr>
          <a:xfrm>
            <a:off x="8092440" y="1371600"/>
            <a:ext cx="3474720" cy="3200400"/>
          </a:xfrm>
          <a:prstGeom prst="rect">
            <a:avLst/>
          </a:prstGeom>
          <a:solidFill>
            <a:srgbClr val="EAE3D6"/>
          </a:solidFill>
          <a:ln w="12700">
            <a:solidFill>
              <a:srgbClr val="EAE3D6"/>
            </a:solidFill>
            <a:prstDash val="solid"/>
          </a:ln>
        </p:spPr>
      </p:sp>
      <p:sp>
        <p:nvSpPr>
          <p:cNvPr id="41" name="Text 39"/>
          <p:cNvSpPr/>
          <p:nvPr/>
        </p:nvSpPr>
        <p:spPr>
          <a:xfrm>
            <a:off x="8275320" y="152704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Final feature matrix</a:t>
            </a:r>
            <a:endParaRPr lang="en-US" sz="1400" dirty="0"/>
          </a:p>
        </p:txBody>
      </p:sp>
      <p:sp>
        <p:nvSpPr>
          <p:cNvPr id="42" name="Text 40"/>
          <p:cNvSpPr/>
          <p:nvPr/>
        </p:nvSpPr>
        <p:spPr>
          <a:xfrm>
            <a:off x="8275320" y="1901952"/>
            <a:ext cx="3108960" cy="254203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17 clustering features</a:t>
            </a:r>
            <a:endParaRPr lang="en-US" sz="1100" dirty="0"/>
          </a:p>
          <a:p>
            <a:pPr indent="0" marL="0">
              <a:buNone/>
            </a:pP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6 logged pollutants</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5 weather variables</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2 hour cyclic features</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2 month cyclic features</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2 wind-direction cyclic features</a:t>
            </a:r>
            <a:endParaRPr lang="en-US" sz="1100" dirty="0"/>
          </a:p>
          <a:p>
            <a:pPr indent="0" marL="0">
              <a:buNone/>
            </a:pP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After preprocessing: no missing or infinite values.</a:t>
            </a:r>
            <a:endParaRPr lang="en-US" sz="1100" dirty="0"/>
          </a:p>
        </p:txBody>
      </p:sp>
      <p:sp>
        <p:nvSpPr>
          <p:cNvPr id="43" name="Text 41"/>
          <p:cNvSpPr/>
          <p:nvPr/>
        </p:nvSpPr>
        <p:spPr>
          <a:xfrm>
            <a:off x="685800" y="4956048"/>
            <a:ext cx="2011680" cy="566928"/>
          </a:xfrm>
          <a:prstGeom prst="rect">
            <a:avLst/>
          </a:prstGeom>
          <a:noFill/>
          <a:ln/>
        </p:spPr>
        <p:txBody>
          <a:bodyPr wrap="square" lIns="0" tIns="0" rIns="0" bIns="0" rtlCol="0" anchor="ctr"/>
          <a:lstStyle/>
          <a:p>
            <a:pPr algn="l" indent="0" marL="0">
              <a:buNone/>
            </a:pPr>
            <a:r>
              <a:rPr lang="en-US" sz="3400" b="1" dirty="0">
                <a:solidFill>
                  <a:srgbClr val="A4613C"/>
                </a:solidFill>
                <a:latin typeface="Cambria" pitchFamily="34" charset="0"/>
                <a:ea typeface="Cambria" pitchFamily="34" charset="-122"/>
                <a:cs typeface="Cambria" pitchFamily="34" charset="-120"/>
              </a:rPr>
              <a:t>17</a:t>
            </a:r>
            <a:endParaRPr lang="en-US" sz="3400" dirty="0"/>
          </a:p>
        </p:txBody>
      </p:sp>
      <p:sp>
        <p:nvSpPr>
          <p:cNvPr id="44" name="Text 42"/>
          <p:cNvSpPr/>
          <p:nvPr/>
        </p:nvSpPr>
        <p:spPr>
          <a:xfrm>
            <a:off x="685800" y="5522976"/>
            <a:ext cx="2011680" cy="384048"/>
          </a:xfrm>
          <a:prstGeom prst="rect">
            <a:avLst/>
          </a:prstGeom>
          <a:noFill/>
          <a:ln/>
        </p:spPr>
        <p:txBody>
          <a:bodyPr wrap="square" lIns="0" tIns="0" rIns="0" bIns="0" rtlCol="0" anchor="ctr"/>
          <a:lstStyle/>
          <a:p>
            <a:pPr indent="0" marL="0">
              <a:buNone/>
            </a:pPr>
            <a:r>
              <a:rPr lang="en-US" sz="1020" dirty="0">
                <a:solidFill>
                  <a:srgbClr val="6E6658"/>
                </a:solidFill>
                <a:latin typeface="Calibri" pitchFamily="34" charset="0"/>
                <a:ea typeface="Calibri" pitchFamily="34" charset="-122"/>
                <a:cs typeface="Calibri" pitchFamily="34" charset="-120"/>
              </a:rPr>
              <a:t>clustering features</a:t>
            </a:r>
            <a:endParaRPr lang="en-US" sz="1020" dirty="0"/>
          </a:p>
        </p:txBody>
      </p:sp>
      <p:sp>
        <p:nvSpPr>
          <p:cNvPr id="45" name="Text 43"/>
          <p:cNvSpPr/>
          <p:nvPr/>
        </p:nvSpPr>
        <p:spPr>
          <a:xfrm>
            <a:off x="3063240" y="4956048"/>
            <a:ext cx="2011680" cy="566928"/>
          </a:xfrm>
          <a:prstGeom prst="rect">
            <a:avLst/>
          </a:prstGeom>
          <a:noFill/>
          <a:ln/>
        </p:spPr>
        <p:txBody>
          <a:bodyPr wrap="square" lIns="0" tIns="0" rIns="0" bIns="0" rtlCol="0" anchor="ctr"/>
          <a:lstStyle/>
          <a:p>
            <a:pPr algn="l" indent="0" marL="0">
              <a:buNone/>
            </a:pPr>
            <a:r>
              <a:rPr lang="en-US" sz="3400" b="1" dirty="0">
                <a:solidFill>
                  <a:srgbClr val="77856B"/>
                </a:solidFill>
                <a:latin typeface="Cambria" pitchFamily="34" charset="0"/>
                <a:ea typeface="Cambria" pitchFamily="34" charset="-122"/>
                <a:cs typeface="Cambria" pitchFamily="34" charset="-120"/>
              </a:rPr>
              <a:t>0</a:t>
            </a:r>
            <a:endParaRPr lang="en-US" sz="3400" dirty="0"/>
          </a:p>
        </p:txBody>
      </p:sp>
      <p:sp>
        <p:nvSpPr>
          <p:cNvPr id="46" name="Text 44"/>
          <p:cNvSpPr/>
          <p:nvPr/>
        </p:nvSpPr>
        <p:spPr>
          <a:xfrm>
            <a:off x="3063240" y="5522976"/>
            <a:ext cx="2011680" cy="384048"/>
          </a:xfrm>
          <a:prstGeom prst="rect">
            <a:avLst/>
          </a:prstGeom>
          <a:noFill/>
          <a:ln/>
        </p:spPr>
        <p:txBody>
          <a:bodyPr wrap="square" lIns="0" tIns="0" rIns="0" bIns="0" rtlCol="0" anchor="ctr"/>
          <a:lstStyle/>
          <a:p>
            <a:pPr indent="0" marL="0">
              <a:buNone/>
            </a:pPr>
            <a:r>
              <a:rPr lang="en-US" sz="1020" dirty="0">
                <a:solidFill>
                  <a:srgbClr val="6E6658"/>
                </a:solidFill>
                <a:latin typeface="Calibri" pitchFamily="34" charset="0"/>
                <a:ea typeface="Calibri" pitchFamily="34" charset="-122"/>
                <a:cs typeface="Calibri" pitchFamily="34" charset="-120"/>
              </a:rPr>
              <a:t>missing after preprocessing</a:t>
            </a:r>
            <a:endParaRPr lang="en-US" sz="1020" dirty="0"/>
          </a:p>
        </p:txBody>
      </p:sp>
      <p:sp>
        <p:nvSpPr>
          <p:cNvPr id="47" name="Text 45"/>
          <p:cNvSpPr/>
          <p:nvPr/>
        </p:nvSpPr>
        <p:spPr>
          <a:xfrm>
            <a:off x="5897880" y="4956048"/>
            <a:ext cx="2011680" cy="566928"/>
          </a:xfrm>
          <a:prstGeom prst="rect">
            <a:avLst/>
          </a:prstGeom>
          <a:noFill/>
          <a:ln/>
        </p:spPr>
        <p:txBody>
          <a:bodyPr wrap="square" lIns="0" tIns="0" rIns="0" bIns="0" rtlCol="0" anchor="ctr"/>
          <a:lstStyle/>
          <a:p>
            <a:pPr algn="l" indent="0" marL="0">
              <a:buNone/>
            </a:pPr>
            <a:r>
              <a:rPr lang="en-US" sz="3400" b="1" dirty="0">
                <a:solidFill>
                  <a:srgbClr val="77856B"/>
                </a:solidFill>
                <a:latin typeface="Cambria" pitchFamily="34" charset="0"/>
                <a:ea typeface="Cambria" pitchFamily="34" charset="-122"/>
                <a:cs typeface="Cambria" pitchFamily="34" charset="-120"/>
              </a:rPr>
              <a:t>0</a:t>
            </a:r>
            <a:endParaRPr lang="en-US" sz="3400" dirty="0"/>
          </a:p>
        </p:txBody>
      </p:sp>
      <p:sp>
        <p:nvSpPr>
          <p:cNvPr id="48" name="Text 46"/>
          <p:cNvSpPr/>
          <p:nvPr/>
        </p:nvSpPr>
        <p:spPr>
          <a:xfrm>
            <a:off x="5897880" y="5522976"/>
            <a:ext cx="2011680" cy="384048"/>
          </a:xfrm>
          <a:prstGeom prst="rect">
            <a:avLst/>
          </a:prstGeom>
          <a:noFill/>
          <a:ln/>
        </p:spPr>
        <p:txBody>
          <a:bodyPr wrap="square" lIns="0" tIns="0" rIns="0" bIns="0" rtlCol="0" anchor="ctr"/>
          <a:lstStyle/>
          <a:p>
            <a:pPr indent="0" marL="0">
              <a:buNone/>
            </a:pPr>
            <a:r>
              <a:rPr lang="en-US" sz="1020" dirty="0">
                <a:solidFill>
                  <a:srgbClr val="6E6658"/>
                </a:solidFill>
                <a:latin typeface="Calibri" pitchFamily="34" charset="0"/>
                <a:ea typeface="Calibri" pitchFamily="34" charset="-122"/>
                <a:cs typeface="Calibri" pitchFamily="34" charset="-120"/>
              </a:rPr>
              <a:t>infinite values</a:t>
            </a:r>
            <a:endParaRPr lang="en-US" sz="1020" dirty="0"/>
          </a:p>
        </p:txBody>
      </p:sp>
      <p:sp>
        <p:nvSpPr>
          <p:cNvPr id="49" name="Text 47"/>
          <p:cNvSpPr/>
          <p:nvPr/>
        </p:nvSpPr>
        <p:spPr>
          <a:xfrm>
            <a:off x="8412480" y="4956048"/>
            <a:ext cx="2011680" cy="566928"/>
          </a:xfrm>
          <a:prstGeom prst="rect">
            <a:avLst/>
          </a:prstGeom>
          <a:noFill/>
          <a:ln/>
        </p:spPr>
        <p:txBody>
          <a:bodyPr wrap="square" lIns="0" tIns="0" rIns="0" bIns="0" rtlCol="0" anchor="ctr"/>
          <a:lstStyle/>
          <a:p>
            <a:pPr algn="l" indent="0" marL="0">
              <a:buNone/>
            </a:pPr>
            <a:r>
              <a:rPr lang="en-US" sz="3400" b="1" dirty="0">
                <a:solidFill>
                  <a:srgbClr val="77856B"/>
                </a:solidFill>
                <a:latin typeface="Cambria" pitchFamily="34" charset="0"/>
                <a:ea typeface="Cambria" pitchFamily="34" charset="-122"/>
                <a:cs typeface="Cambria" pitchFamily="34" charset="-120"/>
              </a:rPr>
              <a:t>42</a:t>
            </a:r>
            <a:endParaRPr lang="en-US" sz="3400" dirty="0"/>
          </a:p>
        </p:txBody>
      </p:sp>
      <p:sp>
        <p:nvSpPr>
          <p:cNvPr id="50" name="Text 48"/>
          <p:cNvSpPr/>
          <p:nvPr/>
        </p:nvSpPr>
        <p:spPr>
          <a:xfrm>
            <a:off x="8412480" y="5522976"/>
            <a:ext cx="2011680" cy="384048"/>
          </a:xfrm>
          <a:prstGeom prst="rect">
            <a:avLst/>
          </a:prstGeom>
          <a:noFill/>
          <a:ln/>
        </p:spPr>
        <p:txBody>
          <a:bodyPr wrap="square" lIns="0" tIns="0" rIns="0" bIns="0" rtlCol="0" anchor="ctr"/>
          <a:lstStyle/>
          <a:p>
            <a:pPr indent="0" marL="0">
              <a:buNone/>
            </a:pPr>
            <a:r>
              <a:rPr lang="en-US" sz="1020" dirty="0">
                <a:solidFill>
                  <a:srgbClr val="6E6658"/>
                </a:solidFill>
                <a:latin typeface="Calibri" pitchFamily="34" charset="0"/>
                <a:ea typeface="Calibri" pitchFamily="34" charset="-122"/>
                <a:cs typeface="Calibri" pitchFamily="34" charset="-120"/>
              </a:rPr>
              <a:t>random seed</a:t>
            </a:r>
            <a:endParaRPr lang="en-US" sz="1020" dirty="0"/>
          </a:p>
        </p:txBody>
      </p:sp>
      <p:sp>
        <p:nvSpPr>
          <p:cNvPr id="51" name="Text 49"/>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Missing counts: executed clustering notebook cell 21 · current preprocessing logic: src/clustering.py.</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B · EDA</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Correlation structure — pollutants and weather</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B · EDA</a:t>
            </a:r>
            <a:endParaRPr lang="en-US" sz="900" dirty="0"/>
          </a:p>
        </p:txBody>
      </p:sp>
      <p:sp>
        <p:nvSpPr>
          <p:cNvPr id="5" name="Shape 3"/>
          <p:cNvSpPr/>
          <p:nvPr/>
        </p:nvSpPr>
        <p:spPr>
          <a:xfrm>
            <a:off x="475488" y="1234440"/>
            <a:ext cx="7050024" cy="4672584"/>
          </a:xfrm>
          <a:prstGeom prst="rect">
            <a:avLst/>
          </a:prstGeom>
          <a:solidFill>
            <a:srgbClr val="FFFFFF"/>
          </a:solidFill>
          <a:ln w="7620">
            <a:solidFill>
              <a:srgbClr val="D8D0C1"/>
            </a:solidFill>
            <a:prstDash val="solid"/>
          </a:ln>
        </p:spPr>
      </p:sp>
      <p:pic>
        <p:nvPicPr>
          <p:cNvPr id="6" name="Image 0" descr="/mnt/data/review2_perfect_assets/clustering_correlation.png">    </p:cNvPr>
          <p:cNvPicPr>
            <a:picLocks noChangeAspect="1"/>
          </p:cNvPicPr>
          <p:nvPr/>
        </p:nvPicPr>
        <p:blipFill>
          <a:blip r:embed="rId1"/>
          <a:stretch>
            <a:fillRect/>
          </a:stretch>
        </p:blipFill>
        <p:spPr>
          <a:xfrm>
            <a:off x="502920" y="1261872"/>
            <a:ext cx="6995160" cy="4617720"/>
          </a:xfrm>
          <a:prstGeom prst="rect">
            <a:avLst/>
          </a:prstGeom>
        </p:spPr>
      </p:pic>
      <p:sp>
        <p:nvSpPr>
          <p:cNvPr id="7" name="Shape 4"/>
          <p:cNvSpPr/>
          <p:nvPr/>
        </p:nvSpPr>
        <p:spPr>
          <a:xfrm>
            <a:off x="7818120" y="1353312"/>
            <a:ext cx="3566160" cy="3429000"/>
          </a:xfrm>
          <a:prstGeom prst="rect">
            <a:avLst/>
          </a:prstGeom>
          <a:solidFill>
            <a:srgbClr val="EAE3D6"/>
          </a:solidFill>
          <a:ln w="12700">
            <a:solidFill>
              <a:srgbClr val="EAE3D6"/>
            </a:solidFill>
            <a:prstDash val="solid"/>
          </a:ln>
        </p:spPr>
      </p:sp>
      <p:sp>
        <p:nvSpPr>
          <p:cNvPr id="8" name="Text 5"/>
          <p:cNvSpPr/>
          <p:nvPr/>
        </p:nvSpPr>
        <p:spPr>
          <a:xfrm>
            <a:off x="8001000" y="1508760"/>
            <a:ext cx="320040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What the heatmap shows</a:t>
            </a:r>
            <a:endParaRPr lang="en-US" sz="1400" dirty="0"/>
          </a:p>
        </p:txBody>
      </p:sp>
      <p:sp>
        <p:nvSpPr>
          <p:cNvPr id="9" name="Text 6"/>
          <p:cNvSpPr/>
          <p:nvPr/>
        </p:nvSpPr>
        <p:spPr>
          <a:xfrm>
            <a:off x="8001000" y="1883664"/>
            <a:ext cx="3200400" cy="277063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PM2.5 ↔ PM10: 0.88</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PM2.5 ↔ CO: 0.79</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NO2 ↔ CO: 0.71</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TEMP ↔ DEWP: 0.82</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TEMP ↔ PRES: −0.81</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NO2 ↔ WSPM: −0.40</a:t>
            </a:r>
            <a:endParaRPr lang="en-US" sz="1100" dirty="0"/>
          </a:p>
          <a:p>
            <a:pPr indent="0" marL="0">
              <a:buNone/>
            </a:pP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The data contains strong co-movement among combustion pollutants and clear meteorological structure.</a:t>
            </a:r>
            <a:endParaRPr lang="en-US" sz="1100" dirty="0"/>
          </a:p>
        </p:txBody>
      </p:sp>
      <p:sp>
        <p:nvSpPr>
          <p:cNvPr id="10" name="Shape 7"/>
          <p:cNvSpPr/>
          <p:nvPr/>
        </p:nvSpPr>
        <p:spPr>
          <a:xfrm>
            <a:off x="7818120" y="4983480"/>
            <a:ext cx="3566160" cy="658368"/>
          </a:xfrm>
          <a:prstGeom prst="rect">
            <a:avLst/>
          </a:prstGeom>
          <a:solidFill>
            <a:srgbClr val="EAE3D6"/>
          </a:solidFill>
          <a:ln w="12700">
            <a:solidFill>
              <a:srgbClr val="EAE3D6"/>
            </a:solidFill>
            <a:prstDash val="solid"/>
          </a:ln>
        </p:spPr>
      </p:sp>
      <p:sp>
        <p:nvSpPr>
          <p:cNvPr id="11" name="Text 8"/>
          <p:cNvSpPr/>
          <p:nvPr/>
        </p:nvSpPr>
        <p:spPr>
          <a:xfrm>
            <a:off x="8001000" y="5138928"/>
            <a:ext cx="3200400" cy="256032"/>
          </a:xfrm>
          <a:prstGeom prst="rect">
            <a:avLst/>
          </a:prstGeom>
          <a:noFill/>
          <a:ln/>
        </p:spPr>
        <p:txBody>
          <a:bodyPr wrap="square" lIns="0" tIns="0" rIns="0" bIns="0" rtlCol="0" anchor="ctr"/>
          <a:lstStyle/>
          <a:p>
            <a:pPr indent="0" marL="0">
              <a:buNone/>
            </a:pPr>
            <a:r>
              <a:rPr lang="en-US" sz="1120" b="1" dirty="0">
                <a:solidFill>
                  <a:srgbClr val="2B2A26"/>
                </a:solidFill>
                <a:latin typeface="Cambria" pitchFamily="34" charset="0"/>
                <a:ea typeface="Cambria" pitchFamily="34" charset="-122"/>
                <a:cs typeface="Cambria" pitchFamily="34" charset="-120"/>
              </a:rPr>
              <a:t>Why scale?</a:t>
            </a:r>
            <a:endParaRPr lang="en-US" sz="1120" dirty="0"/>
          </a:p>
        </p:txBody>
      </p:sp>
      <p:sp>
        <p:nvSpPr>
          <p:cNvPr id="12" name="Text 9"/>
          <p:cNvSpPr/>
          <p:nvPr/>
        </p:nvSpPr>
        <p:spPr>
          <a:xfrm>
            <a:off x="8001000" y="5513832"/>
            <a:ext cx="3200400" cy="0"/>
          </a:xfrm>
          <a:prstGeom prst="rect">
            <a:avLst/>
          </a:prstGeom>
          <a:noFill/>
          <a:ln/>
        </p:spPr>
        <p:txBody>
          <a:bodyPr wrap="square" lIns="254" tIns="254" rIns="254" bIns="254" rtlCol="0" anchor="t">
            <a:normAutofit/>
          </a:bodyPr>
          <a:lstStyle/>
          <a:p>
            <a:pPr indent="0" marL="0">
              <a:buNone/>
            </a:pPr>
            <a:r>
              <a:rPr lang="en-US" sz="910" dirty="0">
                <a:solidFill>
                  <a:srgbClr val="6E6658"/>
                </a:solidFill>
                <a:latin typeface="Calibri" pitchFamily="34" charset="0"/>
                <a:ea typeface="Calibri" pitchFamily="34" charset="-122"/>
                <a:cs typeface="Calibri" pitchFamily="34" charset="-120"/>
              </a:rPr>
              <a:t>K-Means and Ward clustering are distance-based; standardized features stop large-unit variables from dominating.</a:t>
            </a:r>
            <a:endParaRPr lang="en-US" sz="910" dirty="0"/>
          </a:p>
        </p:txBody>
      </p:sp>
      <p:sp>
        <p:nvSpPr>
          <p:cNvPr id="13" name="Text 10"/>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Figure and correlations: executed clustering notebook EDA.</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B · METHOD</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Clustering preprocessing pipeline</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B · Method</a:t>
            </a:r>
            <a:endParaRPr lang="en-US" sz="900" dirty="0"/>
          </a:p>
        </p:txBody>
      </p:sp>
      <p:sp>
        <p:nvSpPr>
          <p:cNvPr id="5" name="Shape 3"/>
          <p:cNvSpPr/>
          <p:nvPr/>
        </p:nvSpPr>
        <p:spPr>
          <a:xfrm>
            <a:off x="685800" y="1325880"/>
            <a:ext cx="10972800" cy="987552"/>
          </a:xfrm>
          <a:prstGeom prst="rect">
            <a:avLst/>
          </a:prstGeom>
          <a:solidFill>
            <a:srgbClr val="EAE3D6"/>
          </a:solidFill>
          <a:ln w="12700">
            <a:solidFill>
              <a:srgbClr val="EAE3D6"/>
            </a:solidFill>
            <a:prstDash val="solid"/>
          </a:ln>
        </p:spPr>
      </p:sp>
      <p:sp>
        <p:nvSpPr>
          <p:cNvPr id="6" name="Text 4"/>
          <p:cNvSpPr/>
          <p:nvPr/>
        </p:nvSpPr>
        <p:spPr>
          <a:xfrm>
            <a:off x="868680" y="1481328"/>
            <a:ext cx="10607040" cy="256032"/>
          </a:xfrm>
          <a:prstGeom prst="rect">
            <a:avLst/>
          </a:prstGeom>
          <a:noFill/>
          <a:ln/>
        </p:spPr>
        <p:txBody>
          <a:bodyPr wrap="square" lIns="0" tIns="0" rIns="0" bIns="0" rtlCol="0" anchor="ctr"/>
          <a:lstStyle/>
          <a:p>
            <a:pPr indent="0" marL="0">
              <a:buNone/>
            </a:pPr>
            <a:r>
              <a:rPr lang="en-US" sz="1260" b="1" dirty="0">
                <a:solidFill>
                  <a:srgbClr val="2B2A26"/>
                </a:solidFill>
                <a:latin typeface="Cambria" pitchFamily="34" charset="0"/>
                <a:ea typeface="Cambria" pitchFamily="34" charset="-122"/>
                <a:cs typeface="Cambria" pitchFamily="34" charset="-120"/>
              </a:rPr>
              <a:t>1 · Raw 12-station data</a:t>
            </a:r>
            <a:endParaRPr lang="en-US" sz="1260" dirty="0"/>
          </a:p>
        </p:txBody>
      </p:sp>
      <p:sp>
        <p:nvSpPr>
          <p:cNvPr id="7" name="Text 5"/>
          <p:cNvSpPr/>
          <p:nvPr/>
        </p:nvSpPr>
        <p:spPr>
          <a:xfrm>
            <a:off x="868680" y="1856232"/>
            <a:ext cx="10607040" cy="329184"/>
          </a:xfrm>
          <a:prstGeom prst="rect">
            <a:avLst/>
          </a:prstGeom>
          <a:noFill/>
          <a:ln/>
        </p:spPr>
        <p:txBody>
          <a:bodyPr wrap="square" lIns="254" tIns="254" rIns="254" bIns="254" rtlCol="0" anchor="t">
            <a:normAutofit/>
          </a:bodyPr>
          <a:lstStyle/>
          <a:p>
            <a:pPr indent="0" marL="0">
              <a:buNone/>
            </a:pPr>
            <a:r>
              <a:rPr lang="en-US" sz="1040" dirty="0">
                <a:solidFill>
                  <a:srgbClr val="6E6658"/>
                </a:solidFill>
                <a:latin typeface="Calibri" pitchFamily="34" charset="0"/>
                <a:ea typeface="Calibri" pitchFamily="34" charset="-122"/>
                <a:cs typeface="Calibri" pitchFamily="34" charset="-120"/>
              </a:rPr>
              <a:t>420,768 hourly records are combined after verifying a common schema and unique station timestamps.</a:t>
            </a:r>
            <a:endParaRPr lang="en-US" sz="1040" dirty="0"/>
          </a:p>
        </p:txBody>
      </p:sp>
      <p:sp>
        <p:nvSpPr>
          <p:cNvPr id="8" name="Shape 6"/>
          <p:cNvSpPr/>
          <p:nvPr/>
        </p:nvSpPr>
        <p:spPr>
          <a:xfrm>
            <a:off x="685800" y="2487168"/>
            <a:ext cx="10972800" cy="987552"/>
          </a:xfrm>
          <a:prstGeom prst="rect">
            <a:avLst/>
          </a:prstGeom>
          <a:solidFill>
            <a:srgbClr val="F2EEE6"/>
          </a:solidFill>
          <a:ln w="12700">
            <a:solidFill>
              <a:srgbClr val="F2EEE6"/>
            </a:solidFill>
            <a:prstDash val="solid"/>
          </a:ln>
        </p:spPr>
      </p:sp>
      <p:sp>
        <p:nvSpPr>
          <p:cNvPr id="9" name="Text 7"/>
          <p:cNvSpPr/>
          <p:nvPr/>
        </p:nvSpPr>
        <p:spPr>
          <a:xfrm>
            <a:off x="868680" y="2642616"/>
            <a:ext cx="10607040" cy="256032"/>
          </a:xfrm>
          <a:prstGeom prst="rect">
            <a:avLst/>
          </a:prstGeom>
          <a:noFill/>
          <a:ln/>
        </p:spPr>
        <p:txBody>
          <a:bodyPr wrap="square" lIns="0" tIns="0" rIns="0" bIns="0" rtlCol="0" anchor="ctr"/>
          <a:lstStyle/>
          <a:p>
            <a:pPr indent="0" marL="0">
              <a:buNone/>
            </a:pPr>
            <a:r>
              <a:rPr lang="en-US" sz="1260" b="1" dirty="0">
                <a:solidFill>
                  <a:srgbClr val="2B2A26"/>
                </a:solidFill>
                <a:latin typeface="Cambria" pitchFamily="34" charset="0"/>
                <a:ea typeface="Cambria" pitchFamily="34" charset="-122"/>
                <a:cs typeface="Cambria" pitchFamily="34" charset="-120"/>
              </a:rPr>
              <a:t>2 · Engineer 17 features</a:t>
            </a:r>
            <a:endParaRPr lang="en-US" sz="1260" dirty="0"/>
          </a:p>
        </p:txBody>
      </p:sp>
      <p:sp>
        <p:nvSpPr>
          <p:cNvPr id="10" name="Text 8"/>
          <p:cNvSpPr/>
          <p:nvPr/>
        </p:nvSpPr>
        <p:spPr>
          <a:xfrm>
            <a:off x="868680" y="3017520"/>
            <a:ext cx="10607040" cy="329184"/>
          </a:xfrm>
          <a:prstGeom prst="rect">
            <a:avLst/>
          </a:prstGeom>
          <a:noFill/>
          <a:ln/>
        </p:spPr>
        <p:txBody>
          <a:bodyPr wrap="square" lIns="254" tIns="254" rIns="254" bIns="254" rtlCol="0" anchor="t">
            <a:normAutofit/>
          </a:bodyPr>
          <a:lstStyle/>
          <a:p>
            <a:pPr indent="0" marL="0">
              <a:buNone/>
            </a:pPr>
            <a:r>
              <a:rPr lang="en-US" sz="1040" dirty="0">
                <a:solidFill>
                  <a:srgbClr val="6E6658"/>
                </a:solidFill>
                <a:latin typeface="Calibri" pitchFamily="34" charset="0"/>
                <a:ea typeface="Calibri" pitchFamily="34" charset="-122"/>
                <a:cs typeface="Calibri" pitchFamily="34" charset="-120"/>
              </a:rPr>
              <a:t>Six pollutants → log1p; hour, month and wind direction → cyclic sin/cos; weather variables retained.</a:t>
            </a:r>
            <a:endParaRPr lang="en-US" sz="1040" dirty="0"/>
          </a:p>
        </p:txBody>
      </p:sp>
      <p:sp>
        <p:nvSpPr>
          <p:cNvPr id="11" name="Shape 9"/>
          <p:cNvSpPr/>
          <p:nvPr/>
        </p:nvSpPr>
        <p:spPr>
          <a:xfrm>
            <a:off x="685800" y="3648456"/>
            <a:ext cx="10972800" cy="987552"/>
          </a:xfrm>
          <a:prstGeom prst="rect">
            <a:avLst/>
          </a:prstGeom>
          <a:solidFill>
            <a:srgbClr val="EAE3D6"/>
          </a:solidFill>
          <a:ln w="12700">
            <a:solidFill>
              <a:srgbClr val="EAE3D6"/>
            </a:solidFill>
            <a:prstDash val="solid"/>
          </a:ln>
        </p:spPr>
      </p:sp>
      <p:sp>
        <p:nvSpPr>
          <p:cNvPr id="12" name="Text 10"/>
          <p:cNvSpPr/>
          <p:nvPr/>
        </p:nvSpPr>
        <p:spPr>
          <a:xfrm>
            <a:off x="868680" y="3803904"/>
            <a:ext cx="10607040" cy="256032"/>
          </a:xfrm>
          <a:prstGeom prst="rect">
            <a:avLst/>
          </a:prstGeom>
          <a:noFill/>
          <a:ln/>
        </p:spPr>
        <p:txBody>
          <a:bodyPr wrap="square" lIns="0" tIns="0" rIns="0" bIns="0" rtlCol="0" anchor="ctr"/>
          <a:lstStyle/>
          <a:p>
            <a:pPr indent="0" marL="0">
              <a:buNone/>
            </a:pPr>
            <a:r>
              <a:rPr lang="en-US" sz="1260" b="1" dirty="0">
                <a:solidFill>
                  <a:srgbClr val="2B2A26"/>
                </a:solidFill>
                <a:latin typeface="Cambria" pitchFamily="34" charset="0"/>
                <a:ea typeface="Cambria" pitchFamily="34" charset="-122"/>
                <a:cs typeface="Cambria" pitchFamily="34" charset="-120"/>
              </a:rPr>
              <a:t>3 · Impute + scale</a:t>
            </a:r>
            <a:endParaRPr lang="en-US" sz="1260" dirty="0"/>
          </a:p>
        </p:txBody>
      </p:sp>
      <p:sp>
        <p:nvSpPr>
          <p:cNvPr id="13" name="Text 11"/>
          <p:cNvSpPr/>
          <p:nvPr/>
        </p:nvSpPr>
        <p:spPr>
          <a:xfrm>
            <a:off x="868680" y="4178808"/>
            <a:ext cx="10607040" cy="329184"/>
          </a:xfrm>
          <a:prstGeom prst="rect">
            <a:avLst/>
          </a:prstGeom>
          <a:noFill/>
          <a:ln/>
        </p:spPr>
        <p:txBody>
          <a:bodyPr wrap="square" lIns="254" tIns="254" rIns="254" bIns="254" rtlCol="0" anchor="t">
            <a:normAutofit/>
          </a:bodyPr>
          <a:lstStyle/>
          <a:p>
            <a:pPr indent="0" marL="0">
              <a:buNone/>
            </a:pPr>
            <a:r>
              <a:rPr lang="en-US" sz="1040" dirty="0">
                <a:solidFill>
                  <a:srgbClr val="6E6658"/>
                </a:solidFill>
                <a:latin typeface="Calibri" pitchFamily="34" charset="0"/>
                <a:ea typeface="Calibri" pitchFamily="34" charset="-122"/>
                <a:cs typeface="Calibri" pitchFamily="34" charset="-120"/>
              </a:rPr>
              <a:t>SimpleImputer(strategy="median") followed by StandardScaler. No target label is introduced.</a:t>
            </a:r>
            <a:endParaRPr lang="en-US" sz="1040" dirty="0"/>
          </a:p>
        </p:txBody>
      </p:sp>
      <p:sp>
        <p:nvSpPr>
          <p:cNvPr id="14" name="Shape 12"/>
          <p:cNvSpPr/>
          <p:nvPr/>
        </p:nvSpPr>
        <p:spPr>
          <a:xfrm>
            <a:off x="685800" y="4809744"/>
            <a:ext cx="10972800" cy="987552"/>
          </a:xfrm>
          <a:prstGeom prst="rect">
            <a:avLst/>
          </a:prstGeom>
          <a:solidFill>
            <a:srgbClr val="F2EEE6"/>
          </a:solidFill>
          <a:ln w="12700">
            <a:solidFill>
              <a:srgbClr val="F2EEE6"/>
            </a:solidFill>
            <a:prstDash val="solid"/>
          </a:ln>
        </p:spPr>
      </p:sp>
      <p:sp>
        <p:nvSpPr>
          <p:cNvPr id="15" name="Text 13"/>
          <p:cNvSpPr/>
          <p:nvPr/>
        </p:nvSpPr>
        <p:spPr>
          <a:xfrm>
            <a:off x="868680" y="4965192"/>
            <a:ext cx="10607040" cy="256032"/>
          </a:xfrm>
          <a:prstGeom prst="rect">
            <a:avLst/>
          </a:prstGeom>
          <a:noFill/>
          <a:ln/>
        </p:spPr>
        <p:txBody>
          <a:bodyPr wrap="square" lIns="0" tIns="0" rIns="0" bIns="0" rtlCol="0" anchor="ctr"/>
          <a:lstStyle/>
          <a:p>
            <a:pPr indent="0" marL="0">
              <a:buNone/>
            </a:pPr>
            <a:r>
              <a:rPr lang="en-US" sz="1260" b="1" dirty="0">
                <a:solidFill>
                  <a:srgbClr val="2B2A26"/>
                </a:solidFill>
                <a:latin typeface="Cambria" pitchFamily="34" charset="0"/>
                <a:ea typeface="Cambria" pitchFamily="34" charset="-122"/>
                <a:cs typeface="Cambria" pitchFamily="34" charset="-120"/>
              </a:rPr>
              <a:t>4 · Fit / compare fairly</a:t>
            </a:r>
            <a:endParaRPr lang="en-US" sz="1260" dirty="0"/>
          </a:p>
        </p:txBody>
      </p:sp>
      <p:sp>
        <p:nvSpPr>
          <p:cNvPr id="16" name="Text 14"/>
          <p:cNvSpPr/>
          <p:nvPr/>
        </p:nvSpPr>
        <p:spPr>
          <a:xfrm>
            <a:off x="868680" y="5340096"/>
            <a:ext cx="10607040" cy="329184"/>
          </a:xfrm>
          <a:prstGeom prst="rect">
            <a:avLst/>
          </a:prstGeom>
          <a:noFill/>
          <a:ln/>
        </p:spPr>
        <p:txBody>
          <a:bodyPr wrap="square" lIns="254" tIns="254" rIns="254" bIns="254" rtlCol="0" anchor="t">
            <a:normAutofit/>
          </a:bodyPr>
          <a:lstStyle/>
          <a:p>
            <a:pPr indent="0" marL="0">
              <a:buNone/>
            </a:pPr>
            <a:r>
              <a:rPr lang="en-US" sz="1040" dirty="0">
                <a:solidFill>
                  <a:srgbClr val="6E6658"/>
                </a:solidFill>
                <a:latin typeface="Calibri" pitchFamily="34" charset="0"/>
                <a:ea typeface="Calibri" pitchFamily="34" charset="-122"/>
                <a:cs typeface="Calibri" pitchFamily="34" charset="-120"/>
              </a:rPr>
              <a:t>K-Means fits all 420,768 rows. Final K-Means and Ward metrics are computed on the same reproducible 3,000-row sample.</a:t>
            </a:r>
            <a:endParaRPr lang="en-US" sz="1040" dirty="0"/>
          </a:p>
        </p:txBody>
      </p:sp>
      <p:sp>
        <p:nvSpPr>
          <p:cNvPr id="17" name="Text 15"/>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Current implementation: src/clustering.py · preprocessing + common-sample comparison.</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B · K-MEANS</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K-Means clustering — how the project uses it</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B · K-Means</a:t>
            </a:r>
            <a:endParaRPr lang="en-US" sz="900" dirty="0"/>
          </a:p>
        </p:txBody>
      </p:sp>
      <p:sp>
        <p:nvSpPr>
          <p:cNvPr id="5" name="Shape 3"/>
          <p:cNvSpPr/>
          <p:nvPr/>
        </p:nvSpPr>
        <p:spPr>
          <a:xfrm>
            <a:off x="594360" y="1371600"/>
            <a:ext cx="3474720" cy="3566160"/>
          </a:xfrm>
          <a:prstGeom prst="rect">
            <a:avLst/>
          </a:prstGeom>
          <a:solidFill>
            <a:srgbClr val="EAE3D6"/>
          </a:solidFill>
          <a:ln w="12700">
            <a:solidFill>
              <a:srgbClr val="EAE3D6"/>
            </a:solidFill>
            <a:prstDash val="solid"/>
          </a:ln>
        </p:spPr>
      </p:sp>
      <p:sp>
        <p:nvSpPr>
          <p:cNvPr id="6" name="Text 4"/>
          <p:cNvSpPr/>
          <p:nvPr/>
        </p:nvSpPr>
        <p:spPr>
          <a:xfrm>
            <a:off x="777240" y="152704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1. Choose candidate K</a:t>
            </a:r>
            <a:endParaRPr lang="en-US" sz="1400" dirty="0"/>
          </a:p>
        </p:txBody>
      </p:sp>
      <p:sp>
        <p:nvSpPr>
          <p:cNvPr id="7" name="Text 5"/>
          <p:cNvSpPr/>
          <p:nvPr/>
        </p:nvSpPr>
        <p:spPr>
          <a:xfrm>
            <a:off x="777240" y="1901952"/>
            <a:ext cx="3108960" cy="290779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Candidate K values: 2 through 7.</a:t>
            </a:r>
            <a:endParaRPr lang="en-US" sz="1100" dirty="0"/>
          </a:p>
          <a:p>
            <a:pPr indent="0" marL="0">
              <a:buNone/>
            </a:pP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A reproducible 12,000-row selection sample is used for efficient K testing. A 1,500-row subset is used for candidate silhouette scoring.</a:t>
            </a:r>
            <a:endParaRPr lang="en-US" sz="1100" dirty="0"/>
          </a:p>
          <a:p>
            <a:pPr indent="0" marL="0">
              <a:buNone/>
            </a:pP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The highest candidate silhouette occurs at K = 3.</a:t>
            </a:r>
            <a:endParaRPr lang="en-US" sz="1100" dirty="0"/>
          </a:p>
        </p:txBody>
      </p:sp>
      <p:sp>
        <p:nvSpPr>
          <p:cNvPr id="8" name="Shape 6"/>
          <p:cNvSpPr/>
          <p:nvPr/>
        </p:nvSpPr>
        <p:spPr>
          <a:xfrm>
            <a:off x="4343400" y="1371600"/>
            <a:ext cx="3474720" cy="3566160"/>
          </a:xfrm>
          <a:prstGeom prst="rect">
            <a:avLst/>
          </a:prstGeom>
          <a:solidFill>
            <a:srgbClr val="EAE3D6"/>
          </a:solidFill>
          <a:ln w="12700">
            <a:solidFill>
              <a:srgbClr val="EAE3D6"/>
            </a:solidFill>
            <a:prstDash val="solid"/>
          </a:ln>
        </p:spPr>
      </p:sp>
      <p:sp>
        <p:nvSpPr>
          <p:cNvPr id="9" name="Text 7"/>
          <p:cNvSpPr/>
          <p:nvPr/>
        </p:nvSpPr>
        <p:spPr>
          <a:xfrm>
            <a:off x="4526280" y="152704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2. Fit the final model</a:t>
            </a:r>
            <a:endParaRPr lang="en-US" sz="1400" dirty="0"/>
          </a:p>
        </p:txBody>
      </p:sp>
      <p:sp>
        <p:nvSpPr>
          <p:cNvPr id="10" name="Text 8"/>
          <p:cNvSpPr/>
          <p:nvPr/>
        </p:nvSpPr>
        <p:spPr>
          <a:xfrm>
            <a:off x="4526280" y="1901952"/>
            <a:ext cx="3108960" cy="290779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Final K-Means uses:</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 n_clusters = 3</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 n_init = 10</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 random_state = 42</a:t>
            </a:r>
            <a:endParaRPr lang="en-US" sz="1100" dirty="0"/>
          </a:p>
          <a:p>
            <a:pPr indent="0" marL="0">
              <a:buNone/>
            </a:pP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After K is chosen, K-Means is fitted on the complete 420,768-row standardized feature matrix.</a:t>
            </a:r>
            <a:endParaRPr lang="en-US" sz="1100" dirty="0"/>
          </a:p>
        </p:txBody>
      </p:sp>
      <p:sp>
        <p:nvSpPr>
          <p:cNvPr id="11" name="Shape 9"/>
          <p:cNvSpPr/>
          <p:nvPr/>
        </p:nvSpPr>
        <p:spPr>
          <a:xfrm>
            <a:off x="8092440" y="1371600"/>
            <a:ext cx="3474720" cy="3566160"/>
          </a:xfrm>
          <a:prstGeom prst="rect">
            <a:avLst/>
          </a:prstGeom>
          <a:solidFill>
            <a:srgbClr val="EAE3D6"/>
          </a:solidFill>
          <a:ln w="12700">
            <a:solidFill>
              <a:srgbClr val="EAE3D6"/>
            </a:solidFill>
            <a:prstDash val="solid"/>
          </a:ln>
        </p:spPr>
      </p:sp>
      <p:sp>
        <p:nvSpPr>
          <p:cNvPr id="12" name="Text 10"/>
          <p:cNvSpPr/>
          <p:nvPr/>
        </p:nvSpPr>
        <p:spPr>
          <a:xfrm>
            <a:off x="8275320" y="152704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3. Evaluate / interpret</a:t>
            </a:r>
            <a:endParaRPr lang="en-US" sz="1400" dirty="0"/>
          </a:p>
        </p:txBody>
      </p:sp>
      <p:sp>
        <p:nvSpPr>
          <p:cNvPr id="13" name="Text 11"/>
          <p:cNvSpPr/>
          <p:nvPr/>
        </p:nvSpPr>
        <p:spPr>
          <a:xfrm>
            <a:off x="8275320" y="1901952"/>
            <a:ext cx="3108960" cy="290779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A common reproducible 3,000-row subset is used for the final K-Means vs Ward metric comparison.</a:t>
            </a:r>
            <a:endParaRPr lang="en-US" sz="1100" dirty="0"/>
          </a:p>
          <a:p>
            <a:pPr indent="0" marL="0">
              <a:buNone/>
            </a:pP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Cluster profiles are calculated back in original pollutant/weather measurement units for interpretation.</a:t>
            </a:r>
            <a:endParaRPr lang="en-US" sz="1100" dirty="0"/>
          </a:p>
        </p:txBody>
      </p:sp>
      <p:sp>
        <p:nvSpPr>
          <p:cNvPr id="14" name="Text 12"/>
          <p:cNvSpPr/>
          <p:nvPr/>
        </p:nvSpPr>
        <p:spPr>
          <a:xfrm>
            <a:off x="685800" y="5230368"/>
            <a:ext cx="1828800" cy="566928"/>
          </a:xfrm>
          <a:prstGeom prst="rect">
            <a:avLst/>
          </a:prstGeom>
          <a:noFill/>
          <a:ln/>
        </p:spPr>
        <p:txBody>
          <a:bodyPr wrap="square" lIns="0" tIns="0" rIns="0" bIns="0" rtlCol="0" anchor="ctr"/>
          <a:lstStyle/>
          <a:p>
            <a:pPr algn="l" indent="0" marL="0">
              <a:buNone/>
            </a:pPr>
            <a:r>
              <a:rPr lang="en-US" sz="3400" b="1" dirty="0">
                <a:solidFill>
                  <a:srgbClr val="A4613C"/>
                </a:solidFill>
                <a:latin typeface="Cambria" pitchFamily="34" charset="0"/>
                <a:ea typeface="Cambria" pitchFamily="34" charset="-122"/>
                <a:cs typeface="Cambria" pitchFamily="34" charset="-120"/>
              </a:rPr>
              <a:t>K = 3</a:t>
            </a:r>
            <a:endParaRPr lang="en-US" sz="3400" dirty="0"/>
          </a:p>
        </p:txBody>
      </p:sp>
      <p:sp>
        <p:nvSpPr>
          <p:cNvPr id="15" name="Text 13"/>
          <p:cNvSpPr/>
          <p:nvPr/>
        </p:nvSpPr>
        <p:spPr>
          <a:xfrm>
            <a:off x="685800" y="5797296"/>
            <a:ext cx="1828800" cy="384048"/>
          </a:xfrm>
          <a:prstGeom prst="rect">
            <a:avLst/>
          </a:prstGeom>
          <a:noFill/>
          <a:ln/>
        </p:spPr>
        <p:txBody>
          <a:bodyPr wrap="square" lIns="0" tIns="0" rIns="0" bIns="0" rtlCol="0" anchor="ctr"/>
          <a:lstStyle/>
          <a:p>
            <a:pPr indent="0" marL="0">
              <a:buNone/>
            </a:pPr>
            <a:r>
              <a:rPr lang="en-US" sz="1020" dirty="0">
                <a:solidFill>
                  <a:srgbClr val="6E6658"/>
                </a:solidFill>
                <a:latin typeface="Calibri" pitchFamily="34" charset="0"/>
                <a:ea typeface="Calibri" pitchFamily="34" charset="-122"/>
                <a:cs typeface="Calibri" pitchFamily="34" charset="-120"/>
              </a:rPr>
              <a:t>selected cluster count</a:t>
            </a:r>
            <a:endParaRPr lang="en-US" sz="1020" dirty="0"/>
          </a:p>
        </p:txBody>
      </p:sp>
      <p:sp>
        <p:nvSpPr>
          <p:cNvPr id="16" name="Text 14"/>
          <p:cNvSpPr/>
          <p:nvPr/>
        </p:nvSpPr>
        <p:spPr>
          <a:xfrm>
            <a:off x="3154680" y="5230368"/>
            <a:ext cx="1920240" cy="566928"/>
          </a:xfrm>
          <a:prstGeom prst="rect">
            <a:avLst/>
          </a:prstGeom>
          <a:noFill/>
          <a:ln/>
        </p:spPr>
        <p:txBody>
          <a:bodyPr wrap="square" lIns="0" tIns="0" rIns="0" bIns="0" rtlCol="0" anchor="ctr"/>
          <a:lstStyle/>
          <a:p>
            <a:pPr algn="l" indent="0" marL="0">
              <a:buNone/>
            </a:pPr>
            <a:r>
              <a:rPr lang="en-US" sz="3400" b="1" dirty="0">
                <a:solidFill>
                  <a:srgbClr val="77856B"/>
                </a:solidFill>
                <a:latin typeface="Cambria" pitchFamily="34" charset="0"/>
                <a:ea typeface="Cambria" pitchFamily="34" charset="-122"/>
                <a:cs typeface="Cambria" pitchFamily="34" charset="-120"/>
              </a:rPr>
              <a:t>420,768</a:t>
            </a:r>
            <a:endParaRPr lang="en-US" sz="3400" dirty="0"/>
          </a:p>
        </p:txBody>
      </p:sp>
      <p:sp>
        <p:nvSpPr>
          <p:cNvPr id="17" name="Text 15"/>
          <p:cNvSpPr/>
          <p:nvPr/>
        </p:nvSpPr>
        <p:spPr>
          <a:xfrm>
            <a:off x="3154680" y="5797296"/>
            <a:ext cx="1920240" cy="384048"/>
          </a:xfrm>
          <a:prstGeom prst="rect">
            <a:avLst/>
          </a:prstGeom>
          <a:noFill/>
          <a:ln/>
        </p:spPr>
        <p:txBody>
          <a:bodyPr wrap="square" lIns="0" tIns="0" rIns="0" bIns="0" rtlCol="0" anchor="ctr"/>
          <a:lstStyle/>
          <a:p>
            <a:pPr indent="0" marL="0">
              <a:buNone/>
            </a:pPr>
            <a:r>
              <a:rPr lang="en-US" sz="1020" dirty="0">
                <a:solidFill>
                  <a:srgbClr val="6E6658"/>
                </a:solidFill>
                <a:latin typeface="Calibri" pitchFamily="34" charset="0"/>
                <a:ea typeface="Calibri" pitchFamily="34" charset="-122"/>
                <a:cs typeface="Calibri" pitchFamily="34" charset="-120"/>
              </a:rPr>
              <a:t>rows in final K-Means fit</a:t>
            </a:r>
            <a:endParaRPr lang="en-US" sz="1020" dirty="0"/>
          </a:p>
        </p:txBody>
      </p:sp>
      <p:sp>
        <p:nvSpPr>
          <p:cNvPr id="18" name="Text 16"/>
          <p:cNvSpPr/>
          <p:nvPr/>
        </p:nvSpPr>
        <p:spPr>
          <a:xfrm>
            <a:off x="5989320" y="5230368"/>
            <a:ext cx="1828800" cy="566928"/>
          </a:xfrm>
          <a:prstGeom prst="rect">
            <a:avLst/>
          </a:prstGeom>
          <a:noFill/>
          <a:ln/>
        </p:spPr>
        <p:txBody>
          <a:bodyPr wrap="square" lIns="0" tIns="0" rIns="0" bIns="0" rtlCol="0" anchor="ctr"/>
          <a:lstStyle/>
          <a:p>
            <a:pPr algn="l" indent="0" marL="0">
              <a:buNone/>
            </a:pPr>
            <a:r>
              <a:rPr lang="en-US" sz="3400" b="1" dirty="0">
                <a:solidFill>
                  <a:srgbClr val="77856B"/>
                </a:solidFill>
                <a:latin typeface="Cambria" pitchFamily="34" charset="0"/>
                <a:ea typeface="Cambria" pitchFamily="34" charset="-122"/>
                <a:cs typeface="Cambria" pitchFamily="34" charset="-120"/>
              </a:rPr>
              <a:t>3,000</a:t>
            </a:r>
            <a:endParaRPr lang="en-US" sz="3400" dirty="0"/>
          </a:p>
        </p:txBody>
      </p:sp>
      <p:sp>
        <p:nvSpPr>
          <p:cNvPr id="19" name="Text 17"/>
          <p:cNvSpPr/>
          <p:nvPr/>
        </p:nvSpPr>
        <p:spPr>
          <a:xfrm>
            <a:off x="5989320" y="5797296"/>
            <a:ext cx="1828800" cy="384048"/>
          </a:xfrm>
          <a:prstGeom prst="rect">
            <a:avLst/>
          </a:prstGeom>
          <a:noFill/>
          <a:ln/>
        </p:spPr>
        <p:txBody>
          <a:bodyPr wrap="square" lIns="0" tIns="0" rIns="0" bIns="0" rtlCol="0" anchor="ctr"/>
          <a:lstStyle/>
          <a:p>
            <a:pPr indent="0" marL="0">
              <a:buNone/>
            </a:pPr>
            <a:r>
              <a:rPr lang="en-US" sz="1020" dirty="0">
                <a:solidFill>
                  <a:srgbClr val="6E6658"/>
                </a:solidFill>
                <a:latin typeface="Calibri" pitchFamily="34" charset="0"/>
                <a:ea typeface="Calibri" pitchFamily="34" charset="-122"/>
                <a:cs typeface="Calibri" pitchFamily="34" charset="-120"/>
              </a:rPr>
              <a:t>fair comparison rows</a:t>
            </a:r>
            <a:endParaRPr lang="en-US" sz="1020" dirty="0"/>
          </a:p>
        </p:txBody>
      </p:sp>
      <p:sp>
        <p:nvSpPr>
          <p:cNvPr id="20" name="Text 18"/>
          <p:cNvSpPr/>
          <p:nvPr/>
        </p:nvSpPr>
        <p:spPr>
          <a:xfrm>
            <a:off x="8503920" y="5230368"/>
            <a:ext cx="2011680" cy="566928"/>
          </a:xfrm>
          <a:prstGeom prst="rect">
            <a:avLst/>
          </a:prstGeom>
          <a:noFill/>
          <a:ln/>
        </p:spPr>
        <p:txBody>
          <a:bodyPr wrap="square" lIns="0" tIns="0" rIns="0" bIns="0" rtlCol="0" anchor="ctr"/>
          <a:lstStyle/>
          <a:p>
            <a:pPr algn="l" indent="0" marL="0">
              <a:buNone/>
            </a:pPr>
            <a:r>
              <a:rPr lang="en-US" sz="3400" b="1" dirty="0">
                <a:solidFill>
                  <a:srgbClr val="77856B"/>
                </a:solidFill>
                <a:latin typeface="Cambria" pitchFamily="34" charset="0"/>
                <a:ea typeface="Cambria" pitchFamily="34" charset="-122"/>
                <a:cs typeface="Cambria" pitchFamily="34" charset="-120"/>
              </a:rPr>
              <a:t>10</a:t>
            </a:r>
            <a:endParaRPr lang="en-US" sz="3400" dirty="0"/>
          </a:p>
        </p:txBody>
      </p:sp>
      <p:sp>
        <p:nvSpPr>
          <p:cNvPr id="21" name="Text 19"/>
          <p:cNvSpPr/>
          <p:nvPr/>
        </p:nvSpPr>
        <p:spPr>
          <a:xfrm>
            <a:off x="8503920" y="5797296"/>
            <a:ext cx="2011680" cy="384048"/>
          </a:xfrm>
          <a:prstGeom prst="rect">
            <a:avLst/>
          </a:prstGeom>
          <a:noFill/>
          <a:ln/>
        </p:spPr>
        <p:txBody>
          <a:bodyPr wrap="square" lIns="0" tIns="0" rIns="0" bIns="0" rtlCol="0" anchor="ctr"/>
          <a:lstStyle/>
          <a:p>
            <a:pPr indent="0" marL="0">
              <a:buNone/>
            </a:pPr>
            <a:r>
              <a:rPr lang="en-US" sz="1020" dirty="0">
                <a:solidFill>
                  <a:srgbClr val="6E6658"/>
                </a:solidFill>
                <a:latin typeface="Calibri" pitchFamily="34" charset="0"/>
                <a:ea typeface="Calibri" pitchFamily="34" charset="-122"/>
                <a:cs typeface="Calibri" pitchFamily="34" charset="-120"/>
              </a:rPr>
              <a:t>K-Means initialisations</a:t>
            </a:r>
            <a:endParaRPr lang="en-US" sz="1020" dirty="0"/>
          </a:p>
        </p:txBody>
      </p:sp>
      <p:sp>
        <p:nvSpPr>
          <p:cNvPr id="22" name="Text 20"/>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Exact run parameters: src/clustering.py.</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B · K-MEANS</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Selecting K — Elbow + candidate silhouette</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B · K-Means</a:t>
            </a:r>
            <a:endParaRPr lang="en-US" sz="900" dirty="0"/>
          </a:p>
        </p:txBody>
      </p:sp>
      <p:sp>
        <p:nvSpPr>
          <p:cNvPr id="5" name="Shape 3"/>
          <p:cNvSpPr/>
          <p:nvPr/>
        </p:nvSpPr>
        <p:spPr>
          <a:xfrm>
            <a:off x="566928" y="1325880"/>
            <a:ext cx="7461504" cy="4398264"/>
          </a:xfrm>
          <a:prstGeom prst="rect">
            <a:avLst/>
          </a:prstGeom>
          <a:solidFill>
            <a:srgbClr val="FFFFFF"/>
          </a:solidFill>
          <a:ln w="7620">
            <a:solidFill>
              <a:srgbClr val="D8D0C1"/>
            </a:solidFill>
            <a:prstDash val="solid"/>
          </a:ln>
        </p:spPr>
      </p:sp>
      <p:pic>
        <p:nvPicPr>
          <p:cNvPr id="6" name="Image 0" descr="/mnt/data/review2_perfect_assets/clustering_k_selection.png">    </p:cNvPr>
          <p:cNvPicPr>
            <a:picLocks noChangeAspect="1"/>
          </p:cNvPicPr>
          <p:nvPr/>
        </p:nvPicPr>
        <p:blipFill>
          <a:blip r:embed="rId1"/>
          <a:stretch>
            <a:fillRect/>
          </a:stretch>
        </p:blipFill>
        <p:spPr>
          <a:xfrm>
            <a:off x="594360" y="1353312"/>
            <a:ext cx="7406640" cy="4343400"/>
          </a:xfrm>
          <a:prstGeom prst="rect">
            <a:avLst/>
          </a:prstGeom>
        </p:spPr>
      </p:pic>
      <p:sp>
        <p:nvSpPr>
          <p:cNvPr id="7" name="Shape 4"/>
          <p:cNvSpPr/>
          <p:nvPr/>
        </p:nvSpPr>
        <p:spPr>
          <a:xfrm>
            <a:off x="8275320" y="1417320"/>
            <a:ext cx="3200400" cy="1325880"/>
          </a:xfrm>
          <a:prstGeom prst="rect">
            <a:avLst/>
          </a:prstGeom>
          <a:solidFill>
            <a:srgbClr val="EAE3D6"/>
          </a:solidFill>
          <a:ln w="12700">
            <a:solidFill>
              <a:srgbClr val="EAE3D6"/>
            </a:solidFill>
            <a:prstDash val="solid"/>
          </a:ln>
        </p:spPr>
      </p:sp>
      <p:sp>
        <p:nvSpPr>
          <p:cNvPr id="8" name="Text 5"/>
          <p:cNvSpPr/>
          <p:nvPr/>
        </p:nvSpPr>
        <p:spPr>
          <a:xfrm>
            <a:off x="8458200" y="1572768"/>
            <a:ext cx="283464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Why K = 3?</a:t>
            </a:r>
            <a:endParaRPr lang="en-US" sz="1400" dirty="0"/>
          </a:p>
        </p:txBody>
      </p:sp>
      <p:sp>
        <p:nvSpPr>
          <p:cNvPr id="9" name="Text 6"/>
          <p:cNvSpPr/>
          <p:nvPr/>
        </p:nvSpPr>
        <p:spPr>
          <a:xfrm>
            <a:off x="8458200" y="1947672"/>
            <a:ext cx="2834640" cy="66751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Candidate silhouette peaks at K=3 with 0.2074. Inertia also falls sharply from K=2 to K=3 before later improvements become smaller.</a:t>
            </a:r>
            <a:endParaRPr lang="en-US" sz="1100" dirty="0"/>
          </a:p>
        </p:txBody>
      </p:sp>
      <p:sp>
        <p:nvSpPr>
          <p:cNvPr id="10" name="Shape 7"/>
          <p:cNvSpPr/>
          <p:nvPr/>
        </p:nvSpPr>
        <p:spPr>
          <a:xfrm>
            <a:off x="8275320" y="2971800"/>
            <a:ext cx="3200400" cy="1143000"/>
          </a:xfrm>
          <a:prstGeom prst="rect">
            <a:avLst/>
          </a:prstGeom>
          <a:solidFill>
            <a:srgbClr val="EAE3D6"/>
          </a:solidFill>
          <a:ln w="12700">
            <a:solidFill>
              <a:srgbClr val="EAE3D6"/>
            </a:solidFill>
            <a:prstDash val="solid"/>
          </a:ln>
        </p:spPr>
      </p:sp>
      <p:sp>
        <p:nvSpPr>
          <p:cNvPr id="11" name="Text 8"/>
          <p:cNvSpPr/>
          <p:nvPr/>
        </p:nvSpPr>
        <p:spPr>
          <a:xfrm>
            <a:off x="8458200" y="3127248"/>
            <a:ext cx="283464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Exact candidate score</a:t>
            </a:r>
            <a:endParaRPr lang="en-US" sz="1400" dirty="0"/>
          </a:p>
        </p:txBody>
      </p:sp>
      <p:sp>
        <p:nvSpPr>
          <p:cNvPr id="12" name="Text 9"/>
          <p:cNvSpPr/>
          <p:nvPr/>
        </p:nvSpPr>
        <p:spPr>
          <a:xfrm>
            <a:off x="8458200" y="3502152"/>
            <a:ext cx="2834640" cy="48463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K=2: 0.1849</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K=3: 0.2074</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K=4: 0.1685</a:t>
            </a:r>
            <a:endParaRPr lang="en-US" sz="1100" dirty="0"/>
          </a:p>
        </p:txBody>
      </p:sp>
      <p:sp>
        <p:nvSpPr>
          <p:cNvPr id="13" name="Shape 10"/>
          <p:cNvSpPr/>
          <p:nvPr/>
        </p:nvSpPr>
        <p:spPr>
          <a:xfrm>
            <a:off x="8275320" y="4343400"/>
            <a:ext cx="3200400" cy="1325880"/>
          </a:xfrm>
          <a:prstGeom prst="rect">
            <a:avLst/>
          </a:prstGeom>
          <a:solidFill>
            <a:srgbClr val="EAE3D6"/>
          </a:solidFill>
          <a:ln w="12700">
            <a:solidFill>
              <a:srgbClr val="EAE3D6"/>
            </a:solidFill>
            <a:prstDash val="solid"/>
          </a:ln>
        </p:spPr>
      </p:sp>
      <p:sp>
        <p:nvSpPr>
          <p:cNvPr id="14" name="Text 11"/>
          <p:cNvSpPr/>
          <p:nvPr/>
        </p:nvSpPr>
        <p:spPr>
          <a:xfrm>
            <a:off x="8458200" y="4498848"/>
            <a:ext cx="283464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Important interpretation</a:t>
            </a:r>
            <a:endParaRPr lang="en-US" sz="1400" dirty="0"/>
          </a:p>
        </p:txBody>
      </p:sp>
      <p:sp>
        <p:nvSpPr>
          <p:cNvPr id="15" name="Text 12"/>
          <p:cNvSpPr/>
          <p:nvPr/>
        </p:nvSpPr>
        <p:spPr>
          <a:xfrm>
            <a:off x="8458200" y="4873752"/>
            <a:ext cx="2834640" cy="66751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The silhouette is modest rather than high. Air-quality conditions overlap continuously, so the clusters are useful environmental regimes, not perfectly separated natural classes.</a:t>
            </a:r>
            <a:endParaRPr lang="en-US" sz="1100" dirty="0"/>
          </a:p>
        </p:txBody>
      </p:sp>
      <p:sp>
        <p:nvSpPr>
          <p:cNvPr id="16" name="Text 13"/>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Verified current outputs: results/clustering_elbow.csv.</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B · K-MEANS</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Three discovered environmental profiles</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B · K-Means</a:t>
            </a:r>
            <a:endParaRPr lang="en-US" sz="900" dirty="0"/>
          </a:p>
        </p:txBody>
      </p:sp>
      <p:sp>
        <p:nvSpPr>
          <p:cNvPr id="5" name="Shape 3"/>
          <p:cNvSpPr/>
          <p:nvPr/>
        </p:nvSpPr>
        <p:spPr>
          <a:xfrm>
            <a:off x="566928" y="1271016"/>
            <a:ext cx="7278624" cy="3026664"/>
          </a:xfrm>
          <a:prstGeom prst="rect">
            <a:avLst/>
          </a:prstGeom>
          <a:solidFill>
            <a:srgbClr val="FFFFFF"/>
          </a:solidFill>
          <a:ln w="7620">
            <a:solidFill>
              <a:srgbClr val="D8D0C1"/>
            </a:solidFill>
            <a:prstDash val="solid"/>
          </a:ln>
        </p:spPr>
      </p:sp>
      <p:pic>
        <p:nvPicPr>
          <p:cNvPr id="6" name="Image 0" descr="/mnt/data/review2_perfect_assets/clustering_profiles_verified.png">    </p:cNvPr>
          <p:cNvPicPr>
            <a:picLocks noChangeAspect="1"/>
          </p:cNvPicPr>
          <p:nvPr/>
        </p:nvPicPr>
        <p:blipFill>
          <a:blip r:embed="rId1"/>
          <a:stretch>
            <a:fillRect/>
          </a:stretch>
        </p:blipFill>
        <p:spPr>
          <a:xfrm>
            <a:off x="594360" y="1298448"/>
            <a:ext cx="7223760" cy="2971800"/>
          </a:xfrm>
          <a:prstGeom prst="rect">
            <a:avLst/>
          </a:prstGeom>
        </p:spPr>
      </p:pic>
      <p:sp>
        <p:nvSpPr>
          <p:cNvPr id="7" name="Shape 4"/>
          <p:cNvSpPr/>
          <p:nvPr/>
        </p:nvSpPr>
        <p:spPr>
          <a:xfrm>
            <a:off x="594360" y="4498848"/>
            <a:ext cx="3429000" cy="1143000"/>
          </a:xfrm>
          <a:prstGeom prst="rect">
            <a:avLst/>
          </a:prstGeom>
          <a:solidFill>
            <a:srgbClr val="EAE3D6"/>
          </a:solidFill>
          <a:ln w="12700">
            <a:solidFill>
              <a:srgbClr val="EAE3D6"/>
            </a:solidFill>
            <a:prstDash val="solid"/>
          </a:ln>
        </p:spPr>
      </p:sp>
      <p:sp>
        <p:nvSpPr>
          <p:cNvPr id="8" name="Text 5"/>
          <p:cNvSpPr/>
          <p:nvPr/>
        </p:nvSpPr>
        <p:spPr>
          <a:xfrm>
            <a:off x="777240" y="4654296"/>
            <a:ext cx="306324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Cluster 0 · 139,243 rows</a:t>
            </a:r>
            <a:endParaRPr lang="en-US" sz="1400" dirty="0"/>
          </a:p>
        </p:txBody>
      </p:sp>
      <p:sp>
        <p:nvSpPr>
          <p:cNvPr id="9" name="Text 6"/>
          <p:cNvSpPr/>
          <p:nvPr/>
        </p:nvSpPr>
        <p:spPr>
          <a:xfrm>
            <a:off x="777240" y="5029200"/>
            <a:ext cx="3063240" cy="48463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Highest PM2.5 (138.8), PM10 (167.2), NO2 (83.4) and CO (2223.7); low O3 (16.8); low wind 1.19 m/s.</a:t>
            </a:r>
            <a:endParaRPr lang="en-US" sz="1100" dirty="0"/>
          </a:p>
        </p:txBody>
      </p:sp>
      <p:sp>
        <p:nvSpPr>
          <p:cNvPr id="10" name="Shape 7"/>
          <p:cNvSpPr/>
          <p:nvPr/>
        </p:nvSpPr>
        <p:spPr>
          <a:xfrm>
            <a:off x="4297680" y="4498848"/>
            <a:ext cx="3429000" cy="1143000"/>
          </a:xfrm>
          <a:prstGeom prst="rect">
            <a:avLst/>
          </a:prstGeom>
          <a:solidFill>
            <a:srgbClr val="EAE3D6"/>
          </a:solidFill>
          <a:ln w="12700">
            <a:solidFill>
              <a:srgbClr val="EAE3D6"/>
            </a:solidFill>
            <a:prstDash val="solid"/>
          </a:ln>
        </p:spPr>
      </p:sp>
      <p:sp>
        <p:nvSpPr>
          <p:cNvPr id="11" name="Text 8"/>
          <p:cNvSpPr/>
          <p:nvPr/>
        </p:nvSpPr>
        <p:spPr>
          <a:xfrm>
            <a:off x="4480560" y="4654296"/>
            <a:ext cx="306324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Cluster 1 · 190,158 rows</a:t>
            </a:r>
            <a:endParaRPr lang="en-US" sz="1400" dirty="0"/>
          </a:p>
        </p:txBody>
      </p:sp>
      <p:sp>
        <p:nvSpPr>
          <p:cNvPr id="12" name="Text 9"/>
          <p:cNvSpPr/>
          <p:nvPr/>
        </p:nvSpPr>
        <p:spPr>
          <a:xfrm>
            <a:off x="4480560" y="5029200"/>
            <a:ext cx="3063240" cy="48463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Warmest profile: TEMP 23.58°C, DEWP 14.28°C; highest O3 87.21; moderate particulate and combustion pollution.</a:t>
            </a:r>
            <a:endParaRPr lang="en-US" sz="1100" dirty="0"/>
          </a:p>
        </p:txBody>
      </p:sp>
      <p:sp>
        <p:nvSpPr>
          <p:cNvPr id="13" name="Shape 10"/>
          <p:cNvSpPr/>
          <p:nvPr/>
        </p:nvSpPr>
        <p:spPr>
          <a:xfrm>
            <a:off x="8092440" y="4498848"/>
            <a:ext cx="3429000" cy="1143000"/>
          </a:xfrm>
          <a:prstGeom prst="rect">
            <a:avLst/>
          </a:prstGeom>
          <a:solidFill>
            <a:srgbClr val="EAE3D6"/>
          </a:solidFill>
          <a:ln w="12700">
            <a:solidFill>
              <a:srgbClr val="EAE3D6"/>
            </a:solidFill>
            <a:prstDash val="solid"/>
          </a:ln>
        </p:spPr>
      </p:sp>
      <p:sp>
        <p:nvSpPr>
          <p:cNvPr id="14" name="Text 11"/>
          <p:cNvSpPr/>
          <p:nvPr/>
        </p:nvSpPr>
        <p:spPr>
          <a:xfrm>
            <a:off x="8275320" y="4654296"/>
            <a:ext cx="306324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Cluster 2 · 91,367 rows</a:t>
            </a:r>
            <a:endParaRPr lang="en-US" sz="1400" dirty="0"/>
          </a:p>
        </p:txBody>
      </p:sp>
      <p:sp>
        <p:nvSpPr>
          <p:cNvPr id="15" name="Text 12"/>
          <p:cNvSpPr/>
          <p:nvPr/>
        </p:nvSpPr>
        <p:spPr>
          <a:xfrm>
            <a:off x="8275320" y="5029200"/>
            <a:ext cx="3063240" cy="48463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Lowest PM2.5 15.62, PM10 36.46, NO2 22.55 and CO 425.45; highest wind speed 2.84 m/s.</a:t>
            </a:r>
            <a:endParaRPr lang="en-US" sz="1100" dirty="0"/>
          </a:p>
        </p:txBody>
      </p:sp>
      <p:sp>
        <p:nvSpPr>
          <p:cNvPr id="16" name="Text 13"/>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Exact profiles and cluster sizes: results/clustering_profiles.csv. Names are descriptive only — not official AQI classes.</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B · HIERARCHICAL</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Agglomerative clustering — linkage comparison</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B · Hierarchical</a:t>
            </a:r>
            <a:endParaRPr lang="en-US" sz="900" dirty="0"/>
          </a:p>
        </p:txBody>
      </p:sp>
      <p:sp>
        <p:nvSpPr>
          <p:cNvPr id="5" name="Shape 3"/>
          <p:cNvSpPr/>
          <p:nvPr/>
        </p:nvSpPr>
        <p:spPr>
          <a:xfrm>
            <a:off x="566928" y="1325880"/>
            <a:ext cx="7415784" cy="4032504"/>
          </a:xfrm>
          <a:prstGeom prst="rect">
            <a:avLst/>
          </a:prstGeom>
          <a:solidFill>
            <a:srgbClr val="FFFFFF"/>
          </a:solidFill>
          <a:ln w="7620">
            <a:solidFill>
              <a:srgbClr val="D8D0C1"/>
            </a:solidFill>
            <a:prstDash val="solid"/>
          </a:ln>
        </p:spPr>
      </p:sp>
      <p:pic>
        <p:nvPicPr>
          <p:cNvPr id="6" name="Image 0" descr="/mnt/data/review2_perfect_assets/clustering_linkage.png">    </p:cNvPr>
          <p:cNvPicPr>
            <a:picLocks noChangeAspect="1"/>
          </p:cNvPicPr>
          <p:nvPr/>
        </p:nvPicPr>
        <p:blipFill>
          <a:blip r:embed="rId1"/>
          <a:stretch>
            <a:fillRect/>
          </a:stretch>
        </p:blipFill>
        <p:spPr>
          <a:xfrm>
            <a:off x="594360" y="1353312"/>
            <a:ext cx="7360920" cy="3977640"/>
          </a:xfrm>
          <a:prstGeom prst="rect">
            <a:avLst/>
          </a:prstGeom>
        </p:spPr>
      </p:pic>
      <p:sp>
        <p:nvSpPr>
          <p:cNvPr id="7" name="Shape 4"/>
          <p:cNvSpPr/>
          <p:nvPr/>
        </p:nvSpPr>
        <p:spPr>
          <a:xfrm>
            <a:off x="8229600" y="1417320"/>
            <a:ext cx="3246120" cy="1143000"/>
          </a:xfrm>
          <a:prstGeom prst="rect">
            <a:avLst/>
          </a:prstGeom>
          <a:solidFill>
            <a:srgbClr val="EAE3D6"/>
          </a:solidFill>
          <a:ln w="12700">
            <a:solidFill>
              <a:srgbClr val="EAE3D6"/>
            </a:solidFill>
            <a:prstDash val="solid"/>
          </a:ln>
        </p:spPr>
      </p:sp>
      <p:sp>
        <p:nvSpPr>
          <p:cNvPr id="8" name="Text 5"/>
          <p:cNvSpPr/>
          <p:nvPr/>
        </p:nvSpPr>
        <p:spPr>
          <a:xfrm>
            <a:off x="8412480" y="1572768"/>
            <a:ext cx="28803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Ward</a:t>
            </a:r>
            <a:endParaRPr lang="en-US" sz="1400" dirty="0"/>
          </a:p>
        </p:txBody>
      </p:sp>
      <p:sp>
        <p:nvSpPr>
          <p:cNvPr id="9" name="Text 6"/>
          <p:cNvSpPr/>
          <p:nvPr/>
        </p:nvSpPr>
        <p:spPr>
          <a:xfrm>
            <a:off x="8412480" y="1947672"/>
            <a:ext cx="2880360" cy="48463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Silhouette 0.1710</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DB 1.6598</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CH 575.60</a:t>
            </a:r>
            <a:endParaRPr lang="en-US" sz="1100" dirty="0"/>
          </a:p>
        </p:txBody>
      </p:sp>
      <p:sp>
        <p:nvSpPr>
          <p:cNvPr id="10" name="Shape 7"/>
          <p:cNvSpPr/>
          <p:nvPr/>
        </p:nvSpPr>
        <p:spPr>
          <a:xfrm>
            <a:off x="8229600" y="2724912"/>
            <a:ext cx="3246120" cy="1143000"/>
          </a:xfrm>
          <a:prstGeom prst="rect">
            <a:avLst/>
          </a:prstGeom>
          <a:solidFill>
            <a:srgbClr val="EAE3D6"/>
          </a:solidFill>
          <a:ln w="12700">
            <a:solidFill>
              <a:srgbClr val="EAE3D6"/>
            </a:solidFill>
            <a:prstDash val="solid"/>
          </a:ln>
        </p:spPr>
      </p:sp>
      <p:sp>
        <p:nvSpPr>
          <p:cNvPr id="11" name="Text 8"/>
          <p:cNvSpPr/>
          <p:nvPr/>
        </p:nvSpPr>
        <p:spPr>
          <a:xfrm>
            <a:off x="8412480" y="2880360"/>
            <a:ext cx="28803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Complete</a:t>
            </a:r>
            <a:endParaRPr lang="en-US" sz="1400" dirty="0"/>
          </a:p>
        </p:txBody>
      </p:sp>
      <p:sp>
        <p:nvSpPr>
          <p:cNvPr id="12" name="Text 9"/>
          <p:cNvSpPr/>
          <p:nvPr/>
        </p:nvSpPr>
        <p:spPr>
          <a:xfrm>
            <a:off x="8412480" y="3255264"/>
            <a:ext cx="2880360" cy="48463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Silhouette 0.3162</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DB 0.7814</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CH 49.25</a:t>
            </a:r>
            <a:endParaRPr lang="en-US" sz="1100" dirty="0"/>
          </a:p>
        </p:txBody>
      </p:sp>
      <p:sp>
        <p:nvSpPr>
          <p:cNvPr id="13" name="Shape 10"/>
          <p:cNvSpPr/>
          <p:nvPr/>
        </p:nvSpPr>
        <p:spPr>
          <a:xfrm>
            <a:off x="8229600" y="4032504"/>
            <a:ext cx="3246120" cy="1143000"/>
          </a:xfrm>
          <a:prstGeom prst="rect">
            <a:avLst/>
          </a:prstGeom>
          <a:solidFill>
            <a:srgbClr val="EAE3D6"/>
          </a:solidFill>
          <a:ln w="12700">
            <a:solidFill>
              <a:srgbClr val="EAE3D6"/>
            </a:solidFill>
            <a:prstDash val="solid"/>
          </a:ln>
        </p:spPr>
      </p:sp>
      <p:sp>
        <p:nvSpPr>
          <p:cNvPr id="14" name="Text 11"/>
          <p:cNvSpPr/>
          <p:nvPr/>
        </p:nvSpPr>
        <p:spPr>
          <a:xfrm>
            <a:off x="8412480" y="4187952"/>
            <a:ext cx="28803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Average</a:t>
            </a:r>
            <a:endParaRPr lang="en-US" sz="1400" dirty="0"/>
          </a:p>
        </p:txBody>
      </p:sp>
      <p:sp>
        <p:nvSpPr>
          <p:cNvPr id="15" name="Text 12"/>
          <p:cNvSpPr/>
          <p:nvPr/>
        </p:nvSpPr>
        <p:spPr>
          <a:xfrm>
            <a:off x="8412480" y="4562856"/>
            <a:ext cx="2880360" cy="48463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Silhouette 0.3165</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DB 0.8024</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CH 47.75</a:t>
            </a:r>
            <a:endParaRPr lang="en-US" sz="1100" dirty="0"/>
          </a:p>
        </p:txBody>
      </p:sp>
      <p:sp>
        <p:nvSpPr>
          <p:cNvPr id="16" name="Shape 13"/>
          <p:cNvSpPr/>
          <p:nvPr/>
        </p:nvSpPr>
        <p:spPr>
          <a:xfrm>
            <a:off x="731520" y="5468112"/>
            <a:ext cx="10607040" cy="411480"/>
          </a:xfrm>
          <a:prstGeom prst="rect">
            <a:avLst/>
          </a:prstGeom>
          <a:solidFill>
            <a:srgbClr val="F2EEE6"/>
          </a:solidFill>
          <a:ln w="12700">
            <a:solidFill>
              <a:srgbClr val="F2EEE6"/>
            </a:solidFill>
            <a:prstDash val="solid"/>
          </a:ln>
        </p:spPr>
      </p:sp>
      <p:sp>
        <p:nvSpPr>
          <p:cNvPr id="17" name="Text 14"/>
          <p:cNvSpPr/>
          <p:nvPr/>
        </p:nvSpPr>
        <p:spPr>
          <a:xfrm>
            <a:off x="914400" y="5623560"/>
            <a:ext cx="10241280" cy="256032"/>
          </a:xfrm>
          <a:prstGeom prst="rect">
            <a:avLst/>
          </a:prstGeom>
          <a:noFill/>
          <a:ln/>
        </p:spPr>
        <p:txBody>
          <a:bodyPr wrap="square" lIns="0" tIns="0" rIns="0" bIns="0" rtlCol="0" anchor="ctr"/>
          <a:lstStyle/>
          <a:p>
            <a:pPr indent="0" marL="0">
              <a:buNone/>
            </a:pPr>
            <a:r>
              <a:rPr lang="en-US" sz="1020" b="1" dirty="0">
                <a:solidFill>
                  <a:srgbClr val="2B2A26"/>
                </a:solidFill>
                <a:latin typeface="Cambria" pitchFamily="34" charset="0"/>
                <a:ea typeface="Cambria" pitchFamily="34" charset="-122"/>
                <a:cs typeface="Cambria" pitchFamily="34" charset="-120"/>
              </a:rPr>
              <a:t>Why Ward is retained</a:t>
            </a:r>
            <a:endParaRPr lang="en-US" sz="1020" dirty="0"/>
          </a:p>
        </p:txBody>
      </p:sp>
      <p:sp>
        <p:nvSpPr>
          <p:cNvPr id="18" name="Text 15"/>
          <p:cNvSpPr/>
          <p:nvPr/>
        </p:nvSpPr>
        <p:spPr>
          <a:xfrm>
            <a:off x="914400" y="5998464"/>
            <a:ext cx="10241280" cy="-246888"/>
          </a:xfrm>
          <a:prstGeom prst="rect">
            <a:avLst/>
          </a:prstGeom>
          <a:noFill/>
          <a:ln/>
        </p:spPr>
        <p:txBody>
          <a:bodyPr wrap="square" lIns="254" tIns="254" rIns="254" bIns="254" rtlCol="0" anchor="t">
            <a:normAutofit/>
          </a:bodyPr>
          <a:lstStyle/>
          <a:p>
            <a:pPr indent="0" marL="0">
              <a:buNone/>
            </a:pPr>
            <a:r>
              <a:rPr lang="en-US" sz="830" dirty="0">
                <a:solidFill>
                  <a:srgbClr val="6E6658"/>
                </a:solidFill>
                <a:latin typeface="Calibri" pitchFamily="34" charset="0"/>
                <a:ea typeface="Calibri" pitchFamily="34" charset="-122"/>
                <a:cs typeface="Calibri" pitchFamily="34" charset="-120"/>
              </a:rPr>
              <a:t>Complete and Average score higher on silhouette/DB but collapse the Calinski–Harabasz score to ~49. The project keeps Ward for the compact-cluster comparison and reports the metric disagreement transparently.</a:t>
            </a:r>
            <a:endParaRPr lang="en-US" sz="830" dirty="0"/>
          </a:p>
        </p:txBody>
      </p:sp>
      <p:sp>
        <p:nvSpPr>
          <p:cNvPr id="19" name="Text 16"/>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Verified values: results/clustering_linkages.csv.</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B · HIERARCHICAL</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Dendrogram — hierarchical structure of the data</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B · Hierarchical</a:t>
            </a:r>
            <a:endParaRPr lang="en-US" sz="900" dirty="0"/>
          </a:p>
        </p:txBody>
      </p:sp>
      <p:sp>
        <p:nvSpPr>
          <p:cNvPr id="5" name="Shape 3"/>
          <p:cNvSpPr/>
          <p:nvPr/>
        </p:nvSpPr>
        <p:spPr>
          <a:xfrm>
            <a:off x="521208" y="1271016"/>
            <a:ext cx="7872984" cy="4626864"/>
          </a:xfrm>
          <a:prstGeom prst="rect">
            <a:avLst/>
          </a:prstGeom>
          <a:solidFill>
            <a:srgbClr val="FFFFFF"/>
          </a:solidFill>
          <a:ln w="7620">
            <a:solidFill>
              <a:srgbClr val="D8D0C1"/>
            </a:solidFill>
            <a:prstDash val="solid"/>
          </a:ln>
        </p:spPr>
      </p:sp>
      <p:pic>
        <p:nvPicPr>
          <p:cNvPr id="6" name="Image 0" descr="/mnt/data/review2_perfect_assets/clustering_dendrogram.png">    </p:cNvPr>
          <p:cNvPicPr>
            <a:picLocks noChangeAspect="1"/>
          </p:cNvPicPr>
          <p:nvPr/>
        </p:nvPicPr>
        <p:blipFill>
          <a:blip r:embed="rId1"/>
          <a:stretch>
            <a:fillRect/>
          </a:stretch>
        </p:blipFill>
        <p:spPr>
          <a:xfrm>
            <a:off x="548640" y="1298448"/>
            <a:ext cx="7818120" cy="4572000"/>
          </a:xfrm>
          <a:prstGeom prst="rect">
            <a:avLst/>
          </a:prstGeom>
        </p:spPr>
      </p:pic>
      <p:sp>
        <p:nvSpPr>
          <p:cNvPr id="7" name="Shape 4"/>
          <p:cNvSpPr/>
          <p:nvPr/>
        </p:nvSpPr>
        <p:spPr>
          <a:xfrm>
            <a:off x="8641080" y="1417320"/>
            <a:ext cx="2743200" cy="2148840"/>
          </a:xfrm>
          <a:prstGeom prst="rect">
            <a:avLst/>
          </a:prstGeom>
          <a:solidFill>
            <a:srgbClr val="EAE3D6"/>
          </a:solidFill>
          <a:ln w="12700">
            <a:solidFill>
              <a:srgbClr val="EAE3D6"/>
            </a:solidFill>
            <a:prstDash val="solid"/>
          </a:ln>
        </p:spPr>
      </p:sp>
      <p:sp>
        <p:nvSpPr>
          <p:cNvPr id="8" name="Text 5"/>
          <p:cNvSpPr/>
          <p:nvPr/>
        </p:nvSpPr>
        <p:spPr>
          <a:xfrm>
            <a:off x="8823960" y="1572768"/>
            <a:ext cx="237744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How to read it</a:t>
            </a:r>
            <a:endParaRPr lang="en-US" sz="1400" dirty="0"/>
          </a:p>
        </p:txBody>
      </p:sp>
      <p:sp>
        <p:nvSpPr>
          <p:cNvPr id="9" name="Text 6"/>
          <p:cNvSpPr/>
          <p:nvPr/>
        </p:nvSpPr>
        <p:spPr>
          <a:xfrm>
            <a:off x="8823960" y="1947672"/>
            <a:ext cx="2377440" cy="149047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Each leaf/group begins separately. Branches merge upward as Ward linkage combines the pair that causes the smallest increase in within-cluster variance. Higher merge height means more dissimilar groups.</a:t>
            </a:r>
            <a:endParaRPr lang="en-US" sz="1100" dirty="0"/>
          </a:p>
        </p:txBody>
      </p:sp>
      <p:sp>
        <p:nvSpPr>
          <p:cNvPr id="10" name="Shape 7"/>
          <p:cNvSpPr/>
          <p:nvPr/>
        </p:nvSpPr>
        <p:spPr>
          <a:xfrm>
            <a:off x="8641080" y="3840480"/>
            <a:ext cx="2743200" cy="1508760"/>
          </a:xfrm>
          <a:prstGeom prst="rect">
            <a:avLst/>
          </a:prstGeom>
          <a:solidFill>
            <a:srgbClr val="EAE3D6"/>
          </a:solidFill>
          <a:ln w="12700">
            <a:solidFill>
              <a:srgbClr val="EAE3D6"/>
            </a:solidFill>
            <a:prstDash val="solid"/>
          </a:ln>
        </p:spPr>
      </p:sp>
      <p:sp>
        <p:nvSpPr>
          <p:cNvPr id="11" name="Text 8"/>
          <p:cNvSpPr/>
          <p:nvPr/>
        </p:nvSpPr>
        <p:spPr>
          <a:xfrm>
            <a:off x="8823960" y="3995928"/>
            <a:ext cx="237744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Why show it?</a:t>
            </a:r>
            <a:endParaRPr lang="en-US" sz="1400" dirty="0"/>
          </a:p>
        </p:txBody>
      </p:sp>
      <p:sp>
        <p:nvSpPr>
          <p:cNvPr id="12" name="Text 9"/>
          <p:cNvSpPr/>
          <p:nvPr/>
        </p:nvSpPr>
        <p:spPr>
          <a:xfrm>
            <a:off x="8823960" y="4370832"/>
            <a:ext cx="2377440" cy="85039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The dendrogram exposes the hierarchy that K-Means does not provide and is the required visual evidence for Agglomerative Hierarchical Clustering.</a:t>
            </a:r>
            <a:endParaRPr lang="en-US" sz="1100" dirty="0"/>
          </a:p>
        </p:txBody>
      </p:sp>
      <p:sp>
        <p:nvSpPr>
          <p:cNvPr id="13" name="Text 10"/>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Dendrogram figure from the executed clustering notebook; current project uses Ward linkage for the final hierarchical comparison.</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B · RESULTS</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Fair model comparison — same 3,000 observations</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B · Results</a:t>
            </a:r>
            <a:endParaRPr lang="en-US" sz="900" dirty="0"/>
          </a:p>
        </p:txBody>
      </p:sp>
      <p:sp>
        <p:nvSpPr>
          <p:cNvPr id="5" name="Shape 3"/>
          <p:cNvSpPr/>
          <p:nvPr/>
        </p:nvSpPr>
        <p:spPr>
          <a:xfrm>
            <a:off x="566928" y="1298448"/>
            <a:ext cx="7050024" cy="3895344"/>
          </a:xfrm>
          <a:prstGeom prst="rect">
            <a:avLst/>
          </a:prstGeom>
          <a:solidFill>
            <a:srgbClr val="FFFFFF"/>
          </a:solidFill>
          <a:ln w="7620">
            <a:solidFill>
              <a:srgbClr val="D8D0C1"/>
            </a:solidFill>
            <a:prstDash val="solid"/>
          </a:ln>
        </p:spPr>
      </p:sp>
      <p:pic>
        <p:nvPicPr>
          <p:cNvPr id="6" name="Image 0" descr="/mnt/data/review2_perfect_assets/clustering_common_comparison.png">    </p:cNvPr>
          <p:cNvPicPr>
            <a:picLocks noChangeAspect="1"/>
          </p:cNvPicPr>
          <p:nvPr/>
        </p:nvPicPr>
        <p:blipFill>
          <a:blip r:embed="rId1"/>
          <a:stretch>
            <a:fillRect/>
          </a:stretch>
        </p:blipFill>
        <p:spPr>
          <a:xfrm>
            <a:off x="594360" y="1325880"/>
            <a:ext cx="6995160" cy="3840480"/>
          </a:xfrm>
          <a:prstGeom prst="rect">
            <a:avLst/>
          </a:prstGeom>
        </p:spPr>
      </p:pic>
      <p:sp>
        <p:nvSpPr>
          <p:cNvPr id="7" name="Shape 4"/>
          <p:cNvSpPr/>
          <p:nvPr/>
        </p:nvSpPr>
        <p:spPr>
          <a:xfrm>
            <a:off x="7863840" y="1463040"/>
            <a:ext cx="1325880" cy="472440"/>
          </a:xfrm>
          <a:prstGeom prst="rect">
            <a:avLst/>
          </a:prstGeom>
          <a:solidFill>
            <a:srgbClr val="2E322C"/>
          </a:solidFill>
          <a:ln w="6350">
            <a:solidFill>
              <a:srgbClr val="F6F2EA"/>
            </a:solidFill>
            <a:prstDash val="solid"/>
          </a:ln>
        </p:spPr>
      </p:sp>
      <p:sp>
        <p:nvSpPr>
          <p:cNvPr id="8" name="Text 5"/>
          <p:cNvSpPr/>
          <p:nvPr/>
        </p:nvSpPr>
        <p:spPr>
          <a:xfrm>
            <a:off x="7918704" y="1490472"/>
            <a:ext cx="1216152" cy="417576"/>
          </a:xfrm>
          <a:prstGeom prst="rect">
            <a:avLst/>
          </a:prstGeom>
          <a:noFill/>
          <a:ln/>
        </p:spPr>
        <p:txBody>
          <a:bodyPr wrap="square" lIns="127" tIns="127" rIns="127" bIns="127" rtlCol="0" anchor="ctr">
            <a:normAutofit/>
          </a:bodyPr>
          <a:lstStyle/>
          <a:p>
            <a:pPr algn="l" indent="0" marL="0">
              <a:buNone/>
            </a:pPr>
            <a:r>
              <a:rPr lang="en-US" sz="710" b="1" dirty="0">
                <a:solidFill>
                  <a:srgbClr val="F6F2EA"/>
                </a:solidFill>
                <a:latin typeface="Calibri" pitchFamily="34" charset="0"/>
                <a:ea typeface="Calibri" pitchFamily="34" charset="-122"/>
                <a:cs typeface="Calibri" pitchFamily="34" charset="-120"/>
              </a:rPr>
              <a:t>Algorithm</a:t>
            </a:r>
            <a:endParaRPr lang="en-US" sz="710" dirty="0"/>
          </a:p>
        </p:txBody>
      </p:sp>
      <p:sp>
        <p:nvSpPr>
          <p:cNvPr id="9" name="Shape 6"/>
          <p:cNvSpPr/>
          <p:nvPr/>
        </p:nvSpPr>
        <p:spPr>
          <a:xfrm>
            <a:off x="9189720" y="1463040"/>
            <a:ext cx="411480" cy="472440"/>
          </a:xfrm>
          <a:prstGeom prst="rect">
            <a:avLst/>
          </a:prstGeom>
          <a:solidFill>
            <a:srgbClr val="2E322C"/>
          </a:solidFill>
          <a:ln w="6350">
            <a:solidFill>
              <a:srgbClr val="F6F2EA"/>
            </a:solidFill>
            <a:prstDash val="solid"/>
          </a:ln>
        </p:spPr>
      </p:sp>
      <p:sp>
        <p:nvSpPr>
          <p:cNvPr id="10" name="Text 7"/>
          <p:cNvSpPr/>
          <p:nvPr/>
        </p:nvSpPr>
        <p:spPr>
          <a:xfrm>
            <a:off x="9244584" y="1490472"/>
            <a:ext cx="301752" cy="417576"/>
          </a:xfrm>
          <a:prstGeom prst="rect">
            <a:avLst/>
          </a:prstGeom>
          <a:noFill/>
          <a:ln/>
        </p:spPr>
        <p:txBody>
          <a:bodyPr wrap="square" lIns="127" tIns="127" rIns="127" bIns="127" rtlCol="0" anchor="ctr">
            <a:normAutofit/>
          </a:bodyPr>
          <a:lstStyle/>
          <a:p>
            <a:pPr algn="ctr" indent="0" marL="0">
              <a:buNone/>
            </a:pPr>
            <a:r>
              <a:rPr lang="en-US" sz="710" b="1" dirty="0">
                <a:solidFill>
                  <a:srgbClr val="F6F2EA"/>
                </a:solidFill>
                <a:latin typeface="Calibri" pitchFamily="34" charset="0"/>
                <a:ea typeface="Calibri" pitchFamily="34" charset="-122"/>
                <a:cs typeface="Calibri" pitchFamily="34" charset="-120"/>
              </a:rPr>
              <a:t>Clusters</a:t>
            </a:r>
            <a:endParaRPr lang="en-US" sz="710" dirty="0"/>
          </a:p>
        </p:txBody>
      </p:sp>
      <p:sp>
        <p:nvSpPr>
          <p:cNvPr id="11" name="Shape 8"/>
          <p:cNvSpPr/>
          <p:nvPr/>
        </p:nvSpPr>
        <p:spPr>
          <a:xfrm>
            <a:off x="9601200" y="1463040"/>
            <a:ext cx="457200" cy="472440"/>
          </a:xfrm>
          <a:prstGeom prst="rect">
            <a:avLst/>
          </a:prstGeom>
          <a:solidFill>
            <a:srgbClr val="2E322C"/>
          </a:solidFill>
          <a:ln w="6350">
            <a:solidFill>
              <a:srgbClr val="F6F2EA"/>
            </a:solidFill>
            <a:prstDash val="solid"/>
          </a:ln>
        </p:spPr>
      </p:sp>
      <p:sp>
        <p:nvSpPr>
          <p:cNvPr id="12" name="Text 9"/>
          <p:cNvSpPr/>
          <p:nvPr/>
        </p:nvSpPr>
        <p:spPr>
          <a:xfrm>
            <a:off x="9656064" y="1490472"/>
            <a:ext cx="347472" cy="417576"/>
          </a:xfrm>
          <a:prstGeom prst="rect">
            <a:avLst/>
          </a:prstGeom>
          <a:noFill/>
          <a:ln/>
        </p:spPr>
        <p:txBody>
          <a:bodyPr wrap="square" lIns="127" tIns="127" rIns="127" bIns="127" rtlCol="0" anchor="ctr">
            <a:normAutofit/>
          </a:bodyPr>
          <a:lstStyle/>
          <a:p>
            <a:pPr algn="ctr" indent="0" marL="0">
              <a:buNone/>
            </a:pPr>
            <a:r>
              <a:rPr lang="en-US" sz="710" b="1" dirty="0">
                <a:solidFill>
                  <a:srgbClr val="F6F2EA"/>
                </a:solidFill>
                <a:latin typeface="Calibri" pitchFamily="34" charset="0"/>
                <a:ea typeface="Calibri" pitchFamily="34" charset="-122"/>
                <a:cs typeface="Calibri" pitchFamily="34" charset="-120"/>
              </a:rPr>
              <a:t>Rows</a:t>
            </a:r>
            <a:endParaRPr lang="en-US" sz="710" dirty="0"/>
          </a:p>
        </p:txBody>
      </p:sp>
      <p:sp>
        <p:nvSpPr>
          <p:cNvPr id="13" name="Shape 10"/>
          <p:cNvSpPr/>
          <p:nvPr/>
        </p:nvSpPr>
        <p:spPr>
          <a:xfrm>
            <a:off x="10058400" y="1463040"/>
            <a:ext cx="530352" cy="472440"/>
          </a:xfrm>
          <a:prstGeom prst="rect">
            <a:avLst/>
          </a:prstGeom>
          <a:solidFill>
            <a:srgbClr val="2E322C"/>
          </a:solidFill>
          <a:ln w="6350">
            <a:solidFill>
              <a:srgbClr val="F6F2EA"/>
            </a:solidFill>
            <a:prstDash val="solid"/>
          </a:ln>
        </p:spPr>
      </p:sp>
      <p:sp>
        <p:nvSpPr>
          <p:cNvPr id="14" name="Text 11"/>
          <p:cNvSpPr/>
          <p:nvPr/>
        </p:nvSpPr>
        <p:spPr>
          <a:xfrm>
            <a:off x="10113264" y="1490472"/>
            <a:ext cx="420624" cy="417576"/>
          </a:xfrm>
          <a:prstGeom prst="rect">
            <a:avLst/>
          </a:prstGeom>
          <a:noFill/>
          <a:ln/>
        </p:spPr>
        <p:txBody>
          <a:bodyPr wrap="square" lIns="127" tIns="127" rIns="127" bIns="127" rtlCol="0" anchor="ctr">
            <a:normAutofit/>
          </a:bodyPr>
          <a:lstStyle/>
          <a:p>
            <a:pPr algn="ctr" indent="0" marL="0">
              <a:buNone/>
            </a:pPr>
            <a:r>
              <a:rPr lang="en-US" sz="710" b="1" dirty="0">
                <a:solidFill>
                  <a:srgbClr val="F6F2EA"/>
                </a:solidFill>
                <a:latin typeface="Calibri" pitchFamily="34" charset="0"/>
                <a:ea typeface="Calibri" pitchFamily="34" charset="-122"/>
                <a:cs typeface="Calibri" pitchFamily="34" charset="-120"/>
              </a:rPr>
              <a:t>Silhouette</a:t>
            </a:r>
            <a:endParaRPr lang="en-US" sz="710" dirty="0"/>
          </a:p>
        </p:txBody>
      </p:sp>
      <p:sp>
        <p:nvSpPr>
          <p:cNvPr id="15" name="Shape 12"/>
          <p:cNvSpPr/>
          <p:nvPr/>
        </p:nvSpPr>
        <p:spPr>
          <a:xfrm>
            <a:off x="10588752" y="1463040"/>
            <a:ext cx="384048" cy="472440"/>
          </a:xfrm>
          <a:prstGeom prst="rect">
            <a:avLst/>
          </a:prstGeom>
          <a:solidFill>
            <a:srgbClr val="2E322C"/>
          </a:solidFill>
          <a:ln w="6350">
            <a:solidFill>
              <a:srgbClr val="F6F2EA"/>
            </a:solidFill>
            <a:prstDash val="solid"/>
          </a:ln>
        </p:spPr>
      </p:sp>
      <p:sp>
        <p:nvSpPr>
          <p:cNvPr id="16" name="Text 13"/>
          <p:cNvSpPr/>
          <p:nvPr/>
        </p:nvSpPr>
        <p:spPr>
          <a:xfrm>
            <a:off x="10643616" y="1490472"/>
            <a:ext cx="274320" cy="417576"/>
          </a:xfrm>
          <a:prstGeom prst="rect">
            <a:avLst/>
          </a:prstGeom>
          <a:noFill/>
          <a:ln/>
        </p:spPr>
        <p:txBody>
          <a:bodyPr wrap="square" lIns="127" tIns="127" rIns="127" bIns="127" rtlCol="0" anchor="ctr">
            <a:normAutofit/>
          </a:bodyPr>
          <a:lstStyle/>
          <a:p>
            <a:pPr algn="ctr" indent="0" marL="0">
              <a:buNone/>
            </a:pPr>
            <a:r>
              <a:rPr lang="en-US" sz="710" b="1" dirty="0">
                <a:solidFill>
                  <a:srgbClr val="F6F2EA"/>
                </a:solidFill>
                <a:latin typeface="Calibri" pitchFamily="34" charset="0"/>
                <a:ea typeface="Calibri" pitchFamily="34" charset="-122"/>
                <a:cs typeface="Calibri" pitchFamily="34" charset="-120"/>
              </a:rPr>
              <a:t>DB</a:t>
            </a:r>
            <a:endParaRPr lang="en-US" sz="710" dirty="0"/>
          </a:p>
        </p:txBody>
      </p:sp>
      <p:sp>
        <p:nvSpPr>
          <p:cNvPr id="17" name="Shape 14"/>
          <p:cNvSpPr/>
          <p:nvPr/>
        </p:nvSpPr>
        <p:spPr>
          <a:xfrm>
            <a:off x="10972800" y="1463040"/>
            <a:ext cx="457200" cy="472440"/>
          </a:xfrm>
          <a:prstGeom prst="rect">
            <a:avLst/>
          </a:prstGeom>
          <a:solidFill>
            <a:srgbClr val="2E322C"/>
          </a:solidFill>
          <a:ln w="6350">
            <a:solidFill>
              <a:srgbClr val="F6F2EA"/>
            </a:solidFill>
            <a:prstDash val="solid"/>
          </a:ln>
        </p:spPr>
      </p:sp>
      <p:sp>
        <p:nvSpPr>
          <p:cNvPr id="18" name="Text 15"/>
          <p:cNvSpPr/>
          <p:nvPr/>
        </p:nvSpPr>
        <p:spPr>
          <a:xfrm>
            <a:off x="11027664" y="1490472"/>
            <a:ext cx="347472" cy="417576"/>
          </a:xfrm>
          <a:prstGeom prst="rect">
            <a:avLst/>
          </a:prstGeom>
          <a:noFill/>
          <a:ln/>
        </p:spPr>
        <p:txBody>
          <a:bodyPr wrap="square" lIns="127" tIns="127" rIns="127" bIns="127" rtlCol="0" anchor="ctr">
            <a:normAutofit/>
          </a:bodyPr>
          <a:lstStyle/>
          <a:p>
            <a:pPr algn="ctr" indent="0" marL="0">
              <a:buNone/>
            </a:pPr>
            <a:r>
              <a:rPr lang="en-US" sz="710" b="1" dirty="0">
                <a:solidFill>
                  <a:srgbClr val="F6F2EA"/>
                </a:solidFill>
                <a:latin typeface="Calibri" pitchFamily="34" charset="0"/>
                <a:ea typeface="Calibri" pitchFamily="34" charset="-122"/>
                <a:cs typeface="Calibri" pitchFamily="34" charset="-120"/>
              </a:rPr>
              <a:t>CH</a:t>
            </a:r>
            <a:endParaRPr lang="en-US" sz="710" dirty="0"/>
          </a:p>
        </p:txBody>
      </p:sp>
      <p:sp>
        <p:nvSpPr>
          <p:cNvPr id="19" name="Shape 16"/>
          <p:cNvSpPr/>
          <p:nvPr/>
        </p:nvSpPr>
        <p:spPr>
          <a:xfrm>
            <a:off x="7863840" y="1935480"/>
            <a:ext cx="1325880" cy="472440"/>
          </a:xfrm>
          <a:prstGeom prst="rect">
            <a:avLst/>
          </a:prstGeom>
          <a:solidFill>
            <a:srgbClr val="F2EEE6"/>
          </a:solidFill>
          <a:ln w="6350">
            <a:solidFill>
              <a:srgbClr val="F6F2EA"/>
            </a:solidFill>
            <a:prstDash val="solid"/>
          </a:ln>
        </p:spPr>
      </p:sp>
      <p:sp>
        <p:nvSpPr>
          <p:cNvPr id="20" name="Text 17"/>
          <p:cNvSpPr/>
          <p:nvPr/>
        </p:nvSpPr>
        <p:spPr>
          <a:xfrm>
            <a:off x="7918704" y="1962912"/>
            <a:ext cx="1216152" cy="417576"/>
          </a:xfrm>
          <a:prstGeom prst="rect">
            <a:avLst/>
          </a:prstGeom>
          <a:noFill/>
          <a:ln/>
        </p:spPr>
        <p:txBody>
          <a:bodyPr wrap="square" lIns="127" tIns="127" rIns="127" bIns="127" rtlCol="0" anchor="ctr">
            <a:normAutofit/>
          </a:bodyPr>
          <a:lstStyle/>
          <a:p>
            <a:pPr algn="l" indent="0" marL="0">
              <a:buNone/>
            </a:pPr>
            <a:r>
              <a:rPr lang="en-US" sz="790" dirty="0">
                <a:solidFill>
                  <a:srgbClr val="6E6658"/>
                </a:solidFill>
                <a:latin typeface="Calibri" pitchFamily="34" charset="0"/>
                <a:ea typeface="Calibri" pitchFamily="34" charset="-122"/>
                <a:cs typeface="Calibri" pitchFamily="34" charset="-120"/>
              </a:rPr>
              <a:t>K-Means</a:t>
            </a:r>
            <a:endParaRPr lang="en-US" sz="790" dirty="0"/>
          </a:p>
        </p:txBody>
      </p:sp>
      <p:sp>
        <p:nvSpPr>
          <p:cNvPr id="21" name="Shape 18"/>
          <p:cNvSpPr/>
          <p:nvPr/>
        </p:nvSpPr>
        <p:spPr>
          <a:xfrm>
            <a:off x="9189720" y="1935480"/>
            <a:ext cx="411480" cy="472440"/>
          </a:xfrm>
          <a:prstGeom prst="rect">
            <a:avLst/>
          </a:prstGeom>
          <a:solidFill>
            <a:srgbClr val="F2EEE6"/>
          </a:solidFill>
          <a:ln w="6350">
            <a:solidFill>
              <a:srgbClr val="F6F2EA"/>
            </a:solidFill>
            <a:prstDash val="solid"/>
          </a:ln>
        </p:spPr>
      </p:sp>
      <p:sp>
        <p:nvSpPr>
          <p:cNvPr id="22" name="Text 19"/>
          <p:cNvSpPr/>
          <p:nvPr/>
        </p:nvSpPr>
        <p:spPr>
          <a:xfrm>
            <a:off x="9244584" y="1962912"/>
            <a:ext cx="301752" cy="417576"/>
          </a:xfrm>
          <a:prstGeom prst="rect">
            <a:avLst/>
          </a:prstGeom>
          <a:noFill/>
          <a:ln/>
        </p:spPr>
        <p:txBody>
          <a:bodyPr wrap="square" lIns="127" tIns="127" rIns="127" bIns="127" rtlCol="0" anchor="ctr">
            <a:normAutofit/>
          </a:bodyPr>
          <a:lstStyle/>
          <a:p>
            <a:pPr algn="ctr" indent="0" marL="0">
              <a:buNone/>
            </a:pPr>
            <a:r>
              <a:rPr lang="en-US" sz="790" dirty="0">
                <a:solidFill>
                  <a:srgbClr val="6E6658"/>
                </a:solidFill>
                <a:latin typeface="Calibri" pitchFamily="34" charset="0"/>
                <a:ea typeface="Calibri" pitchFamily="34" charset="-122"/>
                <a:cs typeface="Calibri" pitchFamily="34" charset="-120"/>
              </a:rPr>
              <a:t>3</a:t>
            </a:r>
            <a:endParaRPr lang="en-US" sz="790" dirty="0"/>
          </a:p>
        </p:txBody>
      </p:sp>
      <p:sp>
        <p:nvSpPr>
          <p:cNvPr id="23" name="Shape 20"/>
          <p:cNvSpPr/>
          <p:nvPr/>
        </p:nvSpPr>
        <p:spPr>
          <a:xfrm>
            <a:off x="9601200" y="1935480"/>
            <a:ext cx="457200" cy="472440"/>
          </a:xfrm>
          <a:prstGeom prst="rect">
            <a:avLst/>
          </a:prstGeom>
          <a:solidFill>
            <a:srgbClr val="F2EEE6"/>
          </a:solidFill>
          <a:ln w="6350">
            <a:solidFill>
              <a:srgbClr val="F6F2EA"/>
            </a:solidFill>
            <a:prstDash val="solid"/>
          </a:ln>
        </p:spPr>
      </p:sp>
      <p:sp>
        <p:nvSpPr>
          <p:cNvPr id="24" name="Text 21"/>
          <p:cNvSpPr/>
          <p:nvPr/>
        </p:nvSpPr>
        <p:spPr>
          <a:xfrm>
            <a:off x="9656064" y="1962912"/>
            <a:ext cx="347472" cy="417576"/>
          </a:xfrm>
          <a:prstGeom prst="rect">
            <a:avLst/>
          </a:prstGeom>
          <a:noFill/>
          <a:ln/>
        </p:spPr>
        <p:txBody>
          <a:bodyPr wrap="square" lIns="127" tIns="127" rIns="127" bIns="127" rtlCol="0" anchor="ctr">
            <a:normAutofit/>
          </a:bodyPr>
          <a:lstStyle/>
          <a:p>
            <a:pPr algn="ctr" indent="0" marL="0">
              <a:buNone/>
            </a:pPr>
            <a:r>
              <a:rPr lang="en-US" sz="790" dirty="0">
                <a:solidFill>
                  <a:srgbClr val="6E6658"/>
                </a:solidFill>
                <a:latin typeface="Calibri" pitchFamily="34" charset="0"/>
                <a:ea typeface="Calibri" pitchFamily="34" charset="-122"/>
                <a:cs typeface="Calibri" pitchFamily="34" charset="-120"/>
              </a:rPr>
              <a:t>3,000</a:t>
            </a:r>
            <a:endParaRPr lang="en-US" sz="790" dirty="0"/>
          </a:p>
        </p:txBody>
      </p:sp>
      <p:sp>
        <p:nvSpPr>
          <p:cNvPr id="25" name="Shape 22"/>
          <p:cNvSpPr/>
          <p:nvPr/>
        </p:nvSpPr>
        <p:spPr>
          <a:xfrm>
            <a:off x="10058400" y="1935480"/>
            <a:ext cx="530352" cy="472440"/>
          </a:xfrm>
          <a:prstGeom prst="rect">
            <a:avLst/>
          </a:prstGeom>
          <a:solidFill>
            <a:srgbClr val="F2EEE6"/>
          </a:solidFill>
          <a:ln w="6350">
            <a:solidFill>
              <a:srgbClr val="F6F2EA"/>
            </a:solidFill>
            <a:prstDash val="solid"/>
          </a:ln>
        </p:spPr>
      </p:sp>
      <p:sp>
        <p:nvSpPr>
          <p:cNvPr id="26" name="Text 23"/>
          <p:cNvSpPr/>
          <p:nvPr/>
        </p:nvSpPr>
        <p:spPr>
          <a:xfrm>
            <a:off x="10113264" y="1962912"/>
            <a:ext cx="420624" cy="417576"/>
          </a:xfrm>
          <a:prstGeom prst="rect">
            <a:avLst/>
          </a:prstGeom>
          <a:noFill/>
          <a:ln/>
        </p:spPr>
        <p:txBody>
          <a:bodyPr wrap="square" lIns="127" tIns="127" rIns="127" bIns="127" rtlCol="0" anchor="ctr">
            <a:normAutofit/>
          </a:bodyPr>
          <a:lstStyle/>
          <a:p>
            <a:pPr algn="ctr" indent="0" marL="0">
              <a:buNone/>
            </a:pPr>
            <a:r>
              <a:rPr lang="en-US" sz="790" dirty="0">
                <a:solidFill>
                  <a:srgbClr val="6E6658"/>
                </a:solidFill>
                <a:latin typeface="Calibri" pitchFamily="34" charset="0"/>
                <a:ea typeface="Calibri" pitchFamily="34" charset="-122"/>
                <a:cs typeface="Calibri" pitchFamily="34" charset="-120"/>
              </a:rPr>
              <a:t>0.2069</a:t>
            </a:r>
            <a:endParaRPr lang="en-US" sz="790" dirty="0"/>
          </a:p>
        </p:txBody>
      </p:sp>
      <p:sp>
        <p:nvSpPr>
          <p:cNvPr id="27" name="Shape 24"/>
          <p:cNvSpPr/>
          <p:nvPr/>
        </p:nvSpPr>
        <p:spPr>
          <a:xfrm>
            <a:off x="10588752" y="1935480"/>
            <a:ext cx="384048" cy="472440"/>
          </a:xfrm>
          <a:prstGeom prst="rect">
            <a:avLst/>
          </a:prstGeom>
          <a:solidFill>
            <a:srgbClr val="F2EEE6"/>
          </a:solidFill>
          <a:ln w="6350">
            <a:solidFill>
              <a:srgbClr val="F6F2EA"/>
            </a:solidFill>
            <a:prstDash val="solid"/>
          </a:ln>
        </p:spPr>
      </p:sp>
      <p:sp>
        <p:nvSpPr>
          <p:cNvPr id="28" name="Text 25"/>
          <p:cNvSpPr/>
          <p:nvPr/>
        </p:nvSpPr>
        <p:spPr>
          <a:xfrm>
            <a:off x="10643616" y="1962912"/>
            <a:ext cx="274320" cy="417576"/>
          </a:xfrm>
          <a:prstGeom prst="rect">
            <a:avLst/>
          </a:prstGeom>
          <a:noFill/>
          <a:ln/>
        </p:spPr>
        <p:txBody>
          <a:bodyPr wrap="square" lIns="127" tIns="127" rIns="127" bIns="127" rtlCol="0" anchor="ctr">
            <a:normAutofit/>
          </a:bodyPr>
          <a:lstStyle/>
          <a:p>
            <a:pPr algn="ctr" indent="0" marL="0">
              <a:buNone/>
            </a:pPr>
            <a:r>
              <a:rPr lang="en-US" sz="790" dirty="0">
                <a:solidFill>
                  <a:srgbClr val="6E6658"/>
                </a:solidFill>
                <a:latin typeface="Calibri" pitchFamily="34" charset="0"/>
                <a:ea typeface="Calibri" pitchFamily="34" charset="-122"/>
                <a:cs typeface="Calibri" pitchFamily="34" charset="-120"/>
              </a:rPr>
              <a:t>1.5907</a:t>
            </a:r>
            <a:endParaRPr lang="en-US" sz="790" dirty="0"/>
          </a:p>
        </p:txBody>
      </p:sp>
      <p:sp>
        <p:nvSpPr>
          <p:cNvPr id="29" name="Shape 26"/>
          <p:cNvSpPr/>
          <p:nvPr/>
        </p:nvSpPr>
        <p:spPr>
          <a:xfrm>
            <a:off x="10972800" y="1935480"/>
            <a:ext cx="457200" cy="472440"/>
          </a:xfrm>
          <a:prstGeom prst="rect">
            <a:avLst/>
          </a:prstGeom>
          <a:solidFill>
            <a:srgbClr val="F2EEE6"/>
          </a:solidFill>
          <a:ln w="6350">
            <a:solidFill>
              <a:srgbClr val="F6F2EA"/>
            </a:solidFill>
            <a:prstDash val="solid"/>
          </a:ln>
        </p:spPr>
      </p:sp>
      <p:sp>
        <p:nvSpPr>
          <p:cNvPr id="30" name="Text 27"/>
          <p:cNvSpPr/>
          <p:nvPr/>
        </p:nvSpPr>
        <p:spPr>
          <a:xfrm>
            <a:off x="11027664" y="1962912"/>
            <a:ext cx="347472" cy="417576"/>
          </a:xfrm>
          <a:prstGeom prst="rect">
            <a:avLst/>
          </a:prstGeom>
          <a:noFill/>
          <a:ln/>
        </p:spPr>
        <p:txBody>
          <a:bodyPr wrap="square" lIns="127" tIns="127" rIns="127" bIns="127" rtlCol="0" anchor="ctr">
            <a:normAutofit/>
          </a:bodyPr>
          <a:lstStyle/>
          <a:p>
            <a:pPr algn="ctr" indent="0" marL="0">
              <a:buNone/>
            </a:pPr>
            <a:r>
              <a:rPr lang="en-US" sz="790" dirty="0">
                <a:solidFill>
                  <a:srgbClr val="6E6658"/>
                </a:solidFill>
                <a:latin typeface="Calibri" pitchFamily="34" charset="0"/>
                <a:ea typeface="Calibri" pitchFamily="34" charset="-122"/>
                <a:cs typeface="Calibri" pitchFamily="34" charset="-120"/>
              </a:rPr>
              <a:t>743.27</a:t>
            </a:r>
            <a:endParaRPr lang="en-US" sz="790" dirty="0"/>
          </a:p>
        </p:txBody>
      </p:sp>
      <p:sp>
        <p:nvSpPr>
          <p:cNvPr id="31" name="Shape 28"/>
          <p:cNvSpPr/>
          <p:nvPr/>
        </p:nvSpPr>
        <p:spPr>
          <a:xfrm>
            <a:off x="7863840" y="2407920"/>
            <a:ext cx="1325880" cy="472440"/>
          </a:xfrm>
          <a:prstGeom prst="rect">
            <a:avLst/>
          </a:prstGeom>
          <a:solidFill>
            <a:srgbClr val="EAE3D6"/>
          </a:solidFill>
          <a:ln w="6350">
            <a:solidFill>
              <a:srgbClr val="F6F2EA"/>
            </a:solidFill>
            <a:prstDash val="solid"/>
          </a:ln>
        </p:spPr>
      </p:sp>
      <p:sp>
        <p:nvSpPr>
          <p:cNvPr id="32" name="Text 29"/>
          <p:cNvSpPr/>
          <p:nvPr/>
        </p:nvSpPr>
        <p:spPr>
          <a:xfrm>
            <a:off x="7918704" y="2435352"/>
            <a:ext cx="1216152" cy="417576"/>
          </a:xfrm>
          <a:prstGeom prst="rect">
            <a:avLst/>
          </a:prstGeom>
          <a:noFill/>
          <a:ln/>
        </p:spPr>
        <p:txBody>
          <a:bodyPr wrap="square" lIns="127" tIns="127" rIns="127" bIns="127" rtlCol="0" anchor="ctr">
            <a:normAutofit/>
          </a:bodyPr>
          <a:lstStyle/>
          <a:p>
            <a:pPr algn="l" indent="0" marL="0">
              <a:buNone/>
            </a:pPr>
            <a:r>
              <a:rPr lang="en-US" sz="790" dirty="0">
                <a:solidFill>
                  <a:srgbClr val="6E6658"/>
                </a:solidFill>
                <a:latin typeface="Calibri" pitchFamily="34" charset="0"/>
                <a:ea typeface="Calibri" pitchFamily="34" charset="-122"/>
                <a:cs typeface="Calibri" pitchFamily="34" charset="-120"/>
              </a:rPr>
              <a:t>Agglomerative (Ward)</a:t>
            </a:r>
            <a:endParaRPr lang="en-US" sz="790" dirty="0"/>
          </a:p>
        </p:txBody>
      </p:sp>
      <p:sp>
        <p:nvSpPr>
          <p:cNvPr id="33" name="Shape 30"/>
          <p:cNvSpPr/>
          <p:nvPr/>
        </p:nvSpPr>
        <p:spPr>
          <a:xfrm>
            <a:off x="9189720" y="2407920"/>
            <a:ext cx="411480" cy="472440"/>
          </a:xfrm>
          <a:prstGeom prst="rect">
            <a:avLst/>
          </a:prstGeom>
          <a:solidFill>
            <a:srgbClr val="EAE3D6"/>
          </a:solidFill>
          <a:ln w="6350">
            <a:solidFill>
              <a:srgbClr val="F6F2EA"/>
            </a:solidFill>
            <a:prstDash val="solid"/>
          </a:ln>
        </p:spPr>
      </p:sp>
      <p:sp>
        <p:nvSpPr>
          <p:cNvPr id="34" name="Text 31"/>
          <p:cNvSpPr/>
          <p:nvPr/>
        </p:nvSpPr>
        <p:spPr>
          <a:xfrm>
            <a:off x="9244584" y="2435352"/>
            <a:ext cx="301752" cy="417576"/>
          </a:xfrm>
          <a:prstGeom prst="rect">
            <a:avLst/>
          </a:prstGeom>
          <a:noFill/>
          <a:ln/>
        </p:spPr>
        <p:txBody>
          <a:bodyPr wrap="square" lIns="127" tIns="127" rIns="127" bIns="127" rtlCol="0" anchor="ctr">
            <a:normAutofit/>
          </a:bodyPr>
          <a:lstStyle/>
          <a:p>
            <a:pPr algn="ctr" indent="0" marL="0">
              <a:buNone/>
            </a:pPr>
            <a:r>
              <a:rPr lang="en-US" sz="790" dirty="0">
                <a:solidFill>
                  <a:srgbClr val="6E6658"/>
                </a:solidFill>
                <a:latin typeface="Calibri" pitchFamily="34" charset="0"/>
                <a:ea typeface="Calibri" pitchFamily="34" charset="-122"/>
                <a:cs typeface="Calibri" pitchFamily="34" charset="-120"/>
              </a:rPr>
              <a:t>3</a:t>
            </a:r>
            <a:endParaRPr lang="en-US" sz="790" dirty="0"/>
          </a:p>
        </p:txBody>
      </p:sp>
      <p:sp>
        <p:nvSpPr>
          <p:cNvPr id="35" name="Shape 32"/>
          <p:cNvSpPr/>
          <p:nvPr/>
        </p:nvSpPr>
        <p:spPr>
          <a:xfrm>
            <a:off x="9601200" y="2407920"/>
            <a:ext cx="457200" cy="472440"/>
          </a:xfrm>
          <a:prstGeom prst="rect">
            <a:avLst/>
          </a:prstGeom>
          <a:solidFill>
            <a:srgbClr val="EAE3D6"/>
          </a:solidFill>
          <a:ln w="6350">
            <a:solidFill>
              <a:srgbClr val="F6F2EA"/>
            </a:solidFill>
            <a:prstDash val="solid"/>
          </a:ln>
        </p:spPr>
      </p:sp>
      <p:sp>
        <p:nvSpPr>
          <p:cNvPr id="36" name="Text 33"/>
          <p:cNvSpPr/>
          <p:nvPr/>
        </p:nvSpPr>
        <p:spPr>
          <a:xfrm>
            <a:off x="9656064" y="2435352"/>
            <a:ext cx="347472" cy="417576"/>
          </a:xfrm>
          <a:prstGeom prst="rect">
            <a:avLst/>
          </a:prstGeom>
          <a:noFill/>
          <a:ln/>
        </p:spPr>
        <p:txBody>
          <a:bodyPr wrap="square" lIns="127" tIns="127" rIns="127" bIns="127" rtlCol="0" anchor="ctr">
            <a:normAutofit/>
          </a:bodyPr>
          <a:lstStyle/>
          <a:p>
            <a:pPr algn="ctr" indent="0" marL="0">
              <a:buNone/>
            </a:pPr>
            <a:r>
              <a:rPr lang="en-US" sz="790" dirty="0">
                <a:solidFill>
                  <a:srgbClr val="6E6658"/>
                </a:solidFill>
                <a:latin typeface="Calibri" pitchFamily="34" charset="0"/>
                <a:ea typeface="Calibri" pitchFamily="34" charset="-122"/>
                <a:cs typeface="Calibri" pitchFamily="34" charset="-120"/>
              </a:rPr>
              <a:t>3,000</a:t>
            </a:r>
            <a:endParaRPr lang="en-US" sz="790" dirty="0"/>
          </a:p>
        </p:txBody>
      </p:sp>
      <p:sp>
        <p:nvSpPr>
          <p:cNvPr id="37" name="Shape 34"/>
          <p:cNvSpPr/>
          <p:nvPr/>
        </p:nvSpPr>
        <p:spPr>
          <a:xfrm>
            <a:off x="10058400" y="2407920"/>
            <a:ext cx="530352" cy="472440"/>
          </a:xfrm>
          <a:prstGeom prst="rect">
            <a:avLst/>
          </a:prstGeom>
          <a:solidFill>
            <a:srgbClr val="EAE3D6"/>
          </a:solidFill>
          <a:ln w="6350">
            <a:solidFill>
              <a:srgbClr val="F6F2EA"/>
            </a:solidFill>
            <a:prstDash val="solid"/>
          </a:ln>
        </p:spPr>
      </p:sp>
      <p:sp>
        <p:nvSpPr>
          <p:cNvPr id="38" name="Text 35"/>
          <p:cNvSpPr/>
          <p:nvPr/>
        </p:nvSpPr>
        <p:spPr>
          <a:xfrm>
            <a:off x="10113264" y="2435352"/>
            <a:ext cx="420624" cy="417576"/>
          </a:xfrm>
          <a:prstGeom prst="rect">
            <a:avLst/>
          </a:prstGeom>
          <a:noFill/>
          <a:ln/>
        </p:spPr>
        <p:txBody>
          <a:bodyPr wrap="square" lIns="127" tIns="127" rIns="127" bIns="127" rtlCol="0" anchor="ctr">
            <a:normAutofit/>
          </a:bodyPr>
          <a:lstStyle/>
          <a:p>
            <a:pPr algn="ctr" indent="0" marL="0">
              <a:buNone/>
            </a:pPr>
            <a:r>
              <a:rPr lang="en-US" sz="790" dirty="0">
                <a:solidFill>
                  <a:srgbClr val="6E6658"/>
                </a:solidFill>
                <a:latin typeface="Calibri" pitchFamily="34" charset="0"/>
                <a:ea typeface="Calibri" pitchFamily="34" charset="-122"/>
                <a:cs typeface="Calibri" pitchFamily="34" charset="-120"/>
              </a:rPr>
              <a:t>0.1710</a:t>
            </a:r>
            <a:endParaRPr lang="en-US" sz="790" dirty="0"/>
          </a:p>
        </p:txBody>
      </p:sp>
      <p:sp>
        <p:nvSpPr>
          <p:cNvPr id="39" name="Shape 36"/>
          <p:cNvSpPr/>
          <p:nvPr/>
        </p:nvSpPr>
        <p:spPr>
          <a:xfrm>
            <a:off x="10588752" y="2407920"/>
            <a:ext cx="384048" cy="472440"/>
          </a:xfrm>
          <a:prstGeom prst="rect">
            <a:avLst/>
          </a:prstGeom>
          <a:solidFill>
            <a:srgbClr val="EAE3D6"/>
          </a:solidFill>
          <a:ln w="6350">
            <a:solidFill>
              <a:srgbClr val="F6F2EA"/>
            </a:solidFill>
            <a:prstDash val="solid"/>
          </a:ln>
        </p:spPr>
      </p:sp>
      <p:sp>
        <p:nvSpPr>
          <p:cNvPr id="40" name="Text 37"/>
          <p:cNvSpPr/>
          <p:nvPr/>
        </p:nvSpPr>
        <p:spPr>
          <a:xfrm>
            <a:off x="10643616" y="2435352"/>
            <a:ext cx="274320" cy="417576"/>
          </a:xfrm>
          <a:prstGeom prst="rect">
            <a:avLst/>
          </a:prstGeom>
          <a:noFill/>
          <a:ln/>
        </p:spPr>
        <p:txBody>
          <a:bodyPr wrap="square" lIns="127" tIns="127" rIns="127" bIns="127" rtlCol="0" anchor="ctr">
            <a:normAutofit/>
          </a:bodyPr>
          <a:lstStyle/>
          <a:p>
            <a:pPr algn="ctr" indent="0" marL="0">
              <a:buNone/>
            </a:pPr>
            <a:r>
              <a:rPr lang="en-US" sz="790" dirty="0">
                <a:solidFill>
                  <a:srgbClr val="6E6658"/>
                </a:solidFill>
                <a:latin typeface="Calibri" pitchFamily="34" charset="0"/>
                <a:ea typeface="Calibri" pitchFamily="34" charset="-122"/>
                <a:cs typeface="Calibri" pitchFamily="34" charset="-120"/>
              </a:rPr>
              <a:t>1.6598</a:t>
            </a:r>
            <a:endParaRPr lang="en-US" sz="790" dirty="0"/>
          </a:p>
        </p:txBody>
      </p:sp>
      <p:sp>
        <p:nvSpPr>
          <p:cNvPr id="41" name="Shape 38"/>
          <p:cNvSpPr/>
          <p:nvPr/>
        </p:nvSpPr>
        <p:spPr>
          <a:xfrm>
            <a:off x="10972800" y="2407920"/>
            <a:ext cx="457200" cy="472440"/>
          </a:xfrm>
          <a:prstGeom prst="rect">
            <a:avLst/>
          </a:prstGeom>
          <a:solidFill>
            <a:srgbClr val="EAE3D6"/>
          </a:solidFill>
          <a:ln w="6350">
            <a:solidFill>
              <a:srgbClr val="F6F2EA"/>
            </a:solidFill>
            <a:prstDash val="solid"/>
          </a:ln>
        </p:spPr>
      </p:sp>
      <p:sp>
        <p:nvSpPr>
          <p:cNvPr id="42" name="Text 39"/>
          <p:cNvSpPr/>
          <p:nvPr/>
        </p:nvSpPr>
        <p:spPr>
          <a:xfrm>
            <a:off x="11027664" y="2435352"/>
            <a:ext cx="347472" cy="417576"/>
          </a:xfrm>
          <a:prstGeom prst="rect">
            <a:avLst/>
          </a:prstGeom>
          <a:noFill/>
          <a:ln/>
        </p:spPr>
        <p:txBody>
          <a:bodyPr wrap="square" lIns="127" tIns="127" rIns="127" bIns="127" rtlCol="0" anchor="ctr">
            <a:normAutofit/>
          </a:bodyPr>
          <a:lstStyle/>
          <a:p>
            <a:pPr algn="ctr" indent="0" marL="0">
              <a:buNone/>
            </a:pPr>
            <a:r>
              <a:rPr lang="en-US" sz="790" dirty="0">
                <a:solidFill>
                  <a:srgbClr val="6E6658"/>
                </a:solidFill>
                <a:latin typeface="Calibri" pitchFamily="34" charset="0"/>
                <a:ea typeface="Calibri" pitchFamily="34" charset="-122"/>
                <a:cs typeface="Calibri" pitchFamily="34" charset="-120"/>
              </a:rPr>
              <a:t>575.60</a:t>
            </a:r>
            <a:endParaRPr lang="en-US" sz="790" dirty="0"/>
          </a:p>
        </p:txBody>
      </p:sp>
      <p:sp>
        <p:nvSpPr>
          <p:cNvPr id="43" name="Shape 40"/>
          <p:cNvSpPr/>
          <p:nvPr/>
        </p:nvSpPr>
        <p:spPr>
          <a:xfrm>
            <a:off x="7863840" y="3154680"/>
            <a:ext cx="3566160" cy="960120"/>
          </a:xfrm>
          <a:prstGeom prst="rect">
            <a:avLst/>
          </a:prstGeom>
          <a:solidFill>
            <a:srgbClr val="EAE3D6"/>
          </a:solidFill>
          <a:ln w="12700">
            <a:solidFill>
              <a:srgbClr val="EAE3D6"/>
            </a:solidFill>
            <a:prstDash val="solid"/>
          </a:ln>
        </p:spPr>
      </p:sp>
      <p:sp>
        <p:nvSpPr>
          <p:cNvPr id="44" name="Text 41"/>
          <p:cNvSpPr/>
          <p:nvPr/>
        </p:nvSpPr>
        <p:spPr>
          <a:xfrm>
            <a:off x="8046720" y="3310128"/>
            <a:ext cx="320040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Metric directions</a:t>
            </a:r>
            <a:endParaRPr lang="en-US" sz="1400" dirty="0"/>
          </a:p>
        </p:txBody>
      </p:sp>
      <p:sp>
        <p:nvSpPr>
          <p:cNvPr id="45" name="Text 42"/>
          <p:cNvSpPr/>
          <p:nvPr/>
        </p:nvSpPr>
        <p:spPr>
          <a:xfrm>
            <a:off x="8046720" y="3685032"/>
            <a:ext cx="3200400" cy="301752"/>
          </a:xfrm>
          <a:prstGeom prst="rect">
            <a:avLst/>
          </a:prstGeom>
          <a:noFill/>
          <a:ln/>
        </p:spPr>
        <p:txBody>
          <a:bodyPr wrap="square" lIns="254" tIns="254" rIns="254" bIns="254" rtlCol="0" anchor="t">
            <a:normAutofit/>
          </a:bodyPr>
          <a:lstStyle/>
          <a:p>
            <a:pPr indent="0" marL="0">
              <a:buNone/>
            </a:pPr>
            <a:r>
              <a:rPr lang="en-US" sz="980" dirty="0">
                <a:solidFill>
                  <a:srgbClr val="6E6658"/>
                </a:solidFill>
                <a:latin typeface="Calibri" pitchFamily="34" charset="0"/>
                <a:ea typeface="Calibri" pitchFamily="34" charset="-122"/>
                <a:cs typeface="Calibri" pitchFamily="34" charset="-120"/>
              </a:rPr>
              <a:t>Silhouette: higher is better</a:t>
            </a:r>
            <a:endParaRPr lang="en-US" sz="980" dirty="0"/>
          </a:p>
          <a:p>
            <a:pPr indent="0" marL="0">
              <a:buNone/>
            </a:pPr>
            <a:r>
              <a:rPr lang="en-US" sz="980" dirty="0">
                <a:solidFill>
                  <a:srgbClr val="6E6658"/>
                </a:solidFill>
                <a:latin typeface="Calibri" pitchFamily="34" charset="0"/>
                <a:ea typeface="Calibri" pitchFamily="34" charset="-122"/>
                <a:cs typeface="Calibri" pitchFamily="34" charset="-120"/>
              </a:rPr>
              <a:t>Davies–Bouldin: lower is better</a:t>
            </a:r>
            <a:endParaRPr lang="en-US" sz="980" dirty="0"/>
          </a:p>
          <a:p>
            <a:pPr indent="0" marL="0">
              <a:buNone/>
            </a:pPr>
            <a:r>
              <a:rPr lang="en-US" sz="980" dirty="0">
                <a:solidFill>
                  <a:srgbClr val="6E6658"/>
                </a:solidFill>
                <a:latin typeface="Calibri" pitchFamily="34" charset="0"/>
                <a:ea typeface="Calibri" pitchFamily="34" charset="-122"/>
                <a:cs typeface="Calibri" pitchFamily="34" charset="-120"/>
              </a:rPr>
              <a:t>Calinski–Harabasz: higher is better</a:t>
            </a:r>
            <a:endParaRPr lang="en-US" sz="980" dirty="0"/>
          </a:p>
        </p:txBody>
      </p:sp>
      <p:sp>
        <p:nvSpPr>
          <p:cNvPr id="46" name="Shape 43"/>
          <p:cNvSpPr/>
          <p:nvPr/>
        </p:nvSpPr>
        <p:spPr>
          <a:xfrm>
            <a:off x="7863840" y="4343400"/>
            <a:ext cx="3566160" cy="960120"/>
          </a:xfrm>
          <a:prstGeom prst="rect">
            <a:avLst/>
          </a:prstGeom>
          <a:solidFill>
            <a:srgbClr val="EAE3D6"/>
          </a:solidFill>
          <a:ln w="12700">
            <a:solidFill>
              <a:srgbClr val="EAE3D6"/>
            </a:solidFill>
            <a:prstDash val="solid"/>
          </a:ln>
        </p:spPr>
      </p:sp>
      <p:sp>
        <p:nvSpPr>
          <p:cNvPr id="47" name="Text 44"/>
          <p:cNvSpPr/>
          <p:nvPr/>
        </p:nvSpPr>
        <p:spPr>
          <a:xfrm>
            <a:off x="8046720" y="4498848"/>
            <a:ext cx="320040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Result</a:t>
            </a:r>
            <a:endParaRPr lang="en-US" sz="1400" dirty="0"/>
          </a:p>
        </p:txBody>
      </p:sp>
      <p:sp>
        <p:nvSpPr>
          <p:cNvPr id="48" name="Text 45"/>
          <p:cNvSpPr/>
          <p:nvPr/>
        </p:nvSpPr>
        <p:spPr>
          <a:xfrm>
            <a:off x="8046720" y="4873752"/>
            <a:ext cx="3200400" cy="301752"/>
          </a:xfrm>
          <a:prstGeom prst="rect">
            <a:avLst/>
          </a:prstGeom>
          <a:noFill/>
          <a:ln/>
        </p:spPr>
        <p:txBody>
          <a:bodyPr wrap="square" lIns="254" tIns="254" rIns="254" bIns="254" rtlCol="0" anchor="t">
            <a:normAutofit/>
          </a:bodyPr>
          <a:lstStyle/>
          <a:p>
            <a:pPr indent="0" marL="0">
              <a:buNone/>
            </a:pPr>
            <a:r>
              <a:rPr lang="en-US" sz="1010" dirty="0">
                <a:solidFill>
                  <a:srgbClr val="6E6658"/>
                </a:solidFill>
                <a:latin typeface="Calibri" pitchFamily="34" charset="0"/>
                <a:ea typeface="Calibri" pitchFamily="34" charset="-122"/>
                <a:cs typeface="Calibri" pitchFamily="34" charset="-120"/>
              </a:rPr>
              <a:t>K-Means is better than Ward on all three mandatory metrics on the exact same evaluation rows.</a:t>
            </a:r>
            <a:endParaRPr lang="en-US" sz="1010" dirty="0"/>
          </a:p>
        </p:txBody>
      </p:sp>
      <p:sp>
        <p:nvSpPr>
          <p:cNvPr id="49" name="Text 46"/>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Verified fair comparison: results/clustering_comparison.csv.</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B · VISUALISATION</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PCA — 2D cluster visualisation for both algorithms</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B · Visualisation</a:t>
            </a:r>
            <a:endParaRPr lang="en-US" sz="900" dirty="0"/>
          </a:p>
        </p:txBody>
      </p:sp>
      <p:sp>
        <p:nvSpPr>
          <p:cNvPr id="5" name="Shape 3"/>
          <p:cNvSpPr/>
          <p:nvPr/>
        </p:nvSpPr>
        <p:spPr>
          <a:xfrm>
            <a:off x="475488" y="1298448"/>
            <a:ext cx="5541264" cy="4215384"/>
          </a:xfrm>
          <a:prstGeom prst="rect">
            <a:avLst/>
          </a:prstGeom>
          <a:solidFill>
            <a:srgbClr val="FFFFFF"/>
          </a:solidFill>
          <a:ln w="7620">
            <a:solidFill>
              <a:srgbClr val="D8D0C1"/>
            </a:solidFill>
            <a:prstDash val="solid"/>
          </a:ln>
        </p:spPr>
      </p:sp>
      <p:pic>
        <p:nvPicPr>
          <p:cNvPr id="6" name="Image 0" descr="/mnt/data/review2_perfect_assets/clustering_kmeans_pca_notebook.png">    </p:cNvPr>
          <p:cNvPicPr>
            <a:picLocks noChangeAspect="1"/>
          </p:cNvPicPr>
          <p:nvPr/>
        </p:nvPicPr>
        <p:blipFill>
          <a:blip r:embed="rId1"/>
          <a:stretch>
            <a:fillRect/>
          </a:stretch>
        </p:blipFill>
        <p:spPr>
          <a:xfrm>
            <a:off x="502920" y="1325880"/>
            <a:ext cx="5486400" cy="4160520"/>
          </a:xfrm>
          <a:prstGeom prst="rect">
            <a:avLst/>
          </a:prstGeom>
        </p:spPr>
      </p:pic>
      <p:sp>
        <p:nvSpPr>
          <p:cNvPr id="7" name="Shape 4"/>
          <p:cNvSpPr/>
          <p:nvPr/>
        </p:nvSpPr>
        <p:spPr>
          <a:xfrm>
            <a:off x="6172200" y="1298448"/>
            <a:ext cx="5541264" cy="4215384"/>
          </a:xfrm>
          <a:prstGeom prst="rect">
            <a:avLst/>
          </a:prstGeom>
          <a:solidFill>
            <a:srgbClr val="FFFFFF"/>
          </a:solidFill>
          <a:ln w="7620">
            <a:solidFill>
              <a:srgbClr val="D8D0C1"/>
            </a:solidFill>
            <a:prstDash val="solid"/>
          </a:ln>
        </p:spPr>
      </p:sp>
      <p:pic>
        <p:nvPicPr>
          <p:cNvPr id="8" name="Image 1" descr="/mnt/data/review2_perfect_assets/clustering_ward_pca_notebook.png">    </p:cNvPr>
          <p:cNvPicPr>
            <a:picLocks noChangeAspect="1"/>
          </p:cNvPicPr>
          <p:nvPr/>
        </p:nvPicPr>
        <p:blipFill>
          <a:blip r:embed="rId2"/>
          <a:stretch>
            <a:fillRect/>
          </a:stretch>
        </p:blipFill>
        <p:spPr>
          <a:xfrm>
            <a:off x="6199632" y="1325880"/>
            <a:ext cx="5486400" cy="4160520"/>
          </a:xfrm>
          <a:prstGeom prst="rect">
            <a:avLst/>
          </a:prstGeom>
        </p:spPr>
      </p:pic>
      <p:sp>
        <p:nvSpPr>
          <p:cNvPr id="9" name="Text 5"/>
          <p:cNvSpPr/>
          <p:nvPr/>
        </p:nvSpPr>
        <p:spPr>
          <a:xfrm>
            <a:off x="594360" y="5559552"/>
            <a:ext cx="5303520" cy="274320"/>
          </a:xfrm>
          <a:prstGeom prst="rect">
            <a:avLst/>
          </a:prstGeom>
          <a:noFill/>
          <a:ln/>
        </p:spPr>
        <p:txBody>
          <a:bodyPr wrap="square" lIns="0" tIns="0" rIns="0" bIns="0" rtlCol="0" anchor="ctr"/>
          <a:lstStyle/>
          <a:p>
            <a:pPr algn="ctr" indent="0" marL="0">
              <a:buNone/>
            </a:pPr>
            <a:r>
              <a:rPr lang="en-US" sz="1300" b="1" dirty="0">
                <a:solidFill>
                  <a:srgbClr val="2B2A26"/>
                </a:solidFill>
                <a:latin typeface="Cambria" pitchFamily="34" charset="0"/>
                <a:ea typeface="Cambria" pitchFamily="34" charset="-122"/>
                <a:cs typeface="Cambria" pitchFamily="34" charset="-120"/>
              </a:rPr>
              <a:t>K-Means PCA</a:t>
            </a:r>
            <a:endParaRPr lang="en-US" sz="1300" dirty="0"/>
          </a:p>
        </p:txBody>
      </p:sp>
      <p:sp>
        <p:nvSpPr>
          <p:cNvPr id="10" name="Text 6"/>
          <p:cNvSpPr/>
          <p:nvPr/>
        </p:nvSpPr>
        <p:spPr>
          <a:xfrm>
            <a:off x="6309360" y="5559552"/>
            <a:ext cx="5212080" cy="274320"/>
          </a:xfrm>
          <a:prstGeom prst="rect">
            <a:avLst/>
          </a:prstGeom>
          <a:noFill/>
          <a:ln/>
        </p:spPr>
        <p:txBody>
          <a:bodyPr wrap="square" lIns="0" tIns="0" rIns="0" bIns="0" rtlCol="0" anchor="ctr"/>
          <a:lstStyle/>
          <a:p>
            <a:pPr algn="ctr" indent="0" marL="0">
              <a:buNone/>
            </a:pPr>
            <a:r>
              <a:rPr lang="en-US" sz="1300" b="1" dirty="0">
                <a:solidFill>
                  <a:srgbClr val="2B2A26"/>
                </a:solidFill>
                <a:latin typeface="Cambria" pitchFamily="34" charset="0"/>
                <a:ea typeface="Cambria" pitchFamily="34" charset="-122"/>
                <a:cs typeface="Cambria" pitchFamily="34" charset="-120"/>
              </a:rPr>
              <a:t>Agglomerative PCA</a:t>
            </a:r>
            <a:endParaRPr lang="en-US" sz="1300" dirty="0"/>
          </a:p>
        </p:txBody>
      </p:sp>
      <p:sp>
        <p:nvSpPr>
          <p:cNvPr id="11" name="Text 7"/>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PCA figures from the executed clustering notebook. The rubric requires a 2D PCA scatter for every clustering algorithm.</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B · VISUALISATION</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t-SNE — nonlinear view of local cluster structure</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B · Visualisation</a:t>
            </a:r>
            <a:endParaRPr lang="en-US" sz="900" dirty="0"/>
          </a:p>
        </p:txBody>
      </p:sp>
      <p:sp>
        <p:nvSpPr>
          <p:cNvPr id="5" name="Shape 3"/>
          <p:cNvSpPr/>
          <p:nvPr/>
        </p:nvSpPr>
        <p:spPr>
          <a:xfrm>
            <a:off x="612648" y="1298448"/>
            <a:ext cx="7050024" cy="4581144"/>
          </a:xfrm>
          <a:prstGeom prst="rect">
            <a:avLst/>
          </a:prstGeom>
          <a:solidFill>
            <a:srgbClr val="FFFFFF"/>
          </a:solidFill>
          <a:ln w="7620">
            <a:solidFill>
              <a:srgbClr val="D8D0C1"/>
            </a:solidFill>
            <a:prstDash val="solid"/>
          </a:ln>
        </p:spPr>
      </p:sp>
      <p:pic>
        <p:nvPicPr>
          <p:cNvPr id="6" name="Image 0" descr="/mnt/data/review2_perfect_assets/clustering_tsne_notebook.png">    </p:cNvPr>
          <p:cNvPicPr>
            <a:picLocks noChangeAspect="1"/>
          </p:cNvPicPr>
          <p:nvPr/>
        </p:nvPicPr>
        <p:blipFill>
          <a:blip r:embed="rId1"/>
          <a:stretch>
            <a:fillRect/>
          </a:stretch>
        </p:blipFill>
        <p:spPr>
          <a:xfrm>
            <a:off x="640080" y="1325880"/>
            <a:ext cx="6995160" cy="4526280"/>
          </a:xfrm>
          <a:prstGeom prst="rect">
            <a:avLst/>
          </a:prstGeom>
        </p:spPr>
      </p:pic>
      <p:sp>
        <p:nvSpPr>
          <p:cNvPr id="7" name="Shape 4"/>
          <p:cNvSpPr/>
          <p:nvPr/>
        </p:nvSpPr>
        <p:spPr>
          <a:xfrm>
            <a:off x="7909560" y="1417320"/>
            <a:ext cx="3474720" cy="1874520"/>
          </a:xfrm>
          <a:prstGeom prst="rect">
            <a:avLst/>
          </a:prstGeom>
          <a:solidFill>
            <a:srgbClr val="EAE3D6"/>
          </a:solidFill>
          <a:ln w="12700">
            <a:solidFill>
              <a:srgbClr val="EAE3D6"/>
            </a:solidFill>
            <a:prstDash val="solid"/>
          </a:ln>
        </p:spPr>
      </p:sp>
      <p:sp>
        <p:nvSpPr>
          <p:cNvPr id="8" name="Text 5"/>
          <p:cNvSpPr/>
          <p:nvPr/>
        </p:nvSpPr>
        <p:spPr>
          <a:xfrm>
            <a:off x="8092440" y="157276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Why include t-SNE?</a:t>
            </a:r>
            <a:endParaRPr lang="en-US" sz="1400" dirty="0"/>
          </a:p>
        </p:txBody>
      </p:sp>
      <p:sp>
        <p:nvSpPr>
          <p:cNvPr id="9" name="Text 6"/>
          <p:cNvSpPr/>
          <p:nvPr/>
        </p:nvSpPr>
        <p:spPr>
          <a:xfrm>
            <a:off x="8092440" y="1947672"/>
            <a:ext cx="3108960" cy="121615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PCA preserves global linear variance; t-SNE emphasizes local neighborhoods. It gives a complementary view of how the K-Means assignments occupy the feature space.</a:t>
            </a:r>
            <a:endParaRPr lang="en-US" sz="1100" dirty="0"/>
          </a:p>
        </p:txBody>
      </p:sp>
      <p:sp>
        <p:nvSpPr>
          <p:cNvPr id="10" name="Shape 7"/>
          <p:cNvSpPr/>
          <p:nvPr/>
        </p:nvSpPr>
        <p:spPr>
          <a:xfrm>
            <a:off x="7909560" y="3566160"/>
            <a:ext cx="3474720" cy="1600200"/>
          </a:xfrm>
          <a:prstGeom prst="rect">
            <a:avLst/>
          </a:prstGeom>
          <a:solidFill>
            <a:srgbClr val="EAE3D6"/>
          </a:solidFill>
          <a:ln w="12700">
            <a:solidFill>
              <a:srgbClr val="EAE3D6"/>
            </a:solidFill>
            <a:prstDash val="solid"/>
          </a:ln>
        </p:spPr>
      </p:sp>
      <p:sp>
        <p:nvSpPr>
          <p:cNvPr id="11" name="Text 8"/>
          <p:cNvSpPr/>
          <p:nvPr/>
        </p:nvSpPr>
        <p:spPr>
          <a:xfrm>
            <a:off x="8092440" y="372160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Caution</a:t>
            </a:r>
            <a:endParaRPr lang="en-US" sz="1400" dirty="0"/>
          </a:p>
        </p:txBody>
      </p:sp>
      <p:sp>
        <p:nvSpPr>
          <p:cNvPr id="12" name="Text 9"/>
          <p:cNvSpPr/>
          <p:nvPr/>
        </p:nvSpPr>
        <p:spPr>
          <a:xfrm>
            <a:off x="8092440" y="4096512"/>
            <a:ext cx="3108960" cy="94183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t-SNE axes have no physical meaning. The plot is evidence of local grouping, not a new performance metric and not a ground-truth air-quality label.</a:t>
            </a:r>
            <a:endParaRPr lang="en-US" sz="1100" dirty="0"/>
          </a:p>
        </p:txBody>
      </p:sp>
      <p:sp>
        <p:nvSpPr>
          <p:cNvPr id="13" name="Text 10"/>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t-SNE figure from the executed clustering notebook; the rubric encourages t-SNE for at least one algorithm.</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PART B · CONCLUSION</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Clustering — what we learned</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Part B · Conclusion</a:t>
            </a:r>
            <a:endParaRPr lang="en-US" sz="900" dirty="0"/>
          </a:p>
        </p:txBody>
      </p:sp>
      <p:sp>
        <p:nvSpPr>
          <p:cNvPr id="5" name="Shape 3"/>
          <p:cNvSpPr/>
          <p:nvPr/>
        </p:nvSpPr>
        <p:spPr>
          <a:xfrm>
            <a:off x="594360" y="1371600"/>
            <a:ext cx="3474720" cy="1874520"/>
          </a:xfrm>
          <a:prstGeom prst="rect">
            <a:avLst/>
          </a:prstGeom>
          <a:solidFill>
            <a:srgbClr val="EAE3D6"/>
          </a:solidFill>
          <a:ln w="12700">
            <a:solidFill>
              <a:srgbClr val="EAE3D6"/>
            </a:solidFill>
            <a:prstDash val="solid"/>
          </a:ln>
        </p:spPr>
      </p:sp>
      <p:sp>
        <p:nvSpPr>
          <p:cNvPr id="6" name="Text 4"/>
          <p:cNvSpPr/>
          <p:nvPr/>
        </p:nvSpPr>
        <p:spPr>
          <a:xfrm>
            <a:off x="777240" y="152704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K-Means result</a:t>
            </a:r>
            <a:endParaRPr lang="en-US" sz="1400" dirty="0"/>
          </a:p>
        </p:txBody>
      </p:sp>
      <p:sp>
        <p:nvSpPr>
          <p:cNvPr id="7" name="Text 5"/>
          <p:cNvSpPr/>
          <p:nvPr/>
        </p:nvSpPr>
        <p:spPr>
          <a:xfrm>
            <a:off x="777240" y="1901952"/>
            <a:ext cx="3108960" cy="121615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K=3 is selected. On the common 3,000-row evaluation sample, K-Means achieves silhouette 0.2069, DB 1.5907 and CH 743.27.</a:t>
            </a:r>
            <a:endParaRPr lang="en-US" sz="1100" dirty="0"/>
          </a:p>
        </p:txBody>
      </p:sp>
      <p:sp>
        <p:nvSpPr>
          <p:cNvPr id="8" name="Shape 6"/>
          <p:cNvSpPr/>
          <p:nvPr/>
        </p:nvSpPr>
        <p:spPr>
          <a:xfrm>
            <a:off x="4343400" y="1371600"/>
            <a:ext cx="3474720" cy="1874520"/>
          </a:xfrm>
          <a:prstGeom prst="rect">
            <a:avLst/>
          </a:prstGeom>
          <a:solidFill>
            <a:srgbClr val="EAE3D6"/>
          </a:solidFill>
          <a:ln w="12700">
            <a:solidFill>
              <a:srgbClr val="EAE3D6"/>
            </a:solidFill>
            <a:prstDash val="solid"/>
          </a:ln>
        </p:spPr>
      </p:sp>
      <p:sp>
        <p:nvSpPr>
          <p:cNvPr id="9" name="Text 7"/>
          <p:cNvSpPr/>
          <p:nvPr/>
        </p:nvSpPr>
        <p:spPr>
          <a:xfrm>
            <a:off x="4526280" y="152704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Hierarchical result</a:t>
            </a:r>
            <a:endParaRPr lang="en-US" sz="1400" dirty="0"/>
          </a:p>
        </p:txBody>
      </p:sp>
      <p:sp>
        <p:nvSpPr>
          <p:cNvPr id="10" name="Text 8"/>
          <p:cNvSpPr/>
          <p:nvPr/>
        </p:nvSpPr>
        <p:spPr>
          <a:xfrm>
            <a:off x="4526280" y="1901952"/>
            <a:ext cx="3108960" cy="121615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Ward at K=3 gives silhouette 0.1710, DB 1.6598 and CH 575.60. Complete/Average show a metric trade-off and are retained in the linkage comparison.</a:t>
            </a:r>
            <a:endParaRPr lang="en-US" sz="1100" dirty="0"/>
          </a:p>
        </p:txBody>
      </p:sp>
      <p:sp>
        <p:nvSpPr>
          <p:cNvPr id="11" name="Shape 9"/>
          <p:cNvSpPr/>
          <p:nvPr/>
        </p:nvSpPr>
        <p:spPr>
          <a:xfrm>
            <a:off x="8092440" y="1371600"/>
            <a:ext cx="3474720" cy="1874520"/>
          </a:xfrm>
          <a:prstGeom prst="rect">
            <a:avLst/>
          </a:prstGeom>
          <a:solidFill>
            <a:srgbClr val="EAE3D6"/>
          </a:solidFill>
          <a:ln w="12700">
            <a:solidFill>
              <a:srgbClr val="EAE3D6"/>
            </a:solidFill>
            <a:prstDash val="solid"/>
          </a:ln>
        </p:spPr>
      </p:sp>
      <p:sp>
        <p:nvSpPr>
          <p:cNvPr id="12" name="Text 10"/>
          <p:cNvSpPr/>
          <p:nvPr/>
        </p:nvSpPr>
        <p:spPr>
          <a:xfrm>
            <a:off x="8275320" y="152704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Interpretation</a:t>
            </a:r>
            <a:endParaRPr lang="en-US" sz="1400" dirty="0"/>
          </a:p>
        </p:txBody>
      </p:sp>
      <p:sp>
        <p:nvSpPr>
          <p:cNvPr id="13" name="Text 11"/>
          <p:cNvSpPr/>
          <p:nvPr/>
        </p:nvSpPr>
        <p:spPr>
          <a:xfrm>
            <a:off x="8275320" y="1901952"/>
            <a:ext cx="3108960" cy="121615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The discovered regimes separate high particulate/combustion conditions, warmer ozone-rich conditions, and lower-pollution windier conditions.</a:t>
            </a:r>
            <a:endParaRPr lang="en-US" sz="1100" dirty="0"/>
          </a:p>
        </p:txBody>
      </p:sp>
      <p:sp>
        <p:nvSpPr>
          <p:cNvPr id="14" name="Shape 12"/>
          <p:cNvSpPr/>
          <p:nvPr/>
        </p:nvSpPr>
        <p:spPr>
          <a:xfrm>
            <a:off x="594360" y="3566160"/>
            <a:ext cx="3474720" cy="1645920"/>
          </a:xfrm>
          <a:prstGeom prst="rect">
            <a:avLst/>
          </a:prstGeom>
          <a:solidFill>
            <a:srgbClr val="EAE3D6"/>
          </a:solidFill>
          <a:ln w="12700">
            <a:solidFill>
              <a:srgbClr val="EAE3D6"/>
            </a:solidFill>
            <a:prstDash val="solid"/>
          </a:ln>
        </p:spPr>
      </p:sp>
      <p:sp>
        <p:nvSpPr>
          <p:cNvPr id="15" name="Text 13"/>
          <p:cNvSpPr/>
          <p:nvPr/>
        </p:nvSpPr>
        <p:spPr>
          <a:xfrm>
            <a:off x="777240" y="372160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Rubric visuals</a:t>
            </a:r>
            <a:endParaRPr lang="en-US" sz="1400" dirty="0"/>
          </a:p>
        </p:txBody>
      </p:sp>
      <p:sp>
        <p:nvSpPr>
          <p:cNvPr id="16" name="Text 14"/>
          <p:cNvSpPr/>
          <p:nvPr/>
        </p:nvSpPr>
        <p:spPr>
          <a:xfrm>
            <a:off x="777240" y="4096512"/>
            <a:ext cx="3108960" cy="98755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Elbow curve ✓</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Dendrogram ✓</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PCA for K-Means ✓</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PCA for Agglomerative ✓</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t-SNE ✓</a:t>
            </a:r>
            <a:endParaRPr lang="en-US" sz="1100" dirty="0"/>
          </a:p>
        </p:txBody>
      </p:sp>
      <p:sp>
        <p:nvSpPr>
          <p:cNvPr id="17" name="Shape 15"/>
          <p:cNvSpPr/>
          <p:nvPr/>
        </p:nvSpPr>
        <p:spPr>
          <a:xfrm>
            <a:off x="4343400" y="3566160"/>
            <a:ext cx="3474720" cy="1645920"/>
          </a:xfrm>
          <a:prstGeom prst="rect">
            <a:avLst/>
          </a:prstGeom>
          <a:solidFill>
            <a:srgbClr val="EAE3D6"/>
          </a:solidFill>
          <a:ln w="12700">
            <a:solidFill>
              <a:srgbClr val="EAE3D6"/>
            </a:solidFill>
            <a:prstDash val="solid"/>
          </a:ln>
        </p:spPr>
      </p:sp>
      <p:sp>
        <p:nvSpPr>
          <p:cNvPr id="18" name="Text 16"/>
          <p:cNvSpPr/>
          <p:nvPr/>
        </p:nvSpPr>
        <p:spPr>
          <a:xfrm>
            <a:off x="4526280" y="372160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Evaluation</a:t>
            </a:r>
            <a:endParaRPr lang="en-US" sz="1400" dirty="0"/>
          </a:p>
        </p:txBody>
      </p:sp>
      <p:sp>
        <p:nvSpPr>
          <p:cNvPr id="19" name="Text 17"/>
          <p:cNvSpPr/>
          <p:nvPr/>
        </p:nvSpPr>
        <p:spPr>
          <a:xfrm>
            <a:off x="4526280" y="4096512"/>
            <a:ext cx="3108960" cy="98755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Silhouette ✓</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Davies–Bouldin ✓</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Calinski–Harabasz ✓</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Same 3,000 rows for final comparison ✓</a:t>
            </a:r>
            <a:endParaRPr lang="en-US" sz="1100" dirty="0"/>
          </a:p>
        </p:txBody>
      </p:sp>
      <p:sp>
        <p:nvSpPr>
          <p:cNvPr id="20" name="Shape 18"/>
          <p:cNvSpPr/>
          <p:nvPr/>
        </p:nvSpPr>
        <p:spPr>
          <a:xfrm>
            <a:off x="8092440" y="3566160"/>
            <a:ext cx="3474720" cy="1645920"/>
          </a:xfrm>
          <a:prstGeom prst="rect">
            <a:avLst/>
          </a:prstGeom>
          <a:solidFill>
            <a:srgbClr val="EAE3D6"/>
          </a:solidFill>
          <a:ln w="12700">
            <a:solidFill>
              <a:srgbClr val="EAE3D6"/>
            </a:solidFill>
            <a:prstDash val="solid"/>
          </a:ln>
        </p:spPr>
      </p:sp>
      <p:sp>
        <p:nvSpPr>
          <p:cNvPr id="21" name="Text 19"/>
          <p:cNvSpPr/>
          <p:nvPr/>
        </p:nvSpPr>
        <p:spPr>
          <a:xfrm>
            <a:off x="8275320" y="372160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Use limit</a:t>
            </a:r>
            <a:endParaRPr lang="en-US" sz="1400" dirty="0"/>
          </a:p>
        </p:txBody>
      </p:sp>
      <p:sp>
        <p:nvSpPr>
          <p:cNvPr id="22" name="Text 20"/>
          <p:cNvSpPr/>
          <p:nvPr/>
        </p:nvSpPr>
        <p:spPr>
          <a:xfrm>
            <a:off x="8275320" y="4096512"/>
            <a:ext cx="3108960" cy="98755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Clusters are exploratory environmental profiles. The project explicitly does not present them as official AQI or health categories.</a:t>
            </a:r>
            <a:endParaRPr lang="en-US" sz="1100" dirty="0"/>
          </a:p>
        </p:txBody>
      </p:sp>
      <p:sp>
        <p:nvSpPr>
          <p:cNvPr id="23" name="Text 21"/>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Review-2 clustering results: results/clustering_* files.</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822960" y="1828800"/>
            <a:ext cx="2743200" cy="914400"/>
          </a:xfrm>
          <a:prstGeom prst="rect">
            <a:avLst/>
          </a:prstGeom>
          <a:noFill/>
          <a:ln/>
        </p:spPr>
        <p:txBody>
          <a:bodyPr wrap="square" lIns="0" tIns="0" rIns="0" bIns="0" rtlCol="0" anchor="ctr"/>
          <a:lstStyle/>
          <a:p>
            <a:pPr indent="0" marL="0">
              <a:buNone/>
            </a:pPr>
            <a:r>
              <a:rPr lang="en-US" sz="8000" b="1" dirty="0">
                <a:solidFill>
                  <a:srgbClr val="A4613C"/>
                </a:solidFill>
                <a:latin typeface="Cambria" pitchFamily="34" charset="0"/>
                <a:ea typeface="Cambria" pitchFamily="34" charset="-122"/>
                <a:cs typeface="Cambria" pitchFamily="34" charset="-120"/>
              </a:rPr>
              <a:t>03</a:t>
            </a:r>
            <a:endParaRPr lang="en-US" sz="8000" dirty="0"/>
          </a:p>
        </p:txBody>
      </p:sp>
      <p:sp>
        <p:nvSpPr>
          <p:cNvPr id="3" name="Text 1"/>
          <p:cNvSpPr/>
          <p:nvPr/>
        </p:nvSpPr>
        <p:spPr>
          <a:xfrm>
            <a:off x="822960" y="3063240"/>
            <a:ext cx="9601200" cy="685800"/>
          </a:xfrm>
          <a:prstGeom prst="rect">
            <a:avLst/>
          </a:prstGeom>
          <a:noFill/>
          <a:ln/>
        </p:spPr>
        <p:txBody>
          <a:bodyPr wrap="square" lIns="0" tIns="0" rIns="0" bIns="0" rtlCol="0" anchor="ctr"/>
          <a:lstStyle/>
          <a:p>
            <a:pPr indent="0" marL="0">
              <a:buNone/>
            </a:pPr>
            <a:r>
              <a:rPr lang="en-US" sz="3800" b="1" dirty="0">
                <a:solidFill>
                  <a:srgbClr val="F6F2EA"/>
                </a:solidFill>
                <a:latin typeface="Cambria" pitchFamily="34" charset="0"/>
                <a:ea typeface="Cambria" pitchFamily="34" charset="-122"/>
                <a:cs typeface="Cambria" pitchFamily="34" charset="-120"/>
              </a:rPr>
              <a:t>Application &amp; Project Integration</a:t>
            </a:r>
            <a:endParaRPr lang="en-US" sz="3800" dirty="0"/>
          </a:p>
        </p:txBody>
      </p:sp>
      <p:sp>
        <p:nvSpPr>
          <p:cNvPr id="4" name="Text 2"/>
          <p:cNvSpPr/>
          <p:nvPr/>
        </p:nvSpPr>
        <p:spPr>
          <a:xfrm>
            <a:off x="868680" y="3913632"/>
            <a:ext cx="9692640" cy="1051560"/>
          </a:xfrm>
          <a:prstGeom prst="rect">
            <a:avLst/>
          </a:prstGeom>
          <a:noFill/>
          <a:ln/>
        </p:spPr>
        <p:txBody>
          <a:bodyPr wrap="square" lIns="0" tIns="0" rIns="0" bIns="0" rtlCol="0" anchor="ctr">
            <a:normAutofit/>
          </a:bodyPr>
          <a:lstStyle/>
          <a:p>
            <a:pPr indent="0" marL="0">
              <a:buNone/>
            </a:pPr>
            <a:r>
              <a:rPr lang="en-US" sz="1400" dirty="0">
                <a:solidFill>
                  <a:srgbClr val="C9C3B5"/>
                </a:solidFill>
                <a:latin typeface="Calibri" pitchFamily="34" charset="0"/>
                <a:ea typeface="Calibri" pitchFamily="34" charset="-122"/>
                <a:cs typeface="Calibri" pitchFamily="34" charset="-120"/>
              </a:rPr>
              <a:t>The trained models and saved evidence are connected to one Streamlit application with Regression, Classification, Clustering and Study Results views.</a:t>
            </a:r>
            <a:endParaRPr lang="en-US" sz="140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INTEGRATION</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Repository structure and Review-2 deliverables</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Integration</a:t>
            </a:r>
            <a:endParaRPr lang="en-US" sz="900" dirty="0"/>
          </a:p>
        </p:txBody>
      </p:sp>
      <p:sp>
        <p:nvSpPr>
          <p:cNvPr id="5" name="Shape 3"/>
          <p:cNvSpPr/>
          <p:nvPr/>
        </p:nvSpPr>
        <p:spPr>
          <a:xfrm>
            <a:off x="594360" y="1371600"/>
            <a:ext cx="3520440" cy="1325880"/>
          </a:xfrm>
          <a:prstGeom prst="rect">
            <a:avLst/>
          </a:prstGeom>
          <a:solidFill>
            <a:srgbClr val="EAE3D6"/>
          </a:solidFill>
          <a:ln w="12700">
            <a:solidFill>
              <a:srgbClr val="EAE3D6"/>
            </a:solidFill>
            <a:prstDash val="solid"/>
          </a:ln>
        </p:spPr>
      </p:sp>
      <p:sp>
        <p:nvSpPr>
          <p:cNvPr id="6" name="Text 4"/>
          <p:cNvSpPr/>
          <p:nvPr/>
        </p:nvSpPr>
        <p:spPr>
          <a:xfrm>
            <a:off x="777240" y="1527048"/>
            <a:ext cx="3154680" cy="256032"/>
          </a:xfrm>
          <a:prstGeom prst="rect">
            <a:avLst/>
          </a:prstGeom>
          <a:noFill/>
          <a:ln/>
        </p:spPr>
        <p:txBody>
          <a:bodyPr wrap="square" lIns="0" tIns="0" rIns="0" bIns="0" rtlCol="0" anchor="ctr"/>
          <a:lstStyle/>
          <a:p>
            <a:pPr indent="0" marL="0">
              <a:buNone/>
            </a:pPr>
            <a:r>
              <a:rPr lang="en-US" sz="1300" b="1" dirty="0">
                <a:solidFill>
                  <a:srgbClr val="2B2A26"/>
                </a:solidFill>
                <a:latin typeface="Cambria" pitchFamily="34" charset="0"/>
                <a:ea typeface="Cambria" pitchFamily="34" charset="-122"/>
                <a:cs typeface="Cambria" pitchFamily="34" charset="-120"/>
              </a:rPr>
              <a:t>notebooks/</a:t>
            </a:r>
            <a:endParaRPr lang="en-US" sz="1300" dirty="0"/>
          </a:p>
        </p:txBody>
      </p:sp>
      <p:sp>
        <p:nvSpPr>
          <p:cNvPr id="7" name="Text 5"/>
          <p:cNvSpPr/>
          <p:nvPr/>
        </p:nvSpPr>
        <p:spPr>
          <a:xfrm>
            <a:off x="777240" y="1901952"/>
            <a:ext cx="3154680" cy="667512"/>
          </a:xfrm>
          <a:prstGeom prst="rect">
            <a:avLst/>
          </a:prstGeom>
          <a:noFill/>
          <a:ln/>
        </p:spPr>
        <p:txBody>
          <a:bodyPr wrap="square" lIns="254" tIns="254" rIns="254" bIns="254" rtlCol="0" anchor="t">
            <a:normAutofit/>
          </a:bodyPr>
          <a:lstStyle/>
          <a:p>
            <a:pPr indent="0" marL="0">
              <a:buNone/>
            </a:pPr>
            <a:r>
              <a:rPr lang="en-US" sz="960" dirty="0">
                <a:solidFill>
                  <a:srgbClr val="6E6658"/>
                </a:solidFill>
                <a:latin typeface="Calibri" pitchFamily="34" charset="0"/>
                <a:ea typeface="Calibri" pitchFamily="34" charset="-122"/>
                <a:cs typeface="Calibri" pitchFamily="34" charset="-120"/>
              </a:rPr>
              <a:t>Fully executed Review-2 classification and clustering notebooks with visible outputs.</a:t>
            </a:r>
            <a:endParaRPr lang="en-US" sz="960" dirty="0"/>
          </a:p>
        </p:txBody>
      </p:sp>
      <p:sp>
        <p:nvSpPr>
          <p:cNvPr id="8" name="Shape 6"/>
          <p:cNvSpPr/>
          <p:nvPr/>
        </p:nvSpPr>
        <p:spPr>
          <a:xfrm>
            <a:off x="4343400" y="1371600"/>
            <a:ext cx="3520440" cy="1325880"/>
          </a:xfrm>
          <a:prstGeom prst="rect">
            <a:avLst/>
          </a:prstGeom>
          <a:solidFill>
            <a:srgbClr val="F2EEE6"/>
          </a:solidFill>
          <a:ln w="12700">
            <a:solidFill>
              <a:srgbClr val="F2EEE6"/>
            </a:solidFill>
            <a:prstDash val="solid"/>
          </a:ln>
        </p:spPr>
      </p:sp>
      <p:sp>
        <p:nvSpPr>
          <p:cNvPr id="9" name="Text 7"/>
          <p:cNvSpPr/>
          <p:nvPr/>
        </p:nvSpPr>
        <p:spPr>
          <a:xfrm>
            <a:off x="4526280" y="1527048"/>
            <a:ext cx="3154680" cy="256032"/>
          </a:xfrm>
          <a:prstGeom prst="rect">
            <a:avLst/>
          </a:prstGeom>
          <a:noFill/>
          <a:ln/>
        </p:spPr>
        <p:txBody>
          <a:bodyPr wrap="square" lIns="0" tIns="0" rIns="0" bIns="0" rtlCol="0" anchor="ctr"/>
          <a:lstStyle/>
          <a:p>
            <a:pPr indent="0" marL="0">
              <a:buNone/>
            </a:pPr>
            <a:r>
              <a:rPr lang="en-US" sz="1300" b="1" dirty="0">
                <a:solidFill>
                  <a:srgbClr val="2B2A26"/>
                </a:solidFill>
                <a:latin typeface="Cambria" pitchFamily="34" charset="0"/>
                <a:ea typeface="Cambria" pitchFamily="34" charset="-122"/>
                <a:cs typeface="Cambria" pitchFamily="34" charset="-120"/>
              </a:rPr>
              <a:t>src/</a:t>
            </a:r>
            <a:endParaRPr lang="en-US" sz="1300" dirty="0"/>
          </a:p>
        </p:txBody>
      </p:sp>
      <p:sp>
        <p:nvSpPr>
          <p:cNvPr id="10" name="Text 8"/>
          <p:cNvSpPr/>
          <p:nvPr/>
        </p:nvSpPr>
        <p:spPr>
          <a:xfrm>
            <a:off x="4526280" y="1901952"/>
            <a:ext cx="3154680" cy="667512"/>
          </a:xfrm>
          <a:prstGeom prst="rect">
            <a:avLst/>
          </a:prstGeom>
          <a:noFill/>
          <a:ln/>
        </p:spPr>
        <p:txBody>
          <a:bodyPr wrap="square" lIns="254" tIns="254" rIns="254" bIns="254" rtlCol="0" anchor="t">
            <a:normAutofit/>
          </a:bodyPr>
          <a:lstStyle/>
          <a:p>
            <a:pPr indent="0" marL="0">
              <a:buNone/>
            </a:pPr>
            <a:r>
              <a:rPr lang="en-US" sz="960" dirty="0">
                <a:solidFill>
                  <a:srgbClr val="6E6658"/>
                </a:solidFill>
                <a:latin typeface="Calibri" pitchFamily="34" charset="0"/>
                <a:ea typeface="Calibri" pitchFamily="34" charset="-122"/>
                <a:cs typeface="Calibri" pitchFamily="34" charset="-120"/>
              </a:rPr>
              <a:t>Modular feature engineering, fitting, evaluation, export and release-validation code.</a:t>
            </a:r>
            <a:endParaRPr lang="en-US" sz="960" dirty="0"/>
          </a:p>
        </p:txBody>
      </p:sp>
      <p:sp>
        <p:nvSpPr>
          <p:cNvPr id="11" name="Shape 9"/>
          <p:cNvSpPr/>
          <p:nvPr/>
        </p:nvSpPr>
        <p:spPr>
          <a:xfrm>
            <a:off x="8092440" y="1371600"/>
            <a:ext cx="3520440" cy="1325880"/>
          </a:xfrm>
          <a:prstGeom prst="rect">
            <a:avLst/>
          </a:prstGeom>
          <a:solidFill>
            <a:srgbClr val="EAE3D6"/>
          </a:solidFill>
          <a:ln w="12700">
            <a:solidFill>
              <a:srgbClr val="EAE3D6"/>
            </a:solidFill>
            <a:prstDash val="solid"/>
          </a:ln>
        </p:spPr>
      </p:sp>
      <p:sp>
        <p:nvSpPr>
          <p:cNvPr id="12" name="Text 10"/>
          <p:cNvSpPr/>
          <p:nvPr/>
        </p:nvSpPr>
        <p:spPr>
          <a:xfrm>
            <a:off x="8275320" y="1527048"/>
            <a:ext cx="3154680" cy="256032"/>
          </a:xfrm>
          <a:prstGeom prst="rect">
            <a:avLst/>
          </a:prstGeom>
          <a:noFill/>
          <a:ln/>
        </p:spPr>
        <p:txBody>
          <a:bodyPr wrap="square" lIns="0" tIns="0" rIns="0" bIns="0" rtlCol="0" anchor="ctr"/>
          <a:lstStyle/>
          <a:p>
            <a:pPr indent="0" marL="0">
              <a:buNone/>
            </a:pPr>
            <a:r>
              <a:rPr lang="en-US" sz="1300" b="1" dirty="0">
                <a:solidFill>
                  <a:srgbClr val="2B2A26"/>
                </a:solidFill>
                <a:latin typeface="Cambria" pitchFamily="34" charset="0"/>
                <a:ea typeface="Cambria" pitchFamily="34" charset="-122"/>
                <a:cs typeface="Cambria" pitchFamily="34" charset="-120"/>
              </a:rPr>
              <a:t>results/</a:t>
            </a:r>
            <a:endParaRPr lang="en-US" sz="1300" dirty="0"/>
          </a:p>
        </p:txBody>
      </p:sp>
      <p:sp>
        <p:nvSpPr>
          <p:cNvPr id="13" name="Text 11"/>
          <p:cNvSpPr/>
          <p:nvPr/>
        </p:nvSpPr>
        <p:spPr>
          <a:xfrm>
            <a:off x="8275320" y="1901952"/>
            <a:ext cx="3154680" cy="667512"/>
          </a:xfrm>
          <a:prstGeom prst="rect">
            <a:avLst/>
          </a:prstGeom>
          <a:noFill/>
          <a:ln/>
        </p:spPr>
        <p:txBody>
          <a:bodyPr wrap="square" lIns="254" tIns="254" rIns="254" bIns="254" rtlCol="0" anchor="t">
            <a:normAutofit/>
          </a:bodyPr>
          <a:lstStyle/>
          <a:p>
            <a:pPr indent="0" marL="0">
              <a:buNone/>
            </a:pPr>
            <a:r>
              <a:rPr lang="en-US" sz="960" dirty="0">
                <a:solidFill>
                  <a:srgbClr val="6E6658"/>
                </a:solidFill>
                <a:latin typeface="Calibri" pitchFamily="34" charset="0"/>
                <a:ea typeface="Calibri" pitchFamily="34" charset="-122"/>
                <a:cs typeface="Calibri" pitchFamily="34" charset="-120"/>
              </a:rPr>
              <a:t>Classification comparison/CV/tuning, clustering elbow/linkage/PCA/profiles and validation evidence.</a:t>
            </a:r>
            <a:endParaRPr lang="en-US" sz="960" dirty="0"/>
          </a:p>
        </p:txBody>
      </p:sp>
      <p:sp>
        <p:nvSpPr>
          <p:cNvPr id="14" name="Shape 12"/>
          <p:cNvSpPr/>
          <p:nvPr/>
        </p:nvSpPr>
        <p:spPr>
          <a:xfrm>
            <a:off x="594360" y="2944368"/>
            <a:ext cx="3520440" cy="1325880"/>
          </a:xfrm>
          <a:prstGeom prst="rect">
            <a:avLst/>
          </a:prstGeom>
          <a:solidFill>
            <a:srgbClr val="F2EEE6"/>
          </a:solidFill>
          <a:ln w="12700">
            <a:solidFill>
              <a:srgbClr val="F2EEE6"/>
            </a:solidFill>
            <a:prstDash val="solid"/>
          </a:ln>
        </p:spPr>
      </p:sp>
      <p:sp>
        <p:nvSpPr>
          <p:cNvPr id="15" name="Text 13"/>
          <p:cNvSpPr/>
          <p:nvPr/>
        </p:nvSpPr>
        <p:spPr>
          <a:xfrm>
            <a:off x="777240" y="3099816"/>
            <a:ext cx="3154680" cy="256032"/>
          </a:xfrm>
          <a:prstGeom prst="rect">
            <a:avLst/>
          </a:prstGeom>
          <a:noFill/>
          <a:ln/>
        </p:spPr>
        <p:txBody>
          <a:bodyPr wrap="square" lIns="0" tIns="0" rIns="0" bIns="0" rtlCol="0" anchor="ctr"/>
          <a:lstStyle/>
          <a:p>
            <a:pPr indent="0" marL="0">
              <a:buNone/>
            </a:pPr>
            <a:r>
              <a:rPr lang="en-US" sz="1300" b="1" dirty="0">
                <a:solidFill>
                  <a:srgbClr val="2B2A26"/>
                </a:solidFill>
                <a:latin typeface="Cambria" pitchFamily="34" charset="0"/>
                <a:ea typeface="Cambria" pitchFamily="34" charset="-122"/>
                <a:cs typeface="Cambria" pitchFamily="34" charset="-120"/>
              </a:rPr>
              <a:t>models/</a:t>
            </a:r>
            <a:endParaRPr lang="en-US" sz="1300" dirty="0"/>
          </a:p>
        </p:txBody>
      </p:sp>
      <p:sp>
        <p:nvSpPr>
          <p:cNvPr id="16" name="Text 14"/>
          <p:cNvSpPr/>
          <p:nvPr/>
        </p:nvSpPr>
        <p:spPr>
          <a:xfrm>
            <a:off x="777240" y="3474720"/>
            <a:ext cx="3154680" cy="667512"/>
          </a:xfrm>
          <a:prstGeom prst="rect">
            <a:avLst/>
          </a:prstGeom>
          <a:noFill/>
          <a:ln/>
        </p:spPr>
        <p:txBody>
          <a:bodyPr wrap="square" lIns="254" tIns="254" rIns="254" bIns="254" rtlCol="0" anchor="t">
            <a:normAutofit/>
          </a:bodyPr>
          <a:lstStyle/>
          <a:p>
            <a:pPr indent="0" marL="0">
              <a:buNone/>
            </a:pPr>
            <a:r>
              <a:rPr lang="en-US" sz="960" dirty="0">
                <a:solidFill>
                  <a:srgbClr val="6E6658"/>
                </a:solidFill>
                <a:latin typeface="Calibri" pitchFamily="34" charset="0"/>
                <a:ea typeface="Calibri" pitchFamily="34" charset="-122"/>
                <a:cs typeface="Calibri" pitchFamily="34" charset="-120"/>
              </a:rPr>
              <a:t>Saved classifier, clustering model and regression GUI model used by the app.</a:t>
            </a:r>
            <a:endParaRPr lang="en-US" sz="960" dirty="0"/>
          </a:p>
        </p:txBody>
      </p:sp>
      <p:sp>
        <p:nvSpPr>
          <p:cNvPr id="17" name="Shape 15"/>
          <p:cNvSpPr/>
          <p:nvPr/>
        </p:nvSpPr>
        <p:spPr>
          <a:xfrm>
            <a:off x="4343400" y="2944368"/>
            <a:ext cx="3520440" cy="1325880"/>
          </a:xfrm>
          <a:prstGeom prst="rect">
            <a:avLst/>
          </a:prstGeom>
          <a:solidFill>
            <a:srgbClr val="EAE3D6"/>
          </a:solidFill>
          <a:ln w="12700">
            <a:solidFill>
              <a:srgbClr val="EAE3D6"/>
            </a:solidFill>
            <a:prstDash val="solid"/>
          </a:ln>
        </p:spPr>
      </p:sp>
      <p:sp>
        <p:nvSpPr>
          <p:cNvPr id="18" name="Text 16"/>
          <p:cNvSpPr/>
          <p:nvPr/>
        </p:nvSpPr>
        <p:spPr>
          <a:xfrm>
            <a:off x="4526280" y="3099816"/>
            <a:ext cx="3154680" cy="256032"/>
          </a:xfrm>
          <a:prstGeom prst="rect">
            <a:avLst/>
          </a:prstGeom>
          <a:noFill/>
          <a:ln/>
        </p:spPr>
        <p:txBody>
          <a:bodyPr wrap="square" lIns="0" tIns="0" rIns="0" bIns="0" rtlCol="0" anchor="ctr"/>
          <a:lstStyle/>
          <a:p>
            <a:pPr indent="0" marL="0">
              <a:buNone/>
            </a:pPr>
            <a:r>
              <a:rPr lang="en-US" sz="1300" b="1" dirty="0">
                <a:solidFill>
                  <a:srgbClr val="2B2A26"/>
                </a:solidFill>
                <a:latin typeface="Cambria" pitchFamily="34" charset="0"/>
                <a:ea typeface="Cambria" pitchFamily="34" charset="-122"/>
                <a:cs typeface="Cambria" pitchFamily="34" charset="-120"/>
              </a:rPr>
              <a:t>app/</a:t>
            </a:r>
            <a:endParaRPr lang="en-US" sz="1300" dirty="0"/>
          </a:p>
        </p:txBody>
      </p:sp>
      <p:sp>
        <p:nvSpPr>
          <p:cNvPr id="19" name="Text 17"/>
          <p:cNvSpPr/>
          <p:nvPr/>
        </p:nvSpPr>
        <p:spPr>
          <a:xfrm>
            <a:off x="4526280" y="3474720"/>
            <a:ext cx="3154680" cy="667512"/>
          </a:xfrm>
          <a:prstGeom prst="rect">
            <a:avLst/>
          </a:prstGeom>
          <a:noFill/>
          <a:ln/>
        </p:spPr>
        <p:txBody>
          <a:bodyPr wrap="square" lIns="254" tIns="254" rIns="254" bIns="254" rtlCol="0" anchor="t">
            <a:normAutofit/>
          </a:bodyPr>
          <a:lstStyle/>
          <a:p>
            <a:pPr indent="0" marL="0">
              <a:buNone/>
            </a:pPr>
            <a:r>
              <a:rPr lang="en-US" sz="960" dirty="0">
                <a:solidFill>
                  <a:srgbClr val="6E6658"/>
                </a:solidFill>
                <a:latin typeface="Calibri" pitchFamily="34" charset="0"/>
                <a:ea typeface="Calibri" pitchFamily="34" charset="-122"/>
                <a:cs typeface="Calibri" pitchFamily="34" charset="-120"/>
              </a:rPr>
              <a:t>Streamlit interface: streamlit_app.py → dashboard.py.</a:t>
            </a:r>
            <a:endParaRPr lang="en-US" sz="960" dirty="0"/>
          </a:p>
        </p:txBody>
      </p:sp>
      <p:sp>
        <p:nvSpPr>
          <p:cNvPr id="20" name="Shape 18"/>
          <p:cNvSpPr/>
          <p:nvPr/>
        </p:nvSpPr>
        <p:spPr>
          <a:xfrm>
            <a:off x="8092440" y="2944368"/>
            <a:ext cx="3520440" cy="1325880"/>
          </a:xfrm>
          <a:prstGeom prst="rect">
            <a:avLst/>
          </a:prstGeom>
          <a:solidFill>
            <a:srgbClr val="F2EEE6"/>
          </a:solidFill>
          <a:ln w="12700">
            <a:solidFill>
              <a:srgbClr val="F2EEE6"/>
            </a:solidFill>
            <a:prstDash val="solid"/>
          </a:ln>
        </p:spPr>
      </p:sp>
      <p:sp>
        <p:nvSpPr>
          <p:cNvPr id="21" name="Text 19"/>
          <p:cNvSpPr/>
          <p:nvPr/>
        </p:nvSpPr>
        <p:spPr>
          <a:xfrm>
            <a:off x="8275320" y="3099816"/>
            <a:ext cx="3154680" cy="256032"/>
          </a:xfrm>
          <a:prstGeom prst="rect">
            <a:avLst/>
          </a:prstGeom>
          <a:noFill/>
          <a:ln/>
        </p:spPr>
        <p:txBody>
          <a:bodyPr wrap="square" lIns="0" tIns="0" rIns="0" bIns="0" rtlCol="0" anchor="ctr"/>
          <a:lstStyle/>
          <a:p>
            <a:pPr indent="0" marL="0">
              <a:buNone/>
            </a:pPr>
            <a:r>
              <a:rPr lang="en-US" sz="1300" b="1" dirty="0">
                <a:solidFill>
                  <a:srgbClr val="2B2A26"/>
                </a:solidFill>
                <a:latin typeface="Cambria" pitchFamily="34" charset="0"/>
                <a:ea typeface="Cambria" pitchFamily="34" charset="-122"/>
                <a:cs typeface="Cambria" pitchFamily="34" charset="-120"/>
              </a:rPr>
              <a:t>README + requirements</a:t>
            </a:r>
            <a:endParaRPr lang="en-US" sz="1300" dirty="0"/>
          </a:p>
        </p:txBody>
      </p:sp>
      <p:sp>
        <p:nvSpPr>
          <p:cNvPr id="22" name="Text 20"/>
          <p:cNvSpPr/>
          <p:nvPr/>
        </p:nvSpPr>
        <p:spPr>
          <a:xfrm>
            <a:off x="8275320" y="3474720"/>
            <a:ext cx="3154680" cy="667512"/>
          </a:xfrm>
          <a:prstGeom prst="rect">
            <a:avLst/>
          </a:prstGeom>
          <a:noFill/>
          <a:ln/>
        </p:spPr>
        <p:txBody>
          <a:bodyPr wrap="square" lIns="254" tIns="254" rIns="254" bIns="254" rtlCol="0" anchor="t">
            <a:normAutofit/>
          </a:bodyPr>
          <a:lstStyle/>
          <a:p>
            <a:pPr indent="0" marL="0">
              <a:buNone/>
            </a:pPr>
            <a:r>
              <a:rPr lang="en-US" sz="960" dirty="0">
                <a:solidFill>
                  <a:srgbClr val="6E6658"/>
                </a:solidFill>
                <a:latin typeface="Calibri" pitchFamily="34" charset="0"/>
                <a:ea typeface="Calibri" pitchFamily="34" charset="-122"/>
                <a:cs typeface="Calibri" pitchFamily="34" charset="-120"/>
              </a:rPr>
              <a:t>README documents problem/data/results/setup/run instructions; requirements.txt and requirements-dev.txt are present.</a:t>
            </a:r>
            <a:endParaRPr lang="en-US" sz="960" dirty="0"/>
          </a:p>
        </p:txBody>
      </p:sp>
      <p:sp>
        <p:nvSpPr>
          <p:cNvPr id="23" name="Shape 21"/>
          <p:cNvSpPr/>
          <p:nvPr/>
        </p:nvSpPr>
        <p:spPr>
          <a:xfrm>
            <a:off x="594360" y="4663440"/>
            <a:ext cx="10972800" cy="960120"/>
          </a:xfrm>
          <a:prstGeom prst="rect">
            <a:avLst/>
          </a:prstGeom>
          <a:solidFill>
            <a:srgbClr val="EAE3D6"/>
          </a:solidFill>
          <a:ln w="12700">
            <a:solidFill>
              <a:srgbClr val="EAE3D6"/>
            </a:solidFill>
            <a:prstDash val="solid"/>
          </a:ln>
        </p:spPr>
      </p:sp>
      <p:sp>
        <p:nvSpPr>
          <p:cNvPr id="24" name="Text 22"/>
          <p:cNvSpPr/>
          <p:nvPr/>
        </p:nvSpPr>
        <p:spPr>
          <a:xfrm>
            <a:off x="777240" y="4818888"/>
            <a:ext cx="10607040" cy="256032"/>
          </a:xfrm>
          <a:prstGeom prst="rect">
            <a:avLst/>
          </a:prstGeom>
          <a:noFill/>
          <a:ln/>
        </p:spPr>
        <p:txBody>
          <a:bodyPr wrap="square" lIns="0" tIns="0" rIns="0" bIns="0" rtlCol="0" anchor="ctr"/>
          <a:lstStyle/>
          <a:p>
            <a:pPr indent="0" marL="0">
              <a:buNone/>
            </a:pPr>
            <a:r>
              <a:rPr lang="en-US" sz="1220" b="1" dirty="0">
                <a:solidFill>
                  <a:srgbClr val="2B2A26"/>
                </a:solidFill>
                <a:latin typeface="Cambria" pitchFamily="34" charset="0"/>
                <a:ea typeface="Cambria" pitchFamily="34" charset="-122"/>
                <a:cs typeface="Cambria" pitchFamily="34" charset="-120"/>
              </a:rPr>
              <a:t>Rubric integration</a:t>
            </a:r>
            <a:endParaRPr lang="en-US" sz="1220" dirty="0"/>
          </a:p>
        </p:txBody>
      </p:sp>
      <p:sp>
        <p:nvSpPr>
          <p:cNvPr id="25" name="Text 23"/>
          <p:cNvSpPr/>
          <p:nvPr/>
        </p:nvSpPr>
        <p:spPr>
          <a:xfrm>
            <a:off x="777240" y="5193792"/>
            <a:ext cx="10607040" cy="301752"/>
          </a:xfrm>
          <a:prstGeom prst="rect">
            <a:avLst/>
          </a:prstGeom>
          <a:noFill/>
          <a:ln/>
        </p:spPr>
        <p:txBody>
          <a:bodyPr wrap="square" lIns="254" tIns="254" rIns="254" bIns="254" rtlCol="0" anchor="t">
            <a:normAutofit/>
          </a:bodyPr>
          <a:lstStyle/>
          <a:p>
            <a:pPr indent="0" marL="0">
              <a:buNone/>
            </a:pPr>
            <a:r>
              <a:rPr lang="en-US" sz="1020" dirty="0">
                <a:solidFill>
                  <a:srgbClr val="6E6658"/>
                </a:solidFill>
                <a:latin typeface="Calibri" pitchFamily="34" charset="0"/>
                <a:ea typeface="Calibri" pitchFamily="34" charset="-122"/>
                <a:cs typeface="Calibri" pitchFamily="34" charset="-120"/>
              </a:rPr>
              <a:t>The project contains the notebook outputs, comparative tables, visualisations, README, environment files, modular code and Streamlit GUI required by Review 2. The repository is the single source of the current saved model/result artefacts.</a:t>
            </a:r>
            <a:endParaRPr lang="en-US" sz="1020" dirty="0"/>
          </a:p>
        </p:txBody>
      </p:sp>
      <p:sp>
        <p:nvSpPr>
          <p:cNvPr id="26" name="Text 24"/>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GitHub repository: HarshaGaduputi/Machine-Learning-Case-Study.</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BONUS · GUI</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Interactive Streamlit application — what is implemented</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Application</a:t>
            </a:r>
            <a:endParaRPr lang="en-US" sz="900" dirty="0"/>
          </a:p>
        </p:txBody>
      </p:sp>
      <p:sp>
        <p:nvSpPr>
          <p:cNvPr id="5" name="Shape 3"/>
          <p:cNvSpPr/>
          <p:nvPr/>
        </p:nvSpPr>
        <p:spPr>
          <a:xfrm>
            <a:off x="502920" y="1417320"/>
            <a:ext cx="2743200" cy="2011680"/>
          </a:xfrm>
          <a:prstGeom prst="rect">
            <a:avLst/>
          </a:prstGeom>
          <a:solidFill>
            <a:srgbClr val="EAE3D6"/>
          </a:solidFill>
          <a:ln w="12700">
            <a:solidFill>
              <a:srgbClr val="EAE3D6"/>
            </a:solidFill>
            <a:prstDash val="solid"/>
          </a:ln>
        </p:spPr>
      </p:sp>
      <p:sp>
        <p:nvSpPr>
          <p:cNvPr id="6" name="Text 4"/>
          <p:cNvSpPr/>
          <p:nvPr/>
        </p:nvSpPr>
        <p:spPr>
          <a:xfrm>
            <a:off x="685800" y="1572768"/>
            <a:ext cx="237744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Regression</a:t>
            </a:r>
            <a:endParaRPr lang="en-US" sz="1400" dirty="0"/>
          </a:p>
        </p:txBody>
      </p:sp>
      <p:sp>
        <p:nvSpPr>
          <p:cNvPr id="7" name="Text 5"/>
          <p:cNvSpPr/>
          <p:nvPr/>
        </p:nvSpPr>
        <p:spPr>
          <a:xfrm>
            <a:off x="685800" y="1947672"/>
            <a:ext cx="2377440" cy="1353312"/>
          </a:xfrm>
          <a:prstGeom prst="rect">
            <a:avLst/>
          </a:prstGeom>
          <a:noFill/>
          <a:ln/>
        </p:spPr>
        <p:txBody>
          <a:bodyPr wrap="square" lIns="254" tIns="254" rIns="254" bIns="254" rtlCol="0" anchor="t">
            <a:normAutofit/>
          </a:bodyPr>
          <a:lstStyle/>
          <a:p>
            <a:pPr indent="0" marL="0">
              <a:buNone/>
            </a:pPr>
            <a:r>
              <a:rPr lang="en-US" sz="1040" dirty="0">
                <a:solidFill>
                  <a:srgbClr val="6E6658"/>
                </a:solidFill>
                <a:latin typeface="Calibri" pitchFamily="34" charset="0"/>
                <a:ea typeface="Calibri" pitchFamily="34" charset="-122"/>
                <a:cs typeface="Calibri" pitchFamily="34" charset="-120"/>
              </a:rPr>
              <a:t>Building inputs → Site EUI estimate</a:t>
            </a:r>
            <a:endParaRPr lang="en-US" sz="1040" dirty="0"/>
          </a:p>
          <a:p>
            <a:pPr indent="0" marL="0">
              <a:buNone/>
            </a:pPr>
            <a:r>
              <a:rPr lang="en-US" sz="1040" dirty="0">
                <a:solidFill>
                  <a:srgbClr val="6E6658"/>
                </a:solidFill>
                <a:latin typeface="Calibri" pitchFamily="34" charset="0"/>
                <a:ea typeface="Calibri" pitchFamily="34" charset="-122"/>
                <a:cs typeface="Calibri" pitchFamily="34" charset="-120"/>
              </a:rPr>
              <a:t>90% internal error range + held-out charts</a:t>
            </a:r>
            <a:endParaRPr lang="en-US" sz="1040" dirty="0"/>
          </a:p>
        </p:txBody>
      </p:sp>
      <p:sp>
        <p:nvSpPr>
          <p:cNvPr id="8" name="Shape 6"/>
          <p:cNvSpPr/>
          <p:nvPr/>
        </p:nvSpPr>
        <p:spPr>
          <a:xfrm>
            <a:off x="3410712" y="1417320"/>
            <a:ext cx="2743200" cy="2011680"/>
          </a:xfrm>
          <a:prstGeom prst="rect">
            <a:avLst/>
          </a:prstGeom>
          <a:solidFill>
            <a:srgbClr val="F2EEE6"/>
          </a:solidFill>
          <a:ln w="12700">
            <a:solidFill>
              <a:srgbClr val="F2EEE6"/>
            </a:solidFill>
            <a:prstDash val="solid"/>
          </a:ln>
        </p:spPr>
      </p:sp>
      <p:sp>
        <p:nvSpPr>
          <p:cNvPr id="9" name="Text 7"/>
          <p:cNvSpPr/>
          <p:nvPr/>
        </p:nvSpPr>
        <p:spPr>
          <a:xfrm>
            <a:off x="3593592" y="1572768"/>
            <a:ext cx="237744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Classification</a:t>
            </a:r>
            <a:endParaRPr lang="en-US" sz="1400" dirty="0"/>
          </a:p>
        </p:txBody>
      </p:sp>
      <p:sp>
        <p:nvSpPr>
          <p:cNvPr id="10" name="Text 8"/>
          <p:cNvSpPr/>
          <p:nvPr/>
        </p:nvSpPr>
        <p:spPr>
          <a:xfrm>
            <a:off x="3593592" y="1947672"/>
            <a:ext cx="2377440" cy="1353312"/>
          </a:xfrm>
          <a:prstGeom prst="rect">
            <a:avLst/>
          </a:prstGeom>
          <a:noFill/>
          <a:ln/>
        </p:spPr>
        <p:txBody>
          <a:bodyPr wrap="square" lIns="254" tIns="254" rIns="254" bIns="254" rtlCol="0" anchor="t">
            <a:normAutofit/>
          </a:bodyPr>
          <a:lstStyle/>
          <a:p>
            <a:pPr indent="0" marL="0">
              <a:buNone/>
            </a:pPr>
            <a:r>
              <a:rPr lang="en-US" sz="1040" dirty="0">
                <a:solidFill>
                  <a:srgbClr val="6E6658"/>
                </a:solidFill>
                <a:latin typeface="Calibri" pitchFamily="34" charset="0"/>
                <a:ea typeface="Calibri" pitchFamily="34" charset="-122"/>
                <a:cs typeface="Calibri" pitchFamily="34" charset="-120"/>
              </a:rPr>
              <a:t>Water measurements → Good / Moderate / Poor</a:t>
            </a:r>
            <a:endParaRPr lang="en-US" sz="1040" dirty="0"/>
          </a:p>
          <a:p>
            <a:pPr indent="0" marL="0">
              <a:buNone/>
            </a:pPr>
            <a:r>
              <a:rPr lang="en-US" sz="1040" dirty="0">
                <a:solidFill>
                  <a:srgbClr val="6E6658"/>
                </a:solidFill>
                <a:latin typeface="Calibri" pitchFamily="34" charset="0"/>
                <a:ea typeface="Calibri" pitchFamily="34" charset="-122"/>
                <a:cs typeface="Calibri" pitchFamily="34" charset="-120"/>
              </a:rPr>
              <a:t>Calibrated probabilities + confusion/reliability evidence</a:t>
            </a:r>
            <a:endParaRPr lang="en-US" sz="1040" dirty="0"/>
          </a:p>
        </p:txBody>
      </p:sp>
      <p:sp>
        <p:nvSpPr>
          <p:cNvPr id="11" name="Shape 9"/>
          <p:cNvSpPr/>
          <p:nvPr/>
        </p:nvSpPr>
        <p:spPr>
          <a:xfrm>
            <a:off x="6318504" y="1417320"/>
            <a:ext cx="2743200" cy="2011680"/>
          </a:xfrm>
          <a:prstGeom prst="rect">
            <a:avLst/>
          </a:prstGeom>
          <a:solidFill>
            <a:srgbClr val="EAE3D6"/>
          </a:solidFill>
          <a:ln w="12700">
            <a:solidFill>
              <a:srgbClr val="EAE3D6"/>
            </a:solidFill>
            <a:prstDash val="solid"/>
          </a:ln>
        </p:spPr>
      </p:sp>
      <p:sp>
        <p:nvSpPr>
          <p:cNvPr id="12" name="Text 10"/>
          <p:cNvSpPr/>
          <p:nvPr/>
        </p:nvSpPr>
        <p:spPr>
          <a:xfrm>
            <a:off x="6501384" y="1572768"/>
            <a:ext cx="237744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Clustering</a:t>
            </a:r>
            <a:endParaRPr lang="en-US" sz="1400" dirty="0"/>
          </a:p>
        </p:txBody>
      </p:sp>
      <p:sp>
        <p:nvSpPr>
          <p:cNvPr id="13" name="Text 11"/>
          <p:cNvSpPr/>
          <p:nvPr/>
        </p:nvSpPr>
        <p:spPr>
          <a:xfrm>
            <a:off x="6501384" y="1947672"/>
            <a:ext cx="2377440" cy="1353312"/>
          </a:xfrm>
          <a:prstGeom prst="rect">
            <a:avLst/>
          </a:prstGeom>
          <a:noFill/>
          <a:ln/>
        </p:spPr>
        <p:txBody>
          <a:bodyPr wrap="square" lIns="254" tIns="254" rIns="254" bIns="254" rtlCol="0" anchor="t">
            <a:normAutofit/>
          </a:bodyPr>
          <a:lstStyle/>
          <a:p>
            <a:pPr indent="0" marL="0">
              <a:buNone/>
            </a:pPr>
            <a:r>
              <a:rPr lang="en-US" sz="1040" dirty="0">
                <a:solidFill>
                  <a:srgbClr val="6E6658"/>
                </a:solidFill>
                <a:latin typeface="Calibri" pitchFamily="34" charset="0"/>
                <a:ea typeface="Calibri" pitchFamily="34" charset="-122"/>
                <a:cs typeface="Calibri" pitchFamily="34" charset="-120"/>
              </a:rPr>
              <a:t>Pollutants + weather + time/wind → K-Means cluster</a:t>
            </a:r>
            <a:endParaRPr lang="en-US" sz="1040" dirty="0"/>
          </a:p>
          <a:p>
            <a:pPr indent="0" marL="0">
              <a:buNone/>
            </a:pPr>
            <a:r>
              <a:rPr lang="en-US" sz="1040" dirty="0">
                <a:solidFill>
                  <a:srgbClr val="6E6658"/>
                </a:solidFill>
                <a:latin typeface="Calibri" pitchFamily="34" charset="0"/>
                <a:ea typeface="Calibri" pitchFamily="34" charset="-122"/>
                <a:cs typeface="Calibri" pitchFamily="34" charset="-120"/>
              </a:rPr>
              <a:t>PCA projection + comparison with historical cluster averages</a:t>
            </a:r>
            <a:endParaRPr lang="en-US" sz="1040" dirty="0"/>
          </a:p>
        </p:txBody>
      </p:sp>
      <p:sp>
        <p:nvSpPr>
          <p:cNvPr id="14" name="Shape 12"/>
          <p:cNvSpPr/>
          <p:nvPr/>
        </p:nvSpPr>
        <p:spPr>
          <a:xfrm>
            <a:off x="9226296" y="1417320"/>
            <a:ext cx="2743200" cy="2011680"/>
          </a:xfrm>
          <a:prstGeom prst="rect">
            <a:avLst/>
          </a:prstGeom>
          <a:solidFill>
            <a:srgbClr val="F2EEE6"/>
          </a:solidFill>
          <a:ln w="12700">
            <a:solidFill>
              <a:srgbClr val="F2EEE6"/>
            </a:solidFill>
            <a:prstDash val="solid"/>
          </a:ln>
        </p:spPr>
      </p:sp>
      <p:sp>
        <p:nvSpPr>
          <p:cNvPr id="15" name="Text 13"/>
          <p:cNvSpPr/>
          <p:nvPr/>
        </p:nvSpPr>
        <p:spPr>
          <a:xfrm>
            <a:off x="9409176" y="1572768"/>
            <a:ext cx="237744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Study results</a:t>
            </a:r>
            <a:endParaRPr lang="en-US" sz="1400" dirty="0"/>
          </a:p>
        </p:txBody>
      </p:sp>
      <p:sp>
        <p:nvSpPr>
          <p:cNvPr id="16" name="Text 14"/>
          <p:cNvSpPr/>
          <p:nvPr/>
        </p:nvSpPr>
        <p:spPr>
          <a:xfrm>
            <a:off x="9409176" y="1947672"/>
            <a:ext cx="2377440" cy="1353312"/>
          </a:xfrm>
          <a:prstGeom prst="rect">
            <a:avLst/>
          </a:prstGeom>
          <a:noFill/>
          <a:ln/>
        </p:spPr>
        <p:txBody>
          <a:bodyPr wrap="square" lIns="254" tIns="254" rIns="254" bIns="254" rtlCol="0" anchor="t">
            <a:normAutofit/>
          </a:bodyPr>
          <a:lstStyle/>
          <a:p>
            <a:pPr indent="0" marL="0">
              <a:buNone/>
            </a:pPr>
            <a:r>
              <a:rPr lang="en-US" sz="1040" dirty="0">
                <a:solidFill>
                  <a:srgbClr val="6E6658"/>
                </a:solidFill>
                <a:latin typeface="Calibri" pitchFamily="34" charset="0"/>
                <a:ea typeface="Calibri" pitchFamily="34" charset="-122"/>
                <a:cs typeface="Calibri" pitchFamily="34" charset="-120"/>
              </a:rPr>
              <a:t>10-classifier table · clustering metrics · elbow · PCA · linkage · method limits</a:t>
            </a:r>
            <a:endParaRPr lang="en-US" sz="1040" dirty="0"/>
          </a:p>
        </p:txBody>
      </p:sp>
      <p:sp>
        <p:nvSpPr>
          <p:cNvPr id="17" name="Shape 15"/>
          <p:cNvSpPr/>
          <p:nvPr/>
        </p:nvSpPr>
        <p:spPr>
          <a:xfrm>
            <a:off x="594360" y="3794760"/>
            <a:ext cx="5349240" cy="1554480"/>
          </a:xfrm>
          <a:prstGeom prst="rect">
            <a:avLst/>
          </a:prstGeom>
          <a:solidFill>
            <a:srgbClr val="EAE3D6"/>
          </a:solidFill>
          <a:ln w="12700">
            <a:solidFill>
              <a:srgbClr val="EAE3D6"/>
            </a:solidFill>
            <a:prstDash val="solid"/>
          </a:ln>
        </p:spPr>
      </p:sp>
      <p:sp>
        <p:nvSpPr>
          <p:cNvPr id="18" name="Text 16"/>
          <p:cNvSpPr/>
          <p:nvPr/>
        </p:nvSpPr>
        <p:spPr>
          <a:xfrm>
            <a:off x="777240" y="3950208"/>
            <a:ext cx="498348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Input safeguards implemented</a:t>
            </a:r>
            <a:endParaRPr lang="en-US" sz="1400" dirty="0"/>
          </a:p>
        </p:txBody>
      </p:sp>
      <p:sp>
        <p:nvSpPr>
          <p:cNvPr id="19" name="Text 17"/>
          <p:cNvSpPr/>
          <p:nvPr/>
        </p:nvSpPr>
        <p:spPr>
          <a:xfrm>
            <a:off x="777240" y="4325112"/>
            <a:ext cx="4983480" cy="89611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Forms start blank or can load a real source row. Unsupported/out-of-range inputs can be withheld instead of forcing a prediction. Accepted results include model version, entered values, imputed fields and limitations in a downloadable JSON record.</a:t>
            </a:r>
            <a:endParaRPr lang="en-US" sz="1100" dirty="0"/>
          </a:p>
        </p:txBody>
      </p:sp>
      <p:sp>
        <p:nvSpPr>
          <p:cNvPr id="20" name="Shape 18"/>
          <p:cNvSpPr/>
          <p:nvPr/>
        </p:nvSpPr>
        <p:spPr>
          <a:xfrm>
            <a:off x="6217920" y="3794760"/>
            <a:ext cx="5349240" cy="1554480"/>
          </a:xfrm>
          <a:prstGeom prst="rect">
            <a:avLst/>
          </a:prstGeom>
          <a:solidFill>
            <a:srgbClr val="EAE3D6"/>
          </a:solidFill>
          <a:ln w="12700">
            <a:solidFill>
              <a:srgbClr val="EAE3D6"/>
            </a:solidFill>
            <a:prstDash val="solid"/>
          </a:ln>
        </p:spPr>
      </p:sp>
      <p:sp>
        <p:nvSpPr>
          <p:cNvPr id="21" name="Text 19"/>
          <p:cNvSpPr/>
          <p:nvPr/>
        </p:nvSpPr>
        <p:spPr>
          <a:xfrm>
            <a:off x="6400800" y="3950208"/>
            <a:ext cx="498348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Current bonus status</a:t>
            </a:r>
            <a:endParaRPr lang="en-US" sz="1400" dirty="0"/>
          </a:p>
        </p:txBody>
      </p:sp>
      <p:sp>
        <p:nvSpPr>
          <p:cNvPr id="22" name="Text 20"/>
          <p:cNvSpPr/>
          <p:nvPr/>
        </p:nvSpPr>
        <p:spPr>
          <a:xfrm>
            <a:off x="6400800" y="4325112"/>
            <a:ext cx="4983480" cy="89611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Interactive GUI: implemented ✓</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Public deployment: not claimed ✗</a:t>
            </a:r>
            <a:endParaRPr lang="en-US" sz="1100" dirty="0"/>
          </a:p>
          <a:p>
            <a:pPr indent="0" marL="0">
              <a:buNone/>
            </a:pP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The repository documents a deployment hold until dataset permissions and fresh-environment validation are resolved. Therefore the project currently earns the GUI bonus component only, not the deployment component.</a:t>
            </a:r>
            <a:endParaRPr lang="en-US" sz="1100" dirty="0"/>
          </a:p>
        </p:txBody>
      </p:sp>
      <p:sp>
        <p:nvSpPr>
          <p:cNvPr id="23" name="Text 21"/>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UI behavior and status: app/dashboard.py · README.md · DEPLOYMENT.md.</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050" b="1" dirty="0">
                <a:solidFill>
                  <a:srgbClr val="A4613C"/>
                </a:solidFill>
                <a:latin typeface="Calibri" pitchFamily="34" charset="0"/>
                <a:ea typeface="Calibri" pitchFamily="34" charset="-122"/>
                <a:cs typeface="Calibri" pitchFamily="34" charset="-120"/>
              </a:rPr>
              <a:t>BONUS · GUI</a:t>
            </a:r>
            <a:endParaRPr lang="en-US" sz="1050" dirty="0"/>
          </a:p>
        </p:txBody>
      </p:sp>
      <p:sp>
        <p:nvSpPr>
          <p:cNvPr id="3" name="Text 1"/>
          <p:cNvSpPr/>
          <p:nvPr/>
        </p:nvSpPr>
        <p:spPr>
          <a:xfrm>
            <a:off x="548640" y="621792"/>
            <a:ext cx="11018520" cy="640080"/>
          </a:xfrm>
          <a:prstGeom prst="rect">
            <a:avLst/>
          </a:prstGeom>
          <a:noFill/>
          <a:ln/>
        </p:spPr>
        <p:txBody>
          <a:bodyPr wrap="square" lIns="0" tIns="0" rIns="0" bIns="0" rtlCol="0" anchor="ctr"/>
          <a:lstStyle/>
          <a:p>
            <a:pPr indent="0" marL="0">
              <a:buNone/>
            </a:pPr>
            <a:r>
              <a:rPr lang="en-US" sz="2800" b="1" dirty="0">
                <a:solidFill>
                  <a:srgbClr val="2B2A26"/>
                </a:solidFill>
                <a:latin typeface="Cambria" pitchFamily="34" charset="0"/>
                <a:ea typeface="Cambria" pitchFamily="34" charset="-122"/>
                <a:cs typeface="Cambria" pitchFamily="34" charset="-120"/>
              </a:rPr>
              <a:t>How each Review-2 model is used in the interface</a:t>
            </a:r>
            <a:endParaRPr lang="en-US" sz="2800" dirty="0"/>
          </a:p>
        </p:txBody>
      </p:sp>
      <p:sp>
        <p:nvSpPr>
          <p:cNvPr id="4" name="Text 2"/>
          <p:cNvSpPr/>
          <p:nvPr/>
        </p:nvSpPr>
        <p:spPr>
          <a:xfrm>
            <a:off x="548640" y="6355080"/>
            <a:ext cx="7315200" cy="201168"/>
          </a:xfrm>
          <a:prstGeom prst="rect">
            <a:avLst/>
          </a:prstGeom>
          <a:noFill/>
          <a:ln/>
        </p:spPr>
        <p:txBody>
          <a:bodyPr wrap="square" lIns="0" tIns="0" rIns="0" bIns="0" rtlCol="0" anchor="ctr"/>
          <a:lstStyle/>
          <a:p>
            <a:pPr indent="0" marL="0">
              <a:buNone/>
            </a:pPr>
            <a:r>
              <a:rPr lang="en-US" sz="900" dirty="0">
                <a:solidFill>
                  <a:srgbClr val="6E6658"/>
                </a:solidFill>
                <a:latin typeface="Calibri" pitchFamily="34" charset="0"/>
                <a:ea typeface="Calibri" pitchFamily="34" charset="-122"/>
                <a:cs typeface="Calibri" pitchFamily="34" charset="-120"/>
              </a:rPr>
              <a:t>Application</a:t>
            </a:r>
            <a:endParaRPr lang="en-US" sz="900" dirty="0"/>
          </a:p>
        </p:txBody>
      </p:sp>
      <p:sp>
        <p:nvSpPr>
          <p:cNvPr id="5" name="Shape 3"/>
          <p:cNvSpPr/>
          <p:nvPr/>
        </p:nvSpPr>
        <p:spPr>
          <a:xfrm>
            <a:off x="594360" y="1371600"/>
            <a:ext cx="3474720" cy="4160520"/>
          </a:xfrm>
          <a:prstGeom prst="rect">
            <a:avLst/>
          </a:prstGeom>
          <a:solidFill>
            <a:srgbClr val="EAE3D6"/>
          </a:solidFill>
          <a:ln w="12700">
            <a:solidFill>
              <a:srgbClr val="EAE3D6"/>
            </a:solidFill>
            <a:prstDash val="solid"/>
          </a:ln>
        </p:spPr>
      </p:sp>
      <p:sp>
        <p:nvSpPr>
          <p:cNvPr id="6" name="Text 4"/>
          <p:cNvSpPr/>
          <p:nvPr/>
        </p:nvSpPr>
        <p:spPr>
          <a:xfrm>
            <a:off x="777240" y="152704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Classification view</a:t>
            </a:r>
            <a:endParaRPr lang="en-US" sz="1400" dirty="0"/>
          </a:p>
        </p:txBody>
      </p:sp>
      <p:sp>
        <p:nvSpPr>
          <p:cNvPr id="7" name="Text 5"/>
          <p:cNvSpPr/>
          <p:nvPr/>
        </p:nvSpPr>
        <p:spPr>
          <a:xfrm>
            <a:off x="777240" y="1901952"/>
            <a:ext cx="3108960" cy="350215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Input contract</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 sample date</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 at least 12 of 24 measured water fields</a:t>
            </a:r>
            <a:endParaRPr lang="en-US" sz="1100" dirty="0"/>
          </a:p>
          <a:p>
            <a:pPr indent="0" marL="0">
              <a:buNone/>
            </a:pP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Output</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 predicted class</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 calibrated class probabilities</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 held-out confusion matrix</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 reliability plot</a:t>
            </a:r>
            <a:endParaRPr lang="en-US" sz="1100" dirty="0"/>
          </a:p>
          <a:p>
            <a:pPr indent="0" marL="0">
              <a:buNone/>
            </a:pP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Current validation notes in README: eligible held-out accuracy 90.2% and Poor recall 83.4% for the UI release gate.</a:t>
            </a:r>
            <a:endParaRPr lang="en-US" sz="1100" dirty="0"/>
          </a:p>
        </p:txBody>
      </p:sp>
      <p:sp>
        <p:nvSpPr>
          <p:cNvPr id="8" name="Shape 6"/>
          <p:cNvSpPr/>
          <p:nvPr/>
        </p:nvSpPr>
        <p:spPr>
          <a:xfrm>
            <a:off x="4343400" y="1371600"/>
            <a:ext cx="3474720" cy="4160520"/>
          </a:xfrm>
          <a:prstGeom prst="rect">
            <a:avLst/>
          </a:prstGeom>
          <a:solidFill>
            <a:srgbClr val="EAE3D6"/>
          </a:solidFill>
          <a:ln w="12700">
            <a:solidFill>
              <a:srgbClr val="EAE3D6"/>
            </a:solidFill>
            <a:prstDash val="solid"/>
          </a:ln>
        </p:spPr>
      </p:sp>
      <p:sp>
        <p:nvSpPr>
          <p:cNvPr id="9" name="Text 7"/>
          <p:cNvSpPr/>
          <p:nvPr/>
        </p:nvSpPr>
        <p:spPr>
          <a:xfrm>
            <a:off x="4526280" y="152704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Clustering view</a:t>
            </a:r>
            <a:endParaRPr lang="en-US" sz="1400" dirty="0"/>
          </a:p>
        </p:txBody>
      </p:sp>
      <p:sp>
        <p:nvSpPr>
          <p:cNvPr id="10" name="Text 8"/>
          <p:cNvSpPr/>
          <p:nvPr/>
        </p:nvSpPr>
        <p:spPr>
          <a:xfrm>
            <a:off x="4526280" y="1901952"/>
            <a:ext cx="3108960" cy="350215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Input contract</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 at least 4 pollutant measurements</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 3 weather readings</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 2 time/wind fields</a:t>
            </a:r>
            <a:endParaRPr lang="en-US" sz="1100" dirty="0"/>
          </a:p>
          <a:p>
            <a:pPr indent="0" marL="0">
              <a:buNone/>
            </a:pP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Output</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 K-Means cluster</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 new reading projected on historical PCA scatter</a:t>
            </a: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 entered pollutants vs cluster averages</a:t>
            </a:r>
            <a:endParaRPr lang="en-US" sz="1100" dirty="0"/>
          </a:p>
          <a:p>
            <a:pPr indent="0" marL="0">
              <a:buNone/>
            </a:pP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Masked-input assignment stability reported in README: 91.9% on 3,000 station records.</a:t>
            </a:r>
            <a:endParaRPr lang="en-US" sz="1100" dirty="0"/>
          </a:p>
        </p:txBody>
      </p:sp>
      <p:sp>
        <p:nvSpPr>
          <p:cNvPr id="11" name="Shape 9"/>
          <p:cNvSpPr/>
          <p:nvPr/>
        </p:nvSpPr>
        <p:spPr>
          <a:xfrm>
            <a:off x="8092440" y="1371600"/>
            <a:ext cx="3474720" cy="4160520"/>
          </a:xfrm>
          <a:prstGeom prst="rect">
            <a:avLst/>
          </a:prstGeom>
          <a:solidFill>
            <a:srgbClr val="EAE3D6"/>
          </a:solidFill>
          <a:ln w="12700">
            <a:solidFill>
              <a:srgbClr val="EAE3D6"/>
            </a:solidFill>
            <a:prstDash val="solid"/>
          </a:ln>
        </p:spPr>
      </p:sp>
      <p:sp>
        <p:nvSpPr>
          <p:cNvPr id="12" name="Text 10"/>
          <p:cNvSpPr/>
          <p:nvPr/>
        </p:nvSpPr>
        <p:spPr>
          <a:xfrm>
            <a:off x="8275320" y="1527048"/>
            <a:ext cx="3108960" cy="256032"/>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Why K-Means in the UI?</a:t>
            </a:r>
            <a:endParaRPr lang="en-US" sz="1400" dirty="0"/>
          </a:p>
        </p:txBody>
      </p:sp>
      <p:sp>
        <p:nvSpPr>
          <p:cNvPr id="13" name="Text 11"/>
          <p:cNvSpPr/>
          <p:nvPr/>
        </p:nvSpPr>
        <p:spPr>
          <a:xfrm>
            <a:off x="8275320" y="1901952"/>
            <a:ext cx="3108960" cy="3502152"/>
          </a:xfrm>
          <a:prstGeom prst="rect">
            <a:avLst/>
          </a:prstGeom>
          <a:noFill/>
          <a:ln/>
        </p:spPr>
        <p:txBody>
          <a:bodyPr wrap="square" lIns="254" tIns="254" rIns="254" bIns="254" rtlCol="0" anchor="t">
            <a:normAutofit/>
          </a:bodyPr>
          <a:lstStyle/>
          <a:p>
            <a:pPr indent="0" marL="0">
              <a:buNone/>
            </a:pPr>
            <a:r>
              <a:rPr lang="en-US" sz="1100" dirty="0">
                <a:solidFill>
                  <a:srgbClr val="6E6658"/>
                </a:solidFill>
                <a:latin typeface="Calibri" pitchFamily="34" charset="0"/>
                <a:ea typeface="Calibri" pitchFamily="34" charset="-122"/>
                <a:cs typeface="Calibri" pitchFamily="34" charset="-120"/>
              </a:rPr>
              <a:t>K-Means can assign a new observation to the nearest learned cluster centre.</a:t>
            </a:r>
            <a:endParaRPr lang="en-US" sz="1100" dirty="0"/>
          </a:p>
          <a:p>
            <a:pPr indent="0" marL="0">
              <a:buNone/>
            </a:pP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Agglomerative Hierarchical Clustering is used for the required analysis and comparison, but it does not naturally provide a predict() method for arbitrary new samples.</a:t>
            </a:r>
            <a:endParaRPr lang="en-US" sz="1100" dirty="0"/>
          </a:p>
          <a:p>
            <a:pPr indent="0" marL="0">
              <a:buNone/>
            </a:pPr>
            <a:endParaRPr lang="en-US" sz="1100" dirty="0"/>
          </a:p>
          <a:p>
            <a:pPr indent="0" marL="0">
              <a:buNone/>
            </a:pPr>
            <a:r>
              <a:rPr lang="en-US" sz="1100" dirty="0">
                <a:solidFill>
                  <a:srgbClr val="6E6658"/>
                </a:solidFill>
                <a:latin typeface="Calibri" pitchFamily="34" charset="0"/>
                <a:ea typeface="Calibri" pitchFamily="34" charset="-122"/>
                <a:cs typeface="Calibri" pitchFamily="34" charset="-120"/>
              </a:rPr>
              <a:t>The UI therefore uses the saved K-Means model for new air-quality readings.</a:t>
            </a:r>
            <a:endParaRPr lang="en-US" sz="1100" dirty="0"/>
          </a:p>
        </p:txBody>
      </p:sp>
      <p:sp>
        <p:nvSpPr>
          <p:cNvPr id="14" name="Text 12"/>
          <p:cNvSpPr/>
          <p:nvPr/>
        </p:nvSpPr>
        <p:spPr>
          <a:xfrm>
            <a:off x="594360" y="6053328"/>
            <a:ext cx="10881360" cy="201168"/>
          </a:xfrm>
          <a:prstGeom prst="rect">
            <a:avLst/>
          </a:prstGeom>
          <a:noFill/>
          <a:ln/>
        </p:spPr>
        <p:txBody>
          <a:bodyPr wrap="square" lIns="0" tIns="0" rIns="0" bIns="0" rtlCol="0" anchor="ctr"/>
          <a:lstStyle/>
          <a:p>
            <a:pPr algn="l" indent="0" marL="0">
              <a:buNone/>
            </a:pPr>
            <a:r>
              <a:rPr lang="en-US" sz="760" i="1" dirty="0">
                <a:solidFill>
                  <a:srgbClr val="8B8376"/>
                </a:solidFill>
                <a:latin typeface="Calibri" pitchFamily="34" charset="0"/>
                <a:ea typeface="Calibri" pitchFamily="34" charset="-122"/>
                <a:cs typeface="Calibri" pitchFamily="34" charset="-120"/>
              </a:rPr>
              <a:t>Exact interface behavior: README.md and app/dashboard.py in the GitHub project.</a:t>
            </a:r>
            <a:endParaRPr lang="en-US" sz="7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822960" y="1143000"/>
            <a:ext cx="9144000" cy="274320"/>
          </a:xfrm>
          <a:prstGeom prst="rect">
            <a:avLst/>
          </a:prstGeom>
          <a:noFill/>
          <a:ln/>
        </p:spPr>
        <p:txBody>
          <a:bodyPr wrap="square" lIns="0" tIns="0" rIns="0" bIns="0" rtlCol="0" anchor="ctr"/>
          <a:lstStyle/>
          <a:p>
            <a:pPr indent="0" marL="0">
              <a:buNone/>
            </a:pPr>
            <a:r>
              <a:rPr lang="en-US" sz="1100" b="1" dirty="0">
                <a:solidFill>
                  <a:srgbClr val="A4613C"/>
                </a:solidFill>
                <a:latin typeface="Calibri" pitchFamily="34" charset="0"/>
                <a:ea typeface="Calibri" pitchFamily="34" charset="-122"/>
                <a:cs typeface="Calibri" pitchFamily="34" charset="-120"/>
              </a:rPr>
              <a:t>IN SUMMARY</a:t>
            </a:r>
            <a:endParaRPr lang="en-US" sz="1100" dirty="0"/>
          </a:p>
        </p:txBody>
      </p:sp>
      <p:sp>
        <p:nvSpPr>
          <p:cNvPr id="3" name="Text 1"/>
          <p:cNvSpPr/>
          <p:nvPr/>
        </p:nvSpPr>
        <p:spPr>
          <a:xfrm>
            <a:off x="822960" y="1536192"/>
            <a:ext cx="10241280" cy="685800"/>
          </a:xfrm>
          <a:prstGeom prst="rect">
            <a:avLst/>
          </a:prstGeom>
          <a:noFill/>
          <a:ln/>
        </p:spPr>
        <p:txBody>
          <a:bodyPr wrap="square" lIns="0" tIns="0" rIns="0" bIns="0" rtlCol="0" anchor="ctr"/>
          <a:lstStyle/>
          <a:p>
            <a:pPr indent="0" marL="0">
              <a:buNone/>
            </a:pPr>
            <a:r>
              <a:rPr lang="en-US" sz="3400" b="1" dirty="0">
                <a:solidFill>
                  <a:srgbClr val="F6F2EA"/>
                </a:solidFill>
                <a:latin typeface="Cambria" pitchFamily="34" charset="0"/>
                <a:ea typeface="Cambria" pitchFamily="34" charset="-122"/>
                <a:cs typeface="Cambria" pitchFamily="34" charset="-120"/>
              </a:rPr>
              <a:t>Review 2 — Classification + Clustering + UI</a:t>
            </a:r>
            <a:endParaRPr lang="en-US" sz="3400" dirty="0"/>
          </a:p>
        </p:txBody>
      </p:sp>
      <p:sp>
        <p:nvSpPr>
          <p:cNvPr id="4" name="Shape 2"/>
          <p:cNvSpPr/>
          <p:nvPr/>
        </p:nvSpPr>
        <p:spPr>
          <a:xfrm>
            <a:off x="914400" y="2606040"/>
            <a:ext cx="4800600" cy="1874520"/>
          </a:xfrm>
          <a:prstGeom prst="rect">
            <a:avLst/>
          </a:prstGeom>
          <a:solidFill>
            <a:srgbClr val="3A3E37"/>
          </a:solidFill>
          <a:ln w="12700">
            <a:solidFill>
              <a:srgbClr val="3A3E37"/>
            </a:solidFill>
            <a:prstDash val="solid"/>
          </a:ln>
        </p:spPr>
      </p:sp>
      <p:sp>
        <p:nvSpPr>
          <p:cNvPr id="5" name="Text 3"/>
          <p:cNvSpPr/>
          <p:nvPr/>
        </p:nvSpPr>
        <p:spPr>
          <a:xfrm>
            <a:off x="1097280" y="2761488"/>
            <a:ext cx="4434840" cy="256032"/>
          </a:xfrm>
          <a:prstGeom prst="rect">
            <a:avLst/>
          </a:prstGeom>
          <a:noFill/>
          <a:ln/>
        </p:spPr>
        <p:txBody>
          <a:bodyPr wrap="square" lIns="0" tIns="0" rIns="0" bIns="0" rtlCol="0" anchor="ctr"/>
          <a:lstStyle/>
          <a:p>
            <a:pPr indent="0" marL="0">
              <a:buNone/>
            </a:pPr>
            <a:r>
              <a:rPr lang="en-US" sz="1600" b="1" dirty="0">
                <a:solidFill>
                  <a:srgbClr val="A4613C"/>
                </a:solidFill>
                <a:latin typeface="Cambria" pitchFamily="34" charset="0"/>
                <a:ea typeface="Cambria" pitchFamily="34" charset="-122"/>
                <a:cs typeface="Cambria" pitchFamily="34" charset="-120"/>
              </a:rPr>
              <a:t>Classification</a:t>
            </a:r>
            <a:endParaRPr lang="en-US" sz="1600" dirty="0"/>
          </a:p>
        </p:txBody>
      </p:sp>
      <p:sp>
        <p:nvSpPr>
          <p:cNvPr id="6" name="Text 4"/>
          <p:cNvSpPr/>
          <p:nvPr/>
        </p:nvSpPr>
        <p:spPr>
          <a:xfrm>
            <a:off x="1097280" y="3136392"/>
            <a:ext cx="4434840" cy="1216152"/>
          </a:xfrm>
          <a:prstGeom prst="rect">
            <a:avLst/>
          </a:prstGeom>
          <a:noFill/>
          <a:ln/>
        </p:spPr>
        <p:txBody>
          <a:bodyPr wrap="square" lIns="254" tIns="254" rIns="254" bIns="254" rtlCol="0" anchor="t">
            <a:normAutofit/>
          </a:bodyPr>
          <a:lstStyle/>
          <a:p>
            <a:pPr indent="0" marL="0">
              <a:buNone/>
            </a:pPr>
            <a:r>
              <a:rPr lang="en-US" sz="1120" dirty="0">
                <a:solidFill>
                  <a:srgbClr val="C9C3B5"/>
                </a:solidFill>
                <a:latin typeface="Calibri" pitchFamily="34" charset="0"/>
                <a:ea typeface="Calibri" pitchFamily="34" charset="-122"/>
                <a:cs typeface="Calibri" pitchFamily="34" charset="-120"/>
              </a:rPr>
              <a:t>67,873 labeled samples · 10 classifiers</a:t>
            </a:r>
            <a:endParaRPr lang="en-US" sz="1120" dirty="0"/>
          </a:p>
          <a:p>
            <a:pPr indent="0" marL="0">
              <a:buNone/>
            </a:pPr>
            <a:r>
              <a:rPr lang="en-US" sz="1120" dirty="0">
                <a:solidFill>
                  <a:srgbClr val="C9C3B5"/>
                </a:solidFill>
                <a:latin typeface="Calibri" pitchFamily="34" charset="0"/>
                <a:ea typeface="Calibri" pitchFamily="34" charset="-122"/>
                <a:cs typeface="Calibri" pitchFamily="34" charset="-120"/>
              </a:rPr>
              <a:t>Best final Part-B model: Random Forest</a:t>
            </a:r>
            <a:endParaRPr lang="en-US" sz="1120" dirty="0"/>
          </a:p>
          <a:p>
            <a:pPr indent="0" marL="0">
              <a:buNone/>
            </a:pPr>
            <a:r>
              <a:rPr lang="en-US" sz="1120" dirty="0">
                <a:solidFill>
                  <a:srgbClr val="C9C3B5"/>
                </a:solidFill>
                <a:latin typeface="Calibri" pitchFamily="34" charset="0"/>
                <a:ea typeface="Calibri" pitchFamily="34" charset="-122"/>
                <a:cs typeface="Calibri" pitchFamily="34" charset="-120"/>
              </a:rPr>
              <a:t>Accuracy 0.8855 · weighted F1 0.8837 · ROC-AUC 0.9680</a:t>
            </a:r>
            <a:endParaRPr lang="en-US" sz="1120" dirty="0"/>
          </a:p>
          <a:p>
            <a:pPr indent="0" marL="0">
              <a:buNone/>
            </a:pPr>
            <a:r>
              <a:rPr lang="en-US" sz="1120" dirty="0">
                <a:solidFill>
                  <a:srgbClr val="C9C3B5"/>
                </a:solidFill>
                <a:latin typeface="Calibri" pitchFamily="34" charset="0"/>
                <a:ea typeface="Calibri" pitchFamily="34" charset="-122"/>
                <a:cs typeface="Calibri" pitchFamily="34" charset="-120"/>
              </a:rPr>
              <a:t>Selected by 5-fold training CV: 0.8814 ± 0.0042</a:t>
            </a:r>
            <a:endParaRPr lang="en-US" sz="1120" dirty="0"/>
          </a:p>
        </p:txBody>
      </p:sp>
      <p:sp>
        <p:nvSpPr>
          <p:cNvPr id="7" name="Shape 5"/>
          <p:cNvSpPr/>
          <p:nvPr/>
        </p:nvSpPr>
        <p:spPr>
          <a:xfrm>
            <a:off x="6446520" y="2606040"/>
            <a:ext cx="4800600" cy="1874520"/>
          </a:xfrm>
          <a:prstGeom prst="rect">
            <a:avLst/>
          </a:prstGeom>
          <a:solidFill>
            <a:srgbClr val="3A3E37"/>
          </a:solidFill>
          <a:ln w="12700">
            <a:solidFill>
              <a:srgbClr val="3A3E37"/>
            </a:solidFill>
            <a:prstDash val="solid"/>
          </a:ln>
        </p:spPr>
      </p:sp>
      <p:sp>
        <p:nvSpPr>
          <p:cNvPr id="8" name="Text 6"/>
          <p:cNvSpPr/>
          <p:nvPr/>
        </p:nvSpPr>
        <p:spPr>
          <a:xfrm>
            <a:off x="6629400" y="2761488"/>
            <a:ext cx="4434840" cy="256032"/>
          </a:xfrm>
          <a:prstGeom prst="rect">
            <a:avLst/>
          </a:prstGeom>
          <a:noFill/>
          <a:ln/>
        </p:spPr>
        <p:txBody>
          <a:bodyPr wrap="square" lIns="0" tIns="0" rIns="0" bIns="0" rtlCol="0" anchor="ctr"/>
          <a:lstStyle/>
          <a:p>
            <a:pPr indent="0" marL="0">
              <a:buNone/>
            </a:pPr>
            <a:r>
              <a:rPr lang="en-US" sz="1600" b="1" dirty="0">
                <a:solidFill>
                  <a:srgbClr val="A4613C"/>
                </a:solidFill>
                <a:latin typeface="Cambria" pitchFamily="34" charset="0"/>
                <a:ea typeface="Cambria" pitchFamily="34" charset="-122"/>
                <a:cs typeface="Cambria" pitchFamily="34" charset="-120"/>
              </a:rPr>
              <a:t>Clustering</a:t>
            </a:r>
            <a:endParaRPr lang="en-US" sz="1600" dirty="0"/>
          </a:p>
        </p:txBody>
      </p:sp>
      <p:sp>
        <p:nvSpPr>
          <p:cNvPr id="9" name="Text 7"/>
          <p:cNvSpPr/>
          <p:nvPr/>
        </p:nvSpPr>
        <p:spPr>
          <a:xfrm>
            <a:off x="6629400" y="3136392"/>
            <a:ext cx="4434840" cy="1216152"/>
          </a:xfrm>
          <a:prstGeom prst="rect">
            <a:avLst/>
          </a:prstGeom>
          <a:noFill/>
          <a:ln/>
        </p:spPr>
        <p:txBody>
          <a:bodyPr wrap="square" lIns="254" tIns="254" rIns="254" bIns="254" rtlCol="0" anchor="t">
            <a:normAutofit/>
          </a:bodyPr>
          <a:lstStyle/>
          <a:p>
            <a:pPr indent="0" marL="0">
              <a:buNone/>
            </a:pPr>
            <a:r>
              <a:rPr lang="en-US" sz="1120" dirty="0">
                <a:solidFill>
                  <a:srgbClr val="C9C3B5"/>
                </a:solidFill>
                <a:latin typeface="Calibri" pitchFamily="34" charset="0"/>
                <a:ea typeface="Calibri" pitchFamily="34" charset="-122"/>
                <a:cs typeface="Calibri" pitchFamily="34" charset="-120"/>
              </a:rPr>
              <a:t>420,768 hourly readings · 12 stations · 17 features</a:t>
            </a:r>
            <a:endParaRPr lang="en-US" sz="1120" dirty="0"/>
          </a:p>
          <a:p>
            <a:pPr indent="0" marL="0">
              <a:buNone/>
            </a:pPr>
            <a:r>
              <a:rPr lang="en-US" sz="1120" dirty="0">
                <a:solidFill>
                  <a:srgbClr val="C9C3B5"/>
                </a:solidFill>
                <a:latin typeface="Calibri" pitchFamily="34" charset="0"/>
                <a:ea typeface="Calibri" pitchFamily="34" charset="-122"/>
                <a:cs typeface="Calibri" pitchFamily="34" charset="-120"/>
              </a:rPr>
              <a:t>K-Means + Agglomerative Ward at K=3</a:t>
            </a:r>
            <a:endParaRPr lang="en-US" sz="1120" dirty="0"/>
          </a:p>
          <a:p>
            <a:pPr indent="0" marL="0">
              <a:buNone/>
            </a:pPr>
            <a:r>
              <a:rPr lang="en-US" sz="1120" dirty="0">
                <a:solidFill>
                  <a:srgbClr val="C9C3B5"/>
                </a:solidFill>
                <a:latin typeface="Calibri" pitchFamily="34" charset="0"/>
                <a:ea typeface="Calibri" pitchFamily="34" charset="-122"/>
                <a:cs typeface="Calibri" pitchFamily="34" charset="-120"/>
              </a:rPr>
              <a:t>Fair 3,000-row comparison: K-Means leads all 3 mandatory metrics</a:t>
            </a:r>
            <a:endParaRPr lang="en-US" sz="1120" dirty="0"/>
          </a:p>
          <a:p>
            <a:pPr indent="0" marL="0">
              <a:buNone/>
            </a:pPr>
            <a:r>
              <a:rPr lang="en-US" sz="1120" dirty="0">
                <a:solidFill>
                  <a:srgbClr val="C9C3B5"/>
                </a:solidFill>
                <a:latin typeface="Calibri" pitchFamily="34" charset="0"/>
                <a:ea typeface="Calibri" pitchFamily="34" charset="-122"/>
                <a:cs typeface="Calibri" pitchFamily="34" charset="-120"/>
              </a:rPr>
              <a:t>Elbow · dendrogram · PCA · t-SNE · cluster profiles</a:t>
            </a:r>
            <a:endParaRPr lang="en-US" sz="1120" dirty="0"/>
          </a:p>
        </p:txBody>
      </p:sp>
      <p:sp>
        <p:nvSpPr>
          <p:cNvPr id="10" name="Text 8"/>
          <p:cNvSpPr/>
          <p:nvPr/>
        </p:nvSpPr>
        <p:spPr>
          <a:xfrm>
            <a:off x="868680" y="4892040"/>
            <a:ext cx="10332720" cy="731520"/>
          </a:xfrm>
          <a:prstGeom prst="rect">
            <a:avLst/>
          </a:prstGeom>
          <a:noFill/>
          <a:ln/>
        </p:spPr>
        <p:txBody>
          <a:bodyPr wrap="square" lIns="0" tIns="0" rIns="0" bIns="0" rtlCol="0" anchor="ctr">
            <a:normAutofit/>
          </a:bodyPr>
          <a:lstStyle/>
          <a:p>
            <a:pPr algn="ctr" indent="0" marL="0">
              <a:buNone/>
            </a:pPr>
            <a:r>
              <a:rPr lang="en-US" sz="1260" dirty="0">
                <a:solidFill>
                  <a:srgbClr val="C9C3B5"/>
                </a:solidFill>
                <a:latin typeface="Calibri" pitchFamily="34" charset="0"/>
                <a:ea typeface="Calibri" pitchFamily="34" charset="-122"/>
                <a:cs typeface="Calibri" pitchFamily="34" charset="-120"/>
              </a:rPr>
              <a:t>Application: one Streamlit dashboard integrates Regression, Classification, Clustering and Study Results. GUI is implemented; public deployment is deliberately not claimed in the current repository.</a:t>
            </a:r>
            <a:endParaRPr lang="en-US" sz="1260" dirty="0"/>
          </a:p>
        </p:txBody>
      </p:sp>
      <p:sp>
        <p:nvSpPr>
          <p:cNvPr id="25" name="Slide Number Placeholder 0"/>
          <p:cNvSpPr>
            <a:spLocks noGrp="1"/>
          </p:cNvSpPr>
          <p:nvPr>
            <p:ph type="sldNum" sz="quarter" idx="4294967295"/>
          </p:nvPr>
        </p:nvSpPr>
        <p:spPr>
          <a:xfrm>
            <a:off x="11411712" y="632764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658"/>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Amrita Vishwa Vidyapeetham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 Quality Classification &amp; Urban Air-Quality Clustering — Review 2</dc:title>
  <dc:subject>Machine Learning Capstone Review 2</dc:subject>
  <dc:creator>G Harsha Chowdary</dc:creator>
  <cp:lastModifiedBy>G Harsha Chowdary</cp:lastModifiedBy>
  <cp:revision>1</cp:revision>
  <dcterms:created xsi:type="dcterms:W3CDTF">2026-10-20T16:45:26Z</dcterms:created>
  <dcterms:modified xsi:type="dcterms:W3CDTF">2026-10-20T16:45:26Z</dcterms:modified>
</cp:coreProperties>
</file>