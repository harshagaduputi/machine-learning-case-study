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1.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charts/chart2.xml" ContentType="application/vnd.openxmlformats-officedocument.drawingml.chart+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Tuned R²</c:v>
                </c:pt>
              </c:strCache>
            </c:strRef>
          </c:tx>
          <c:spPr>
            <a:solidFill>
              <a:srgbClr val="A4613C"/>
            </a:solidFill>
            <a:effectLst/>
          </c:spPr>
          <c:invertIfNegative val="0"/>
          <c:dLbls>
            <c:numFmt formatCode="0.0000" sourceLinked="0"/>
            <c:txPr>
              <a:bodyPr/>
              <a:lstStyle/>
              <a:p>
                <a:pPr>
                  <a:defRPr b="0" i="0" strike="noStrike" sz="900" u="none">
                    <a:solidFill>
                      <a:srgbClr val="2B2A26"/>
                    </a:solidFill>
                    <a:latin typeface="Arial"/>
                  </a:defRPr>
                </a:pPr>
              </a:p>
            </c:txPr>
            <c:showLegendKey val="0"/>
            <c:showVal val="1"/>
            <c:showCatName val="0"/>
            <c:showSerName val="0"/>
            <c:showPercent val="0"/>
            <c:showBubbleSize val="0"/>
            <c:showLeaderLines val="0"/>
          </c:dLbls>
          <c:cat>
            <c:multiLvlStrRef>
              <c:f>Sheet1!$A$2:$A$11</c:f>
              <c:multiLvlStrCache>
                <c:ptCount val="10"/>
                <c:lvl>
                  <c:pt idx="0">
                    <c:v>Polynomial (2)</c:v>
                  </c:pt>
                  <c:pt idx="1">
                    <c:v>KNN</c:v>
                  </c:pt>
                  <c:pt idx="2">
                    <c:v>ElasticNet</c:v>
                  </c:pt>
                  <c:pt idx="3">
                    <c:v>Lasso</c:v>
                  </c:pt>
                  <c:pt idx="4">
                    <c:v>Ridge</c:v>
                  </c:pt>
                  <c:pt idx="5">
                    <c:v>Linear</c:v>
                  </c:pt>
                  <c:pt idx="6">
                    <c:v>SVR</c:v>
                  </c:pt>
                  <c:pt idx="7">
                    <c:v>Gradient Boosting</c:v>
                  </c:pt>
                  <c:pt idx="8">
                    <c:v>Decision Tree</c:v>
                  </c:pt>
                  <c:pt idx="9">
                    <c:v>Random Forest</c:v>
                  </c:pt>
                </c:lvl>
              </c:multiLvlStrCache>
            </c:multiLvlStrRef>
          </c:cat>
          <c:val>
            <c:numRef>
              <c:f>Sheet1!$B$2:$B$11</c:f>
              <c:numCache>
                <c:formatCode>General</c:formatCode>
                <c:ptCount val="10"/>
                <c:pt idx="0">
                  <c:v>0.1104</c:v>
                </c:pt>
                <c:pt idx="1">
                  <c:v>0.2587</c:v>
                </c:pt>
                <c:pt idx="2">
                  <c:v>0.3166</c:v>
                </c:pt>
                <c:pt idx="3">
                  <c:v>0.3219</c:v>
                </c:pt>
                <c:pt idx="4">
                  <c:v>0.3222</c:v>
                </c:pt>
                <c:pt idx="5">
                  <c:v>0.3229</c:v>
                </c:pt>
                <c:pt idx="6">
                  <c:v>0.3471</c:v>
                </c:pt>
                <c:pt idx="7">
                  <c:v>0.3806</c:v>
                </c:pt>
                <c:pt idx="8">
                  <c:v>0.4308</c:v>
                </c:pt>
                <c:pt idx="9">
                  <c:v>0.518</c:v>
                </c:pt>
              </c:numCache>
            </c:numRef>
          </c:val>
        </c:ser>
        <c:dLbls>
          <c:numFmt formatCode="0.0000" sourceLinked="0"/>
          <c:txPr>
            <a:bodyPr/>
            <a:lstStyle/>
            <a:p>
              <a:pPr>
                <a:defRPr b="0" i="0" strike="noStrike" sz="900" u="none">
                  <a:solidFill>
                    <a:srgbClr val="2B2A2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B2A26"/>
                </a:solidFill>
                <a:latin typeface="Arial"/>
              </a:defRPr>
            </a:pPr>
            <a:endParaRPr lang="en-US"/>
          </a:p>
        </c:txPr>
        <c:crossAx val="2094734552"/>
        <c:crosses val="autoZero"/>
        <c:auto val="1"/>
        <c:lblAlgn val="ctr"/>
        <c:noMultiLvlLbl val="1"/>
      </c:catAx>
      <c:valAx>
        <c:axId val="2094734552"/>
        <c:scaling>
          <c:orientation val="minMax"/>
          <c:max val="0.6"/>
          <c:min val="0"/>
        </c:scaling>
        <c:delete val="0"/>
        <c:axPos val="b"/>
        <c:majorGridlines>
          <c:spPr>
            <a:ln w="12700" cap="flat">
              <a:solidFill>
                <a:srgbClr val="DDD6C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E6658"/>
                </a:solidFill>
                <a:latin typeface="Arial"/>
              </a:defRPr>
            </a:pPr>
            <a:endParaRPr lang="en-US"/>
          </a:p>
        </c:txPr>
        <c:crossAx val="2094734554"/>
        <c:crosses val="autoZero"/>
        <c:crossBetween val="between"/>
      </c:valAx>
      <c:spPr>
        <a:solidFill>
          <a:srgbClr val="F6F2EA"/>
        </a:solidFill>
        <a:ln>
          <a:noFill/>
        </a:ln>
        <a:effectLst/>
      </c:spPr>
    </c:plotArea>
    <c:plotVisOnly val="1"/>
    <c:dispBlanksAs val="span"/>
  </c:chart>
  <c:spPr>
    <a:solidFill>
      <a:srgbClr val="F6F2E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Weighted F1</c:v>
                </c:pt>
              </c:strCache>
            </c:strRef>
          </c:tx>
          <c:spPr>
            <a:solidFill>
              <a:srgbClr val="A4613C"/>
            </a:solidFill>
            <a:effectLst/>
          </c:spPr>
          <c:invertIfNegative val="0"/>
          <c:dLbls>
            <c:numFmt formatCode="0.0000" sourceLinked="0"/>
            <c:txPr>
              <a:bodyPr/>
              <a:lstStyle/>
              <a:p>
                <a:pPr>
                  <a:defRPr b="0" i="0" strike="noStrike" sz="900" u="none">
                    <a:solidFill>
                      <a:srgbClr val="2B2A26"/>
                    </a:solidFill>
                    <a:latin typeface="Arial"/>
                  </a:defRPr>
                </a:pPr>
              </a:p>
            </c:txPr>
            <c:showLegendKey val="0"/>
            <c:showVal val="1"/>
            <c:showCatName val="0"/>
            <c:showSerName val="0"/>
            <c:showPercent val="0"/>
            <c:showBubbleSize val="0"/>
            <c:showLeaderLines val="0"/>
          </c:dLbls>
          <c:cat>
            <c:multiLvlStrRef>
              <c:f>Sheet1!$A$2:$A$7</c:f>
              <c:multiLvlStrCache>
                <c:ptCount val="6"/>
                <c:lvl>
                  <c:pt idx="0">
                    <c:v>SVM</c:v>
                  </c:pt>
                  <c:pt idx="1">
                    <c:v>Logistic Regression</c:v>
                  </c:pt>
                  <c:pt idx="2">
                    <c:v>Gaussian Naive Bayes</c:v>
                  </c:pt>
                  <c:pt idx="3">
                    <c:v>Decision Tree</c:v>
                  </c:pt>
                  <c:pt idx="4">
                    <c:v>KNN</c:v>
                  </c:pt>
                  <c:pt idx="5">
                    <c:v>Tuned Decision Tree</c:v>
                  </c:pt>
                </c:lvl>
              </c:multiLvlStrCache>
            </c:multiLvlStrRef>
          </c:cat>
          <c:val>
            <c:numRef>
              <c:f>Sheet1!$B$2:$B$7</c:f>
              <c:numCache>
                <c:formatCode>General</c:formatCode>
                <c:ptCount val="6"/>
                <c:pt idx="0">
                  <c:v>0.3857</c:v>
                </c:pt>
                <c:pt idx="1">
                  <c:v>0.66</c:v>
                </c:pt>
                <c:pt idx="2">
                  <c:v>0.6637</c:v>
                </c:pt>
                <c:pt idx="3">
                  <c:v>0.7185</c:v>
                </c:pt>
                <c:pt idx="4">
                  <c:v>0.7483</c:v>
                </c:pt>
                <c:pt idx="5">
                  <c:v>0.7549</c:v>
                </c:pt>
              </c:numCache>
            </c:numRef>
          </c:val>
        </c:ser>
        <c:dLbls>
          <c:numFmt formatCode="0.0000" sourceLinked="0"/>
          <c:txPr>
            <a:bodyPr/>
            <a:lstStyle/>
            <a:p>
              <a:pPr>
                <a:defRPr b="0" i="0" strike="noStrike" sz="900" u="none">
                  <a:solidFill>
                    <a:srgbClr val="2B2A2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B2A26"/>
                </a:solidFill>
                <a:latin typeface="Arial"/>
              </a:defRPr>
            </a:pPr>
            <a:endParaRPr lang="en-US"/>
          </a:p>
        </c:txPr>
        <c:crossAx val="2094734552"/>
        <c:crosses val="autoZero"/>
        <c:auto val="1"/>
        <c:lblAlgn val="ctr"/>
        <c:noMultiLvlLbl val="1"/>
      </c:catAx>
      <c:valAx>
        <c:axId val="2094734552"/>
        <c:scaling>
          <c:orientation val="minMax"/>
          <c:max val="0.9"/>
          <c:min val="0"/>
        </c:scaling>
        <c:delete val="0"/>
        <c:axPos val="b"/>
        <c:majorGridlines>
          <c:spPr>
            <a:ln w="12700" cap="flat">
              <a:solidFill>
                <a:srgbClr val="DDD6C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E6658"/>
                </a:solidFill>
                <a:latin typeface="Arial"/>
              </a:defRPr>
            </a:pPr>
            <a:endParaRPr lang="en-US"/>
          </a:p>
        </c:txPr>
        <c:crossAx val="2094734554"/>
        <c:crosses val="autoZero"/>
        <c:crossBetween val="between"/>
      </c:valAx>
      <c:spPr>
        <a:solidFill>
          <a:srgbClr val="F6F2EA"/>
        </a:solidFill>
        <a:ln>
          <a:noFill/>
        </a:ln>
        <a:effectLst/>
      </c:spPr>
    </c:plotArea>
    <c:plotVisOnly val="1"/>
    <c:dispBlanksAs val="span"/>
  </c:chart>
  <c:spPr>
    <a:solidFill>
      <a:srgbClr val="F6F2E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322C"/>
        </a:solidFill>
      </p:bgPr>
    </p:bg>
    <p:spTree>
      <p:nvGrpSpPr>
        <p:cNvPr id="1" name=""/>
        <p:cNvGrpSpPr/>
        <p:nvPr/>
      </p:nvGrpSpPr>
      <p:grpSpPr>
        <a:xfrm>
          <a:off x="0" y="0"/>
          <a:ext cx="0" cy="0"/>
          <a:chOff x="0" y="0"/>
          <a:chExt cx="0" cy="0"/>
        </a:xfrm>
      </p:grpSpPr>
      <p:sp>
        <p:nvSpPr>
          <p:cNvPr id="2" name="Text 0"/>
          <p:cNvSpPr txBox="1"/>
          <p:nvPr/>
        </p:nvSpPr>
        <p:spPr>
          <a:xfrm>
            <a:off x="822960" y="1737360"/>
            <a:ext cx="9144000" cy="320040"/>
          </a:xfrm>
          <a:prstGeom prst="rect">
            <a:avLst/>
          </a:prstGeom>
          <a:noFill/>
          <a:ln/>
        </p:spPr>
        <p:txBody>
          <a:bodyPr wrap="square" lIns="0" tIns="0" rIns="0" bIns="0" rtlCol="0" anchor="ctr"/>
          <a:lstStyle/>
          <a:p>
            <a:pPr indent="0" marL="0">
              <a:buNone/>
            </a:pPr>
            <a:r>
              <a:rPr lang="en-US" sz="1200" b="1" spc="300" kern="0" dirty="0">
                <a:solidFill>
                  <a:srgbClr val="A4613C"/>
                </a:solidFill>
                <a:latin typeface="Calibri" pitchFamily="34" charset="0"/>
                <a:ea typeface="Calibri" pitchFamily="34" charset="-122"/>
                <a:cs typeface="Calibri" pitchFamily="34" charset="-120"/>
              </a:rPr>
              <a:t>MACHINE LEARNING CASE STUDY</a:t>
            </a:r>
            <a:endParaRPr lang="en-US" sz="1200" dirty="0"/>
          </a:p>
        </p:txBody>
      </p:sp>
      <p:sp>
        <p:nvSpPr>
          <p:cNvPr id="3" name="Text 1"/>
          <p:cNvSpPr txBox="1"/>
          <p:nvPr/>
        </p:nvSpPr>
        <p:spPr>
          <a:xfrm>
            <a:off x="822960" y="2148840"/>
            <a:ext cx="10058400" cy="1645920"/>
          </a:xfrm>
          <a:prstGeom prst="rect">
            <a:avLst/>
          </a:prstGeom>
          <a:noFill/>
          <a:ln/>
        </p:spPr>
        <p:txBody>
          <a:bodyPr wrap="square" lIns="0" tIns="0" rIns="0" bIns="0" rtlCol="0" anchor="ctr"/>
          <a:lstStyle/>
          <a:p>
            <a:pPr indent="0" marL="0">
              <a:lnSpc>
                <a:spcPts val="4600"/>
              </a:lnSpc>
              <a:buNone/>
            </a:pPr>
            <a:r>
              <a:rPr lang="en-US" sz="4000" b="1" dirty="0">
                <a:solidFill>
                  <a:srgbClr val="F6F2EA"/>
                </a:solidFill>
                <a:latin typeface="Cambria" pitchFamily="34" charset="0"/>
                <a:ea typeface="Cambria" pitchFamily="34" charset="-122"/>
                <a:cs typeface="Cambria" pitchFamily="34" charset="-120"/>
              </a:rPr>
              <a:t>Building Energy Use Prediction</a:t>
            </a:r>
            <a:endParaRPr lang="en-US" sz="4000" dirty="0"/>
          </a:p>
          <a:p>
            <a:pPr indent="0" marL="0">
              <a:lnSpc>
                <a:spcPts val="4600"/>
              </a:lnSpc>
              <a:buNone/>
            </a:pPr>
            <a:r>
              <a:rPr lang="en-US" sz="4000" b="1" dirty="0">
                <a:solidFill>
                  <a:srgbClr val="F6F2EA"/>
                </a:solidFill>
                <a:latin typeface="Cambria" pitchFamily="34" charset="0"/>
                <a:ea typeface="Cambria" pitchFamily="34" charset="-122"/>
                <a:cs typeface="Cambria" pitchFamily="34" charset="-120"/>
              </a:rPr>
              <a:t>&amp; Water Quality Classification</a:t>
            </a:r>
            <a:endParaRPr lang="en-US" sz="4000" dirty="0"/>
          </a:p>
        </p:txBody>
      </p:sp>
      <p:sp>
        <p:nvSpPr>
          <p:cNvPr id="4" name="Text 2"/>
          <p:cNvSpPr txBox="1"/>
          <p:nvPr/>
        </p:nvSpPr>
        <p:spPr>
          <a:xfrm>
            <a:off x="868680" y="3931920"/>
            <a:ext cx="9601200" cy="914400"/>
          </a:xfrm>
          <a:prstGeom prst="rect">
            <a:avLst/>
          </a:prstGeom>
          <a:noFill/>
          <a:ln/>
        </p:spPr>
        <p:txBody>
          <a:bodyPr wrap="square" lIns="0" tIns="0" rIns="0" bIns="0" rtlCol="0" anchor="ctr"/>
          <a:lstStyle/>
          <a:p>
            <a:pPr indent="0" marL="0">
              <a:lnSpc>
                <a:spcPts val="2000"/>
              </a:lnSpc>
              <a:buNone/>
            </a:pPr>
            <a:r>
              <a:rPr lang="en-US" sz="1350" dirty="0">
                <a:solidFill>
                  <a:srgbClr val="C9C3B5"/>
                </a:solidFill>
                <a:latin typeface="Calibri" pitchFamily="34" charset="0"/>
                <a:ea typeface="Calibri" pitchFamily="34" charset="-122"/>
                <a:cs typeface="Calibri" pitchFamily="34" charset="-120"/>
              </a:rPr>
              <a:t>A complete end-to-end study: data audit, cleaning, exploratory analysis, feature engineering,</a:t>
            </a:r>
            <a:endParaRPr lang="en-US" sz="1350" dirty="0"/>
          </a:p>
          <a:p>
            <a:pPr indent="0" marL="0">
              <a:lnSpc>
                <a:spcPts val="2000"/>
              </a:lnSpc>
              <a:buNone/>
            </a:pPr>
            <a:r>
              <a:rPr lang="en-US" sz="1350" dirty="0">
                <a:solidFill>
                  <a:srgbClr val="C9C3B5"/>
                </a:solidFill>
                <a:latin typeface="Calibri" pitchFamily="34" charset="0"/>
                <a:ea typeface="Calibri" pitchFamily="34" charset="-122"/>
                <a:cs typeface="Calibri" pitchFamily="34" charset="-120"/>
              </a:rPr>
              <a:t>leak-free preprocessing pipelines, and comparison of 10 regression and 5 classification algorithms.</a:t>
            </a:r>
            <a:endParaRPr lang="en-US" sz="1350" dirty="0"/>
          </a:p>
        </p:txBody>
      </p:sp>
      <p:sp>
        <p:nvSpPr>
          <p:cNvPr id="5" name="Shape 3"/>
          <p:cNvSpPr/>
          <p:nvPr/>
        </p:nvSpPr>
        <p:spPr>
          <a:xfrm>
            <a:off x="868680" y="5029200"/>
            <a:ext cx="1097280" cy="27432"/>
          </a:xfrm>
          <a:prstGeom prst="rect">
            <a:avLst/>
          </a:prstGeom>
          <a:solidFill>
            <a:srgbClr val="A4613C"/>
          </a:solidFill>
          <a:ln w="12700">
            <a:solidFill>
              <a:srgbClr val="A4613C"/>
            </a:solidFill>
            <a:prstDash val="solid"/>
          </a:ln>
        </p:spPr>
      </p:sp>
      <p:sp>
        <p:nvSpPr>
          <p:cNvPr id="6" name="Text 4"/>
          <p:cNvSpPr txBox="1"/>
          <p:nvPr/>
        </p:nvSpPr>
        <p:spPr>
          <a:xfrm>
            <a:off x="868680" y="5212080"/>
            <a:ext cx="9144000" cy="365760"/>
          </a:xfrm>
          <a:prstGeom prst="rect">
            <a:avLst/>
          </a:prstGeom>
          <a:noFill/>
          <a:ln/>
        </p:spPr>
        <p:txBody>
          <a:bodyPr wrap="square" lIns="0" tIns="0" rIns="0" bIns="0" rtlCol="0" anchor="ctr"/>
          <a:lstStyle/>
          <a:p>
            <a:pPr indent="0" marL="0">
              <a:buNone/>
            </a:pPr>
            <a:r>
              <a:rPr lang="en-US" sz="1200" dirty="0">
                <a:solidFill>
                  <a:srgbClr val="9E978A"/>
                </a:solidFill>
                <a:latin typeface="Calibri" pitchFamily="34" charset="0"/>
                <a:ea typeface="Calibri" pitchFamily="34" charset="-122"/>
                <a:cs typeface="Calibri" pitchFamily="34" charset="-120"/>
              </a:rPr>
              <a:t>Part A — Regression   |   Part B — Classification</a:t>
            </a:r>
            <a:endParaRPr lang="en-US" sz="1200" dirty="0"/>
          </a:p>
        </p:txBody>
      </p:sp>
      <p:sp>
        <p:nvSpPr>
          <p:cNvPr id="7" name="Text 5"/>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CONTENTS</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What this presentation covers</a:t>
            </a:r>
            <a:endParaRPr lang="en-US" sz="2800" dirty="0"/>
          </a:p>
        </p:txBody>
      </p:sp>
      <p:sp>
        <p:nvSpPr>
          <p:cNvPr id="4" name="Shape 2"/>
          <p:cNvSpPr/>
          <p:nvPr/>
        </p:nvSpPr>
        <p:spPr>
          <a:xfrm>
            <a:off x="548640" y="1673352"/>
            <a:ext cx="566928" cy="566928"/>
          </a:xfrm>
          <a:prstGeom prst="ellipse">
            <a:avLst/>
          </a:prstGeom>
          <a:solidFill>
            <a:srgbClr val="EAE3D6"/>
          </a:solidFill>
          <a:ln w="12700">
            <a:solidFill>
              <a:srgbClr val="EAE3D6"/>
            </a:solidFill>
            <a:prstDash val="solid"/>
          </a:ln>
        </p:spPr>
      </p:sp>
      <p:sp>
        <p:nvSpPr>
          <p:cNvPr id="5" name="Text 3"/>
          <p:cNvSpPr txBox="1"/>
          <p:nvPr/>
        </p:nvSpPr>
        <p:spPr>
          <a:xfrm>
            <a:off x="548640" y="1673352"/>
            <a:ext cx="566928" cy="566928"/>
          </a:xfrm>
          <a:prstGeom prst="rect">
            <a:avLst/>
          </a:prstGeom>
          <a:noFill/>
          <a:ln/>
        </p:spPr>
        <p:txBody>
          <a:bodyPr wrap="square" lIns="0" tIns="0" rIns="0" bIns="0" rtlCol="0" anchor="ctr"/>
          <a:lstStyle/>
          <a:p>
            <a:pPr algn="ctr" indent="0" marL="0">
              <a:buNone/>
            </a:pPr>
            <a:r>
              <a:rPr lang="en-US" sz="1400" b="1" dirty="0">
                <a:solidFill>
                  <a:srgbClr val="A4613C"/>
                </a:solidFill>
                <a:latin typeface="Cambria" pitchFamily="34" charset="0"/>
                <a:ea typeface="Cambria" pitchFamily="34" charset="-122"/>
                <a:cs typeface="Cambria" pitchFamily="34" charset="-120"/>
              </a:rPr>
              <a:t>01</a:t>
            </a:r>
            <a:endParaRPr lang="en-US" sz="1400" dirty="0"/>
          </a:p>
        </p:txBody>
      </p:sp>
      <p:sp>
        <p:nvSpPr>
          <p:cNvPr id="6" name="Text 4"/>
          <p:cNvSpPr txBox="1"/>
          <p:nvPr/>
        </p:nvSpPr>
        <p:spPr>
          <a:xfrm>
            <a:off x="1325880" y="1645920"/>
            <a:ext cx="3840480" cy="365760"/>
          </a:xfrm>
          <a:prstGeom prst="rect">
            <a:avLst/>
          </a:prstGeom>
          <a:noFill/>
          <a:ln/>
        </p:spPr>
        <p:txBody>
          <a:bodyPr wrap="square" lIns="0" tIns="0" rIns="0" bIns="0" rtlCol="0" anchor="ctr"/>
          <a:lstStyle/>
          <a:p>
            <a:pPr indent="0" marL="0">
              <a:buNone/>
            </a:pPr>
            <a:r>
              <a:rPr lang="en-US" sz="1600" b="1" dirty="0">
                <a:solidFill>
                  <a:srgbClr val="2B2A26"/>
                </a:solidFill>
                <a:latin typeface="Cambria" pitchFamily="34" charset="0"/>
                <a:ea typeface="Cambria" pitchFamily="34" charset="-122"/>
                <a:cs typeface="Cambria" pitchFamily="34" charset="-120"/>
              </a:rPr>
              <a:t>Problem &amp; Data Audit</a:t>
            </a:r>
            <a:endParaRPr lang="en-US" sz="1600" dirty="0"/>
          </a:p>
        </p:txBody>
      </p:sp>
      <p:sp>
        <p:nvSpPr>
          <p:cNvPr id="7" name="Text 5"/>
          <p:cNvSpPr txBox="1"/>
          <p:nvPr/>
        </p:nvSpPr>
        <p:spPr>
          <a:xfrm>
            <a:off x="5212080" y="1618488"/>
            <a:ext cx="6400800" cy="731520"/>
          </a:xfrm>
          <a:prstGeom prst="rect">
            <a:avLst/>
          </a:prstGeom>
          <a:noFill/>
          <a:ln/>
        </p:spPr>
        <p:txBody>
          <a:bodyPr wrap="square" lIns="0" tIns="0" rIns="0" bIns="0" rtlCol="0" anchor="ctr"/>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What we are predicting, where the data comes from, and the quality checks run before any modelling.</a:t>
            </a:r>
            <a:endParaRPr lang="en-US" sz="1150" dirty="0"/>
          </a:p>
        </p:txBody>
      </p:sp>
      <p:sp>
        <p:nvSpPr>
          <p:cNvPr id="8" name="Shape 6"/>
          <p:cNvSpPr/>
          <p:nvPr/>
        </p:nvSpPr>
        <p:spPr>
          <a:xfrm>
            <a:off x="548640" y="2724912"/>
            <a:ext cx="566928" cy="566928"/>
          </a:xfrm>
          <a:prstGeom prst="ellipse">
            <a:avLst/>
          </a:prstGeom>
          <a:solidFill>
            <a:srgbClr val="EAE3D6"/>
          </a:solidFill>
          <a:ln w="12700">
            <a:solidFill>
              <a:srgbClr val="EAE3D6"/>
            </a:solidFill>
            <a:prstDash val="solid"/>
          </a:ln>
        </p:spPr>
      </p:sp>
      <p:sp>
        <p:nvSpPr>
          <p:cNvPr id="9" name="Text 7"/>
          <p:cNvSpPr txBox="1"/>
          <p:nvPr/>
        </p:nvSpPr>
        <p:spPr>
          <a:xfrm>
            <a:off x="548640" y="2724912"/>
            <a:ext cx="566928" cy="566928"/>
          </a:xfrm>
          <a:prstGeom prst="rect">
            <a:avLst/>
          </a:prstGeom>
          <a:noFill/>
          <a:ln/>
        </p:spPr>
        <p:txBody>
          <a:bodyPr wrap="square" lIns="0" tIns="0" rIns="0" bIns="0" rtlCol="0" anchor="ctr"/>
          <a:lstStyle/>
          <a:p>
            <a:pPr algn="ctr" indent="0" marL="0">
              <a:buNone/>
            </a:pPr>
            <a:r>
              <a:rPr lang="en-US" sz="1400" b="1" dirty="0">
                <a:solidFill>
                  <a:srgbClr val="A4613C"/>
                </a:solidFill>
                <a:latin typeface="Cambria" pitchFamily="34" charset="0"/>
                <a:ea typeface="Cambria" pitchFamily="34" charset="-122"/>
                <a:cs typeface="Cambria" pitchFamily="34" charset="-120"/>
              </a:rPr>
              <a:t>02</a:t>
            </a:r>
            <a:endParaRPr lang="en-US" sz="1400" dirty="0"/>
          </a:p>
        </p:txBody>
      </p:sp>
      <p:sp>
        <p:nvSpPr>
          <p:cNvPr id="10" name="Text 8"/>
          <p:cNvSpPr txBox="1"/>
          <p:nvPr/>
        </p:nvSpPr>
        <p:spPr>
          <a:xfrm>
            <a:off x="1325880" y="2697480"/>
            <a:ext cx="3840480" cy="365760"/>
          </a:xfrm>
          <a:prstGeom prst="rect">
            <a:avLst/>
          </a:prstGeom>
          <a:noFill/>
          <a:ln/>
        </p:spPr>
        <p:txBody>
          <a:bodyPr wrap="square" lIns="0" tIns="0" rIns="0" bIns="0" rtlCol="0" anchor="ctr"/>
          <a:lstStyle/>
          <a:p>
            <a:pPr indent="0" marL="0">
              <a:buNone/>
            </a:pPr>
            <a:r>
              <a:rPr lang="en-US" sz="1600" b="1" dirty="0">
                <a:solidFill>
                  <a:srgbClr val="2B2A26"/>
                </a:solidFill>
                <a:latin typeface="Cambria" pitchFamily="34" charset="0"/>
                <a:ea typeface="Cambria" pitchFamily="34" charset="-122"/>
                <a:cs typeface="Cambria" pitchFamily="34" charset="-120"/>
              </a:rPr>
              <a:t>Cleaning &amp; EDA</a:t>
            </a:r>
            <a:endParaRPr lang="en-US" sz="1600" dirty="0"/>
          </a:p>
        </p:txBody>
      </p:sp>
      <p:sp>
        <p:nvSpPr>
          <p:cNvPr id="11" name="Text 9"/>
          <p:cNvSpPr txBox="1"/>
          <p:nvPr/>
        </p:nvSpPr>
        <p:spPr>
          <a:xfrm>
            <a:off x="5212080" y="2670048"/>
            <a:ext cx="6400800" cy="731520"/>
          </a:xfrm>
          <a:prstGeom prst="rect">
            <a:avLst/>
          </a:prstGeom>
          <a:noFill/>
          <a:ln/>
        </p:spPr>
        <p:txBody>
          <a:bodyPr wrap="square" lIns="0" tIns="0" rIns="0" bIns="0" rtlCol="0" anchor="ctr"/>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Missing values, duplicates, leakage checks, distributions, correlations, scatter plots, box plots and outliers.</a:t>
            </a:r>
            <a:endParaRPr lang="en-US" sz="1150" dirty="0"/>
          </a:p>
        </p:txBody>
      </p:sp>
      <p:sp>
        <p:nvSpPr>
          <p:cNvPr id="12" name="Shape 10"/>
          <p:cNvSpPr/>
          <p:nvPr/>
        </p:nvSpPr>
        <p:spPr>
          <a:xfrm>
            <a:off x="548640" y="3776472"/>
            <a:ext cx="566928" cy="566928"/>
          </a:xfrm>
          <a:prstGeom prst="ellipse">
            <a:avLst/>
          </a:prstGeom>
          <a:solidFill>
            <a:srgbClr val="EAE3D6"/>
          </a:solidFill>
          <a:ln w="12700">
            <a:solidFill>
              <a:srgbClr val="EAE3D6"/>
            </a:solidFill>
            <a:prstDash val="solid"/>
          </a:ln>
        </p:spPr>
      </p:sp>
      <p:sp>
        <p:nvSpPr>
          <p:cNvPr id="13" name="Text 11"/>
          <p:cNvSpPr txBox="1"/>
          <p:nvPr/>
        </p:nvSpPr>
        <p:spPr>
          <a:xfrm>
            <a:off x="548640" y="3776472"/>
            <a:ext cx="566928" cy="566928"/>
          </a:xfrm>
          <a:prstGeom prst="rect">
            <a:avLst/>
          </a:prstGeom>
          <a:noFill/>
          <a:ln/>
        </p:spPr>
        <p:txBody>
          <a:bodyPr wrap="square" lIns="0" tIns="0" rIns="0" bIns="0" rtlCol="0" anchor="ctr"/>
          <a:lstStyle/>
          <a:p>
            <a:pPr algn="ctr" indent="0" marL="0">
              <a:buNone/>
            </a:pPr>
            <a:r>
              <a:rPr lang="en-US" sz="1400" b="1" dirty="0">
                <a:solidFill>
                  <a:srgbClr val="A4613C"/>
                </a:solidFill>
                <a:latin typeface="Cambria" pitchFamily="34" charset="0"/>
                <a:ea typeface="Cambria" pitchFamily="34" charset="-122"/>
                <a:cs typeface="Cambria" pitchFamily="34" charset="-120"/>
              </a:rPr>
              <a:t>03</a:t>
            </a:r>
            <a:endParaRPr lang="en-US" sz="1400" dirty="0"/>
          </a:p>
        </p:txBody>
      </p:sp>
      <p:sp>
        <p:nvSpPr>
          <p:cNvPr id="14" name="Text 12"/>
          <p:cNvSpPr txBox="1"/>
          <p:nvPr/>
        </p:nvSpPr>
        <p:spPr>
          <a:xfrm>
            <a:off x="1325880" y="3749040"/>
            <a:ext cx="3840480" cy="365760"/>
          </a:xfrm>
          <a:prstGeom prst="rect">
            <a:avLst/>
          </a:prstGeom>
          <a:noFill/>
          <a:ln/>
        </p:spPr>
        <p:txBody>
          <a:bodyPr wrap="square" lIns="0" tIns="0" rIns="0" bIns="0" rtlCol="0" anchor="ctr"/>
          <a:lstStyle/>
          <a:p>
            <a:pPr indent="0" marL="0">
              <a:buNone/>
            </a:pPr>
            <a:r>
              <a:rPr lang="en-US" sz="1600" b="1" dirty="0">
                <a:solidFill>
                  <a:srgbClr val="2B2A26"/>
                </a:solidFill>
                <a:latin typeface="Cambria" pitchFamily="34" charset="0"/>
                <a:ea typeface="Cambria" pitchFamily="34" charset="-122"/>
                <a:cs typeface="Cambria" pitchFamily="34" charset="-120"/>
              </a:rPr>
              <a:t>Feature Engineering</a:t>
            </a:r>
            <a:endParaRPr lang="en-US" sz="1600" dirty="0"/>
          </a:p>
        </p:txBody>
      </p:sp>
      <p:sp>
        <p:nvSpPr>
          <p:cNvPr id="15" name="Text 13"/>
          <p:cNvSpPr txBox="1"/>
          <p:nvPr/>
        </p:nvSpPr>
        <p:spPr>
          <a:xfrm>
            <a:off x="5212080" y="3721608"/>
            <a:ext cx="6400800" cy="731520"/>
          </a:xfrm>
          <a:prstGeom prst="rect">
            <a:avLst/>
          </a:prstGeom>
          <a:noFill/>
          <a:ln/>
        </p:spPr>
        <p:txBody>
          <a:bodyPr wrap="square" lIns="0" tIns="0" rIns="0" bIns="0" rtlCol="0" anchor="ctr"/>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New features created from domain knowledge, features removed, and the final numerical / categorical split.</a:t>
            </a:r>
            <a:endParaRPr lang="en-US" sz="1150" dirty="0"/>
          </a:p>
        </p:txBody>
      </p:sp>
      <p:sp>
        <p:nvSpPr>
          <p:cNvPr id="16" name="Shape 14"/>
          <p:cNvSpPr/>
          <p:nvPr/>
        </p:nvSpPr>
        <p:spPr>
          <a:xfrm>
            <a:off x="548640" y="4828032"/>
            <a:ext cx="566928" cy="566928"/>
          </a:xfrm>
          <a:prstGeom prst="ellipse">
            <a:avLst/>
          </a:prstGeom>
          <a:solidFill>
            <a:srgbClr val="EAE3D6"/>
          </a:solidFill>
          <a:ln w="12700">
            <a:solidFill>
              <a:srgbClr val="EAE3D6"/>
            </a:solidFill>
            <a:prstDash val="solid"/>
          </a:ln>
        </p:spPr>
      </p:sp>
      <p:sp>
        <p:nvSpPr>
          <p:cNvPr id="17" name="Text 15"/>
          <p:cNvSpPr txBox="1"/>
          <p:nvPr/>
        </p:nvSpPr>
        <p:spPr>
          <a:xfrm>
            <a:off x="548640" y="4828032"/>
            <a:ext cx="566928" cy="566928"/>
          </a:xfrm>
          <a:prstGeom prst="rect">
            <a:avLst/>
          </a:prstGeom>
          <a:noFill/>
          <a:ln/>
        </p:spPr>
        <p:txBody>
          <a:bodyPr wrap="square" lIns="0" tIns="0" rIns="0" bIns="0" rtlCol="0" anchor="ctr"/>
          <a:lstStyle/>
          <a:p>
            <a:pPr algn="ctr" indent="0" marL="0">
              <a:buNone/>
            </a:pPr>
            <a:r>
              <a:rPr lang="en-US" sz="1400" b="1" dirty="0">
                <a:solidFill>
                  <a:srgbClr val="A4613C"/>
                </a:solidFill>
                <a:latin typeface="Cambria" pitchFamily="34" charset="0"/>
                <a:ea typeface="Cambria" pitchFamily="34" charset="-122"/>
                <a:cs typeface="Cambria" pitchFamily="34" charset="-120"/>
              </a:rPr>
              <a:t>04</a:t>
            </a:r>
            <a:endParaRPr lang="en-US" sz="1400" dirty="0"/>
          </a:p>
        </p:txBody>
      </p:sp>
      <p:sp>
        <p:nvSpPr>
          <p:cNvPr id="18" name="Text 16"/>
          <p:cNvSpPr txBox="1"/>
          <p:nvPr/>
        </p:nvSpPr>
        <p:spPr>
          <a:xfrm>
            <a:off x="1325880" y="4800600"/>
            <a:ext cx="3840480" cy="365760"/>
          </a:xfrm>
          <a:prstGeom prst="rect">
            <a:avLst/>
          </a:prstGeom>
          <a:noFill/>
          <a:ln/>
        </p:spPr>
        <p:txBody>
          <a:bodyPr wrap="square" lIns="0" tIns="0" rIns="0" bIns="0" rtlCol="0" anchor="ctr"/>
          <a:lstStyle/>
          <a:p>
            <a:pPr indent="0" marL="0">
              <a:buNone/>
            </a:pPr>
            <a:r>
              <a:rPr lang="en-US" sz="1600" b="1" dirty="0">
                <a:solidFill>
                  <a:srgbClr val="2B2A26"/>
                </a:solidFill>
                <a:latin typeface="Cambria" pitchFamily="34" charset="0"/>
                <a:ea typeface="Cambria" pitchFamily="34" charset="-122"/>
                <a:cs typeface="Cambria" pitchFamily="34" charset="-120"/>
              </a:rPr>
              <a:t>Pipelines &amp; Models</a:t>
            </a:r>
            <a:endParaRPr lang="en-US" sz="1600" dirty="0"/>
          </a:p>
        </p:txBody>
      </p:sp>
      <p:sp>
        <p:nvSpPr>
          <p:cNvPr id="19" name="Text 17"/>
          <p:cNvSpPr txBox="1"/>
          <p:nvPr/>
        </p:nvSpPr>
        <p:spPr>
          <a:xfrm>
            <a:off x="5212080" y="4773168"/>
            <a:ext cx="6400800" cy="731520"/>
          </a:xfrm>
          <a:prstGeom prst="rect">
            <a:avLst/>
          </a:prstGeom>
          <a:noFill/>
          <a:ln/>
        </p:spPr>
        <p:txBody>
          <a:bodyPr wrap="square" lIns="0" tIns="0" rIns="0" bIns="0" rtlCol="0" anchor="ctr"/>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Leak-free preprocessing pipelines, 10 regression algorithms and 5 classification algorithms with tuning.</a:t>
            </a:r>
            <a:endParaRPr lang="en-US" sz="1150" dirty="0"/>
          </a:p>
        </p:txBody>
      </p:sp>
      <p:sp>
        <p:nvSpPr>
          <p:cNvPr id="20" name="Text 18"/>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2</a:t>
            </a:r>
            <a:endParaRPr lang="en-US" sz="900" dirty="0"/>
          </a:p>
        </p:txBody>
      </p:sp>
      <p:sp>
        <p:nvSpPr>
          <p:cNvPr id="21" name="Text 19"/>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Contents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E322C"/>
        </a:solidFill>
      </p:bgPr>
    </p:bg>
    <p:spTree>
      <p:nvGrpSpPr>
        <p:cNvPr id="1" name=""/>
        <p:cNvGrpSpPr/>
        <p:nvPr/>
      </p:nvGrpSpPr>
      <p:grpSpPr>
        <a:xfrm>
          <a:off x="0" y="0"/>
          <a:ext cx="0" cy="0"/>
          <a:chOff x="0" y="0"/>
          <a:chExt cx="0" cy="0"/>
        </a:xfrm>
      </p:grpSpPr>
      <p:sp>
        <p:nvSpPr>
          <p:cNvPr id="2" name="Text 0"/>
          <p:cNvSpPr txBox="1"/>
          <p:nvPr/>
        </p:nvSpPr>
        <p:spPr>
          <a:xfrm>
            <a:off x="822960" y="1828800"/>
            <a:ext cx="2743200" cy="1280160"/>
          </a:xfrm>
          <a:prstGeom prst="rect">
            <a:avLst/>
          </a:prstGeom>
          <a:noFill/>
          <a:ln/>
        </p:spPr>
        <p:txBody>
          <a:bodyPr wrap="square" lIns="0" tIns="0" rIns="0" bIns="0" rtlCol="0" anchor="ctr"/>
          <a:lstStyle/>
          <a:p>
            <a:pPr indent="0" marL="0">
              <a:buNone/>
            </a:pPr>
            <a:r>
              <a:rPr lang="en-US" sz="8000" b="1" dirty="0">
                <a:solidFill>
                  <a:srgbClr val="A4613C"/>
                </a:solidFill>
                <a:latin typeface="Cambria" pitchFamily="34" charset="0"/>
                <a:ea typeface="Cambria" pitchFamily="34" charset="-122"/>
                <a:cs typeface="Cambria" pitchFamily="34" charset="-120"/>
              </a:rPr>
              <a:t>01</a:t>
            </a:r>
            <a:endParaRPr lang="en-US" sz="8000" dirty="0"/>
          </a:p>
        </p:txBody>
      </p:sp>
      <p:sp>
        <p:nvSpPr>
          <p:cNvPr id="3" name="Text 1"/>
          <p:cNvSpPr txBox="1"/>
          <p:nvPr/>
        </p:nvSpPr>
        <p:spPr>
          <a:xfrm>
            <a:off x="822960" y="3063240"/>
            <a:ext cx="9144000" cy="822960"/>
          </a:xfrm>
          <a:prstGeom prst="rect">
            <a:avLst/>
          </a:prstGeom>
          <a:noFill/>
          <a:ln/>
        </p:spPr>
        <p:txBody>
          <a:bodyPr wrap="square" lIns="0" tIns="0" rIns="0" bIns="0" rtlCol="0" anchor="ctr"/>
          <a:lstStyle/>
          <a:p>
            <a:pPr indent="0" marL="0">
              <a:buNone/>
            </a:pPr>
            <a:r>
              <a:rPr lang="en-US" sz="3800" b="1" dirty="0">
                <a:solidFill>
                  <a:srgbClr val="F6F2EA"/>
                </a:solidFill>
                <a:latin typeface="Cambria" pitchFamily="34" charset="0"/>
                <a:ea typeface="Cambria" pitchFamily="34" charset="-122"/>
                <a:cs typeface="Cambria" pitchFamily="34" charset="-120"/>
              </a:rPr>
              <a:t>Part A — Regression</a:t>
            </a:r>
            <a:endParaRPr lang="en-US" sz="3800" dirty="0"/>
          </a:p>
        </p:txBody>
      </p:sp>
      <p:sp>
        <p:nvSpPr>
          <p:cNvPr id="4" name="Text 2"/>
          <p:cNvSpPr txBox="1"/>
          <p:nvPr/>
        </p:nvSpPr>
        <p:spPr>
          <a:xfrm>
            <a:off x="868680" y="3931920"/>
            <a:ext cx="8686800" cy="1097280"/>
          </a:xfrm>
          <a:prstGeom prst="rect">
            <a:avLst/>
          </a:prstGeom>
          <a:noFill/>
          <a:ln/>
        </p:spPr>
        <p:txBody>
          <a:bodyPr wrap="square" lIns="0" tIns="0" rIns="0" bIns="0" rtlCol="0" anchor="ctr"/>
          <a:lstStyle/>
          <a:p>
            <a:pPr indent="0" marL="0">
              <a:lnSpc>
                <a:spcPts val="2000"/>
              </a:lnSpc>
              <a:buNone/>
            </a:pPr>
            <a:r>
              <a:rPr lang="en-US" sz="1400" dirty="0">
                <a:solidFill>
                  <a:srgbClr val="C9C3B5"/>
                </a:solidFill>
                <a:latin typeface="Calibri" pitchFamily="34" charset="0"/>
                <a:ea typeface="Calibri" pitchFamily="34" charset="-122"/>
                <a:cs typeface="Calibri" pitchFamily="34" charset="-120"/>
              </a:rPr>
              <a:t>Predicting Site Energy Use Intensity (site_eui) of commercial and residential buildings</a:t>
            </a:r>
            <a:endParaRPr lang="en-US" sz="1400" dirty="0"/>
          </a:p>
          <a:p>
            <a:pPr indent="0" marL="0">
              <a:lnSpc>
                <a:spcPts val="2000"/>
              </a:lnSpc>
              <a:buNone/>
            </a:pPr>
            <a:r>
              <a:rPr lang="en-US" sz="1400" dirty="0">
                <a:solidFill>
                  <a:srgbClr val="C9C3B5"/>
                </a:solidFill>
                <a:latin typeface="Calibri" pitchFamily="34" charset="0"/>
                <a:ea typeface="Calibri" pitchFamily="34" charset="-122"/>
                <a:cs typeface="Calibri" pitchFamily="34" charset="-120"/>
              </a:rPr>
              <a:t>from building characteristics, climate variables and historical temperature metrics.</a:t>
            </a:r>
            <a:endParaRPr lang="en-US" sz="1400" dirty="0"/>
          </a:p>
        </p:txBody>
      </p:sp>
      <p:sp>
        <p:nvSpPr>
          <p:cNvPr id="5" name="Text 3"/>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PROBLEM</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Problem overview</a:t>
            </a:r>
            <a:endParaRPr lang="en-US" sz="2800" dirty="0"/>
          </a:p>
        </p:txBody>
      </p:sp>
      <p:sp>
        <p:nvSpPr>
          <p:cNvPr id="4" name="Text 2"/>
          <p:cNvSpPr txBox="1"/>
          <p:nvPr/>
        </p:nvSpPr>
        <p:spPr>
          <a:xfrm>
            <a:off x="548640" y="1463040"/>
            <a:ext cx="5760720" cy="1463040"/>
          </a:xfrm>
          <a:prstGeom prst="rect">
            <a:avLst/>
          </a:prstGeom>
          <a:noFill/>
          <a:ln/>
        </p:spPr>
        <p:txBody>
          <a:bodyPr wrap="square" lIns="0" tIns="0" rIns="0" bIns="0" rtlCol="0" anchor="ctr"/>
          <a:lstStyle/>
          <a:p>
            <a:pPr indent="0" marL="0">
              <a:lnSpc>
                <a:spcPts val="1900"/>
              </a:lnSpc>
              <a:buNone/>
            </a:pPr>
            <a:r>
              <a:rPr lang="en-US" sz="1300" dirty="0">
                <a:solidFill>
                  <a:srgbClr val="2B2A26"/>
                </a:solidFill>
                <a:latin typeface="Calibri" pitchFamily="34" charset="0"/>
                <a:ea typeface="Calibri" pitchFamily="34" charset="-122"/>
                <a:cs typeface="Calibri" pitchFamily="34" charset="-120"/>
              </a:rPr>
              <a:t>Buildings are one of the largest sources of electricity demand and greenhouse-gas emissions. Site Energy Use Intensity (site_eui, measured in kBtu per square foot) tells us how much energy a building uses for every square foot of floor space — it lets a small office and a large hospital be compared fairly.</a:t>
            </a:r>
            <a:endParaRPr lang="en-US" sz="1300" dirty="0"/>
          </a:p>
        </p:txBody>
      </p:sp>
      <p:sp>
        <p:nvSpPr>
          <p:cNvPr id="5" name="Text 3"/>
          <p:cNvSpPr txBox="1"/>
          <p:nvPr/>
        </p:nvSpPr>
        <p:spPr>
          <a:xfrm>
            <a:off x="548640" y="3017520"/>
            <a:ext cx="5760720" cy="2377440"/>
          </a:xfrm>
          <a:prstGeom prst="rect">
            <a:avLst/>
          </a:prstGeom>
          <a:noFill/>
          <a:ln/>
        </p:spPr>
        <p:txBody>
          <a:bodyPr wrap="square" lIns="0" tIns="0" rIns="0" bIns="0" rtlCol="0" anchor="t"/>
          <a:lstStyle/>
          <a:p>
            <a:pPr marL="342900" indent="-342900">
              <a:lnSpc>
                <a:spcPts val="1800"/>
              </a:lnSpc>
              <a:spcAft>
                <a:spcPts val="800"/>
              </a:spcAft>
              <a:buSzPct val="100000"/>
              <a:buChar char="•"/>
            </a:pPr>
            <a:r>
              <a:rPr lang="en-US" sz="1300" dirty="0">
                <a:solidFill>
                  <a:srgbClr val="2B2A26"/>
                </a:solidFill>
                <a:latin typeface="Calibri" pitchFamily="34" charset="0"/>
                <a:ea typeface="Calibri" pitchFamily="34" charset="-122"/>
                <a:cs typeface="Calibri" pitchFamily="34" charset="-120"/>
              </a:rPr>
              <a:t>City planners use EUI to decide which buildings to retrofit first.</a:t>
            </a:r>
            <a:endParaRPr lang="en-US" sz="1300" dirty="0"/>
          </a:p>
          <a:p>
            <a:pPr marL="342900" indent="-342900">
              <a:lnSpc>
                <a:spcPts val="1800"/>
              </a:lnSpc>
              <a:spcAft>
                <a:spcPts val="800"/>
              </a:spcAft>
              <a:buSzPct val="100000"/>
              <a:buChar char="•"/>
            </a:pPr>
            <a:r>
              <a:rPr lang="en-US" sz="1300" dirty="0">
                <a:solidFill>
                  <a:srgbClr val="2B2A26"/>
                </a:solidFill>
                <a:latin typeface="Calibri" pitchFamily="34" charset="0"/>
                <a:ea typeface="Calibri" pitchFamily="34" charset="-122"/>
                <a:cs typeface="Calibri" pitchFamily="34" charset="-120"/>
              </a:rPr>
              <a:t>Facility managers use it to find buildings that waste energy.</a:t>
            </a:r>
            <a:endParaRPr lang="en-US" sz="1300" dirty="0"/>
          </a:p>
          <a:p>
            <a:pPr marL="342900" indent="-342900">
              <a:lnSpc>
                <a:spcPts val="1800"/>
              </a:lnSpc>
              <a:spcAft>
                <a:spcPts val="800"/>
              </a:spcAft>
              <a:buSzPct val="100000"/>
              <a:buChar char="•"/>
            </a:pPr>
            <a:r>
              <a:rPr lang="en-US" sz="1300" dirty="0">
                <a:solidFill>
                  <a:srgbClr val="2B2A26"/>
                </a:solidFill>
                <a:latin typeface="Calibri" pitchFamily="34" charset="0"/>
                <a:ea typeface="Calibri" pitchFamily="34" charset="-122"/>
                <a:cs typeface="Calibri" pitchFamily="34" charset="-120"/>
              </a:rPr>
              <a:t>Utilities use it to forecast load on the electrical grid.</a:t>
            </a:r>
            <a:endParaRPr lang="en-US" sz="1300" dirty="0"/>
          </a:p>
          <a:p>
            <a:pPr marL="342900" indent="-342900">
              <a:lnSpc>
                <a:spcPts val="1800"/>
              </a:lnSpc>
              <a:spcAft>
                <a:spcPts val="800"/>
              </a:spcAft>
              <a:buSzPct val="100000"/>
              <a:buChar char="•"/>
            </a:pPr>
            <a:r>
              <a:rPr lang="en-US" sz="1300" dirty="0">
                <a:solidFill>
                  <a:srgbClr val="2B2A26"/>
                </a:solidFill>
                <a:latin typeface="Calibri" pitchFamily="34" charset="0"/>
                <a:ea typeface="Calibri" pitchFamily="34" charset="-122"/>
                <a:cs typeface="Calibri" pitchFamily="34" charset="-120"/>
              </a:rPr>
              <a:t>Measuring EUI directly needs meter data, which is often missing — so we predict it instead.</a:t>
            </a:r>
            <a:endParaRPr lang="en-US" sz="1300" dirty="0"/>
          </a:p>
        </p:txBody>
      </p:sp>
      <p:sp>
        <p:nvSpPr>
          <p:cNvPr id="6" name="Shape 4"/>
          <p:cNvSpPr/>
          <p:nvPr/>
        </p:nvSpPr>
        <p:spPr>
          <a:xfrm>
            <a:off x="6675120" y="1463040"/>
            <a:ext cx="4937760" cy="4023360"/>
          </a:xfrm>
          <a:prstGeom prst="roundRect">
            <a:avLst>
              <a:gd name="adj" fmla="val 1818"/>
            </a:avLst>
          </a:prstGeom>
          <a:solidFill>
            <a:srgbClr val="EAE3D6"/>
          </a:solidFill>
          <a:ln w="12700">
            <a:solidFill>
              <a:srgbClr val="EAE3D6"/>
            </a:solidFill>
            <a:prstDash val="solid"/>
          </a:ln>
        </p:spPr>
      </p:sp>
      <p:sp>
        <p:nvSpPr>
          <p:cNvPr id="7" name="Text 5"/>
          <p:cNvSpPr txBox="1"/>
          <p:nvPr/>
        </p:nvSpPr>
        <p:spPr>
          <a:xfrm>
            <a:off x="6903720" y="1627632"/>
            <a:ext cx="448056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Why this is a regression problem</a:t>
            </a:r>
            <a:endParaRPr lang="en-US" sz="1400" dirty="0"/>
          </a:p>
        </p:txBody>
      </p:sp>
      <p:sp>
        <p:nvSpPr>
          <p:cNvPr id="8" name="Text 6"/>
          <p:cNvSpPr txBox="1"/>
          <p:nvPr/>
        </p:nvSpPr>
        <p:spPr>
          <a:xfrm>
            <a:off x="6903720" y="1975104"/>
            <a:ext cx="4480560" cy="3337560"/>
          </a:xfrm>
          <a:prstGeom prst="rect">
            <a:avLst/>
          </a:prstGeom>
          <a:noFill/>
          <a:ln/>
        </p:spPr>
        <p:txBody>
          <a:bodyPr wrap="square" lIns="0" tIns="0" rIns="0" bIns="0" rtlCol="0" anchor="t"/>
          <a:lstStyle/>
          <a:p>
            <a:pPr indent="0" marL="0">
              <a:lnSpc>
                <a:spcPts val="1500"/>
              </a:lnSpc>
              <a:buNone/>
            </a:pPr>
            <a:r>
              <a:rPr lang="en-US" sz="1200" dirty="0">
                <a:solidFill>
                  <a:srgbClr val="6E6658"/>
                </a:solidFill>
                <a:latin typeface="Calibri" pitchFamily="34" charset="0"/>
                <a:ea typeface="Calibri" pitchFamily="34" charset="-122"/>
                <a:cs typeface="Calibri" pitchFamily="34" charset="-120"/>
              </a:rPr>
              <a:t>The thing we want to predict — site_eui — is a continuous number (1.00 to 997.87 kBtu/sq.ft), not a category. Continuous targets are modelled with regression.</a:t>
            </a:r>
            <a:endParaRPr lang="en-US" sz="1200" dirty="0"/>
          </a:p>
          <a:p>
            <a:pPr indent="0" marL="0">
              <a:lnSpc>
                <a:spcPts val="1500"/>
              </a:lnSpc>
              <a:buNone/>
            </a:pPr>
            <a:endParaRPr lang="en-US" sz="1200" dirty="0"/>
          </a:p>
          <a:p>
            <a:pPr indent="0" marL="0">
              <a:lnSpc>
                <a:spcPts val="1500"/>
              </a:lnSpc>
              <a:buNone/>
            </a:pPr>
            <a:r>
              <a:rPr lang="en-US" sz="1200" dirty="0">
                <a:solidFill>
                  <a:srgbClr val="6E6658"/>
                </a:solidFill>
                <a:latin typeface="Calibri" pitchFamily="34" charset="0"/>
                <a:ea typeface="Calibri" pitchFamily="34" charset="-122"/>
                <a:cs typeface="Calibri" pitchFamily="34" charset="-120"/>
              </a:rPr>
              <a:t>We are given 64 columns describing each building: its physical properties (floor area, year built), an efficiency benchmark (Energy Star rating), its location (state, elevation), and a full year of weather measurements for that location.</a:t>
            </a:r>
            <a:endParaRPr lang="en-US" sz="1200" dirty="0"/>
          </a:p>
          <a:p>
            <a:pPr indent="0" marL="0">
              <a:lnSpc>
                <a:spcPts val="1500"/>
              </a:lnSpc>
              <a:buNone/>
            </a:pPr>
            <a:endParaRPr lang="en-US" sz="1200" dirty="0"/>
          </a:p>
          <a:p>
            <a:pPr indent="0" marL="0">
              <a:lnSpc>
                <a:spcPts val="1500"/>
              </a:lnSpc>
              <a:buNone/>
            </a:pPr>
            <a:r>
              <a:rPr lang="en-US" sz="1200" dirty="0">
                <a:solidFill>
                  <a:srgbClr val="6E6658"/>
                </a:solidFill>
                <a:latin typeface="Calibri" pitchFamily="34" charset="0"/>
                <a:ea typeface="Calibri" pitchFamily="34" charset="-122"/>
                <a:cs typeface="Calibri" pitchFamily="34" charset="-120"/>
              </a:rPr>
              <a:t>The task is to learn the relationship between these inputs and the measured energy use, so that energy use can be estimated for buildings where it was never measured.</a:t>
            </a:r>
            <a:endParaRPr lang="en-US" sz="1200" dirty="0"/>
          </a:p>
        </p:txBody>
      </p:sp>
      <p:sp>
        <p:nvSpPr>
          <p:cNvPr id="9" name="Text 7"/>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4</a:t>
            </a:r>
            <a:endParaRPr lang="en-US" sz="900" dirty="0"/>
          </a:p>
        </p:txBody>
      </p:sp>
      <p:sp>
        <p:nvSpPr>
          <p:cNvPr id="10" name="Text 8"/>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Problem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PROBLEM</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Problem statement &amp; objective</a:t>
            </a:r>
            <a:endParaRPr lang="en-US" sz="2800" dirty="0"/>
          </a:p>
        </p:txBody>
      </p:sp>
      <p:sp>
        <p:nvSpPr>
          <p:cNvPr id="4" name="Shape 2"/>
          <p:cNvSpPr/>
          <p:nvPr/>
        </p:nvSpPr>
        <p:spPr>
          <a:xfrm>
            <a:off x="548640" y="1417320"/>
            <a:ext cx="5486400" cy="2286000"/>
          </a:xfrm>
          <a:prstGeom prst="roundRect">
            <a:avLst>
              <a:gd name="adj" fmla="val 3200"/>
            </a:avLst>
          </a:prstGeom>
          <a:solidFill>
            <a:srgbClr val="EAE3D6"/>
          </a:solidFill>
          <a:ln w="12700">
            <a:solidFill>
              <a:srgbClr val="EAE3D6"/>
            </a:solidFill>
            <a:prstDash val="solid"/>
          </a:ln>
        </p:spPr>
      </p:sp>
      <p:sp>
        <p:nvSpPr>
          <p:cNvPr id="5" name="Text 3"/>
          <p:cNvSpPr txBox="1"/>
          <p:nvPr/>
        </p:nvSpPr>
        <p:spPr>
          <a:xfrm>
            <a:off x="777240" y="1581912"/>
            <a:ext cx="50292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Problem statement</a:t>
            </a:r>
            <a:endParaRPr lang="en-US" sz="1400" dirty="0"/>
          </a:p>
        </p:txBody>
      </p:sp>
      <p:sp>
        <p:nvSpPr>
          <p:cNvPr id="6" name="Text 4"/>
          <p:cNvSpPr txBox="1"/>
          <p:nvPr/>
        </p:nvSpPr>
        <p:spPr>
          <a:xfrm>
            <a:off x="777240" y="1929384"/>
            <a:ext cx="5029200" cy="1600200"/>
          </a:xfrm>
          <a:prstGeom prst="rect">
            <a:avLst/>
          </a:prstGeom>
          <a:noFill/>
          <a:ln/>
        </p:spPr>
        <p:txBody>
          <a:bodyPr wrap="square" lIns="0" tIns="0" rIns="0" bIns="0" rtlCol="0" anchor="t"/>
          <a:lstStyle/>
          <a:p>
            <a:pPr indent="0" marL="0">
              <a:lnSpc>
                <a:spcPts val="1500"/>
              </a:lnSpc>
              <a:buNone/>
            </a:pPr>
            <a:r>
              <a:rPr lang="en-US" sz="1200" dirty="0">
                <a:solidFill>
                  <a:srgbClr val="6E6658"/>
                </a:solidFill>
                <a:latin typeface="Calibri" pitchFamily="34" charset="0"/>
                <a:ea typeface="Calibri" pitchFamily="34" charset="-122"/>
                <a:cs typeface="Calibri" pitchFamily="34" charset="-120"/>
              </a:rPr>
              <a:t>Given a dataset of commercial and residential building characteristics, climate variables and historical temperature metrics across several states, build a robust predictive regression framework that accurately estimates site_eui from facility attributes such as floor_area, year_built, energy_star_rating and facility_type, together with the climate context of the building.</a:t>
            </a:r>
            <a:endParaRPr lang="en-US" sz="1200" dirty="0"/>
          </a:p>
        </p:txBody>
      </p:sp>
      <p:sp>
        <p:nvSpPr>
          <p:cNvPr id="7" name="Shape 5"/>
          <p:cNvSpPr/>
          <p:nvPr/>
        </p:nvSpPr>
        <p:spPr>
          <a:xfrm>
            <a:off x="6263640" y="1417320"/>
            <a:ext cx="5349240" cy="2286000"/>
          </a:xfrm>
          <a:prstGeom prst="roundRect">
            <a:avLst>
              <a:gd name="adj" fmla="val 3200"/>
            </a:avLst>
          </a:prstGeom>
          <a:solidFill>
            <a:srgbClr val="E3DFD2"/>
          </a:solidFill>
          <a:ln w="12700">
            <a:solidFill>
              <a:srgbClr val="E3DFD2"/>
            </a:solidFill>
            <a:prstDash val="solid"/>
          </a:ln>
        </p:spPr>
      </p:sp>
      <p:sp>
        <p:nvSpPr>
          <p:cNvPr id="8" name="Text 6"/>
          <p:cNvSpPr txBox="1"/>
          <p:nvPr/>
        </p:nvSpPr>
        <p:spPr>
          <a:xfrm>
            <a:off x="6492240" y="1581912"/>
            <a:ext cx="489204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Objective</a:t>
            </a:r>
            <a:endParaRPr lang="en-US" sz="1400" dirty="0"/>
          </a:p>
        </p:txBody>
      </p:sp>
      <p:sp>
        <p:nvSpPr>
          <p:cNvPr id="9" name="Text 7"/>
          <p:cNvSpPr txBox="1"/>
          <p:nvPr/>
        </p:nvSpPr>
        <p:spPr>
          <a:xfrm>
            <a:off x="6492240" y="1929384"/>
            <a:ext cx="4892040" cy="1600200"/>
          </a:xfrm>
          <a:prstGeom prst="rect">
            <a:avLst/>
          </a:prstGeom>
          <a:noFill/>
          <a:ln/>
        </p:spPr>
        <p:txBody>
          <a:bodyPr wrap="square" lIns="0" tIns="0" rIns="0" bIns="0" rtlCol="0" anchor="t"/>
          <a:lstStyle/>
          <a:p>
            <a:pPr indent="0" marL="0">
              <a:lnSpc>
                <a:spcPts val="1500"/>
              </a:lnSpc>
              <a:buNone/>
            </a:pPr>
            <a:r>
              <a:rPr lang="en-US" sz="1200" dirty="0">
                <a:solidFill>
                  <a:srgbClr val="6E6658"/>
                </a:solidFill>
                <a:latin typeface="Calibri" pitchFamily="34" charset="0"/>
                <a:ea typeface="Calibri" pitchFamily="34" charset="-122"/>
                <a:cs typeface="Calibri" pitchFamily="34" charset="-120"/>
              </a:rPr>
              <a:t>Construct an end-to-end regression pipeline covering: raw dataset auditing → missing value treatment → duplicate removal → exploratory data analysis → domain feature engineering → zero-leakage preprocessing → training, hyperparameter tuning and comparison of ten regression algorithms.</a:t>
            </a:r>
            <a:endParaRPr lang="en-US" sz="1200" dirty="0"/>
          </a:p>
        </p:txBody>
      </p:sp>
      <p:sp>
        <p:nvSpPr>
          <p:cNvPr id="10" name="Text 8"/>
          <p:cNvSpPr txBox="1"/>
          <p:nvPr/>
        </p:nvSpPr>
        <p:spPr>
          <a:xfrm>
            <a:off x="548640" y="3977640"/>
            <a:ext cx="2377440" cy="685800"/>
          </a:xfrm>
          <a:prstGeom prst="rect">
            <a:avLst/>
          </a:prstGeom>
          <a:noFill/>
          <a:ln/>
        </p:spPr>
        <p:txBody>
          <a:bodyPr wrap="square" lIns="0" tIns="0" rIns="0" bIns="0" rtlCol="0" anchor="ctr"/>
          <a:lstStyle/>
          <a:p>
            <a:pPr indent="0" marL="0">
              <a:buNone/>
            </a:pPr>
            <a:r>
              <a:rPr lang="en-US" sz="3600" b="1" dirty="0">
                <a:solidFill>
                  <a:srgbClr val="A4613C"/>
                </a:solidFill>
                <a:latin typeface="Cambria" pitchFamily="34" charset="0"/>
                <a:ea typeface="Cambria" pitchFamily="34" charset="-122"/>
                <a:cs typeface="Cambria" pitchFamily="34" charset="-120"/>
              </a:rPr>
              <a:t>75,757</a:t>
            </a:r>
            <a:endParaRPr lang="en-US" sz="3600" dirty="0"/>
          </a:p>
        </p:txBody>
      </p:sp>
      <p:sp>
        <p:nvSpPr>
          <p:cNvPr id="11" name="Text 9"/>
          <p:cNvSpPr txBox="1"/>
          <p:nvPr/>
        </p:nvSpPr>
        <p:spPr>
          <a:xfrm>
            <a:off x="548640" y="4636008"/>
            <a:ext cx="2377440" cy="457200"/>
          </a:xfrm>
          <a:prstGeom prst="rect">
            <a:avLst/>
          </a:prstGeom>
          <a:noFill/>
          <a:ln/>
        </p:spPr>
        <p:txBody>
          <a:bodyPr wrap="square" lIns="0" tIns="0" rIns="0" bIns="0" rtlCol="0" anchor="ctr"/>
          <a:lstStyle/>
          <a:p>
            <a:pPr indent="0" marL="0">
              <a:lnSpc>
                <a:spcPts val="1300"/>
              </a:lnSpc>
              <a:buNone/>
            </a:pPr>
            <a:r>
              <a:rPr lang="en-US" sz="1050" dirty="0">
                <a:solidFill>
                  <a:srgbClr val="6E6658"/>
                </a:solidFill>
                <a:latin typeface="Calibri" pitchFamily="34" charset="0"/>
                <a:ea typeface="Calibri" pitchFamily="34" charset="-122"/>
                <a:cs typeface="Calibri" pitchFamily="34" charset="-120"/>
              </a:rPr>
              <a:t>building records in train.csv</a:t>
            </a:r>
            <a:endParaRPr lang="en-US" sz="1050" dirty="0"/>
          </a:p>
        </p:txBody>
      </p:sp>
      <p:sp>
        <p:nvSpPr>
          <p:cNvPr id="12" name="Text 10"/>
          <p:cNvSpPr txBox="1"/>
          <p:nvPr/>
        </p:nvSpPr>
        <p:spPr>
          <a:xfrm>
            <a:off x="3108960" y="3977640"/>
            <a:ext cx="2377440" cy="685800"/>
          </a:xfrm>
          <a:prstGeom prst="rect">
            <a:avLst/>
          </a:prstGeom>
          <a:noFill/>
          <a:ln/>
        </p:spPr>
        <p:txBody>
          <a:bodyPr wrap="square" lIns="0" tIns="0" rIns="0" bIns="0" rtlCol="0" anchor="ctr"/>
          <a:lstStyle/>
          <a:p>
            <a:pPr indent="0" marL="0">
              <a:buNone/>
            </a:pPr>
            <a:r>
              <a:rPr lang="en-US" sz="3600" b="1" dirty="0">
                <a:solidFill>
                  <a:srgbClr val="A4613C"/>
                </a:solidFill>
                <a:latin typeface="Cambria" pitchFamily="34" charset="0"/>
                <a:ea typeface="Cambria" pitchFamily="34" charset="-122"/>
                <a:cs typeface="Cambria" pitchFamily="34" charset="-120"/>
              </a:rPr>
              <a:t>64</a:t>
            </a:r>
            <a:endParaRPr lang="en-US" sz="3600" dirty="0"/>
          </a:p>
        </p:txBody>
      </p:sp>
      <p:sp>
        <p:nvSpPr>
          <p:cNvPr id="13" name="Text 11"/>
          <p:cNvSpPr txBox="1"/>
          <p:nvPr/>
        </p:nvSpPr>
        <p:spPr>
          <a:xfrm>
            <a:off x="3108960" y="4636008"/>
            <a:ext cx="2377440" cy="457200"/>
          </a:xfrm>
          <a:prstGeom prst="rect">
            <a:avLst/>
          </a:prstGeom>
          <a:noFill/>
          <a:ln/>
        </p:spPr>
        <p:txBody>
          <a:bodyPr wrap="square" lIns="0" tIns="0" rIns="0" bIns="0" rtlCol="0" anchor="ctr"/>
          <a:lstStyle/>
          <a:p>
            <a:pPr indent="0" marL="0">
              <a:lnSpc>
                <a:spcPts val="1300"/>
              </a:lnSpc>
              <a:buNone/>
            </a:pPr>
            <a:r>
              <a:rPr lang="en-US" sz="1050" dirty="0">
                <a:solidFill>
                  <a:srgbClr val="6E6658"/>
                </a:solidFill>
                <a:latin typeface="Calibri" pitchFamily="34" charset="0"/>
                <a:ea typeface="Calibri" pitchFamily="34" charset="-122"/>
                <a:cs typeface="Calibri" pitchFamily="34" charset="-120"/>
              </a:rPr>
              <a:t>raw columns before cleaning</a:t>
            </a:r>
            <a:endParaRPr lang="en-US" sz="1050" dirty="0"/>
          </a:p>
        </p:txBody>
      </p:sp>
      <p:sp>
        <p:nvSpPr>
          <p:cNvPr id="14" name="Text 12"/>
          <p:cNvSpPr txBox="1"/>
          <p:nvPr/>
        </p:nvSpPr>
        <p:spPr>
          <a:xfrm>
            <a:off x="5669280" y="3977640"/>
            <a:ext cx="2377440" cy="685800"/>
          </a:xfrm>
          <a:prstGeom prst="rect">
            <a:avLst/>
          </a:prstGeom>
          <a:noFill/>
          <a:ln/>
        </p:spPr>
        <p:txBody>
          <a:bodyPr wrap="square" lIns="0" tIns="0" rIns="0" bIns="0" rtlCol="0" anchor="ctr"/>
          <a:lstStyle/>
          <a:p>
            <a:pPr indent="0" marL="0">
              <a:buNone/>
            </a:pPr>
            <a:r>
              <a:rPr lang="en-US" sz="3600" b="1" dirty="0">
                <a:solidFill>
                  <a:srgbClr val="A4613C"/>
                </a:solidFill>
                <a:latin typeface="Cambria" pitchFamily="34" charset="0"/>
                <a:ea typeface="Cambria" pitchFamily="34" charset="-122"/>
                <a:cs typeface="Cambria" pitchFamily="34" charset="-120"/>
              </a:rPr>
              <a:t>10</a:t>
            </a:r>
            <a:endParaRPr lang="en-US" sz="3600" dirty="0"/>
          </a:p>
        </p:txBody>
      </p:sp>
      <p:sp>
        <p:nvSpPr>
          <p:cNvPr id="15" name="Text 13"/>
          <p:cNvSpPr txBox="1"/>
          <p:nvPr/>
        </p:nvSpPr>
        <p:spPr>
          <a:xfrm>
            <a:off x="5669280" y="4636008"/>
            <a:ext cx="2377440" cy="457200"/>
          </a:xfrm>
          <a:prstGeom prst="rect">
            <a:avLst/>
          </a:prstGeom>
          <a:noFill/>
          <a:ln/>
        </p:spPr>
        <p:txBody>
          <a:bodyPr wrap="square" lIns="0" tIns="0" rIns="0" bIns="0" rtlCol="0" anchor="ctr"/>
          <a:lstStyle/>
          <a:p>
            <a:pPr indent="0" marL="0">
              <a:lnSpc>
                <a:spcPts val="1300"/>
              </a:lnSpc>
              <a:buNone/>
            </a:pPr>
            <a:r>
              <a:rPr lang="en-US" sz="1050" dirty="0">
                <a:solidFill>
                  <a:srgbClr val="6E6658"/>
                </a:solidFill>
                <a:latin typeface="Calibri" pitchFamily="34" charset="0"/>
                <a:ea typeface="Calibri" pitchFamily="34" charset="-122"/>
                <a:cs typeface="Calibri" pitchFamily="34" charset="-120"/>
              </a:rPr>
              <a:t>regression algorithms compared</a:t>
            </a:r>
            <a:endParaRPr lang="en-US" sz="1050" dirty="0"/>
          </a:p>
        </p:txBody>
      </p:sp>
      <p:sp>
        <p:nvSpPr>
          <p:cNvPr id="16" name="Text 14"/>
          <p:cNvSpPr txBox="1"/>
          <p:nvPr/>
        </p:nvSpPr>
        <p:spPr>
          <a:xfrm>
            <a:off x="8229600" y="3977640"/>
            <a:ext cx="3291840" cy="685800"/>
          </a:xfrm>
          <a:prstGeom prst="rect">
            <a:avLst/>
          </a:prstGeom>
          <a:noFill/>
          <a:ln/>
        </p:spPr>
        <p:txBody>
          <a:bodyPr wrap="square" lIns="0" tIns="0" rIns="0" bIns="0" rtlCol="0" anchor="ctr"/>
          <a:lstStyle/>
          <a:p>
            <a:pPr indent="0" marL="0">
              <a:buNone/>
            </a:pPr>
            <a:r>
              <a:rPr lang="en-US" sz="3600" b="1" dirty="0">
                <a:solidFill>
                  <a:srgbClr val="77856B"/>
                </a:solidFill>
                <a:latin typeface="Cambria" pitchFamily="34" charset="0"/>
                <a:ea typeface="Cambria" pitchFamily="34" charset="-122"/>
                <a:cs typeface="Cambria" pitchFamily="34" charset="-120"/>
              </a:rPr>
              <a:t>site_eui</a:t>
            </a:r>
            <a:endParaRPr lang="en-US" sz="3600" dirty="0"/>
          </a:p>
        </p:txBody>
      </p:sp>
      <p:sp>
        <p:nvSpPr>
          <p:cNvPr id="17" name="Text 15"/>
          <p:cNvSpPr txBox="1"/>
          <p:nvPr/>
        </p:nvSpPr>
        <p:spPr>
          <a:xfrm>
            <a:off x="8229600" y="4636008"/>
            <a:ext cx="3291840" cy="457200"/>
          </a:xfrm>
          <a:prstGeom prst="rect">
            <a:avLst/>
          </a:prstGeom>
          <a:noFill/>
          <a:ln/>
        </p:spPr>
        <p:txBody>
          <a:bodyPr wrap="square" lIns="0" tIns="0" rIns="0" bIns="0" rtlCol="0" anchor="ctr"/>
          <a:lstStyle/>
          <a:p>
            <a:pPr indent="0" marL="0">
              <a:lnSpc>
                <a:spcPts val="1300"/>
              </a:lnSpc>
              <a:buNone/>
            </a:pPr>
            <a:r>
              <a:rPr lang="en-US" sz="1050" dirty="0">
                <a:solidFill>
                  <a:srgbClr val="6E6658"/>
                </a:solidFill>
                <a:latin typeface="Calibri" pitchFamily="34" charset="0"/>
                <a:ea typeface="Calibri" pitchFamily="34" charset="-122"/>
                <a:cs typeface="Calibri" pitchFamily="34" charset="-120"/>
              </a:rPr>
              <a:t>target variable (kBtu/sq.ft)</a:t>
            </a:r>
            <a:endParaRPr lang="en-US" sz="1050" dirty="0"/>
          </a:p>
        </p:txBody>
      </p:sp>
      <p:sp>
        <p:nvSpPr>
          <p:cNvPr id="18" name="Text 16"/>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5</a:t>
            </a:r>
            <a:endParaRPr lang="en-US" sz="900" dirty="0"/>
          </a:p>
        </p:txBody>
      </p:sp>
      <p:sp>
        <p:nvSpPr>
          <p:cNvPr id="19" name="Text 17"/>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Problem</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DATA</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Dataset audit — what is inside the file</a:t>
            </a:r>
            <a:endParaRPr lang="en-US" sz="2800" dirty="0"/>
          </a:p>
        </p:txBody>
      </p:sp>
      <p:sp>
        <p:nvSpPr>
          <p:cNvPr id="4" name="Text 2"/>
          <p:cNvSpPr txBox="1"/>
          <p:nvPr/>
        </p:nvSpPr>
        <p:spPr>
          <a:xfrm>
            <a:off x="548640" y="1417320"/>
            <a:ext cx="11064240" cy="548640"/>
          </a:xfrm>
          <a:prstGeom prst="rect">
            <a:avLst/>
          </a:prstGeom>
          <a:noFill/>
          <a:ln/>
        </p:spPr>
        <p:txBody>
          <a:bodyPr wrap="square" lIns="0" tIns="0" rIns="0" bIns="0" rtlCol="0" anchor="ctr"/>
          <a:lstStyle/>
          <a:p>
            <a:pPr indent="0" marL="0">
              <a:lnSpc>
                <a:spcPts val="1700"/>
              </a:lnSpc>
              <a:buNone/>
            </a:pPr>
            <a:r>
              <a:rPr lang="en-US" sz="1250" dirty="0">
                <a:solidFill>
                  <a:srgbClr val="6E6658"/>
                </a:solidFill>
                <a:latin typeface="Calibri" pitchFamily="34" charset="0"/>
                <a:ea typeface="Calibri" pitchFamily="34" charset="-122"/>
                <a:cs typeface="Calibri" pitchFamily="34" charset="-120"/>
              </a:rPr>
              <a:t>Before touching the data we inspect it: how many rows and columns, what type each column is, how many values are missing, and how the target is distributed. Nothing is changed at this stage — we are only looking.</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5120640" cy="914400"/>
        </p:xfrm>
        <a:graphic>
          <a:graphicData uri="http://schemas.openxmlformats.org/drawingml/2006/table">
            <a:tbl>
              <a:tblPr/>
              <a:tblGrid>
                <a:gridCol w="1371600"/>
                <a:gridCol w="822960"/>
                <a:gridCol w="2926080"/>
              </a:tblGrid>
              <a:tr h="384048">
                <a:tc>
                  <a:txBody>
                    <a:bodyPr/>
                    <a:lstStyle/>
                    <a:p>
                      <a:pPr indent="0" marL="0">
                        <a:buNone/>
                      </a:pPr>
                      <a:r>
                        <a:rPr lang="en-US" sz="1100" b="1" dirty="0">
                          <a:solidFill>
                            <a:srgbClr val="F6F2EA"/>
                          </a:solidFill>
                          <a:latin typeface="Calibri" pitchFamily="34" charset="0"/>
                          <a:ea typeface="Calibri" pitchFamily="34" charset="-122"/>
                          <a:cs typeface="Calibri" pitchFamily="34" charset="-120"/>
                        </a:rPr>
                        <a:t>Column type</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100" b="1" dirty="0">
                          <a:solidFill>
                            <a:srgbClr val="F6F2EA"/>
                          </a:solidFill>
                          <a:latin typeface="Calibri" pitchFamily="34" charset="0"/>
                          <a:ea typeface="Calibri" pitchFamily="34" charset="-122"/>
                          <a:cs typeface="Calibri" pitchFamily="34" charset="-120"/>
                        </a:rPr>
                        <a:t>Count</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100" b="1" dirty="0">
                          <a:solidFill>
                            <a:srgbClr val="F6F2EA"/>
                          </a:solidFill>
                          <a:latin typeface="Calibri" pitchFamily="34" charset="0"/>
                          <a:ea typeface="Calibri" pitchFamily="34" charset="-122"/>
                          <a:cs typeface="Calibri" pitchFamily="34" charset="-120"/>
                        </a:rPr>
                        <a:t>Examples</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r>
              <a:tr h="384048">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int64</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37</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january_min_temp, days_above_80F</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84048">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float64</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24</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floor_area, energy_star_rating</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object (text)</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State_Factor, building_class, facility_type</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bl>
          </a:graphicData>
        </a:graphic>
      </p:graphicFrame>
      <p:sp>
        <p:nvSpPr>
          <p:cNvPr id="6" name="Text 3"/>
          <p:cNvSpPr txBox="1"/>
          <p:nvPr/>
        </p:nvSpPr>
        <p:spPr>
          <a:xfrm>
            <a:off x="548640" y="3931920"/>
            <a:ext cx="5120640" cy="731520"/>
          </a:xfrm>
          <a:prstGeom prst="rect">
            <a:avLst/>
          </a:prstGeom>
          <a:noFill/>
          <a:ln/>
        </p:spPr>
        <p:txBody>
          <a:bodyPr wrap="square" lIns="0" tIns="0" rIns="0" bIns="0" rtlCol="0" anchor="ctr"/>
          <a:lstStyle/>
          <a:p>
            <a:pPr indent="0" marL="0">
              <a:lnSpc>
                <a:spcPts val="1500"/>
              </a:lnSpc>
              <a:buNone/>
            </a:pPr>
            <a:r>
              <a:rPr lang="en-US" sz="1100" i="1" dirty="0">
                <a:solidFill>
                  <a:srgbClr val="6E6658"/>
                </a:solidFill>
                <a:latin typeface="Calibri" pitchFamily="34" charset="0"/>
                <a:ea typeface="Calibri" pitchFamily="34" charset="-122"/>
                <a:cs typeface="Calibri" pitchFamily="34" charset="-120"/>
              </a:rPr>
              <a:t>Checks performed: .shape · .info() · .describe() · .describe(include='object') · null counts · head() / tail() · column list</a:t>
            </a:r>
            <a:endParaRPr lang="en-US" sz="11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126480" y="2148840"/>
          <a:ext cx="5486400" cy="914400"/>
        </p:xfrm>
        <a:graphic>
          <a:graphicData uri="http://schemas.openxmlformats.org/drawingml/2006/table">
            <a:tbl>
              <a:tblPr/>
              <a:tblGrid>
                <a:gridCol w="2743200"/>
                <a:gridCol w="2743200"/>
              </a:tblGrid>
              <a:tr h="329184">
                <a:tc>
                  <a:txBody>
                    <a:bodyPr/>
                    <a:lstStyle/>
                    <a:p>
                      <a:pPr indent="0" marL="0">
                        <a:buNone/>
                      </a:pPr>
                      <a:r>
                        <a:rPr lang="en-US" sz="1100" b="1" dirty="0">
                          <a:solidFill>
                            <a:srgbClr val="F6F2EA"/>
                          </a:solidFill>
                          <a:latin typeface="Calibri" pitchFamily="34" charset="0"/>
                          <a:ea typeface="Calibri" pitchFamily="34" charset="-122"/>
                          <a:cs typeface="Calibri" pitchFamily="34" charset="-120"/>
                        </a:rPr>
                        <a:t>site_eui statistic</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100" b="1" dirty="0">
                          <a:solidFill>
                            <a:srgbClr val="F6F2EA"/>
                          </a:solidFill>
                          <a:latin typeface="Calibri" pitchFamily="34" charset="0"/>
                          <a:ea typeface="Calibri" pitchFamily="34" charset="-122"/>
                          <a:cs typeface="Calibri" pitchFamily="34" charset="-120"/>
                        </a:rPr>
                        <a:t>Value (kBtu/sq.ft)</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r>
              <a:tr h="329184">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count</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75,757</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29184">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mean</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82.58</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std</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58.26</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29184">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min / max</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1.00  /  997.87</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25% / 50% / 75%</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54.53  /  75.29  /  97.28</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bl>
          </a:graphicData>
        </a:graphic>
      </p:graphicFrame>
      <p:sp>
        <p:nvSpPr>
          <p:cNvPr id="8" name="Text 4"/>
          <p:cNvSpPr txBox="1"/>
          <p:nvPr/>
        </p:nvSpPr>
        <p:spPr>
          <a:xfrm>
            <a:off x="6126480" y="4434840"/>
            <a:ext cx="5486400" cy="731520"/>
          </a:xfrm>
          <a:prstGeom prst="rect">
            <a:avLst/>
          </a:prstGeom>
          <a:noFill/>
          <a:ln/>
        </p:spPr>
        <p:txBody>
          <a:bodyPr wrap="square" lIns="0" tIns="0" rIns="0" bIns="0" rtlCol="0" anchor="ctr"/>
          <a:lstStyle/>
          <a:p>
            <a:pPr indent="0" marL="0">
              <a:lnSpc>
                <a:spcPts val="1600"/>
              </a:lnSpc>
              <a:buNone/>
            </a:pPr>
            <a:r>
              <a:rPr lang="en-US" sz="1150" dirty="0">
                <a:solidFill>
                  <a:srgbClr val="2B2A26"/>
                </a:solidFill>
                <a:latin typeface="Calibri" pitchFamily="34" charset="0"/>
                <a:ea typeface="Calibri" pitchFamily="34" charset="-122"/>
                <a:cs typeface="Calibri" pitchFamily="34" charset="-120"/>
              </a:rPr>
              <a:t>The mean (82.58) sits well above the median (75.29) and the maximum is far from the 75th percentile — an early sign that the target is right-skewed.</a:t>
            </a:r>
            <a:endParaRPr lang="en-US" sz="1150" dirty="0"/>
          </a:p>
        </p:txBody>
      </p:sp>
      <p:sp>
        <p:nvSpPr>
          <p:cNvPr id="9" name="Text 5"/>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6</a:t>
            </a:r>
            <a:endParaRPr lang="en-US" sz="900" dirty="0"/>
          </a:p>
        </p:txBody>
      </p:sp>
      <p:sp>
        <p:nvSpPr>
          <p:cNvPr id="10" name="Text 6"/>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Data audit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DATA</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Missing value analysis</a:t>
            </a:r>
            <a:endParaRPr lang="en-US" sz="2800" dirty="0"/>
          </a:p>
        </p:txBody>
      </p:sp>
      <p:sp>
        <p:nvSpPr>
          <p:cNvPr id="4" name="Text 2"/>
          <p:cNvSpPr txBox="1"/>
          <p:nvPr/>
        </p:nvSpPr>
        <p:spPr>
          <a:xfrm>
            <a:off x="548640" y="1371600"/>
            <a:ext cx="11064240" cy="411480"/>
          </a:xfrm>
          <a:prstGeom prst="rect">
            <a:avLst/>
          </a:prstGeom>
          <a:noFill/>
          <a:ln/>
        </p:spPr>
        <p:txBody>
          <a:bodyPr wrap="square" lIns="0" tIns="0" rIns="0" bIns="0" rtlCol="0" anchor="ctr"/>
          <a:lstStyle/>
          <a:p>
            <a:pPr indent="0" marL="0">
              <a:buNone/>
            </a:pPr>
            <a:r>
              <a:rPr lang="en-US" sz="1250" dirty="0">
                <a:solidFill>
                  <a:srgbClr val="6E6658"/>
                </a:solidFill>
                <a:latin typeface="Calibri" pitchFamily="34" charset="0"/>
                <a:ea typeface="Calibri" pitchFamily="34" charset="-122"/>
                <a:cs typeface="Calibri" pitchFamily="34" charset="-120"/>
              </a:rPr>
              <a:t>For every column we count the empty cells with df.isnull().sum(), then convert that to a percentage with df.isnull().mean()*100. Only six columns have missing data.</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6492240" cy="914400"/>
        </p:xfrm>
        <a:graphic>
          <a:graphicData uri="http://schemas.openxmlformats.org/drawingml/2006/table">
            <a:tbl>
              <a:tblPr/>
              <a:tblGrid>
                <a:gridCol w="2286000"/>
                <a:gridCol w="1005840"/>
                <a:gridCol w="822960"/>
                <a:gridCol w="2377440"/>
              </a:tblGrid>
              <a:tr h="347472">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Column</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Missing</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Why it is missing</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r>
              <a:tr h="347472">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days_with_fog</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45,796</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60.45%</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Few weather stations monitor fog</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47472">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direction_peak_wind_speed</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41,811</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55.19%</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Wind direction not recorded at all stations</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r h="347472">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direction_max_wind_speed</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41,082</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54.23%</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Same stations, same gap</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47472">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max_wind_speed</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41,082</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54.23%</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Missing on exactly the same rows</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r h="347472">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energy_star_rating</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26,709</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35.26%</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Building never benchmarked</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47472">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year_built</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1,837</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2.42%</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Construction year not on record</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bl>
          </a:graphicData>
        </a:graphic>
      </p:graphicFrame>
      <p:sp>
        <p:nvSpPr>
          <p:cNvPr id="6" name="Shape 3"/>
          <p:cNvSpPr/>
          <p:nvPr/>
        </p:nvSpPr>
        <p:spPr>
          <a:xfrm>
            <a:off x="7269480" y="1920240"/>
            <a:ext cx="4343400" cy="3291840"/>
          </a:xfrm>
          <a:prstGeom prst="roundRect">
            <a:avLst>
              <a:gd name="adj" fmla="val 2222"/>
            </a:avLst>
          </a:prstGeom>
          <a:solidFill>
            <a:srgbClr val="EAE3D6"/>
          </a:solidFill>
          <a:ln w="12700">
            <a:solidFill>
              <a:srgbClr val="EAE3D6"/>
            </a:solidFill>
            <a:prstDash val="solid"/>
          </a:ln>
        </p:spPr>
      </p:sp>
      <p:sp>
        <p:nvSpPr>
          <p:cNvPr id="7" name="Text 4"/>
          <p:cNvSpPr txBox="1"/>
          <p:nvPr/>
        </p:nvSpPr>
        <p:spPr>
          <a:xfrm>
            <a:off x="7498080" y="2084832"/>
            <a:ext cx="38862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How the pattern was read</a:t>
            </a:r>
            <a:endParaRPr lang="en-US" sz="1400" dirty="0"/>
          </a:p>
        </p:txBody>
      </p:sp>
      <p:sp>
        <p:nvSpPr>
          <p:cNvPr id="8" name="Text 5"/>
          <p:cNvSpPr txBox="1"/>
          <p:nvPr/>
        </p:nvSpPr>
        <p:spPr>
          <a:xfrm>
            <a:off x="7498080" y="2432304"/>
            <a:ext cx="3886200" cy="260604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The three wind columns are missing in blocks, not at random: direction_max_wind_speed and max_wind_speed have exactly the same 41,082 nulls and they fall on the same rows. That means the weather station itself did not report, which is information in its own right.</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This is why those columns are kept and turned into missing-indicator flags later, instead of being thrown away.</a:t>
            </a:r>
            <a:endParaRPr lang="en-US" sz="1150" dirty="0"/>
          </a:p>
        </p:txBody>
      </p:sp>
      <p:sp>
        <p:nvSpPr>
          <p:cNvPr id="9" name="Text 6"/>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7</a:t>
            </a:r>
            <a:endParaRPr lang="en-US" sz="900" dirty="0"/>
          </a:p>
        </p:txBody>
      </p:sp>
      <p:sp>
        <p:nvSpPr>
          <p:cNvPr id="10" name="Text 7"/>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Missing values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DATA</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Missing value treatment strategy</a:t>
            </a:r>
            <a:endParaRPr lang="en-US" sz="2800" dirty="0"/>
          </a:p>
        </p:txBody>
      </p:sp>
      <p:sp>
        <p:nvSpPr>
          <p:cNvPr id="4" name="Shape 2"/>
          <p:cNvSpPr/>
          <p:nvPr/>
        </p:nvSpPr>
        <p:spPr>
          <a:xfrm>
            <a:off x="548640" y="1463040"/>
            <a:ext cx="11064240" cy="1115568"/>
          </a:xfrm>
          <a:prstGeom prst="roundRect">
            <a:avLst>
              <a:gd name="adj" fmla="val 4918"/>
            </a:avLst>
          </a:prstGeom>
          <a:solidFill>
            <a:srgbClr val="EAE3D6"/>
          </a:solidFill>
          <a:ln w="12700">
            <a:solidFill>
              <a:srgbClr val="EAE3D6"/>
            </a:solidFill>
            <a:prstDash val="solid"/>
          </a:ln>
        </p:spPr>
      </p:sp>
      <p:sp>
        <p:nvSpPr>
          <p:cNvPr id="5" name="Text 3"/>
          <p:cNvSpPr txBox="1"/>
          <p:nvPr/>
        </p:nvSpPr>
        <p:spPr>
          <a:xfrm>
            <a:off x="777240" y="1627632"/>
            <a:ext cx="2286000" cy="457200"/>
          </a:xfrm>
          <a:prstGeom prst="rect">
            <a:avLst/>
          </a:prstGeom>
          <a:noFill/>
          <a:ln/>
        </p:spPr>
        <p:txBody>
          <a:bodyPr wrap="square" lIns="0" tIns="0" rIns="0" bIns="0" rtlCol="0" anchor="ctr"/>
          <a:lstStyle/>
          <a:p>
            <a:pPr indent="0" marL="0">
              <a:buNone/>
            </a:pPr>
            <a:r>
              <a:rPr lang="en-US" sz="1300" b="1" dirty="0">
                <a:solidFill>
                  <a:srgbClr val="A4613C"/>
                </a:solidFill>
                <a:latin typeface="Cambria" pitchFamily="34" charset="0"/>
                <a:ea typeface="Cambria" pitchFamily="34" charset="-122"/>
                <a:cs typeface="Cambria" pitchFamily="34" charset="-120"/>
              </a:rPr>
              <a:t>Drop the column</a:t>
            </a:r>
            <a:endParaRPr lang="en-US" sz="1300" dirty="0"/>
          </a:p>
        </p:txBody>
      </p:sp>
      <p:sp>
        <p:nvSpPr>
          <p:cNvPr id="6" name="Text 4"/>
          <p:cNvSpPr txBox="1"/>
          <p:nvPr/>
        </p:nvSpPr>
        <p:spPr>
          <a:xfrm>
            <a:off x="3154680" y="1645920"/>
            <a:ext cx="2834640" cy="777240"/>
          </a:xfrm>
          <a:prstGeom prst="rect">
            <a:avLst/>
          </a:prstGeom>
          <a:noFill/>
          <a:ln/>
        </p:spPr>
        <p:txBody>
          <a:bodyPr wrap="square" lIns="0" tIns="0" rIns="0" bIns="0" rtlCol="0" anchor="ctr"/>
          <a:lstStyle/>
          <a:p>
            <a:pPr indent="0" marL="0">
              <a:lnSpc>
                <a:spcPts val="1400"/>
              </a:lnSpc>
              <a:buNone/>
            </a:pPr>
            <a:r>
              <a:rPr lang="en-US" sz="1100" dirty="0">
                <a:solidFill>
                  <a:srgbClr val="2B2A26"/>
                </a:solidFill>
                <a:latin typeface="Calibri" pitchFamily="34" charset="0"/>
                <a:ea typeface="Calibri" pitchFamily="34" charset="-122"/>
                <a:cs typeface="Calibri" pitchFamily="34" charset="-120"/>
              </a:rPr>
              <a:t>days_with_fog (60.45% missing) and id</a:t>
            </a:r>
            <a:endParaRPr lang="en-US" sz="1100" dirty="0"/>
          </a:p>
        </p:txBody>
      </p:sp>
      <p:sp>
        <p:nvSpPr>
          <p:cNvPr id="7" name="Text 5"/>
          <p:cNvSpPr txBox="1"/>
          <p:nvPr/>
        </p:nvSpPr>
        <p:spPr>
          <a:xfrm>
            <a:off x="6172200" y="1618488"/>
            <a:ext cx="5212080" cy="822960"/>
          </a:xfrm>
          <a:prstGeom prst="rect">
            <a:avLst/>
          </a:prstGeom>
          <a:noFill/>
          <a:ln/>
        </p:spPr>
        <p:txBody>
          <a:bodyPr wrap="square" lIns="0" tIns="0" rIns="0" bIns="0" rtlCol="0" anchor="ctr"/>
          <a:lstStyle/>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Above 60% missing there is not enough real data left to fill the gaps honestly. id is only a row number, so it has no predictive meaning.</a:t>
            </a:r>
            <a:endParaRPr lang="en-US" sz="1100" dirty="0"/>
          </a:p>
        </p:txBody>
      </p:sp>
      <p:sp>
        <p:nvSpPr>
          <p:cNvPr id="8" name="Shape 6"/>
          <p:cNvSpPr/>
          <p:nvPr/>
        </p:nvSpPr>
        <p:spPr>
          <a:xfrm>
            <a:off x="548640" y="2697480"/>
            <a:ext cx="11064240" cy="1115568"/>
          </a:xfrm>
          <a:prstGeom prst="roundRect">
            <a:avLst>
              <a:gd name="adj" fmla="val 4918"/>
            </a:avLst>
          </a:prstGeom>
          <a:solidFill>
            <a:srgbClr val="EAE3D6"/>
          </a:solidFill>
          <a:ln w="12700">
            <a:solidFill>
              <a:srgbClr val="EAE3D6"/>
            </a:solidFill>
            <a:prstDash val="solid"/>
          </a:ln>
        </p:spPr>
      </p:sp>
      <p:sp>
        <p:nvSpPr>
          <p:cNvPr id="9" name="Text 7"/>
          <p:cNvSpPr txBox="1"/>
          <p:nvPr/>
        </p:nvSpPr>
        <p:spPr>
          <a:xfrm>
            <a:off x="777240" y="2862072"/>
            <a:ext cx="2286000" cy="457200"/>
          </a:xfrm>
          <a:prstGeom prst="rect">
            <a:avLst/>
          </a:prstGeom>
          <a:noFill/>
          <a:ln/>
        </p:spPr>
        <p:txBody>
          <a:bodyPr wrap="square" lIns="0" tIns="0" rIns="0" bIns="0" rtlCol="0" anchor="ctr"/>
          <a:lstStyle/>
          <a:p>
            <a:pPr indent="0" marL="0">
              <a:buNone/>
            </a:pPr>
            <a:r>
              <a:rPr lang="en-US" sz="1300" b="1" dirty="0">
                <a:solidFill>
                  <a:srgbClr val="A4613C"/>
                </a:solidFill>
                <a:latin typeface="Cambria" pitchFamily="34" charset="0"/>
                <a:ea typeface="Cambria" pitchFamily="34" charset="-122"/>
                <a:cs typeface="Cambria" pitchFamily="34" charset="-120"/>
              </a:rPr>
              <a:t>Impute inside the pipeline</a:t>
            </a:r>
            <a:endParaRPr lang="en-US" sz="1300" dirty="0"/>
          </a:p>
        </p:txBody>
      </p:sp>
      <p:sp>
        <p:nvSpPr>
          <p:cNvPr id="10" name="Text 8"/>
          <p:cNvSpPr txBox="1"/>
          <p:nvPr/>
        </p:nvSpPr>
        <p:spPr>
          <a:xfrm>
            <a:off x="3154680" y="2880360"/>
            <a:ext cx="2834640" cy="777240"/>
          </a:xfrm>
          <a:prstGeom prst="rect">
            <a:avLst/>
          </a:prstGeom>
          <a:noFill/>
          <a:ln/>
        </p:spPr>
        <p:txBody>
          <a:bodyPr wrap="square" lIns="0" tIns="0" rIns="0" bIns="0" rtlCol="0" anchor="ctr"/>
          <a:lstStyle/>
          <a:p>
            <a:pPr indent="0" marL="0">
              <a:lnSpc>
                <a:spcPts val="1400"/>
              </a:lnSpc>
              <a:buNone/>
            </a:pPr>
            <a:r>
              <a:rPr lang="en-US" sz="1100" dirty="0">
                <a:solidFill>
                  <a:srgbClr val="2B2A26"/>
                </a:solidFill>
                <a:latin typeface="Calibri" pitchFamily="34" charset="0"/>
                <a:ea typeface="Calibri" pitchFamily="34" charset="-122"/>
                <a:cs typeface="Calibri" pitchFamily="34" charset="-120"/>
              </a:rPr>
              <a:t>energy_star_rating, year_built, wind metrics</a:t>
            </a:r>
            <a:endParaRPr lang="en-US" sz="1100" dirty="0"/>
          </a:p>
        </p:txBody>
      </p:sp>
      <p:sp>
        <p:nvSpPr>
          <p:cNvPr id="11" name="Text 9"/>
          <p:cNvSpPr txBox="1"/>
          <p:nvPr/>
        </p:nvSpPr>
        <p:spPr>
          <a:xfrm>
            <a:off x="6172200" y="2852928"/>
            <a:ext cx="5212080" cy="822960"/>
          </a:xfrm>
          <a:prstGeom prst="rect">
            <a:avLst/>
          </a:prstGeom>
          <a:noFill/>
          <a:ln/>
        </p:spPr>
        <p:txBody>
          <a:bodyPr wrap="square" lIns="0" tIns="0" rIns="0" bIns="0" rtlCol="0" anchor="ctr"/>
          <a:lstStyle/>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Numeric gaps are filled with the training-set median (robust to outliers); text gaps with the most frequent category.</a:t>
            </a:r>
            <a:endParaRPr lang="en-US" sz="1100" dirty="0"/>
          </a:p>
        </p:txBody>
      </p:sp>
      <p:sp>
        <p:nvSpPr>
          <p:cNvPr id="12" name="Shape 10"/>
          <p:cNvSpPr/>
          <p:nvPr/>
        </p:nvSpPr>
        <p:spPr>
          <a:xfrm>
            <a:off x="548640" y="3931920"/>
            <a:ext cx="11064240" cy="1115568"/>
          </a:xfrm>
          <a:prstGeom prst="roundRect">
            <a:avLst>
              <a:gd name="adj" fmla="val 4918"/>
            </a:avLst>
          </a:prstGeom>
          <a:solidFill>
            <a:srgbClr val="EAE3D6"/>
          </a:solidFill>
          <a:ln w="12700">
            <a:solidFill>
              <a:srgbClr val="EAE3D6"/>
            </a:solidFill>
            <a:prstDash val="solid"/>
          </a:ln>
        </p:spPr>
      </p:sp>
      <p:sp>
        <p:nvSpPr>
          <p:cNvPr id="13" name="Text 11"/>
          <p:cNvSpPr txBox="1"/>
          <p:nvPr/>
        </p:nvSpPr>
        <p:spPr>
          <a:xfrm>
            <a:off x="777240" y="4096512"/>
            <a:ext cx="2286000" cy="457200"/>
          </a:xfrm>
          <a:prstGeom prst="rect">
            <a:avLst/>
          </a:prstGeom>
          <a:noFill/>
          <a:ln/>
        </p:spPr>
        <p:txBody>
          <a:bodyPr wrap="square" lIns="0" tIns="0" rIns="0" bIns="0" rtlCol="0" anchor="ctr"/>
          <a:lstStyle/>
          <a:p>
            <a:pPr indent="0" marL="0">
              <a:buNone/>
            </a:pPr>
            <a:r>
              <a:rPr lang="en-US" sz="1300" b="1" dirty="0">
                <a:solidFill>
                  <a:srgbClr val="A4613C"/>
                </a:solidFill>
                <a:latin typeface="Cambria" pitchFamily="34" charset="0"/>
                <a:ea typeface="Cambria" pitchFamily="34" charset="-122"/>
                <a:cs typeface="Cambria" pitchFamily="34" charset="-120"/>
              </a:rPr>
              <a:t>Add a missing flag</a:t>
            </a:r>
            <a:endParaRPr lang="en-US" sz="1300" dirty="0"/>
          </a:p>
        </p:txBody>
      </p:sp>
      <p:sp>
        <p:nvSpPr>
          <p:cNvPr id="14" name="Text 12"/>
          <p:cNvSpPr txBox="1"/>
          <p:nvPr/>
        </p:nvSpPr>
        <p:spPr>
          <a:xfrm>
            <a:off x="3154680" y="4114800"/>
            <a:ext cx="2834640" cy="777240"/>
          </a:xfrm>
          <a:prstGeom prst="rect">
            <a:avLst/>
          </a:prstGeom>
          <a:noFill/>
          <a:ln/>
        </p:spPr>
        <p:txBody>
          <a:bodyPr wrap="square" lIns="0" tIns="0" rIns="0" bIns="0" rtlCol="0" anchor="ctr"/>
          <a:lstStyle/>
          <a:p>
            <a:pPr indent="0" marL="0">
              <a:lnSpc>
                <a:spcPts val="1400"/>
              </a:lnSpc>
              <a:buNone/>
            </a:pPr>
            <a:r>
              <a:rPr lang="en-US" sz="1100" dirty="0">
                <a:solidFill>
                  <a:srgbClr val="2B2A26"/>
                </a:solidFill>
                <a:latin typeface="Calibri" pitchFamily="34" charset="0"/>
                <a:ea typeface="Calibri" pitchFamily="34" charset="-122"/>
                <a:cs typeface="Calibri" pitchFamily="34" charset="-120"/>
              </a:rPr>
              <a:t>energy_star_rating, 3 wind columns</a:t>
            </a:r>
            <a:endParaRPr lang="en-US" sz="1100" dirty="0"/>
          </a:p>
        </p:txBody>
      </p:sp>
      <p:sp>
        <p:nvSpPr>
          <p:cNvPr id="15" name="Text 13"/>
          <p:cNvSpPr txBox="1"/>
          <p:nvPr/>
        </p:nvSpPr>
        <p:spPr>
          <a:xfrm>
            <a:off x="6172200" y="4087368"/>
            <a:ext cx="5212080" cy="822960"/>
          </a:xfrm>
          <a:prstGeom prst="rect">
            <a:avLst/>
          </a:prstGeom>
          <a:noFill/>
          <a:ln/>
        </p:spPr>
        <p:txBody>
          <a:bodyPr wrap="square" lIns="0" tIns="0" rIns="0" bIns="0" rtlCol="0" anchor="ctr"/>
          <a:lstStyle/>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A 0/1 column records that the value was missing, so the model can use 'unmeasured' as a signal instead of losing it.</a:t>
            </a:r>
            <a:endParaRPr lang="en-US" sz="1100" dirty="0"/>
          </a:p>
        </p:txBody>
      </p:sp>
      <p:sp>
        <p:nvSpPr>
          <p:cNvPr id="16" name="Shape 14"/>
          <p:cNvSpPr/>
          <p:nvPr/>
        </p:nvSpPr>
        <p:spPr>
          <a:xfrm>
            <a:off x="548640" y="5166360"/>
            <a:ext cx="11064240" cy="1115568"/>
          </a:xfrm>
          <a:prstGeom prst="roundRect">
            <a:avLst>
              <a:gd name="adj" fmla="val 4918"/>
            </a:avLst>
          </a:prstGeom>
          <a:solidFill>
            <a:srgbClr val="EAE3D6"/>
          </a:solidFill>
          <a:ln w="12700">
            <a:solidFill>
              <a:srgbClr val="EAE3D6"/>
            </a:solidFill>
            <a:prstDash val="solid"/>
          </a:ln>
        </p:spPr>
      </p:sp>
      <p:sp>
        <p:nvSpPr>
          <p:cNvPr id="17" name="Text 15"/>
          <p:cNvSpPr txBox="1"/>
          <p:nvPr/>
        </p:nvSpPr>
        <p:spPr>
          <a:xfrm>
            <a:off x="777240" y="5330952"/>
            <a:ext cx="2286000" cy="457200"/>
          </a:xfrm>
          <a:prstGeom prst="rect">
            <a:avLst/>
          </a:prstGeom>
          <a:noFill/>
          <a:ln/>
        </p:spPr>
        <p:txBody>
          <a:bodyPr wrap="square" lIns="0" tIns="0" rIns="0" bIns="0" rtlCol="0" anchor="ctr"/>
          <a:lstStyle/>
          <a:p>
            <a:pPr indent="0" marL="0">
              <a:buNone/>
            </a:pPr>
            <a:r>
              <a:rPr lang="en-US" sz="1300" b="1" dirty="0">
                <a:solidFill>
                  <a:srgbClr val="A4613C"/>
                </a:solidFill>
                <a:latin typeface="Cambria" pitchFamily="34" charset="0"/>
                <a:ea typeface="Cambria" pitchFamily="34" charset="-122"/>
                <a:cs typeface="Cambria" pitchFamily="34" charset="-120"/>
              </a:rPr>
              <a:t>Transform the target</a:t>
            </a:r>
            <a:endParaRPr lang="en-US" sz="1300" dirty="0"/>
          </a:p>
        </p:txBody>
      </p:sp>
      <p:sp>
        <p:nvSpPr>
          <p:cNvPr id="18" name="Text 16"/>
          <p:cNvSpPr txBox="1"/>
          <p:nvPr/>
        </p:nvSpPr>
        <p:spPr>
          <a:xfrm>
            <a:off x="3154680" y="5349240"/>
            <a:ext cx="2834640" cy="777240"/>
          </a:xfrm>
          <a:prstGeom prst="rect">
            <a:avLst/>
          </a:prstGeom>
          <a:noFill/>
          <a:ln/>
        </p:spPr>
        <p:txBody>
          <a:bodyPr wrap="square" lIns="0" tIns="0" rIns="0" bIns="0" rtlCol="0" anchor="ctr"/>
          <a:lstStyle/>
          <a:p>
            <a:pPr indent="0" marL="0">
              <a:lnSpc>
                <a:spcPts val="1400"/>
              </a:lnSpc>
              <a:buNone/>
            </a:pPr>
            <a:r>
              <a:rPr lang="en-US" sz="1100" dirty="0">
                <a:solidFill>
                  <a:srgbClr val="2B2A26"/>
                </a:solidFill>
                <a:latin typeface="Calibri" pitchFamily="34" charset="0"/>
                <a:ea typeface="Calibri" pitchFamily="34" charset="-122"/>
                <a:cs typeface="Calibri" pitchFamily="34" charset="-120"/>
              </a:rPr>
              <a:t>site_eui → log1p(site_eui)</a:t>
            </a:r>
            <a:endParaRPr lang="en-US" sz="1100" dirty="0"/>
          </a:p>
        </p:txBody>
      </p:sp>
      <p:sp>
        <p:nvSpPr>
          <p:cNvPr id="19" name="Text 17"/>
          <p:cNvSpPr txBox="1"/>
          <p:nvPr/>
        </p:nvSpPr>
        <p:spPr>
          <a:xfrm>
            <a:off x="6172200" y="5321808"/>
            <a:ext cx="5212080" cy="822960"/>
          </a:xfrm>
          <a:prstGeom prst="rect">
            <a:avLst/>
          </a:prstGeom>
          <a:noFill/>
          <a:ln/>
        </p:spPr>
        <p:txBody>
          <a:bodyPr wrap="square" lIns="0" tIns="0" rIns="0" bIns="0" rtlCol="0" anchor="ctr"/>
          <a:lstStyle/>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The target is heavily right-skewed; log1p compresses the extreme values so the models are not dominated by a few very high readings.</a:t>
            </a:r>
            <a:endParaRPr lang="en-US" sz="1100" dirty="0"/>
          </a:p>
        </p:txBody>
      </p:sp>
      <p:sp>
        <p:nvSpPr>
          <p:cNvPr id="20" name="Text 18"/>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150" i="1" dirty="0">
                <a:solidFill>
                  <a:srgbClr val="2B2A26"/>
                </a:solidFill>
                <a:latin typeface="Calibri" pitchFamily="34" charset="0"/>
                <a:ea typeface="Calibri" pitchFamily="34" charset="-122"/>
                <a:cs typeface="Calibri" pitchFamily="34" charset="-120"/>
              </a:rPr>
              <a:t>Result: 2 columns dropped → cleaned shape 75,757 × 63, with all remaining gaps handled inside the pipeline (never before the split).</a:t>
            </a:r>
            <a:endParaRPr lang="en-US" sz="1150" dirty="0"/>
          </a:p>
        </p:txBody>
      </p:sp>
      <p:sp>
        <p:nvSpPr>
          <p:cNvPr id="21" name="Text 19"/>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8</a:t>
            </a:r>
            <a:endParaRPr lang="en-US" sz="900" dirty="0"/>
          </a:p>
        </p:txBody>
      </p:sp>
      <p:sp>
        <p:nvSpPr>
          <p:cNvPr id="22" name="Text 20"/>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Missing values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DATA</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Duplicate analysis — explained simply</a:t>
            </a:r>
            <a:endParaRPr lang="en-US" sz="2800" dirty="0"/>
          </a:p>
        </p:txBody>
      </p:sp>
      <p:sp>
        <p:nvSpPr>
          <p:cNvPr id="4" name="Shape 2"/>
          <p:cNvSpPr/>
          <p:nvPr/>
        </p:nvSpPr>
        <p:spPr>
          <a:xfrm>
            <a:off x="548640" y="1417320"/>
            <a:ext cx="5486400" cy="2011680"/>
          </a:xfrm>
          <a:prstGeom prst="roundRect">
            <a:avLst>
              <a:gd name="adj" fmla="val 3636"/>
            </a:avLst>
          </a:prstGeom>
          <a:solidFill>
            <a:srgbClr val="EAE3D6"/>
          </a:solidFill>
          <a:ln w="12700">
            <a:solidFill>
              <a:srgbClr val="EAE3D6"/>
            </a:solidFill>
            <a:prstDash val="solid"/>
          </a:ln>
        </p:spPr>
      </p:sp>
      <p:sp>
        <p:nvSpPr>
          <p:cNvPr id="5" name="Text 3"/>
          <p:cNvSpPr txBox="1"/>
          <p:nvPr/>
        </p:nvSpPr>
        <p:spPr>
          <a:xfrm>
            <a:off x="777240" y="1581912"/>
            <a:ext cx="50292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What a duplicate is</a:t>
            </a:r>
            <a:endParaRPr lang="en-US" sz="1400" dirty="0"/>
          </a:p>
        </p:txBody>
      </p:sp>
      <p:sp>
        <p:nvSpPr>
          <p:cNvPr id="6" name="Text 4"/>
          <p:cNvSpPr txBox="1"/>
          <p:nvPr/>
        </p:nvSpPr>
        <p:spPr>
          <a:xfrm>
            <a:off x="777240" y="1929384"/>
            <a:ext cx="5029200" cy="132588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A duplicate row is a record where every single column has exactly the same value as another row. If the same building were recorded twice, the model would see that building twice and quietly treat its pattern as twice as important — a form of hidden bias.</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A duplicate id means two different rows claim the same identity, which usually signals a merge or export error.</a:t>
            </a:r>
            <a:endParaRPr lang="en-US" sz="1150" dirty="0"/>
          </a:p>
        </p:txBody>
      </p:sp>
      <p:sp>
        <p:nvSpPr>
          <p:cNvPr id="7" name="Shape 5"/>
          <p:cNvSpPr/>
          <p:nvPr/>
        </p:nvSpPr>
        <p:spPr>
          <a:xfrm>
            <a:off x="548640" y="3611880"/>
            <a:ext cx="5486400" cy="1920240"/>
          </a:xfrm>
          <a:prstGeom prst="roundRect">
            <a:avLst>
              <a:gd name="adj" fmla="val 3810"/>
            </a:avLst>
          </a:prstGeom>
          <a:solidFill>
            <a:srgbClr val="E3DFD2"/>
          </a:solidFill>
          <a:ln w="12700">
            <a:solidFill>
              <a:srgbClr val="E3DFD2"/>
            </a:solidFill>
            <a:prstDash val="solid"/>
          </a:ln>
        </p:spPr>
      </p:sp>
      <p:sp>
        <p:nvSpPr>
          <p:cNvPr id="8" name="Text 6"/>
          <p:cNvSpPr txBox="1"/>
          <p:nvPr/>
        </p:nvSpPr>
        <p:spPr>
          <a:xfrm>
            <a:off x="777240" y="3776472"/>
            <a:ext cx="50292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How it is checked</a:t>
            </a:r>
            <a:endParaRPr lang="en-US" sz="1400" dirty="0"/>
          </a:p>
        </p:txBody>
      </p:sp>
      <p:sp>
        <p:nvSpPr>
          <p:cNvPr id="9" name="Text 7"/>
          <p:cNvSpPr txBox="1"/>
          <p:nvPr/>
        </p:nvSpPr>
        <p:spPr>
          <a:xfrm>
            <a:off x="777240" y="4123944"/>
            <a:ext cx="5029200" cy="123444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df.duplicated().sum() compares every row with every other row across all 64 columns and counts exact repeats.</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df['id'].duplicated().sum() does the same on the identifier column only, catching repeated keys even when other values differ.</a:t>
            </a:r>
            <a:endParaRPr lang="en-US" sz="1150" dirty="0"/>
          </a:p>
        </p:txBody>
      </p:sp>
      <p:sp>
        <p:nvSpPr>
          <p:cNvPr id="10" name="Text 8"/>
          <p:cNvSpPr txBox="1"/>
          <p:nvPr/>
        </p:nvSpPr>
        <p:spPr>
          <a:xfrm>
            <a:off x="6492240" y="1737360"/>
            <a:ext cx="2377440" cy="685800"/>
          </a:xfrm>
          <a:prstGeom prst="rect">
            <a:avLst/>
          </a:prstGeom>
          <a:noFill/>
          <a:ln/>
        </p:spPr>
        <p:txBody>
          <a:bodyPr wrap="square" lIns="0" tIns="0" rIns="0" bIns="0" rtlCol="0" anchor="ctr"/>
          <a:lstStyle/>
          <a:p>
            <a:pPr indent="0" marL="0">
              <a:buNone/>
            </a:pPr>
            <a:r>
              <a:rPr lang="en-US" sz="3600" b="1" dirty="0">
                <a:solidFill>
                  <a:srgbClr val="77856B"/>
                </a:solidFill>
                <a:latin typeface="Cambria" pitchFamily="34" charset="0"/>
                <a:ea typeface="Cambria" pitchFamily="34" charset="-122"/>
                <a:cs typeface="Cambria" pitchFamily="34" charset="-120"/>
              </a:rPr>
              <a:t>0</a:t>
            </a:r>
            <a:endParaRPr lang="en-US" sz="3600" dirty="0"/>
          </a:p>
        </p:txBody>
      </p:sp>
      <p:sp>
        <p:nvSpPr>
          <p:cNvPr id="11" name="Text 9"/>
          <p:cNvSpPr txBox="1"/>
          <p:nvPr/>
        </p:nvSpPr>
        <p:spPr>
          <a:xfrm>
            <a:off x="6492240" y="2395728"/>
            <a:ext cx="2377440" cy="457200"/>
          </a:xfrm>
          <a:prstGeom prst="rect">
            <a:avLst/>
          </a:prstGeom>
          <a:noFill/>
          <a:ln/>
        </p:spPr>
        <p:txBody>
          <a:bodyPr wrap="square" lIns="0" tIns="0" rIns="0" bIns="0" rtlCol="0" anchor="ctr"/>
          <a:lstStyle/>
          <a:p>
            <a:pPr indent="0" marL="0">
              <a:lnSpc>
                <a:spcPts val="1300"/>
              </a:lnSpc>
              <a:buNone/>
            </a:pPr>
            <a:r>
              <a:rPr lang="en-US" sz="1050" dirty="0">
                <a:solidFill>
                  <a:srgbClr val="6E6658"/>
                </a:solidFill>
                <a:latin typeface="Calibri" pitchFamily="34" charset="0"/>
                <a:ea typeface="Calibri" pitchFamily="34" charset="-122"/>
                <a:cs typeface="Calibri" pitchFamily="34" charset="-120"/>
              </a:rPr>
              <a:t>exact duplicate rows found</a:t>
            </a:r>
            <a:endParaRPr lang="en-US" sz="1050" dirty="0"/>
          </a:p>
        </p:txBody>
      </p:sp>
      <p:sp>
        <p:nvSpPr>
          <p:cNvPr id="12" name="Text 10"/>
          <p:cNvSpPr txBox="1"/>
          <p:nvPr/>
        </p:nvSpPr>
        <p:spPr>
          <a:xfrm>
            <a:off x="9144000" y="1737360"/>
            <a:ext cx="2377440" cy="685800"/>
          </a:xfrm>
          <a:prstGeom prst="rect">
            <a:avLst/>
          </a:prstGeom>
          <a:noFill/>
          <a:ln/>
        </p:spPr>
        <p:txBody>
          <a:bodyPr wrap="square" lIns="0" tIns="0" rIns="0" bIns="0" rtlCol="0" anchor="ctr"/>
          <a:lstStyle/>
          <a:p>
            <a:pPr indent="0" marL="0">
              <a:buNone/>
            </a:pPr>
            <a:r>
              <a:rPr lang="en-US" sz="3600" b="1" dirty="0">
                <a:solidFill>
                  <a:srgbClr val="77856B"/>
                </a:solidFill>
                <a:latin typeface="Cambria" pitchFamily="34" charset="0"/>
                <a:ea typeface="Cambria" pitchFamily="34" charset="-122"/>
                <a:cs typeface="Cambria" pitchFamily="34" charset="-120"/>
              </a:rPr>
              <a:t>0</a:t>
            </a:r>
            <a:endParaRPr lang="en-US" sz="3600" dirty="0"/>
          </a:p>
        </p:txBody>
      </p:sp>
      <p:sp>
        <p:nvSpPr>
          <p:cNvPr id="13" name="Text 11"/>
          <p:cNvSpPr txBox="1"/>
          <p:nvPr/>
        </p:nvSpPr>
        <p:spPr>
          <a:xfrm>
            <a:off x="9144000" y="2395728"/>
            <a:ext cx="2377440" cy="457200"/>
          </a:xfrm>
          <a:prstGeom prst="rect">
            <a:avLst/>
          </a:prstGeom>
          <a:noFill/>
          <a:ln/>
        </p:spPr>
        <p:txBody>
          <a:bodyPr wrap="square" lIns="0" tIns="0" rIns="0" bIns="0" rtlCol="0" anchor="ctr"/>
          <a:lstStyle/>
          <a:p>
            <a:pPr indent="0" marL="0">
              <a:lnSpc>
                <a:spcPts val="1300"/>
              </a:lnSpc>
              <a:buNone/>
            </a:pPr>
            <a:r>
              <a:rPr lang="en-US" sz="1050" dirty="0">
                <a:solidFill>
                  <a:srgbClr val="6E6658"/>
                </a:solidFill>
                <a:latin typeface="Calibri" pitchFamily="34" charset="0"/>
                <a:ea typeface="Calibri" pitchFamily="34" charset="-122"/>
                <a:cs typeface="Calibri" pitchFamily="34" charset="-120"/>
              </a:rPr>
              <a:t>duplicate id values found</a:t>
            </a:r>
            <a:endParaRPr lang="en-US" sz="1050" dirty="0"/>
          </a:p>
        </p:txBody>
      </p:sp>
      <p:sp>
        <p:nvSpPr>
          <p:cNvPr id="14" name="Shape 12"/>
          <p:cNvSpPr/>
          <p:nvPr/>
        </p:nvSpPr>
        <p:spPr>
          <a:xfrm>
            <a:off x="6492240" y="3108960"/>
            <a:ext cx="5120640" cy="2423160"/>
          </a:xfrm>
          <a:prstGeom prst="roundRect">
            <a:avLst>
              <a:gd name="adj" fmla="val 3019"/>
            </a:avLst>
          </a:prstGeom>
          <a:solidFill>
            <a:srgbClr val="EAE3D6"/>
          </a:solidFill>
          <a:ln w="12700">
            <a:solidFill>
              <a:srgbClr val="EAE3D6"/>
            </a:solidFill>
            <a:prstDash val="solid"/>
          </a:ln>
        </p:spPr>
      </p:sp>
      <p:sp>
        <p:nvSpPr>
          <p:cNvPr id="15" name="Text 13"/>
          <p:cNvSpPr txBox="1"/>
          <p:nvPr/>
        </p:nvSpPr>
        <p:spPr>
          <a:xfrm>
            <a:off x="6720840" y="3273552"/>
            <a:ext cx="466344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Decision</a:t>
            </a:r>
            <a:endParaRPr lang="en-US" sz="1400" dirty="0"/>
          </a:p>
        </p:txBody>
      </p:sp>
      <p:sp>
        <p:nvSpPr>
          <p:cNvPr id="16" name="Text 14"/>
          <p:cNvSpPr txBox="1"/>
          <p:nvPr/>
        </p:nvSpPr>
        <p:spPr>
          <a:xfrm>
            <a:off x="6720840" y="3621024"/>
            <a:ext cx="4663440" cy="173736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Because both checks returned zero, no rows were removed. This matters for two reasons:</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1. The row count stays at 75,757, so every later percentage (missing %, outlier %) is computed on the full dataset.</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2. It confirms the file is a clean export rather than a stack of merged extracts, so later checks can focus on value quality rather than record quality.</a:t>
            </a:r>
            <a:endParaRPr lang="en-US" sz="1150" dirty="0"/>
          </a:p>
        </p:txBody>
      </p:sp>
      <p:sp>
        <p:nvSpPr>
          <p:cNvPr id="17" name="Text 15"/>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9</a:t>
            </a:r>
            <a:endParaRPr lang="en-US" sz="900" dirty="0"/>
          </a:p>
        </p:txBody>
      </p:sp>
      <p:sp>
        <p:nvSpPr>
          <p:cNvPr id="18" name="Text 16"/>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Duplicates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DATA</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Consistency &amp; logical validation</a:t>
            </a:r>
            <a:endParaRPr lang="en-US" sz="2800" dirty="0"/>
          </a:p>
        </p:txBody>
      </p:sp>
      <p:sp>
        <p:nvSpPr>
          <p:cNvPr id="4" name="Text 2"/>
          <p:cNvSpPr txBox="1"/>
          <p:nvPr/>
        </p:nvSpPr>
        <p:spPr>
          <a:xfrm>
            <a:off x="548640" y="1371600"/>
            <a:ext cx="11064240" cy="365760"/>
          </a:xfrm>
          <a:prstGeom prst="rect">
            <a:avLst/>
          </a:prstGeom>
          <a:noFill/>
          <a:ln/>
        </p:spPr>
        <p:txBody>
          <a:bodyPr wrap="square" lIns="0" tIns="0" rIns="0" bIns="0" rtlCol="0" anchor="ctr"/>
          <a:lstStyle/>
          <a:p>
            <a:pPr indent="0" marL="0">
              <a:buNone/>
            </a:pPr>
            <a:r>
              <a:rPr lang="en-US" sz="1250" dirty="0">
                <a:solidFill>
                  <a:srgbClr val="6E6658"/>
                </a:solidFill>
                <a:latin typeface="Calibri" pitchFamily="34" charset="0"/>
                <a:ea typeface="Calibri" pitchFamily="34" charset="-122"/>
                <a:cs typeface="Calibri" pitchFamily="34" charset="-120"/>
              </a:rPr>
              <a:t>Duplicate checks find repeated rows; logical checks find impossible rows. Each rule below encodes something that must be true about a real building.</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64240" cy="914400"/>
        </p:xfrm>
        <a:graphic>
          <a:graphicData uri="http://schemas.openxmlformats.org/drawingml/2006/table">
            <a:tbl>
              <a:tblPr/>
              <a:tblGrid>
                <a:gridCol w="3108960"/>
                <a:gridCol w="5943600"/>
                <a:gridCol w="2011680"/>
              </a:tblGrid>
              <a:tr h="411480">
                <a:tc>
                  <a:txBody>
                    <a:bodyPr/>
                    <a:lstStyle/>
                    <a:p>
                      <a:pPr indent="0" marL="0">
                        <a:buNone/>
                      </a:pPr>
                      <a:r>
                        <a:rPr lang="en-US" sz="1100" b="1" dirty="0">
                          <a:solidFill>
                            <a:srgbClr val="F6F2EA"/>
                          </a:solidFill>
                          <a:latin typeface="Calibri" pitchFamily="34" charset="0"/>
                          <a:ea typeface="Calibri" pitchFamily="34" charset="-122"/>
                          <a:cs typeface="Calibri" pitchFamily="34" charset="-120"/>
                        </a:rPr>
                        <a:t>Rule</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100" b="1" dirty="0">
                          <a:solidFill>
                            <a:srgbClr val="F6F2EA"/>
                          </a:solidFill>
                          <a:latin typeface="Calibri" pitchFamily="34" charset="0"/>
                          <a:ea typeface="Calibri" pitchFamily="34" charset="-122"/>
                          <a:cs typeface="Calibri" pitchFamily="34" charset="-120"/>
                        </a:rPr>
                        <a:t>Meaning in plain words</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100" b="1" dirty="0">
                          <a:solidFill>
                            <a:srgbClr val="F6F2EA"/>
                          </a:solidFill>
                          <a:latin typeface="Calibri" pitchFamily="34" charset="0"/>
                          <a:ea typeface="Calibri" pitchFamily="34" charset="-122"/>
                          <a:cs typeface="Calibri" pitchFamily="34" charset="-120"/>
                        </a:rPr>
                        <a:t>Violations</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r>
              <a:tr h="411480">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0 &lt; year_built ≤ 2022</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A building cannot be constructed in the future or in year zero</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6 records</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411480">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floor_area &gt; 0</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Every building must occupy some floor space</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0 records</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site_eui &gt; 0</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Energy use cannot be zero or negative</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0 records</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411480">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january_min_temp ≤ january_avg_temp</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A month's minimum cannot exceed its average</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0 records</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251960"/>
            <a:ext cx="11064240" cy="1371600"/>
          </a:xfrm>
          <a:prstGeom prst="roundRect">
            <a:avLst>
              <a:gd name="adj" fmla="val 5333"/>
            </a:avLst>
          </a:prstGeom>
          <a:solidFill>
            <a:srgbClr val="E3DFD2"/>
          </a:solidFill>
          <a:ln w="12700">
            <a:solidFill>
              <a:srgbClr val="E3DFD2"/>
            </a:solidFill>
            <a:prstDash val="solid"/>
          </a:ln>
        </p:spPr>
      </p:sp>
      <p:sp>
        <p:nvSpPr>
          <p:cNvPr id="7" name="Text 4"/>
          <p:cNvSpPr txBox="1"/>
          <p:nvPr/>
        </p:nvSpPr>
        <p:spPr>
          <a:xfrm>
            <a:off x="777240" y="4416552"/>
            <a:ext cx="1060704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What was done with the 6 bad records</a:t>
            </a:r>
            <a:endParaRPr lang="en-US" sz="1400" dirty="0"/>
          </a:p>
        </p:txBody>
      </p:sp>
      <p:sp>
        <p:nvSpPr>
          <p:cNvPr id="8" name="Text 5"/>
          <p:cNvSpPr txBox="1"/>
          <p:nvPr/>
        </p:nvSpPr>
        <p:spPr>
          <a:xfrm>
            <a:off x="777240" y="4764024"/>
            <a:ext cx="10607040" cy="685800"/>
          </a:xfrm>
          <a:prstGeom prst="rect">
            <a:avLst/>
          </a:prstGeom>
          <a:noFill/>
          <a:ln/>
        </p:spPr>
        <p:txBody>
          <a:bodyPr wrap="square" lIns="0" tIns="0" rIns="0" bIns="0" rtlCol="0" anchor="t"/>
          <a:lstStyle/>
          <a:p>
            <a:pPr indent="0" marL="0">
              <a:lnSpc>
                <a:spcPts val="1500"/>
              </a:lnSpc>
              <a:buNone/>
            </a:pPr>
            <a:r>
              <a:rPr lang="en-US" sz="1200" dirty="0">
                <a:solidFill>
                  <a:srgbClr val="6E6658"/>
                </a:solidFill>
                <a:latin typeface="Calibri" pitchFamily="34" charset="0"/>
                <a:ea typeface="Calibri" pitchFamily="34" charset="-122"/>
                <a:cs typeface="Calibri" pitchFamily="34" charset="-120"/>
              </a:rPr>
              <a:t>They were not deleted. The invalid year_built values were replaced with NaN, which pushes them into the normal missing-value route — the pipeline's median imputer fills them using only training-set information. This keeps all 75,757 rows (every other column in those rows is still useful) while removing the impossible value.</a:t>
            </a:r>
            <a:endParaRPr lang="en-US" sz="1200" dirty="0"/>
          </a:p>
        </p:txBody>
      </p:sp>
      <p:sp>
        <p:nvSpPr>
          <p:cNvPr id="9" name="Text 6"/>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10</a:t>
            </a:r>
            <a:endParaRPr lang="en-US" sz="900" dirty="0"/>
          </a:p>
        </p:txBody>
      </p:sp>
      <p:sp>
        <p:nvSpPr>
          <p:cNvPr id="10" name="Text 7"/>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Validation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DATA</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Data leakage &amp; redundancy analysis</a:t>
            </a:r>
            <a:endParaRPr lang="en-US" sz="2800" dirty="0"/>
          </a:p>
        </p:txBody>
      </p:sp>
      <p:sp>
        <p:nvSpPr>
          <p:cNvPr id="4" name="Shape 2"/>
          <p:cNvSpPr/>
          <p:nvPr/>
        </p:nvSpPr>
        <p:spPr>
          <a:xfrm>
            <a:off x="548640" y="1417320"/>
            <a:ext cx="5486400" cy="1920240"/>
          </a:xfrm>
          <a:prstGeom prst="roundRect">
            <a:avLst>
              <a:gd name="adj" fmla="val 3810"/>
            </a:avLst>
          </a:prstGeom>
          <a:solidFill>
            <a:srgbClr val="EAE3D6"/>
          </a:solidFill>
          <a:ln w="12700">
            <a:solidFill>
              <a:srgbClr val="EAE3D6"/>
            </a:solidFill>
            <a:prstDash val="solid"/>
          </a:ln>
        </p:spPr>
      </p:sp>
      <p:sp>
        <p:nvSpPr>
          <p:cNvPr id="5" name="Text 3"/>
          <p:cNvSpPr txBox="1"/>
          <p:nvPr/>
        </p:nvSpPr>
        <p:spPr>
          <a:xfrm>
            <a:off x="777240" y="1581912"/>
            <a:ext cx="50292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What leakage means</a:t>
            </a:r>
            <a:endParaRPr lang="en-US" sz="1400" dirty="0"/>
          </a:p>
        </p:txBody>
      </p:sp>
      <p:sp>
        <p:nvSpPr>
          <p:cNvPr id="6" name="Text 4"/>
          <p:cNvSpPr txBox="1"/>
          <p:nvPr/>
        </p:nvSpPr>
        <p:spPr>
          <a:xfrm>
            <a:off x="777240" y="1929384"/>
            <a:ext cx="5029200" cy="123444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Leakage is when a feature secretly contains the answer. A model trained on such a feature scores brilliantly in testing and fails completely in the real world, because that information would not exist at prediction time.</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The check: search every column name containing 'eui' and trace which columns are derived from the target.</a:t>
            </a:r>
            <a:endParaRPr lang="en-US" sz="1150" dirty="0"/>
          </a:p>
        </p:txBody>
      </p:sp>
      <p:sp>
        <p:nvSpPr>
          <p:cNvPr id="7" name="Shape 5"/>
          <p:cNvSpPr/>
          <p:nvPr/>
        </p:nvSpPr>
        <p:spPr>
          <a:xfrm>
            <a:off x="548640" y="3520440"/>
            <a:ext cx="5486400" cy="2011680"/>
          </a:xfrm>
          <a:prstGeom prst="roundRect">
            <a:avLst>
              <a:gd name="adj" fmla="val 3636"/>
            </a:avLst>
          </a:prstGeom>
          <a:solidFill>
            <a:srgbClr val="E3DFD2"/>
          </a:solidFill>
          <a:ln w="12700">
            <a:solidFill>
              <a:srgbClr val="E3DFD2"/>
            </a:solidFill>
            <a:prstDash val="solid"/>
          </a:ln>
        </p:spPr>
      </p:sp>
      <p:sp>
        <p:nvSpPr>
          <p:cNvPr id="8" name="Text 6"/>
          <p:cNvSpPr txBox="1"/>
          <p:nvPr/>
        </p:nvSpPr>
        <p:spPr>
          <a:xfrm>
            <a:off x="777240" y="3685032"/>
            <a:ext cx="50292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What redundancy means</a:t>
            </a:r>
            <a:endParaRPr lang="en-US" sz="1400" dirty="0"/>
          </a:p>
        </p:txBody>
      </p:sp>
      <p:sp>
        <p:nvSpPr>
          <p:cNvPr id="9" name="Text 7"/>
          <p:cNvSpPr txBox="1"/>
          <p:nvPr/>
        </p:nvSpPr>
        <p:spPr>
          <a:xfrm>
            <a:off x="777240" y="4032504"/>
            <a:ext cx="5029200" cy="132588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Redundancy is when two columns carry the same information. floor_area and floor_area_log are perfectly related, as are year_built and age_of_building (= 2022 − year_built).</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Keeping both makes linear model coefficients unstable and inflates tree importance across twins, so only one form of each pair is kept.</a:t>
            </a:r>
            <a:endParaRPr lang="en-US" sz="1150" dirty="0"/>
          </a:p>
        </p:txBody>
      </p:sp>
      <p:sp>
        <p:nvSpPr>
          <p:cNvPr id="10" name="Text 8"/>
          <p:cNvSpPr txBox="1"/>
          <p:nvPr/>
        </p:nvSpPr>
        <p:spPr>
          <a:xfrm>
            <a:off x="6492240" y="1463040"/>
            <a:ext cx="5120640" cy="320040"/>
          </a:xfrm>
          <a:prstGeom prst="rect">
            <a:avLst/>
          </a:prstGeom>
          <a:noFill/>
          <a:ln/>
        </p:spPr>
        <p:txBody>
          <a:bodyPr wrap="square" lIns="0" tIns="0" rIns="0" bIns="0" rtlCol="0" anchor="ctr"/>
          <a:lstStyle/>
          <a:p>
            <a:pPr indent="0" marL="0">
              <a:buNone/>
            </a:pPr>
            <a:r>
              <a:rPr lang="en-US" sz="1500" b="1" dirty="0">
                <a:solidFill>
                  <a:srgbClr val="2B2A26"/>
                </a:solidFill>
                <a:latin typeface="Cambria" pitchFamily="34" charset="0"/>
                <a:ea typeface="Cambria" pitchFamily="34" charset="-122"/>
                <a:cs typeface="Cambria" pitchFamily="34" charset="-120"/>
              </a:rPr>
              <a:t>Decisions taken</a:t>
            </a:r>
            <a:endParaRPr lang="en-US" sz="1500" dirty="0"/>
          </a:p>
        </p:txBody>
      </p:sp>
      <p:sp>
        <p:nvSpPr>
          <p:cNvPr id="11" name="Shape 9"/>
          <p:cNvSpPr/>
          <p:nvPr/>
        </p:nvSpPr>
        <p:spPr>
          <a:xfrm>
            <a:off x="6492240" y="1920240"/>
            <a:ext cx="5120640" cy="685800"/>
          </a:xfrm>
          <a:prstGeom prst="roundRect">
            <a:avLst>
              <a:gd name="adj" fmla="val 6667"/>
            </a:avLst>
          </a:prstGeom>
          <a:solidFill>
            <a:srgbClr val="EAE3D6"/>
          </a:solidFill>
          <a:ln w="12700">
            <a:solidFill>
              <a:srgbClr val="EAE3D6"/>
            </a:solidFill>
            <a:prstDash val="solid"/>
          </a:ln>
        </p:spPr>
      </p:sp>
      <p:sp>
        <p:nvSpPr>
          <p:cNvPr id="12" name="Text 10"/>
          <p:cNvSpPr txBox="1"/>
          <p:nvPr/>
        </p:nvSpPr>
        <p:spPr>
          <a:xfrm>
            <a:off x="6675120" y="1993392"/>
            <a:ext cx="4754880" cy="256032"/>
          </a:xfrm>
          <a:prstGeom prst="rect">
            <a:avLst/>
          </a:prstGeom>
          <a:noFill/>
          <a:ln/>
        </p:spPr>
        <p:txBody>
          <a:bodyPr wrap="square" lIns="0" tIns="0" rIns="0" bIns="0" rtlCol="0" anchor="ctr"/>
          <a:lstStyle/>
          <a:p>
            <a:pPr indent="0" marL="0">
              <a:buNone/>
            </a:pPr>
            <a:r>
              <a:rPr lang="en-US" sz="1150" b="1" dirty="0">
                <a:solidFill>
                  <a:srgbClr val="A4613C"/>
                </a:solidFill>
                <a:latin typeface="Calibri" pitchFamily="34" charset="0"/>
                <a:ea typeface="Calibri" pitchFamily="34" charset="-122"/>
                <a:cs typeface="Calibri" pitchFamily="34" charset="-120"/>
              </a:rPr>
              <a:t>site_eui / log_site_eui</a:t>
            </a:r>
            <a:endParaRPr lang="en-US" sz="1150" dirty="0"/>
          </a:p>
        </p:txBody>
      </p:sp>
      <p:sp>
        <p:nvSpPr>
          <p:cNvPr id="13" name="Text 11"/>
          <p:cNvSpPr txBox="1"/>
          <p:nvPr/>
        </p:nvSpPr>
        <p:spPr>
          <a:xfrm>
            <a:off x="6675120" y="2258568"/>
            <a:ext cx="4754880" cy="274320"/>
          </a:xfrm>
          <a:prstGeom prst="rect">
            <a:avLst/>
          </a:prstGeom>
          <a:noFill/>
          <a:ln/>
        </p:spPr>
        <p:txBody>
          <a:bodyPr wrap="square" lIns="0" tIns="0" rIns="0" bIns="0" rtlCol="0" anchor="ctr"/>
          <a:lstStyle/>
          <a:p>
            <a:pPr indent="0" marL="0">
              <a:buNone/>
            </a:pPr>
            <a:r>
              <a:rPr lang="en-US" sz="1050" dirty="0">
                <a:solidFill>
                  <a:srgbClr val="6E6658"/>
                </a:solidFill>
                <a:latin typeface="Calibri" pitchFamily="34" charset="0"/>
                <a:ea typeface="Calibri" pitchFamily="34" charset="-122"/>
                <a:cs typeface="Calibri" pitchFamily="34" charset="-120"/>
              </a:rPr>
              <a:t>Excluded from X — they are the target itself</a:t>
            </a:r>
            <a:endParaRPr lang="en-US" sz="1050" dirty="0"/>
          </a:p>
        </p:txBody>
      </p:sp>
      <p:sp>
        <p:nvSpPr>
          <p:cNvPr id="14" name="Shape 12"/>
          <p:cNvSpPr/>
          <p:nvPr/>
        </p:nvSpPr>
        <p:spPr>
          <a:xfrm>
            <a:off x="6492240" y="2697480"/>
            <a:ext cx="5120640" cy="685800"/>
          </a:xfrm>
          <a:prstGeom prst="roundRect">
            <a:avLst>
              <a:gd name="adj" fmla="val 6667"/>
            </a:avLst>
          </a:prstGeom>
          <a:solidFill>
            <a:srgbClr val="EAE3D6"/>
          </a:solidFill>
          <a:ln w="12700">
            <a:solidFill>
              <a:srgbClr val="EAE3D6"/>
            </a:solidFill>
            <a:prstDash val="solid"/>
          </a:ln>
        </p:spPr>
      </p:sp>
      <p:sp>
        <p:nvSpPr>
          <p:cNvPr id="15" name="Text 13"/>
          <p:cNvSpPr txBox="1"/>
          <p:nvPr/>
        </p:nvSpPr>
        <p:spPr>
          <a:xfrm>
            <a:off x="6675120" y="2770632"/>
            <a:ext cx="4754880" cy="256032"/>
          </a:xfrm>
          <a:prstGeom prst="rect">
            <a:avLst/>
          </a:prstGeom>
          <a:noFill/>
          <a:ln/>
        </p:spPr>
        <p:txBody>
          <a:bodyPr wrap="square" lIns="0" tIns="0" rIns="0" bIns="0" rtlCol="0" anchor="ctr"/>
          <a:lstStyle/>
          <a:p>
            <a:pPr indent="0" marL="0">
              <a:buNone/>
            </a:pPr>
            <a:r>
              <a:rPr lang="en-US" sz="1150" b="1" dirty="0">
                <a:solidFill>
                  <a:srgbClr val="A4613C"/>
                </a:solidFill>
                <a:latin typeface="Calibri" pitchFamily="34" charset="0"/>
                <a:ea typeface="Calibri" pitchFamily="34" charset="-122"/>
                <a:cs typeface="Calibri" pitchFamily="34" charset="-120"/>
              </a:rPr>
              <a:t>id</a:t>
            </a:r>
            <a:endParaRPr lang="en-US" sz="1150" dirty="0"/>
          </a:p>
        </p:txBody>
      </p:sp>
      <p:sp>
        <p:nvSpPr>
          <p:cNvPr id="16" name="Text 14"/>
          <p:cNvSpPr txBox="1"/>
          <p:nvPr/>
        </p:nvSpPr>
        <p:spPr>
          <a:xfrm>
            <a:off x="6675120" y="3035808"/>
            <a:ext cx="4754880" cy="274320"/>
          </a:xfrm>
          <a:prstGeom prst="rect">
            <a:avLst/>
          </a:prstGeom>
          <a:noFill/>
          <a:ln/>
        </p:spPr>
        <p:txBody>
          <a:bodyPr wrap="square" lIns="0" tIns="0" rIns="0" bIns="0" rtlCol="0" anchor="ctr"/>
          <a:lstStyle/>
          <a:p>
            <a:pPr indent="0" marL="0">
              <a:buNone/>
            </a:pPr>
            <a:r>
              <a:rPr lang="en-US" sz="1050" dirty="0">
                <a:solidFill>
                  <a:srgbClr val="6E6658"/>
                </a:solidFill>
                <a:latin typeface="Calibri" pitchFamily="34" charset="0"/>
                <a:ea typeface="Calibri" pitchFamily="34" charset="-122"/>
                <a:cs typeface="Calibri" pitchFamily="34" charset="-120"/>
              </a:rPr>
              <a:t>Excluded — a row number the model could memorise</a:t>
            </a:r>
            <a:endParaRPr lang="en-US" sz="1050" dirty="0"/>
          </a:p>
        </p:txBody>
      </p:sp>
      <p:sp>
        <p:nvSpPr>
          <p:cNvPr id="17" name="Shape 15"/>
          <p:cNvSpPr/>
          <p:nvPr/>
        </p:nvSpPr>
        <p:spPr>
          <a:xfrm>
            <a:off x="6492240" y="3474720"/>
            <a:ext cx="5120640" cy="685800"/>
          </a:xfrm>
          <a:prstGeom prst="roundRect">
            <a:avLst>
              <a:gd name="adj" fmla="val 6667"/>
            </a:avLst>
          </a:prstGeom>
          <a:solidFill>
            <a:srgbClr val="EAE3D6"/>
          </a:solidFill>
          <a:ln w="12700">
            <a:solidFill>
              <a:srgbClr val="EAE3D6"/>
            </a:solidFill>
            <a:prstDash val="solid"/>
          </a:ln>
        </p:spPr>
      </p:sp>
      <p:sp>
        <p:nvSpPr>
          <p:cNvPr id="18" name="Text 16"/>
          <p:cNvSpPr txBox="1"/>
          <p:nvPr/>
        </p:nvSpPr>
        <p:spPr>
          <a:xfrm>
            <a:off x="6675120" y="3547872"/>
            <a:ext cx="4754880" cy="256032"/>
          </a:xfrm>
          <a:prstGeom prst="rect">
            <a:avLst/>
          </a:prstGeom>
          <a:noFill/>
          <a:ln/>
        </p:spPr>
        <p:txBody>
          <a:bodyPr wrap="square" lIns="0" tIns="0" rIns="0" bIns="0" rtlCol="0" anchor="ctr"/>
          <a:lstStyle/>
          <a:p>
            <a:pPr indent="0" marL="0">
              <a:buNone/>
            </a:pPr>
            <a:r>
              <a:rPr lang="en-US" sz="1150" b="1" dirty="0">
                <a:solidFill>
                  <a:srgbClr val="A4613C"/>
                </a:solidFill>
                <a:latin typeface="Calibri" pitchFamily="34" charset="0"/>
                <a:ea typeface="Calibri" pitchFamily="34" charset="-122"/>
                <a:cs typeface="Calibri" pitchFamily="34" charset="-120"/>
              </a:rPr>
              <a:t>days_with_fog</a:t>
            </a:r>
            <a:endParaRPr lang="en-US" sz="1150" dirty="0"/>
          </a:p>
        </p:txBody>
      </p:sp>
      <p:sp>
        <p:nvSpPr>
          <p:cNvPr id="19" name="Text 17"/>
          <p:cNvSpPr txBox="1"/>
          <p:nvPr/>
        </p:nvSpPr>
        <p:spPr>
          <a:xfrm>
            <a:off x="6675120" y="3813048"/>
            <a:ext cx="4754880" cy="274320"/>
          </a:xfrm>
          <a:prstGeom prst="rect">
            <a:avLst/>
          </a:prstGeom>
          <a:noFill/>
          <a:ln/>
        </p:spPr>
        <p:txBody>
          <a:bodyPr wrap="square" lIns="0" tIns="0" rIns="0" bIns="0" rtlCol="0" anchor="ctr"/>
          <a:lstStyle/>
          <a:p>
            <a:pPr indent="0" marL="0">
              <a:buNone/>
            </a:pPr>
            <a:r>
              <a:rPr lang="en-US" sz="1050" dirty="0">
                <a:solidFill>
                  <a:srgbClr val="6E6658"/>
                </a:solidFill>
                <a:latin typeface="Calibri" pitchFamily="34" charset="0"/>
                <a:ea typeface="Calibri" pitchFamily="34" charset="-122"/>
                <a:cs typeface="Calibri" pitchFamily="34" charset="-120"/>
              </a:rPr>
              <a:t>Excluded — 60.45% missing</a:t>
            </a:r>
            <a:endParaRPr lang="en-US" sz="1050" dirty="0"/>
          </a:p>
        </p:txBody>
      </p:sp>
      <p:sp>
        <p:nvSpPr>
          <p:cNvPr id="20" name="Shape 18"/>
          <p:cNvSpPr/>
          <p:nvPr/>
        </p:nvSpPr>
        <p:spPr>
          <a:xfrm>
            <a:off x="6492240" y="4251960"/>
            <a:ext cx="5120640" cy="685800"/>
          </a:xfrm>
          <a:prstGeom prst="roundRect">
            <a:avLst>
              <a:gd name="adj" fmla="val 6667"/>
            </a:avLst>
          </a:prstGeom>
          <a:solidFill>
            <a:srgbClr val="EAE3D6"/>
          </a:solidFill>
          <a:ln w="12700">
            <a:solidFill>
              <a:srgbClr val="EAE3D6"/>
            </a:solidFill>
            <a:prstDash val="solid"/>
          </a:ln>
        </p:spPr>
      </p:sp>
      <p:sp>
        <p:nvSpPr>
          <p:cNvPr id="21" name="Text 19"/>
          <p:cNvSpPr txBox="1"/>
          <p:nvPr/>
        </p:nvSpPr>
        <p:spPr>
          <a:xfrm>
            <a:off x="6675120" y="4325112"/>
            <a:ext cx="4754880" cy="256032"/>
          </a:xfrm>
          <a:prstGeom prst="rect">
            <a:avLst/>
          </a:prstGeom>
          <a:noFill/>
          <a:ln/>
        </p:spPr>
        <p:txBody>
          <a:bodyPr wrap="square" lIns="0" tIns="0" rIns="0" bIns="0" rtlCol="0" anchor="ctr"/>
          <a:lstStyle/>
          <a:p>
            <a:pPr indent="0" marL="0">
              <a:buNone/>
            </a:pPr>
            <a:r>
              <a:rPr lang="en-US" sz="1150" b="1" dirty="0">
                <a:solidFill>
                  <a:srgbClr val="A4613C"/>
                </a:solidFill>
                <a:latin typeface="Calibri" pitchFamily="34" charset="0"/>
                <a:ea typeface="Calibri" pitchFamily="34" charset="-122"/>
                <a:cs typeface="Calibri" pitchFamily="34" charset="-120"/>
              </a:rPr>
              <a:t>Year_Factor</a:t>
            </a:r>
            <a:endParaRPr lang="en-US" sz="1150" dirty="0"/>
          </a:p>
        </p:txBody>
      </p:sp>
      <p:sp>
        <p:nvSpPr>
          <p:cNvPr id="22" name="Text 20"/>
          <p:cNvSpPr txBox="1"/>
          <p:nvPr/>
        </p:nvSpPr>
        <p:spPr>
          <a:xfrm>
            <a:off x="6675120" y="4590288"/>
            <a:ext cx="4754880" cy="274320"/>
          </a:xfrm>
          <a:prstGeom prst="rect">
            <a:avLst/>
          </a:prstGeom>
          <a:noFill/>
          <a:ln/>
        </p:spPr>
        <p:txBody>
          <a:bodyPr wrap="square" lIns="0" tIns="0" rIns="0" bIns="0" rtlCol="0" anchor="ctr"/>
          <a:lstStyle/>
          <a:p>
            <a:pPr indent="0" marL="0">
              <a:buNone/>
            </a:pPr>
            <a:r>
              <a:rPr lang="en-US" sz="1050" dirty="0">
                <a:solidFill>
                  <a:srgbClr val="6E6658"/>
                </a:solidFill>
                <a:latin typeface="Calibri" pitchFamily="34" charset="0"/>
                <a:ea typeface="Calibri" pitchFamily="34" charset="-122"/>
                <a:cs typeface="Calibri" pitchFamily="34" charset="-120"/>
              </a:rPr>
              <a:t>Excluded — administrative recording year, not a building property</a:t>
            </a:r>
            <a:endParaRPr lang="en-US" sz="1050" dirty="0"/>
          </a:p>
        </p:txBody>
      </p:sp>
      <p:sp>
        <p:nvSpPr>
          <p:cNvPr id="23" name="Shape 21"/>
          <p:cNvSpPr/>
          <p:nvPr/>
        </p:nvSpPr>
        <p:spPr>
          <a:xfrm>
            <a:off x="6492240" y="5029200"/>
            <a:ext cx="5120640" cy="685800"/>
          </a:xfrm>
          <a:prstGeom prst="roundRect">
            <a:avLst>
              <a:gd name="adj" fmla="val 6667"/>
            </a:avLst>
          </a:prstGeom>
          <a:solidFill>
            <a:srgbClr val="EAE3D6"/>
          </a:solidFill>
          <a:ln w="12700">
            <a:solidFill>
              <a:srgbClr val="EAE3D6"/>
            </a:solidFill>
            <a:prstDash val="solid"/>
          </a:ln>
        </p:spPr>
      </p:sp>
      <p:sp>
        <p:nvSpPr>
          <p:cNvPr id="24" name="Text 22"/>
          <p:cNvSpPr txBox="1"/>
          <p:nvPr/>
        </p:nvSpPr>
        <p:spPr>
          <a:xfrm>
            <a:off x="6675120" y="5102352"/>
            <a:ext cx="4754880" cy="256032"/>
          </a:xfrm>
          <a:prstGeom prst="rect">
            <a:avLst/>
          </a:prstGeom>
          <a:noFill/>
          <a:ln/>
        </p:spPr>
        <p:txBody>
          <a:bodyPr wrap="square" lIns="0" tIns="0" rIns="0" bIns="0" rtlCol="0" anchor="ctr"/>
          <a:lstStyle/>
          <a:p>
            <a:pPr indent="0" marL="0">
              <a:buNone/>
            </a:pPr>
            <a:r>
              <a:rPr lang="en-US" sz="1150" b="1" dirty="0">
                <a:solidFill>
                  <a:srgbClr val="A4613C"/>
                </a:solidFill>
                <a:latin typeface="Calibri" pitchFamily="34" charset="0"/>
                <a:ea typeface="Calibri" pitchFamily="34" charset="-122"/>
                <a:cs typeface="Calibri" pitchFamily="34" charset="-120"/>
              </a:rPr>
              <a:t>floor_area, year_built</a:t>
            </a:r>
            <a:endParaRPr lang="en-US" sz="1150" dirty="0"/>
          </a:p>
        </p:txBody>
      </p:sp>
      <p:sp>
        <p:nvSpPr>
          <p:cNvPr id="25" name="Text 23"/>
          <p:cNvSpPr txBox="1"/>
          <p:nvPr/>
        </p:nvSpPr>
        <p:spPr>
          <a:xfrm>
            <a:off x="6675120" y="5367528"/>
            <a:ext cx="4754880" cy="274320"/>
          </a:xfrm>
          <a:prstGeom prst="rect">
            <a:avLst/>
          </a:prstGeom>
          <a:noFill/>
          <a:ln/>
        </p:spPr>
        <p:txBody>
          <a:bodyPr wrap="square" lIns="0" tIns="0" rIns="0" bIns="0" rtlCol="0" anchor="ctr"/>
          <a:lstStyle/>
          <a:p>
            <a:pPr indent="0" marL="0">
              <a:buNone/>
            </a:pPr>
            <a:r>
              <a:rPr lang="en-US" sz="1050" dirty="0">
                <a:solidFill>
                  <a:srgbClr val="6E6658"/>
                </a:solidFill>
                <a:latin typeface="Calibri" pitchFamily="34" charset="0"/>
                <a:ea typeface="Calibri" pitchFamily="34" charset="-122"/>
                <a:cs typeface="Calibri" pitchFamily="34" charset="-120"/>
              </a:rPr>
              <a:t>Excluded — replaced by their engineered versions</a:t>
            </a:r>
            <a:endParaRPr lang="en-US" sz="1050" dirty="0"/>
          </a:p>
        </p:txBody>
      </p:sp>
      <p:sp>
        <p:nvSpPr>
          <p:cNvPr id="26" name="Text 24"/>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11</a:t>
            </a:r>
            <a:endParaRPr lang="en-US" sz="900" dirty="0"/>
          </a:p>
        </p:txBody>
      </p:sp>
      <p:sp>
        <p:nvSpPr>
          <p:cNvPr id="27" name="Text 25"/>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Leakage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DATA</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How the dataset is cleaned — the full path</a:t>
            </a:r>
            <a:endParaRPr lang="en-US" sz="2800" dirty="0"/>
          </a:p>
        </p:txBody>
      </p:sp>
      <p:sp>
        <p:nvSpPr>
          <p:cNvPr id="4" name="Shape 2"/>
          <p:cNvSpPr/>
          <p:nvPr/>
        </p:nvSpPr>
        <p:spPr>
          <a:xfrm>
            <a:off x="548640" y="1645920"/>
            <a:ext cx="1764792" cy="2377440"/>
          </a:xfrm>
          <a:prstGeom prst="roundRect">
            <a:avLst>
              <a:gd name="adj" fmla="val 3627"/>
            </a:avLst>
          </a:prstGeom>
          <a:solidFill>
            <a:srgbClr val="E3DFD2"/>
          </a:solidFill>
          <a:ln w="12700">
            <a:solidFill>
              <a:srgbClr val="F6F2EA"/>
            </a:solidFill>
            <a:prstDash val="solid"/>
          </a:ln>
        </p:spPr>
      </p:sp>
      <p:sp>
        <p:nvSpPr>
          <p:cNvPr id="5" name="Text 3"/>
          <p:cNvSpPr txBox="1"/>
          <p:nvPr/>
        </p:nvSpPr>
        <p:spPr>
          <a:xfrm>
            <a:off x="731520" y="1828800"/>
            <a:ext cx="457200" cy="457200"/>
          </a:xfrm>
          <a:prstGeom prst="rect">
            <a:avLst/>
          </a:prstGeom>
          <a:noFill/>
          <a:ln/>
        </p:spPr>
        <p:txBody>
          <a:bodyPr wrap="square" lIns="0" tIns="0" rIns="0" bIns="0" rtlCol="0" anchor="ctr"/>
          <a:lstStyle/>
          <a:p>
            <a:pPr indent="0" marL="0">
              <a:buNone/>
            </a:pPr>
            <a:r>
              <a:rPr lang="en-US" sz="2400" b="1" dirty="0">
                <a:solidFill>
                  <a:srgbClr val="A4613C"/>
                </a:solidFill>
                <a:latin typeface="Cambria" pitchFamily="34" charset="0"/>
                <a:ea typeface="Cambria" pitchFamily="34" charset="-122"/>
                <a:cs typeface="Cambria" pitchFamily="34" charset="-120"/>
              </a:rPr>
              <a:t>1</a:t>
            </a:r>
            <a:endParaRPr lang="en-US" sz="2400" dirty="0"/>
          </a:p>
        </p:txBody>
      </p:sp>
      <p:sp>
        <p:nvSpPr>
          <p:cNvPr id="6" name="Text 4"/>
          <p:cNvSpPr txBox="1"/>
          <p:nvPr/>
        </p:nvSpPr>
        <p:spPr>
          <a:xfrm>
            <a:off x="731520" y="2377440"/>
            <a:ext cx="1399032" cy="640080"/>
          </a:xfrm>
          <a:prstGeom prst="rect">
            <a:avLst/>
          </a:prstGeom>
          <a:noFill/>
          <a:ln/>
        </p:spPr>
        <p:txBody>
          <a:bodyPr wrap="square" lIns="0" tIns="0" rIns="0" bIns="0" rtlCol="0" anchor="ctr"/>
          <a:lstStyle/>
          <a:p>
            <a:pPr indent="0" marL="0">
              <a:lnSpc>
                <a:spcPts val="1500"/>
              </a:lnSpc>
              <a:buNone/>
            </a:pPr>
            <a:r>
              <a:rPr lang="en-US" sz="1200" b="1" dirty="0">
                <a:solidFill>
                  <a:srgbClr val="2B2A26"/>
                </a:solidFill>
                <a:latin typeface="Cambria" pitchFamily="34" charset="0"/>
                <a:ea typeface="Cambria" pitchFamily="34" charset="-122"/>
                <a:cs typeface="Cambria" pitchFamily="34" charset="-120"/>
              </a:rPr>
              <a:t>Load raw file</a:t>
            </a:r>
            <a:endParaRPr lang="en-US" sz="1200" dirty="0"/>
          </a:p>
        </p:txBody>
      </p:sp>
      <p:sp>
        <p:nvSpPr>
          <p:cNvPr id="7" name="Text 5"/>
          <p:cNvSpPr txBox="1"/>
          <p:nvPr/>
        </p:nvSpPr>
        <p:spPr>
          <a:xfrm>
            <a:off x="731520" y="3017520"/>
            <a:ext cx="1399032" cy="914400"/>
          </a:xfrm>
          <a:prstGeom prst="rect">
            <a:avLst/>
          </a:prstGeom>
          <a:noFill/>
          <a:ln/>
        </p:spPr>
        <p:txBody>
          <a:bodyPr wrap="square" lIns="0" tIns="0" rIns="0" bIns="0" rtlCol="0" anchor="ctr"/>
          <a:lstStyle/>
          <a:p>
            <a:pPr indent="0" marL="0">
              <a:lnSpc>
                <a:spcPts val="1300"/>
              </a:lnSpc>
              <a:buNone/>
            </a:pPr>
            <a:r>
              <a:rPr lang="en-US" sz="1000" dirty="0">
                <a:solidFill>
                  <a:srgbClr val="6E6658"/>
                </a:solidFill>
                <a:latin typeface="Calibri" pitchFamily="34" charset="0"/>
                <a:ea typeface="Calibri" pitchFamily="34" charset="-122"/>
                <a:cs typeface="Calibri" pitchFamily="34" charset="-120"/>
              </a:rPr>
              <a:t>train.csv → 75,757 rows × 64 columns</a:t>
            </a:r>
            <a:endParaRPr lang="en-US" sz="1000" dirty="0"/>
          </a:p>
        </p:txBody>
      </p:sp>
      <p:sp>
        <p:nvSpPr>
          <p:cNvPr id="8" name="Shape 6"/>
          <p:cNvSpPr/>
          <p:nvPr/>
        </p:nvSpPr>
        <p:spPr>
          <a:xfrm>
            <a:off x="2395728" y="1645920"/>
            <a:ext cx="1764792" cy="2377440"/>
          </a:xfrm>
          <a:prstGeom prst="roundRect">
            <a:avLst>
              <a:gd name="adj" fmla="val 3627"/>
            </a:avLst>
          </a:prstGeom>
          <a:solidFill>
            <a:srgbClr val="EAE3D6"/>
          </a:solidFill>
          <a:ln w="12700">
            <a:solidFill>
              <a:srgbClr val="F6F2EA"/>
            </a:solidFill>
            <a:prstDash val="solid"/>
          </a:ln>
        </p:spPr>
      </p:sp>
      <p:sp>
        <p:nvSpPr>
          <p:cNvPr id="9" name="Text 7"/>
          <p:cNvSpPr txBox="1"/>
          <p:nvPr/>
        </p:nvSpPr>
        <p:spPr>
          <a:xfrm>
            <a:off x="2578608" y="1828800"/>
            <a:ext cx="457200" cy="457200"/>
          </a:xfrm>
          <a:prstGeom prst="rect">
            <a:avLst/>
          </a:prstGeom>
          <a:noFill/>
          <a:ln/>
        </p:spPr>
        <p:txBody>
          <a:bodyPr wrap="square" lIns="0" tIns="0" rIns="0" bIns="0" rtlCol="0" anchor="ctr"/>
          <a:lstStyle/>
          <a:p>
            <a:pPr indent="0" marL="0">
              <a:buNone/>
            </a:pPr>
            <a:r>
              <a:rPr lang="en-US" sz="2400" b="1" dirty="0">
                <a:solidFill>
                  <a:srgbClr val="A4613C"/>
                </a:solidFill>
                <a:latin typeface="Cambria" pitchFamily="34" charset="0"/>
                <a:ea typeface="Cambria" pitchFamily="34" charset="-122"/>
                <a:cs typeface="Cambria" pitchFamily="34" charset="-120"/>
              </a:rPr>
              <a:t>2</a:t>
            </a:r>
            <a:endParaRPr lang="en-US" sz="2400" dirty="0"/>
          </a:p>
        </p:txBody>
      </p:sp>
      <p:sp>
        <p:nvSpPr>
          <p:cNvPr id="10" name="Text 8"/>
          <p:cNvSpPr txBox="1"/>
          <p:nvPr/>
        </p:nvSpPr>
        <p:spPr>
          <a:xfrm>
            <a:off x="2578608" y="2377440"/>
            <a:ext cx="1399032" cy="640080"/>
          </a:xfrm>
          <a:prstGeom prst="rect">
            <a:avLst/>
          </a:prstGeom>
          <a:noFill/>
          <a:ln/>
        </p:spPr>
        <p:txBody>
          <a:bodyPr wrap="square" lIns="0" tIns="0" rIns="0" bIns="0" rtlCol="0" anchor="ctr"/>
          <a:lstStyle/>
          <a:p>
            <a:pPr indent="0" marL="0">
              <a:lnSpc>
                <a:spcPts val="1500"/>
              </a:lnSpc>
              <a:buNone/>
            </a:pPr>
            <a:r>
              <a:rPr lang="en-US" sz="1200" b="1" dirty="0">
                <a:solidFill>
                  <a:srgbClr val="2B2A26"/>
                </a:solidFill>
                <a:latin typeface="Cambria" pitchFamily="34" charset="0"/>
                <a:ea typeface="Cambria" pitchFamily="34" charset="-122"/>
                <a:cs typeface="Cambria" pitchFamily="34" charset="-120"/>
              </a:rPr>
              <a:t>Drop unusable columns</a:t>
            </a:r>
            <a:endParaRPr lang="en-US" sz="1200" dirty="0"/>
          </a:p>
        </p:txBody>
      </p:sp>
      <p:sp>
        <p:nvSpPr>
          <p:cNvPr id="11" name="Text 9"/>
          <p:cNvSpPr txBox="1"/>
          <p:nvPr/>
        </p:nvSpPr>
        <p:spPr>
          <a:xfrm>
            <a:off x="2578608" y="3017520"/>
            <a:ext cx="1399032" cy="914400"/>
          </a:xfrm>
          <a:prstGeom prst="rect">
            <a:avLst/>
          </a:prstGeom>
          <a:noFill/>
          <a:ln/>
        </p:spPr>
        <p:txBody>
          <a:bodyPr wrap="square" lIns="0" tIns="0" rIns="0" bIns="0" rtlCol="0" anchor="ctr"/>
          <a:lstStyle/>
          <a:p>
            <a:pPr indent="0" marL="0">
              <a:lnSpc>
                <a:spcPts val="1300"/>
              </a:lnSpc>
              <a:buNone/>
            </a:pPr>
            <a:r>
              <a:rPr lang="en-US" sz="1000" dirty="0">
                <a:solidFill>
                  <a:srgbClr val="6E6658"/>
                </a:solidFill>
                <a:latin typeface="Calibri" pitchFamily="34" charset="0"/>
                <a:ea typeface="Calibri" pitchFamily="34" charset="-122"/>
                <a:cs typeface="Calibri" pitchFamily="34" charset="-120"/>
              </a:rPr>
              <a:t>days_with_fog (60.45% null) and id removed</a:t>
            </a:r>
            <a:endParaRPr lang="en-US" sz="1000" dirty="0"/>
          </a:p>
        </p:txBody>
      </p:sp>
      <p:sp>
        <p:nvSpPr>
          <p:cNvPr id="12" name="Shape 10"/>
          <p:cNvSpPr/>
          <p:nvPr/>
        </p:nvSpPr>
        <p:spPr>
          <a:xfrm>
            <a:off x="4242816" y="1645920"/>
            <a:ext cx="1764792" cy="2377440"/>
          </a:xfrm>
          <a:prstGeom prst="roundRect">
            <a:avLst>
              <a:gd name="adj" fmla="val 3627"/>
            </a:avLst>
          </a:prstGeom>
          <a:solidFill>
            <a:srgbClr val="E3DFD2"/>
          </a:solidFill>
          <a:ln w="12700">
            <a:solidFill>
              <a:srgbClr val="F6F2EA"/>
            </a:solidFill>
            <a:prstDash val="solid"/>
          </a:ln>
        </p:spPr>
      </p:sp>
      <p:sp>
        <p:nvSpPr>
          <p:cNvPr id="13" name="Text 11"/>
          <p:cNvSpPr txBox="1"/>
          <p:nvPr/>
        </p:nvSpPr>
        <p:spPr>
          <a:xfrm>
            <a:off x="4425696" y="1828800"/>
            <a:ext cx="457200" cy="457200"/>
          </a:xfrm>
          <a:prstGeom prst="rect">
            <a:avLst/>
          </a:prstGeom>
          <a:noFill/>
          <a:ln/>
        </p:spPr>
        <p:txBody>
          <a:bodyPr wrap="square" lIns="0" tIns="0" rIns="0" bIns="0" rtlCol="0" anchor="ctr"/>
          <a:lstStyle/>
          <a:p>
            <a:pPr indent="0" marL="0">
              <a:buNone/>
            </a:pPr>
            <a:r>
              <a:rPr lang="en-US" sz="2400" b="1" dirty="0">
                <a:solidFill>
                  <a:srgbClr val="A4613C"/>
                </a:solidFill>
                <a:latin typeface="Cambria" pitchFamily="34" charset="0"/>
                <a:ea typeface="Cambria" pitchFamily="34" charset="-122"/>
                <a:cs typeface="Cambria" pitchFamily="34" charset="-120"/>
              </a:rPr>
              <a:t>3</a:t>
            </a:r>
            <a:endParaRPr lang="en-US" sz="2400" dirty="0"/>
          </a:p>
        </p:txBody>
      </p:sp>
      <p:sp>
        <p:nvSpPr>
          <p:cNvPr id="14" name="Text 12"/>
          <p:cNvSpPr txBox="1"/>
          <p:nvPr/>
        </p:nvSpPr>
        <p:spPr>
          <a:xfrm>
            <a:off x="4425696" y="2377440"/>
            <a:ext cx="1399032" cy="640080"/>
          </a:xfrm>
          <a:prstGeom prst="rect">
            <a:avLst/>
          </a:prstGeom>
          <a:noFill/>
          <a:ln/>
        </p:spPr>
        <p:txBody>
          <a:bodyPr wrap="square" lIns="0" tIns="0" rIns="0" bIns="0" rtlCol="0" anchor="ctr"/>
          <a:lstStyle/>
          <a:p>
            <a:pPr indent="0" marL="0">
              <a:lnSpc>
                <a:spcPts val="1500"/>
              </a:lnSpc>
              <a:buNone/>
            </a:pPr>
            <a:r>
              <a:rPr lang="en-US" sz="1200" b="1" dirty="0">
                <a:solidFill>
                  <a:srgbClr val="2B2A26"/>
                </a:solidFill>
                <a:latin typeface="Cambria" pitchFamily="34" charset="0"/>
                <a:ea typeface="Cambria" pitchFamily="34" charset="-122"/>
                <a:cs typeface="Cambria" pitchFamily="34" charset="-120"/>
              </a:rPr>
              <a:t>Create the model target</a:t>
            </a:r>
            <a:endParaRPr lang="en-US" sz="1200" dirty="0"/>
          </a:p>
        </p:txBody>
      </p:sp>
      <p:sp>
        <p:nvSpPr>
          <p:cNvPr id="15" name="Text 13"/>
          <p:cNvSpPr txBox="1"/>
          <p:nvPr/>
        </p:nvSpPr>
        <p:spPr>
          <a:xfrm>
            <a:off x="4425696" y="3017520"/>
            <a:ext cx="1399032" cy="914400"/>
          </a:xfrm>
          <a:prstGeom prst="rect">
            <a:avLst/>
          </a:prstGeom>
          <a:noFill/>
          <a:ln/>
        </p:spPr>
        <p:txBody>
          <a:bodyPr wrap="square" lIns="0" tIns="0" rIns="0" bIns="0" rtlCol="0" anchor="ctr"/>
          <a:lstStyle/>
          <a:p>
            <a:pPr indent="0" marL="0">
              <a:lnSpc>
                <a:spcPts val="1300"/>
              </a:lnSpc>
              <a:buNone/>
            </a:pPr>
            <a:r>
              <a:rPr lang="en-US" sz="1000" dirty="0">
                <a:solidFill>
                  <a:srgbClr val="6E6658"/>
                </a:solidFill>
                <a:latin typeface="Calibri" pitchFamily="34" charset="0"/>
                <a:ea typeface="Calibri" pitchFamily="34" charset="-122"/>
                <a:cs typeface="Calibri" pitchFamily="34" charset="-120"/>
              </a:rPr>
              <a:t>log_site_eui = log1p(site_eui) to tame the skew</a:t>
            </a:r>
            <a:endParaRPr lang="en-US" sz="1000" dirty="0"/>
          </a:p>
        </p:txBody>
      </p:sp>
      <p:sp>
        <p:nvSpPr>
          <p:cNvPr id="16" name="Shape 14"/>
          <p:cNvSpPr/>
          <p:nvPr/>
        </p:nvSpPr>
        <p:spPr>
          <a:xfrm>
            <a:off x="6089904" y="1645920"/>
            <a:ext cx="1764792" cy="2377440"/>
          </a:xfrm>
          <a:prstGeom prst="roundRect">
            <a:avLst>
              <a:gd name="adj" fmla="val 3627"/>
            </a:avLst>
          </a:prstGeom>
          <a:solidFill>
            <a:srgbClr val="EAE3D6"/>
          </a:solidFill>
          <a:ln w="12700">
            <a:solidFill>
              <a:srgbClr val="F6F2EA"/>
            </a:solidFill>
            <a:prstDash val="solid"/>
          </a:ln>
        </p:spPr>
      </p:sp>
      <p:sp>
        <p:nvSpPr>
          <p:cNvPr id="17" name="Text 15"/>
          <p:cNvSpPr txBox="1"/>
          <p:nvPr/>
        </p:nvSpPr>
        <p:spPr>
          <a:xfrm>
            <a:off x="6272784" y="1828800"/>
            <a:ext cx="457200" cy="457200"/>
          </a:xfrm>
          <a:prstGeom prst="rect">
            <a:avLst/>
          </a:prstGeom>
          <a:noFill/>
          <a:ln/>
        </p:spPr>
        <p:txBody>
          <a:bodyPr wrap="square" lIns="0" tIns="0" rIns="0" bIns="0" rtlCol="0" anchor="ctr"/>
          <a:lstStyle/>
          <a:p>
            <a:pPr indent="0" marL="0">
              <a:buNone/>
            </a:pPr>
            <a:r>
              <a:rPr lang="en-US" sz="2400" b="1" dirty="0">
                <a:solidFill>
                  <a:srgbClr val="A4613C"/>
                </a:solidFill>
                <a:latin typeface="Cambria" pitchFamily="34" charset="0"/>
                <a:ea typeface="Cambria" pitchFamily="34" charset="-122"/>
                <a:cs typeface="Cambria" pitchFamily="34" charset="-120"/>
              </a:rPr>
              <a:t>4</a:t>
            </a:r>
            <a:endParaRPr lang="en-US" sz="2400" dirty="0"/>
          </a:p>
        </p:txBody>
      </p:sp>
      <p:sp>
        <p:nvSpPr>
          <p:cNvPr id="18" name="Text 16"/>
          <p:cNvSpPr txBox="1"/>
          <p:nvPr/>
        </p:nvSpPr>
        <p:spPr>
          <a:xfrm>
            <a:off x="6272784" y="2377440"/>
            <a:ext cx="1399032" cy="640080"/>
          </a:xfrm>
          <a:prstGeom prst="rect">
            <a:avLst/>
          </a:prstGeom>
          <a:noFill/>
          <a:ln/>
        </p:spPr>
        <p:txBody>
          <a:bodyPr wrap="square" lIns="0" tIns="0" rIns="0" bIns="0" rtlCol="0" anchor="ctr"/>
          <a:lstStyle/>
          <a:p>
            <a:pPr indent="0" marL="0">
              <a:lnSpc>
                <a:spcPts val="1500"/>
              </a:lnSpc>
              <a:buNone/>
            </a:pPr>
            <a:r>
              <a:rPr lang="en-US" sz="1200" b="1" dirty="0">
                <a:solidFill>
                  <a:srgbClr val="2B2A26"/>
                </a:solidFill>
                <a:latin typeface="Cambria" pitchFamily="34" charset="0"/>
                <a:ea typeface="Cambria" pitchFamily="34" charset="-122"/>
                <a:cs typeface="Cambria" pitchFamily="34" charset="-120"/>
              </a:rPr>
              <a:t>Check duplicates</a:t>
            </a:r>
            <a:endParaRPr lang="en-US" sz="1200" dirty="0"/>
          </a:p>
        </p:txBody>
      </p:sp>
      <p:sp>
        <p:nvSpPr>
          <p:cNvPr id="19" name="Text 17"/>
          <p:cNvSpPr txBox="1"/>
          <p:nvPr/>
        </p:nvSpPr>
        <p:spPr>
          <a:xfrm>
            <a:off x="6272784" y="3017520"/>
            <a:ext cx="1399032" cy="914400"/>
          </a:xfrm>
          <a:prstGeom prst="rect">
            <a:avLst/>
          </a:prstGeom>
          <a:noFill/>
          <a:ln/>
        </p:spPr>
        <p:txBody>
          <a:bodyPr wrap="square" lIns="0" tIns="0" rIns="0" bIns="0" rtlCol="0" anchor="ctr"/>
          <a:lstStyle/>
          <a:p>
            <a:pPr indent="0" marL="0">
              <a:lnSpc>
                <a:spcPts val="1300"/>
              </a:lnSpc>
              <a:buNone/>
            </a:pPr>
            <a:r>
              <a:rPr lang="en-US" sz="1000" dirty="0">
                <a:solidFill>
                  <a:srgbClr val="6E6658"/>
                </a:solidFill>
                <a:latin typeface="Calibri" pitchFamily="34" charset="0"/>
                <a:ea typeface="Calibri" pitchFamily="34" charset="-122"/>
                <a:cs typeface="Calibri" pitchFamily="34" charset="-120"/>
              </a:rPr>
              <a:t>0 duplicate rows, 0 duplicate ids — nothing removed</a:t>
            </a:r>
            <a:endParaRPr lang="en-US" sz="1000" dirty="0"/>
          </a:p>
        </p:txBody>
      </p:sp>
      <p:sp>
        <p:nvSpPr>
          <p:cNvPr id="20" name="Shape 18"/>
          <p:cNvSpPr/>
          <p:nvPr/>
        </p:nvSpPr>
        <p:spPr>
          <a:xfrm>
            <a:off x="7936992" y="1645920"/>
            <a:ext cx="1764792" cy="2377440"/>
          </a:xfrm>
          <a:prstGeom prst="roundRect">
            <a:avLst>
              <a:gd name="adj" fmla="val 3627"/>
            </a:avLst>
          </a:prstGeom>
          <a:solidFill>
            <a:srgbClr val="E3DFD2"/>
          </a:solidFill>
          <a:ln w="12700">
            <a:solidFill>
              <a:srgbClr val="F6F2EA"/>
            </a:solidFill>
            <a:prstDash val="solid"/>
          </a:ln>
        </p:spPr>
      </p:sp>
      <p:sp>
        <p:nvSpPr>
          <p:cNvPr id="21" name="Text 19"/>
          <p:cNvSpPr txBox="1"/>
          <p:nvPr/>
        </p:nvSpPr>
        <p:spPr>
          <a:xfrm>
            <a:off x="8119872" y="1828800"/>
            <a:ext cx="457200" cy="457200"/>
          </a:xfrm>
          <a:prstGeom prst="rect">
            <a:avLst/>
          </a:prstGeom>
          <a:noFill/>
          <a:ln/>
        </p:spPr>
        <p:txBody>
          <a:bodyPr wrap="square" lIns="0" tIns="0" rIns="0" bIns="0" rtlCol="0" anchor="ctr"/>
          <a:lstStyle/>
          <a:p>
            <a:pPr indent="0" marL="0">
              <a:buNone/>
            </a:pPr>
            <a:r>
              <a:rPr lang="en-US" sz="2400" b="1" dirty="0">
                <a:solidFill>
                  <a:srgbClr val="A4613C"/>
                </a:solidFill>
                <a:latin typeface="Cambria" pitchFamily="34" charset="0"/>
                <a:ea typeface="Cambria" pitchFamily="34" charset="-122"/>
                <a:cs typeface="Cambria" pitchFamily="34" charset="-120"/>
              </a:rPr>
              <a:t>5</a:t>
            </a:r>
            <a:endParaRPr lang="en-US" sz="2400" dirty="0"/>
          </a:p>
        </p:txBody>
      </p:sp>
      <p:sp>
        <p:nvSpPr>
          <p:cNvPr id="22" name="Text 20"/>
          <p:cNvSpPr txBox="1"/>
          <p:nvPr/>
        </p:nvSpPr>
        <p:spPr>
          <a:xfrm>
            <a:off x="8119872" y="2377440"/>
            <a:ext cx="1399032" cy="640080"/>
          </a:xfrm>
          <a:prstGeom prst="rect">
            <a:avLst/>
          </a:prstGeom>
          <a:noFill/>
          <a:ln/>
        </p:spPr>
        <p:txBody>
          <a:bodyPr wrap="square" lIns="0" tIns="0" rIns="0" bIns="0" rtlCol="0" anchor="ctr"/>
          <a:lstStyle/>
          <a:p>
            <a:pPr indent="0" marL="0">
              <a:lnSpc>
                <a:spcPts val="1500"/>
              </a:lnSpc>
              <a:buNone/>
            </a:pPr>
            <a:r>
              <a:rPr lang="en-US" sz="1200" b="1" dirty="0">
                <a:solidFill>
                  <a:srgbClr val="2B2A26"/>
                </a:solidFill>
                <a:latin typeface="Cambria" pitchFamily="34" charset="0"/>
                <a:ea typeface="Cambria" pitchFamily="34" charset="-122"/>
                <a:cs typeface="Cambria" pitchFamily="34" charset="-120"/>
              </a:rPr>
              <a:t>Apply logical rules</a:t>
            </a:r>
            <a:endParaRPr lang="en-US" sz="1200" dirty="0"/>
          </a:p>
        </p:txBody>
      </p:sp>
      <p:sp>
        <p:nvSpPr>
          <p:cNvPr id="23" name="Text 21"/>
          <p:cNvSpPr txBox="1"/>
          <p:nvPr/>
        </p:nvSpPr>
        <p:spPr>
          <a:xfrm>
            <a:off x="8119872" y="3017520"/>
            <a:ext cx="1399032" cy="914400"/>
          </a:xfrm>
          <a:prstGeom prst="rect">
            <a:avLst/>
          </a:prstGeom>
          <a:noFill/>
          <a:ln/>
        </p:spPr>
        <p:txBody>
          <a:bodyPr wrap="square" lIns="0" tIns="0" rIns="0" bIns="0" rtlCol="0" anchor="ctr"/>
          <a:lstStyle/>
          <a:p>
            <a:pPr indent="0" marL="0">
              <a:lnSpc>
                <a:spcPts val="1300"/>
              </a:lnSpc>
              <a:buNone/>
            </a:pPr>
            <a:r>
              <a:rPr lang="en-US" sz="1000" dirty="0">
                <a:solidFill>
                  <a:srgbClr val="6E6658"/>
                </a:solidFill>
                <a:latin typeface="Calibri" pitchFamily="34" charset="0"/>
                <a:ea typeface="Calibri" pitchFamily="34" charset="-122"/>
                <a:cs typeface="Calibri" pitchFamily="34" charset="-120"/>
              </a:rPr>
              <a:t>6 impossible year_built values masked to NaN</a:t>
            </a:r>
            <a:endParaRPr lang="en-US" sz="1000" dirty="0"/>
          </a:p>
        </p:txBody>
      </p:sp>
      <p:sp>
        <p:nvSpPr>
          <p:cNvPr id="24" name="Shape 22"/>
          <p:cNvSpPr/>
          <p:nvPr/>
        </p:nvSpPr>
        <p:spPr>
          <a:xfrm>
            <a:off x="9784080" y="1645920"/>
            <a:ext cx="1764792" cy="2377440"/>
          </a:xfrm>
          <a:prstGeom prst="roundRect">
            <a:avLst>
              <a:gd name="adj" fmla="val 3627"/>
            </a:avLst>
          </a:prstGeom>
          <a:solidFill>
            <a:srgbClr val="EAE3D6"/>
          </a:solidFill>
          <a:ln w="12700">
            <a:solidFill>
              <a:srgbClr val="F6F2EA"/>
            </a:solidFill>
            <a:prstDash val="solid"/>
          </a:ln>
        </p:spPr>
      </p:sp>
      <p:sp>
        <p:nvSpPr>
          <p:cNvPr id="25" name="Text 23"/>
          <p:cNvSpPr txBox="1"/>
          <p:nvPr/>
        </p:nvSpPr>
        <p:spPr>
          <a:xfrm>
            <a:off x="9966960" y="1828800"/>
            <a:ext cx="457200" cy="457200"/>
          </a:xfrm>
          <a:prstGeom prst="rect">
            <a:avLst/>
          </a:prstGeom>
          <a:noFill/>
          <a:ln/>
        </p:spPr>
        <p:txBody>
          <a:bodyPr wrap="square" lIns="0" tIns="0" rIns="0" bIns="0" rtlCol="0" anchor="ctr"/>
          <a:lstStyle/>
          <a:p>
            <a:pPr indent="0" marL="0">
              <a:buNone/>
            </a:pPr>
            <a:r>
              <a:rPr lang="en-US" sz="2400" b="1" dirty="0">
                <a:solidFill>
                  <a:srgbClr val="A4613C"/>
                </a:solidFill>
                <a:latin typeface="Cambria" pitchFamily="34" charset="0"/>
                <a:ea typeface="Cambria" pitchFamily="34" charset="-122"/>
                <a:cs typeface="Cambria" pitchFamily="34" charset="-120"/>
              </a:rPr>
              <a:t>6</a:t>
            </a:r>
            <a:endParaRPr lang="en-US" sz="2400" dirty="0"/>
          </a:p>
        </p:txBody>
      </p:sp>
      <p:sp>
        <p:nvSpPr>
          <p:cNvPr id="26" name="Text 24"/>
          <p:cNvSpPr txBox="1"/>
          <p:nvPr/>
        </p:nvSpPr>
        <p:spPr>
          <a:xfrm>
            <a:off x="9966960" y="2377440"/>
            <a:ext cx="1399032" cy="640080"/>
          </a:xfrm>
          <a:prstGeom prst="rect">
            <a:avLst/>
          </a:prstGeom>
          <a:noFill/>
          <a:ln/>
        </p:spPr>
        <p:txBody>
          <a:bodyPr wrap="square" lIns="0" tIns="0" rIns="0" bIns="0" rtlCol="0" anchor="ctr"/>
          <a:lstStyle/>
          <a:p>
            <a:pPr indent="0" marL="0">
              <a:lnSpc>
                <a:spcPts val="1500"/>
              </a:lnSpc>
              <a:buNone/>
            </a:pPr>
            <a:r>
              <a:rPr lang="en-US" sz="1200" b="1" dirty="0">
                <a:solidFill>
                  <a:srgbClr val="2B2A26"/>
                </a:solidFill>
                <a:latin typeface="Cambria" pitchFamily="34" charset="0"/>
                <a:ea typeface="Cambria" pitchFamily="34" charset="-122"/>
                <a:cs typeface="Cambria" pitchFamily="34" charset="-120"/>
              </a:rPr>
              <a:t>Assemble df_master</a:t>
            </a:r>
            <a:endParaRPr lang="en-US" sz="1200" dirty="0"/>
          </a:p>
        </p:txBody>
      </p:sp>
      <p:sp>
        <p:nvSpPr>
          <p:cNvPr id="27" name="Text 25"/>
          <p:cNvSpPr txBox="1"/>
          <p:nvPr/>
        </p:nvSpPr>
        <p:spPr>
          <a:xfrm>
            <a:off x="9966960" y="3017520"/>
            <a:ext cx="1399032" cy="914400"/>
          </a:xfrm>
          <a:prstGeom prst="rect">
            <a:avLst/>
          </a:prstGeom>
          <a:noFill/>
          <a:ln/>
        </p:spPr>
        <p:txBody>
          <a:bodyPr wrap="square" lIns="0" tIns="0" rIns="0" bIns="0" rtlCol="0" anchor="ctr"/>
          <a:lstStyle/>
          <a:p>
            <a:pPr indent="0" marL="0">
              <a:lnSpc>
                <a:spcPts val="1300"/>
              </a:lnSpc>
              <a:buNone/>
            </a:pPr>
            <a:r>
              <a:rPr lang="en-US" sz="1000" dirty="0">
                <a:solidFill>
                  <a:srgbClr val="6E6658"/>
                </a:solidFill>
                <a:latin typeface="Calibri" pitchFamily="34" charset="0"/>
                <a:ea typeface="Calibri" pitchFamily="34" charset="-122"/>
                <a:cs typeface="Calibri" pitchFamily="34" charset="-120"/>
              </a:rPr>
              <a:t>Clean table carried into EDA and feature engineering</a:t>
            </a:r>
            <a:endParaRPr lang="en-US" sz="1000" dirty="0"/>
          </a:p>
        </p:txBody>
      </p:sp>
      <p:sp>
        <p:nvSpPr>
          <p:cNvPr id="28" name="Shape 26"/>
          <p:cNvSpPr/>
          <p:nvPr/>
        </p:nvSpPr>
        <p:spPr>
          <a:xfrm>
            <a:off x="548640" y="4343400"/>
            <a:ext cx="11064240" cy="1188720"/>
          </a:xfrm>
          <a:prstGeom prst="roundRect">
            <a:avLst>
              <a:gd name="adj" fmla="val 6154"/>
            </a:avLst>
          </a:prstGeom>
          <a:solidFill>
            <a:srgbClr val="EAE3D6"/>
          </a:solidFill>
          <a:ln w="12700">
            <a:solidFill>
              <a:srgbClr val="EAE3D6"/>
            </a:solidFill>
            <a:prstDash val="solid"/>
          </a:ln>
        </p:spPr>
      </p:sp>
      <p:sp>
        <p:nvSpPr>
          <p:cNvPr id="29" name="Text 27"/>
          <p:cNvSpPr txBox="1"/>
          <p:nvPr/>
        </p:nvSpPr>
        <p:spPr>
          <a:xfrm>
            <a:off x="777240" y="4507992"/>
            <a:ext cx="1060704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Important detail — nothing is imputed here</a:t>
            </a:r>
            <a:endParaRPr lang="en-US" sz="1400" dirty="0"/>
          </a:p>
        </p:txBody>
      </p:sp>
      <p:sp>
        <p:nvSpPr>
          <p:cNvPr id="30" name="Text 28"/>
          <p:cNvSpPr txBox="1"/>
          <p:nvPr/>
        </p:nvSpPr>
        <p:spPr>
          <a:xfrm>
            <a:off x="777240" y="4855464"/>
            <a:ext cx="10607040" cy="502920"/>
          </a:xfrm>
          <a:prstGeom prst="rect">
            <a:avLst/>
          </a:prstGeom>
          <a:noFill/>
          <a:ln/>
        </p:spPr>
        <p:txBody>
          <a:bodyPr wrap="square" lIns="0" tIns="0" rIns="0" bIns="0" rtlCol="0" anchor="t"/>
          <a:lstStyle/>
          <a:p>
            <a:pPr indent="0" marL="0">
              <a:lnSpc>
                <a:spcPts val="1500"/>
              </a:lnSpc>
              <a:buNone/>
            </a:pPr>
            <a:r>
              <a:rPr lang="en-US" sz="1200" dirty="0">
                <a:solidFill>
                  <a:srgbClr val="6E6658"/>
                </a:solidFill>
                <a:latin typeface="Calibri" pitchFamily="34" charset="0"/>
                <a:ea typeface="Calibri" pitchFamily="34" charset="-122"/>
                <a:cs typeface="Calibri" pitchFamily="34" charset="-120"/>
              </a:rPr>
              <a:t>Median and most-frequent imputation are deliberately left out of this cleaning stage and built into the modelling pipeline instead. If we filled the gaps now, the fill values would be computed from the whole dataset including the future test rows — which is exactly the leakage the pipeline is designed to prevent.</a:t>
            </a:r>
            <a:endParaRPr lang="en-US" sz="1200" dirty="0"/>
          </a:p>
        </p:txBody>
      </p:sp>
      <p:sp>
        <p:nvSpPr>
          <p:cNvPr id="31" name="Text 29"/>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12</a:t>
            </a:r>
            <a:endParaRPr lang="en-US" sz="900" dirty="0"/>
          </a:p>
        </p:txBody>
      </p:sp>
      <p:sp>
        <p:nvSpPr>
          <p:cNvPr id="32" name="Text 30"/>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Cleaning</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EDA</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Exploratory data analysis — the plots used and why</a:t>
            </a:r>
            <a:endParaRPr lang="en-US" sz="2800" dirty="0"/>
          </a:p>
        </p:txBody>
      </p:sp>
      <p:sp>
        <p:nvSpPr>
          <p:cNvPr id="4" name="Shape 2"/>
          <p:cNvSpPr/>
          <p:nvPr/>
        </p:nvSpPr>
        <p:spPr>
          <a:xfrm>
            <a:off x="548640" y="1463040"/>
            <a:ext cx="11064240" cy="868680"/>
          </a:xfrm>
          <a:prstGeom prst="roundRect">
            <a:avLst>
              <a:gd name="adj" fmla="val 5263"/>
            </a:avLst>
          </a:prstGeom>
          <a:solidFill>
            <a:srgbClr val="EAE3D6"/>
          </a:solidFill>
          <a:ln w="12700">
            <a:solidFill>
              <a:srgbClr val="EAE3D6"/>
            </a:solidFill>
            <a:prstDash val="solid"/>
          </a:ln>
        </p:spPr>
      </p:sp>
      <p:sp>
        <p:nvSpPr>
          <p:cNvPr id="5" name="Text 3"/>
          <p:cNvSpPr txBox="1"/>
          <p:nvPr/>
        </p:nvSpPr>
        <p:spPr>
          <a:xfrm>
            <a:off x="777240" y="1719072"/>
            <a:ext cx="2194560" cy="365760"/>
          </a:xfrm>
          <a:prstGeom prst="rect">
            <a:avLst/>
          </a:prstGeom>
          <a:noFill/>
          <a:ln/>
        </p:spPr>
        <p:txBody>
          <a:bodyPr wrap="square" lIns="0" tIns="0" rIns="0" bIns="0" rtlCol="0" anchor="ctr"/>
          <a:lstStyle/>
          <a:p>
            <a:pPr indent="0" marL="0">
              <a:buNone/>
            </a:pPr>
            <a:r>
              <a:rPr lang="en-US" sz="1250" b="1" dirty="0">
                <a:solidFill>
                  <a:srgbClr val="A4613C"/>
                </a:solidFill>
                <a:latin typeface="Cambria" pitchFamily="34" charset="0"/>
                <a:ea typeface="Cambria" pitchFamily="34" charset="-122"/>
                <a:cs typeface="Cambria" pitchFamily="34" charset="-120"/>
              </a:rPr>
              <a:t>Histogram + KDE</a:t>
            </a:r>
            <a:endParaRPr lang="en-US" sz="1250" dirty="0"/>
          </a:p>
        </p:txBody>
      </p:sp>
      <p:sp>
        <p:nvSpPr>
          <p:cNvPr id="6" name="Text 4"/>
          <p:cNvSpPr txBox="1"/>
          <p:nvPr/>
        </p:nvSpPr>
        <p:spPr>
          <a:xfrm>
            <a:off x="3017520" y="1581912"/>
            <a:ext cx="5120640" cy="658368"/>
          </a:xfrm>
          <a:prstGeom prst="rect">
            <a:avLst/>
          </a:prstGeom>
          <a:noFill/>
          <a:ln/>
        </p:spPr>
        <p:txBody>
          <a:bodyPr wrap="square" lIns="0" tIns="0" rIns="0" bIns="0" rtlCol="0" anchor="ctr"/>
          <a:lstStyle/>
          <a:p>
            <a:pPr indent="0" marL="0">
              <a:lnSpc>
                <a:spcPts val="1450"/>
              </a:lnSpc>
              <a:buNone/>
            </a:pPr>
            <a:r>
              <a:rPr lang="en-US" sz="1100" dirty="0">
                <a:solidFill>
                  <a:srgbClr val="2B2A26"/>
                </a:solidFill>
                <a:latin typeface="Calibri" pitchFamily="34" charset="0"/>
                <a:ea typeface="Calibri" pitchFamily="34" charset="-122"/>
                <a:cs typeface="Calibri" pitchFamily="34" charset="-120"/>
              </a:rPr>
              <a:t>Shows the shape of one numeric column: where values cluster, and whether the tail stretches to one side (skew).</a:t>
            </a:r>
            <a:endParaRPr lang="en-US" sz="1100" dirty="0"/>
          </a:p>
        </p:txBody>
      </p:sp>
      <p:sp>
        <p:nvSpPr>
          <p:cNvPr id="7" name="Text 5"/>
          <p:cNvSpPr txBox="1"/>
          <p:nvPr/>
        </p:nvSpPr>
        <p:spPr>
          <a:xfrm>
            <a:off x="8321040" y="1581912"/>
            <a:ext cx="3063240" cy="658368"/>
          </a:xfrm>
          <a:prstGeom prst="rect">
            <a:avLst/>
          </a:prstGeom>
          <a:noFill/>
          <a:ln/>
        </p:spPr>
        <p:txBody>
          <a:bodyPr wrap="square" lIns="0" tIns="0" rIns="0" bIns="0" rtlCol="0" anchor="ctr"/>
          <a:lstStyle/>
          <a:p>
            <a:pPr indent="0" marL="0">
              <a:lnSpc>
                <a:spcPts val="1400"/>
              </a:lnSpc>
              <a:buNone/>
            </a:pPr>
            <a:r>
              <a:rPr lang="en-US" sz="1050" i="1" dirty="0">
                <a:solidFill>
                  <a:srgbClr val="6E6658"/>
                </a:solidFill>
                <a:latin typeface="Calibri" pitchFamily="34" charset="0"/>
                <a:ea typeface="Calibri" pitchFamily="34" charset="-122"/>
                <a:cs typeface="Calibri" pitchFamily="34" charset="-120"/>
              </a:rPr>
              <a:t>site_eui, floor_area, all monthly temperatures</a:t>
            </a:r>
            <a:endParaRPr lang="en-US" sz="1050" dirty="0"/>
          </a:p>
        </p:txBody>
      </p:sp>
      <p:sp>
        <p:nvSpPr>
          <p:cNvPr id="8" name="Shape 6"/>
          <p:cNvSpPr/>
          <p:nvPr/>
        </p:nvSpPr>
        <p:spPr>
          <a:xfrm>
            <a:off x="548640" y="2423160"/>
            <a:ext cx="11064240" cy="868680"/>
          </a:xfrm>
          <a:prstGeom prst="roundRect">
            <a:avLst>
              <a:gd name="adj" fmla="val 5263"/>
            </a:avLst>
          </a:prstGeom>
          <a:solidFill>
            <a:srgbClr val="EAE3D6"/>
          </a:solidFill>
          <a:ln w="12700">
            <a:solidFill>
              <a:srgbClr val="EAE3D6"/>
            </a:solidFill>
            <a:prstDash val="solid"/>
          </a:ln>
        </p:spPr>
      </p:sp>
      <p:sp>
        <p:nvSpPr>
          <p:cNvPr id="9" name="Text 7"/>
          <p:cNvSpPr txBox="1"/>
          <p:nvPr/>
        </p:nvSpPr>
        <p:spPr>
          <a:xfrm>
            <a:off x="777240" y="2679192"/>
            <a:ext cx="2194560" cy="365760"/>
          </a:xfrm>
          <a:prstGeom prst="rect">
            <a:avLst/>
          </a:prstGeom>
          <a:noFill/>
          <a:ln/>
        </p:spPr>
        <p:txBody>
          <a:bodyPr wrap="square" lIns="0" tIns="0" rIns="0" bIns="0" rtlCol="0" anchor="ctr"/>
          <a:lstStyle/>
          <a:p>
            <a:pPr indent="0" marL="0">
              <a:buNone/>
            </a:pPr>
            <a:r>
              <a:rPr lang="en-US" sz="1250" b="1" dirty="0">
                <a:solidFill>
                  <a:srgbClr val="A4613C"/>
                </a:solidFill>
                <a:latin typeface="Cambria" pitchFamily="34" charset="0"/>
                <a:ea typeface="Cambria" pitchFamily="34" charset="-122"/>
                <a:cs typeface="Cambria" pitchFamily="34" charset="-120"/>
              </a:rPr>
              <a:t>Count / bar plot</a:t>
            </a:r>
            <a:endParaRPr lang="en-US" sz="1250" dirty="0"/>
          </a:p>
        </p:txBody>
      </p:sp>
      <p:sp>
        <p:nvSpPr>
          <p:cNvPr id="10" name="Text 8"/>
          <p:cNvSpPr txBox="1"/>
          <p:nvPr/>
        </p:nvSpPr>
        <p:spPr>
          <a:xfrm>
            <a:off x="3017520" y="2542032"/>
            <a:ext cx="5120640" cy="658368"/>
          </a:xfrm>
          <a:prstGeom prst="rect">
            <a:avLst/>
          </a:prstGeom>
          <a:noFill/>
          <a:ln/>
        </p:spPr>
        <p:txBody>
          <a:bodyPr wrap="square" lIns="0" tIns="0" rIns="0" bIns="0" rtlCol="0" anchor="ctr"/>
          <a:lstStyle/>
          <a:p>
            <a:pPr indent="0" marL="0">
              <a:lnSpc>
                <a:spcPts val="1450"/>
              </a:lnSpc>
              <a:buNone/>
            </a:pPr>
            <a:r>
              <a:rPr lang="en-US" sz="1100" dirty="0">
                <a:solidFill>
                  <a:srgbClr val="2B2A26"/>
                </a:solidFill>
                <a:latin typeface="Calibri" pitchFamily="34" charset="0"/>
                <a:ea typeface="Calibri" pitchFamily="34" charset="-122"/>
                <a:cs typeface="Calibri" pitchFamily="34" charset="-120"/>
              </a:rPr>
              <a:t>Counts how often each category appears, revealing imbalance between groups.</a:t>
            </a:r>
            <a:endParaRPr lang="en-US" sz="1100" dirty="0"/>
          </a:p>
        </p:txBody>
      </p:sp>
      <p:sp>
        <p:nvSpPr>
          <p:cNvPr id="11" name="Text 9"/>
          <p:cNvSpPr txBox="1"/>
          <p:nvPr/>
        </p:nvSpPr>
        <p:spPr>
          <a:xfrm>
            <a:off x="8321040" y="2542032"/>
            <a:ext cx="3063240" cy="658368"/>
          </a:xfrm>
          <a:prstGeom prst="rect">
            <a:avLst/>
          </a:prstGeom>
          <a:noFill/>
          <a:ln/>
        </p:spPr>
        <p:txBody>
          <a:bodyPr wrap="square" lIns="0" tIns="0" rIns="0" bIns="0" rtlCol="0" anchor="ctr"/>
          <a:lstStyle/>
          <a:p>
            <a:pPr indent="0" marL="0">
              <a:lnSpc>
                <a:spcPts val="1400"/>
              </a:lnSpc>
              <a:buNone/>
            </a:pPr>
            <a:r>
              <a:rPr lang="en-US" sz="1050" i="1" dirty="0">
                <a:solidFill>
                  <a:srgbClr val="6E6658"/>
                </a:solidFill>
                <a:latin typeface="Calibri" pitchFamily="34" charset="0"/>
                <a:ea typeface="Calibri" pitchFamily="34" charset="-122"/>
                <a:cs typeface="Calibri" pitchFamily="34" charset="-120"/>
              </a:rPr>
              <a:t>State_Factor, building_class, top-20 facility_type</a:t>
            </a:r>
            <a:endParaRPr lang="en-US" sz="1050" dirty="0"/>
          </a:p>
        </p:txBody>
      </p:sp>
      <p:sp>
        <p:nvSpPr>
          <p:cNvPr id="12" name="Shape 10"/>
          <p:cNvSpPr/>
          <p:nvPr/>
        </p:nvSpPr>
        <p:spPr>
          <a:xfrm>
            <a:off x="548640" y="3383280"/>
            <a:ext cx="11064240" cy="868680"/>
          </a:xfrm>
          <a:prstGeom prst="roundRect">
            <a:avLst>
              <a:gd name="adj" fmla="val 5263"/>
            </a:avLst>
          </a:prstGeom>
          <a:solidFill>
            <a:srgbClr val="EAE3D6"/>
          </a:solidFill>
          <a:ln w="12700">
            <a:solidFill>
              <a:srgbClr val="EAE3D6"/>
            </a:solidFill>
            <a:prstDash val="solid"/>
          </a:ln>
        </p:spPr>
      </p:sp>
      <p:sp>
        <p:nvSpPr>
          <p:cNvPr id="13" name="Text 11"/>
          <p:cNvSpPr txBox="1"/>
          <p:nvPr/>
        </p:nvSpPr>
        <p:spPr>
          <a:xfrm>
            <a:off x="777240" y="3639312"/>
            <a:ext cx="2194560" cy="365760"/>
          </a:xfrm>
          <a:prstGeom prst="rect">
            <a:avLst/>
          </a:prstGeom>
          <a:noFill/>
          <a:ln/>
        </p:spPr>
        <p:txBody>
          <a:bodyPr wrap="square" lIns="0" tIns="0" rIns="0" bIns="0" rtlCol="0" anchor="ctr"/>
          <a:lstStyle/>
          <a:p>
            <a:pPr indent="0" marL="0">
              <a:buNone/>
            </a:pPr>
            <a:r>
              <a:rPr lang="en-US" sz="1250" b="1" dirty="0">
                <a:solidFill>
                  <a:srgbClr val="A4613C"/>
                </a:solidFill>
                <a:latin typeface="Cambria" pitchFamily="34" charset="0"/>
                <a:ea typeface="Cambria" pitchFamily="34" charset="-122"/>
                <a:cs typeface="Cambria" pitchFamily="34" charset="-120"/>
              </a:rPr>
              <a:t>Correlation heatmap</a:t>
            </a:r>
            <a:endParaRPr lang="en-US" sz="1250" dirty="0"/>
          </a:p>
        </p:txBody>
      </p:sp>
      <p:sp>
        <p:nvSpPr>
          <p:cNvPr id="14" name="Text 12"/>
          <p:cNvSpPr txBox="1"/>
          <p:nvPr/>
        </p:nvSpPr>
        <p:spPr>
          <a:xfrm>
            <a:off x="3017520" y="3502152"/>
            <a:ext cx="5120640" cy="658368"/>
          </a:xfrm>
          <a:prstGeom prst="rect">
            <a:avLst/>
          </a:prstGeom>
          <a:noFill/>
          <a:ln/>
        </p:spPr>
        <p:txBody>
          <a:bodyPr wrap="square" lIns="0" tIns="0" rIns="0" bIns="0" rtlCol="0" anchor="ctr"/>
          <a:lstStyle/>
          <a:p>
            <a:pPr indent="0" marL="0">
              <a:lnSpc>
                <a:spcPts val="1450"/>
              </a:lnSpc>
              <a:buNone/>
            </a:pPr>
            <a:r>
              <a:rPr lang="en-US" sz="1100" dirty="0">
                <a:solidFill>
                  <a:srgbClr val="2B2A26"/>
                </a:solidFill>
                <a:latin typeface="Calibri" pitchFamily="34" charset="0"/>
                <a:ea typeface="Calibri" pitchFamily="34" charset="-122"/>
                <a:cs typeface="Calibri" pitchFamily="34" charset="-120"/>
              </a:rPr>
              <a:t>A colour grid of the linear relationship between every pair of numeric columns, from −1 to +1.</a:t>
            </a:r>
            <a:endParaRPr lang="en-US" sz="1100" dirty="0"/>
          </a:p>
        </p:txBody>
      </p:sp>
      <p:sp>
        <p:nvSpPr>
          <p:cNvPr id="15" name="Text 13"/>
          <p:cNvSpPr txBox="1"/>
          <p:nvPr/>
        </p:nvSpPr>
        <p:spPr>
          <a:xfrm>
            <a:off x="8321040" y="3502152"/>
            <a:ext cx="3063240" cy="658368"/>
          </a:xfrm>
          <a:prstGeom prst="rect">
            <a:avLst/>
          </a:prstGeom>
          <a:noFill/>
          <a:ln/>
        </p:spPr>
        <p:txBody>
          <a:bodyPr wrap="square" lIns="0" tIns="0" rIns="0" bIns="0" rtlCol="0" anchor="ctr"/>
          <a:lstStyle/>
          <a:p>
            <a:pPr indent="0" marL="0">
              <a:lnSpc>
                <a:spcPts val="1400"/>
              </a:lnSpc>
              <a:buNone/>
            </a:pPr>
            <a:r>
              <a:rPr lang="en-US" sz="1050" i="1" dirty="0">
                <a:solidFill>
                  <a:srgbClr val="6E6658"/>
                </a:solidFill>
                <a:latin typeface="Calibri" pitchFamily="34" charset="0"/>
                <a:ea typeface="Calibri" pitchFamily="34" charset="-122"/>
                <a:cs typeface="Calibri" pitchFamily="34" charset="-120"/>
              </a:rPr>
              <a:t>Top 12 predictors against log_site_eui</a:t>
            </a:r>
            <a:endParaRPr lang="en-US" sz="1050" dirty="0"/>
          </a:p>
        </p:txBody>
      </p:sp>
      <p:sp>
        <p:nvSpPr>
          <p:cNvPr id="16" name="Shape 14"/>
          <p:cNvSpPr/>
          <p:nvPr/>
        </p:nvSpPr>
        <p:spPr>
          <a:xfrm>
            <a:off x="548640" y="4343400"/>
            <a:ext cx="11064240" cy="868680"/>
          </a:xfrm>
          <a:prstGeom prst="roundRect">
            <a:avLst>
              <a:gd name="adj" fmla="val 5263"/>
            </a:avLst>
          </a:prstGeom>
          <a:solidFill>
            <a:srgbClr val="EAE3D6"/>
          </a:solidFill>
          <a:ln w="12700">
            <a:solidFill>
              <a:srgbClr val="EAE3D6"/>
            </a:solidFill>
            <a:prstDash val="solid"/>
          </a:ln>
        </p:spPr>
      </p:sp>
      <p:sp>
        <p:nvSpPr>
          <p:cNvPr id="17" name="Text 15"/>
          <p:cNvSpPr txBox="1"/>
          <p:nvPr/>
        </p:nvSpPr>
        <p:spPr>
          <a:xfrm>
            <a:off x="777240" y="4599432"/>
            <a:ext cx="2194560" cy="365760"/>
          </a:xfrm>
          <a:prstGeom prst="rect">
            <a:avLst/>
          </a:prstGeom>
          <a:noFill/>
          <a:ln/>
        </p:spPr>
        <p:txBody>
          <a:bodyPr wrap="square" lIns="0" tIns="0" rIns="0" bIns="0" rtlCol="0" anchor="ctr"/>
          <a:lstStyle/>
          <a:p>
            <a:pPr indent="0" marL="0">
              <a:buNone/>
            </a:pPr>
            <a:r>
              <a:rPr lang="en-US" sz="1250" b="1" dirty="0">
                <a:solidFill>
                  <a:srgbClr val="A4613C"/>
                </a:solidFill>
                <a:latin typeface="Cambria" pitchFamily="34" charset="0"/>
                <a:ea typeface="Cambria" pitchFamily="34" charset="-122"/>
                <a:cs typeface="Cambria" pitchFamily="34" charset="-120"/>
              </a:rPr>
              <a:t>Scatter plot</a:t>
            </a:r>
            <a:endParaRPr lang="en-US" sz="1250" dirty="0"/>
          </a:p>
        </p:txBody>
      </p:sp>
      <p:sp>
        <p:nvSpPr>
          <p:cNvPr id="18" name="Text 16"/>
          <p:cNvSpPr txBox="1"/>
          <p:nvPr/>
        </p:nvSpPr>
        <p:spPr>
          <a:xfrm>
            <a:off x="3017520" y="4462272"/>
            <a:ext cx="5120640" cy="658368"/>
          </a:xfrm>
          <a:prstGeom prst="rect">
            <a:avLst/>
          </a:prstGeom>
          <a:noFill/>
          <a:ln/>
        </p:spPr>
        <p:txBody>
          <a:bodyPr wrap="square" lIns="0" tIns="0" rIns="0" bIns="0" rtlCol="0" anchor="ctr"/>
          <a:lstStyle/>
          <a:p>
            <a:pPr indent="0" marL="0">
              <a:lnSpc>
                <a:spcPts val="1450"/>
              </a:lnSpc>
              <a:buNone/>
            </a:pPr>
            <a:r>
              <a:rPr lang="en-US" sz="1100" dirty="0">
                <a:solidFill>
                  <a:srgbClr val="2B2A26"/>
                </a:solidFill>
                <a:latin typeface="Calibri" pitchFamily="34" charset="0"/>
                <a:ea typeface="Calibri" pitchFamily="34" charset="-122"/>
                <a:cs typeface="Calibri" pitchFamily="34" charset="-120"/>
              </a:rPr>
              <a:t>Plots two numeric columns against each other so the direction and tightness of the relationship is visible.</a:t>
            </a:r>
            <a:endParaRPr lang="en-US" sz="1100" dirty="0"/>
          </a:p>
        </p:txBody>
      </p:sp>
      <p:sp>
        <p:nvSpPr>
          <p:cNvPr id="19" name="Text 17"/>
          <p:cNvSpPr txBox="1"/>
          <p:nvPr/>
        </p:nvSpPr>
        <p:spPr>
          <a:xfrm>
            <a:off x="8321040" y="4462272"/>
            <a:ext cx="3063240" cy="658368"/>
          </a:xfrm>
          <a:prstGeom prst="rect">
            <a:avLst/>
          </a:prstGeom>
          <a:noFill/>
          <a:ln/>
        </p:spPr>
        <p:txBody>
          <a:bodyPr wrap="square" lIns="0" tIns="0" rIns="0" bIns="0" rtlCol="0" anchor="ctr"/>
          <a:lstStyle/>
          <a:p>
            <a:pPr indent="0" marL="0">
              <a:lnSpc>
                <a:spcPts val="1400"/>
              </a:lnSpc>
              <a:buNone/>
            </a:pPr>
            <a:r>
              <a:rPr lang="en-US" sz="1050" i="1" dirty="0">
                <a:solidFill>
                  <a:srgbClr val="6E6658"/>
                </a:solidFill>
                <a:latin typeface="Calibri" pitchFamily="34" charset="0"/>
                <a:ea typeface="Calibri" pitchFamily="34" charset="-122"/>
                <a:cs typeface="Calibri" pitchFamily="34" charset="-120"/>
              </a:rPr>
              <a:t>energy_star_rating, floor_area, HDD, CDD vs site_eui</a:t>
            </a:r>
            <a:endParaRPr lang="en-US" sz="1050" dirty="0"/>
          </a:p>
        </p:txBody>
      </p:sp>
      <p:sp>
        <p:nvSpPr>
          <p:cNvPr id="20" name="Shape 18"/>
          <p:cNvSpPr/>
          <p:nvPr/>
        </p:nvSpPr>
        <p:spPr>
          <a:xfrm>
            <a:off x="548640" y="5303520"/>
            <a:ext cx="11064240" cy="868680"/>
          </a:xfrm>
          <a:prstGeom prst="roundRect">
            <a:avLst>
              <a:gd name="adj" fmla="val 5263"/>
            </a:avLst>
          </a:prstGeom>
          <a:solidFill>
            <a:srgbClr val="EAE3D6"/>
          </a:solidFill>
          <a:ln w="12700">
            <a:solidFill>
              <a:srgbClr val="EAE3D6"/>
            </a:solidFill>
            <a:prstDash val="solid"/>
          </a:ln>
        </p:spPr>
      </p:sp>
      <p:sp>
        <p:nvSpPr>
          <p:cNvPr id="21" name="Text 19"/>
          <p:cNvSpPr txBox="1"/>
          <p:nvPr/>
        </p:nvSpPr>
        <p:spPr>
          <a:xfrm>
            <a:off x="777240" y="5559552"/>
            <a:ext cx="2194560" cy="365760"/>
          </a:xfrm>
          <a:prstGeom prst="rect">
            <a:avLst/>
          </a:prstGeom>
          <a:noFill/>
          <a:ln/>
        </p:spPr>
        <p:txBody>
          <a:bodyPr wrap="square" lIns="0" tIns="0" rIns="0" bIns="0" rtlCol="0" anchor="ctr"/>
          <a:lstStyle/>
          <a:p>
            <a:pPr indent="0" marL="0">
              <a:buNone/>
            </a:pPr>
            <a:r>
              <a:rPr lang="en-US" sz="1250" b="1" dirty="0">
                <a:solidFill>
                  <a:srgbClr val="A4613C"/>
                </a:solidFill>
                <a:latin typeface="Cambria" pitchFamily="34" charset="0"/>
                <a:ea typeface="Cambria" pitchFamily="34" charset="-122"/>
                <a:cs typeface="Cambria" pitchFamily="34" charset="-120"/>
              </a:rPr>
              <a:t>Box plot</a:t>
            </a:r>
            <a:endParaRPr lang="en-US" sz="1250" dirty="0"/>
          </a:p>
        </p:txBody>
      </p:sp>
      <p:sp>
        <p:nvSpPr>
          <p:cNvPr id="22" name="Text 20"/>
          <p:cNvSpPr txBox="1"/>
          <p:nvPr/>
        </p:nvSpPr>
        <p:spPr>
          <a:xfrm>
            <a:off x="3017520" y="5422392"/>
            <a:ext cx="5120640" cy="658368"/>
          </a:xfrm>
          <a:prstGeom prst="rect">
            <a:avLst/>
          </a:prstGeom>
          <a:noFill/>
          <a:ln/>
        </p:spPr>
        <p:txBody>
          <a:bodyPr wrap="square" lIns="0" tIns="0" rIns="0" bIns="0" rtlCol="0" anchor="ctr"/>
          <a:lstStyle/>
          <a:p>
            <a:pPr indent="0" marL="0">
              <a:lnSpc>
                <a:spcPts val="1450"/>
              </a:lnSpc>
              <a:buNone/>
            </a:pPr>
            <a:r>
              <a:rPr lang="en-US" sz="1100" dirty="0">
                <a:solidFill>
                  <a:srgbClr val="2B2A26"/>
                </a:solidFill>
                <a:latin typeface="Calibri" pitchFamily="34" charset="0"/>
                <a:ea typeface="Calibri" pitchFamily="34" charset="-122"/>
                <a:cs typeface="Calibri" pitchFamily="34" charset="-120"/>
              </a:rPr>
              <a:t>Summarises a distribution through its quartiles and marks points that fall outside the whiskers as outliers.</a:t>
            </a:r>
            <a:endParaRPr lang="en-US" sz="1100" dirty="0"/>
          </a:p>
        </p:txBody>
      </p:sp>
      <p:sp>
        <p:nvSpPr>
          <p:cNvPr id="23" name="Text 21"/>
          <p:cNvSpPr txBox="1"/>
          <p:nvPr/>
        </p:nvSpPr>
        <p:spPr>
          <a:xfrm>
            <a:off x="8321040" y="5422392"/>
            <a:ext cx="3063240" cy="658368"/>
          </a:xfrm>
          <a:prstGeom prst="rect">
            <a:avLst/>
          </a:prstGeom>
          <a:noFill/>
          <a:ln/>
        </p:spPr>
        <p:txBody>
          <a:bodyPr wrap="square" lIns="0" tIns="0" rIns="0" bIns="0" rtlCol="0" anchor="ctr"/>
          <a:lstStyle/>
          <a:p>
            <a:pPr indent="0" marL="0">
              <a:lnSpc>
                <a:spcPts val="1400"/>
              </a:lnSpc>
              <a:buNone/>
            </a:pPr>
            <a:r>
              <a:rPr lang="en-US" sz="1050" i="1" dirty="0">
                <a:solidFill>
                  <a:srgbClr val="6E6658"/>
                </a:solidFill>
                <a:latin typeface="Calibri" pitchFamily="34" charset="0"/>
                <a:ea typeface="Calibri" pitchFamily="34" charset="-122"/>
                <a:cs typeface="Calibri" pitchFamily="34" charset="-120"/>
              </a:rPr>
              <a:t>site_eui per State_Factor; 5 key numeric columns</a:t>
            </a:r>
            <a:endParaRPr lang="en-US" sz="1050" dirty="0"/>
          </a:p>
        </p:txBody>
      </p:sp>
      <p:sp>
        <p:nvSpPr>
          <p:cNvPr id="24" name="Text 22"/>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13</a:t>
            </a:r>
            <a:endParaRPr lang="en-US" sz="900" dirty="0"/>
          </a:p>
        </p:txBody>
      </p:sp>
      <p:sp>
        <p:nvSpPr>
          <p:cNvPr id="25" name="Text 23"/>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EDA</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EDA</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Target distribution — before and after log transform</a:t>
            </a:r>
            <a:endParaRPr lang="en-US" sz="2800" dirty="0"/>
          </a:p>
        </p:txBody>
      </p:sp>
      <p:pic>
        <p:nvPicPr>
          <p:cNvPr id="4" name="Image 0" descr="/home/claude/work/img/REG_65_1.png">    </p:cNvPr>
          <p:cNvPicPr>
            <a:picLocks noChangeAspect="1"/>
          </p:cNvPicPr>
          <p:nvPr/>
        </p:nvPicPr>
        <p:blipFill>
          <a:blip r:embed="rId1"/>
          <a:stretch>
            <a:fillRect/>
          </a:stretch>
        </p:blipFill>
        <p:spPr>
          <a:xfrm>
            <a:off x="548640" y="1371600"/>
            <a:ext cx="7406640" cy="2606040"/>
          </a:xfrm>
          <a:prstGeom prst="rect">
            <a:avLst/>
          </a:prstGeom>
        </p:spPr>
      </p:pic>
      <p:sp>
        <p:nvSpPr>
          <p:cNvPr id="5" name="Text 2"/>
          <p:cNvSpPr txBox="1"/>
          <p:nvPr/>
        </p:nvSpPr>
        <p:spPr>
          <a:xfrm>
            <a:off x="548640" y="4032504"/>
            <a:ext cx="7406640" cy="274320"/>
          </a:xfrm>
          <a:prstGeom prst="rect">
            <a:avLst/>
          </a:prstGeom>
          <a:noFill/>
          <a:ln/>
        </p:spPr>
        <p:txBody>
          <a:bodyPr wrap="square" lIns="0" tIns="0" rIns="0" bIns="0" rtlCol="0" anchor="ctr"/>
          <a:lstStyle/>
          <a:p>
            <a:pPr algn="ctr" indent="0" marL="0">
              <a:buNone/>
            </a:pPr>
            <a:r>
              <a:rPr lang="en-US" sz="950" i="1" dirty="0">
                <a:solidFill>
                  <a:srgbClr val="6E6658"/>
                </a:solidFill>
                <a:latin typeface="Calibri" pitchFamily="34" charset="0"/>
                <a:ea typeface="Calibri" pitchFamily="34" charset="-122"/>
                <a:cs typeface="Calibri" pitchFamily="34" charset="-120"/>
              </a:rPr>
              <a:t>Raw site_eui (left) versus log1p(site_eui) (right)</a:t>
            </a:r>
            <a:endParaRPr lang="en-US" sz="950" dirty="0"/>
          </a:p>
        </p:txBody>
      </p:sp>
      <p:sp>
        <p:nvSpPr>
          <p:cNvPr id="6" name="Shape 3"/>
          <p:cNvSpPr/>
          <p:nvPr/>
        </p:nvSpPr>
        <p:spPr>
          <a:xfrm>
            <a:off x="8183880" y="1371600"/>
            <a:ext cx="3429000" cy="4206240"/>
          </a:xfrm>
          <a:prstGeom prst="roundRect">
            <a:avLst>
              <a:gd name="adj" fmla="val 2133"/>
            </a:avLst>
          </a:prstGeom>
          <a:solidFill>
            <a:srgbClr val="EAE3D6"/>
          </a:solidFill>
          <a:ln w="12700">
            <a:solidFill>
              <a:srgbClr val="EAE3D6"/>
            </a:solidFill>
            <a:prstDash val="solid"/>
          </a:ln>
        </p:spPr>
      </p:sp>
      <p:sp>
        <p:nvSpPr>
          <p:cNvPr id="7" name="Text 4"/>
          <p:cNvSpPr txBox="1"/>
          <p:nvPr/>
        </p:nvSpPr>
        <p:spPr>
          <a:xfrm>
            <a:off x="8412480" y="1536192"/>
            <a:ext cx="29718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What the graph shows</a:t>
            </a:r>
            <a:endParaRPr lang="en-US" sz="1400" dirty="0"/>
          </a:p>
        </p:txBody>
      </p:sp>
      <p:sp>
        <p:nvSpPr>
          <p:cNvPr id="8" name="Text 5"/>
          <p:cNvSpPr txBox="1"/>
          <p:nvPr/>
        </p:nvSpPr>
        <p:spPr>
          <a:xfrm>
            <a:off x="8412480" y="1883664"/>
            <a:ext cx="2971800" cy="3520440"/>
          </a:xfrm>
          <a:prstGeom prst="rect">
            <a:avLst/>
          </a:prstGeom>
          <a:noFill/>
          <a:ln/>
        </p:spPr>
        <p:txBody>
          <a:bodyPr wrap="square" lIns="0" tIns="0" rIns="0" bIns="0" rtlCol="0" anchor="t"/>
          <a:lstStyle/>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Raw site_eui is strongly right-skewed: skewness 4.7400, mean 82.58 against a median of 75.29. A small number of very high-consumption buildings stretch the right tail all the way to 997.87.</a:t>
            </a:r>
            <a:endParaRPr lang="en-US" sz="1100" dirty="0"/>
          </a:p>
          <a:p>
            <a:pPr indent="0" marL="0">
              <a:lnSpc>
                <a:spcPts val="1500"/>
              </a:lnSpc>
              <a:buNone/>
            </a:pPr>
            <a:endParaRPr lang="en-US" sz="1100" dirty="0"/>
          </a:p>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After log1p the skewness falls to −1.0756 and the distribution becomes far more balanced.</a:t>
            </a:r>
            <a:endParaRPr lang="en-US" sz="1100" dirty="0"/>
          </a:p>
          <a:p>
            <a:pPr indent="0" marL="0">
              <a:lnSpc>
                <a:spcPts val="1500"/>
              </a:lnSpc>
              <a:buNone/>
            </a:pPr>
            <a:endParaRPr lang="en-US" sz="1100" dirty="0"/>
          </a:p>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Why it matters: linear models assume errors are roughly symmetric. Training on the log scale stops a handful of extreme buildings from dominating the fitted line. Predictions are converted back with expm1 before scoring, so all reported R², RMSE and MAE are in real kBtu/sq.ft.</a:t>
            </a:r>
            <a:endParaRPr lang="en-US" sz="1100" dirty="0"/>
          </a:p>
        </p:txBody>
      </p:sp>
      <p:sp>
        <p:nvSpPr>
          <p:cNvPr id="9" name="Text 6"/>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14</a:t>
            </a:r>
            <a:endParaRPr lang="en-US" sz="900" dirty="0"/>
          </a:p>
        </p:txBody>
      </p:sp>
      <p:sp>
        <p:nvSpPr>
          <p:cNvPr id="10" name="Text 7"/>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EDA</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EDA</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Numerical feature distributions</a:t>
            </a:r>
            <a:endParaRPr lang="en-US" sz="2800" dirty="0"/>
          </a:p>
        </p:txBody>
      </p:sp>
      <p:pic>
        <p:nvPicPr>
          <p:cNvPr id="4" name="Image 0" descr="/home/claude/work/img/REG_68_0.png">    </p:cNvPr>
          <p:cNvPicPr>
            <a:picLocks noChangeAspect="1"/>
          </p:cNvPicPr>
          <p:nvPr/>
        </p:nvPicPr>
        <p:blipFill>
          <a:blip r:embed="rId1"/>
          <a:stretch>
            <a:fillRect/>
          </a:stretch>
        </p:blipFill>
        <p:spPr>
          <a:xfrm>
            <a:off x="548640" y="1325880"/>
            <a:ext cx="4206240" cy="4572000"/>
          </a:xfrm>
          <a:prstGeom prst="rect">
            <a:avLst/>
          </a:prstGeom>
        </p:spPr>
      </p:pic>
      <p:pic>
        <p:nvPicPr>
          <p:cNvPr id="5" name="Image 1" descr="/home/claude/work/img/REG_71_top.png">    </p:cNvPr>
          <p:cNvPicPr>
            <a:picLocks noChangeAspect="1"/>
          </p:cNvPicPr>
          <p:nvPr/>
        </p:nvPicPr>
        <p:blipFill>
          <a:blip r:embed="rId2"/>
          <a:stretch>
            <a:fillRect/>
          </a:stretch>
        </p:blipFill>
        <p:spPr>
          <a:xfrm>
            <a:off x="4983480" y="1325880"/>
            <a:ext cx="3657600" cy="2834640"/>
          </a:xfrm>
          <a:prstGeom prst="rect">
            <a:avLst/>
          </a:prstGeom>
        </p:spPr>
      </p:pic>
      <p:sp>
        <p:nvSpPr>
          <p:cNvPr id="6" name="Shape 2"/>
          <p:cNvSpPr/>
          <p:nvPr/>
        </p:nvSpPr>
        <p:spPr>
          <a:xfrm>
            <a:off x="8915400" y="1325880"/>
            <a:ext cx="2697480" cy="4572000"/>
          </a:xfrm>
          <a:prstGeom prst="roundRect">
            <a:avLst>
              <a:gd name="adj" fmla="val 2712"/>
            </a:avLst>
          </a:prstGeom>
          <a:solidFill>
            <a:srgbClr val="EAE3D6"/>
          </a:solidFill>
          <a:ln w="12700">
            <a:solidFill>
              <a:srgbClr val="EAE3D6"/>
            </a:solidFill>
            <a:prstDash val="solid"/>
          </a:ln>
        </p:spPr>
      </p:sp>
      <p:sp>
        <p:nvSpPr>
          <p:cNvPr id="7" name="Text 3"/>
          <p:cNvSpPr txBox="1"/>
          <p:nvPr/>
        </p:nvSpPr>
        <p:spPr>
          <a:xfrm>
            <a:off x="9144000" y="1490472"/>
            <a:ext cx="224028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Reading the grid</a:t>
            </a:r>
            <a:endParaRPr lang="en-US" sz="1400" dirty="0"/>
          </a:p>
        </p:txBody>
      </p:sp>
      <p:sp>
        <p:nvSpPr>
          <p:cNvPr id="8" name="Text 4"/>
          <p:cNvSpPr txBox="1"/>
          <p:nvPr/>
        </p:nvSpPr>
        <p:spPr>
          <a:xfrm>
            <a:off x="9144000" y="1837944"/>
            <a:ext cx="2240280" cy="3886200"/>
          </a:xfrm>
          <a:prstGeom prst="rect">
            <a:avLst/>
          </a:prstGeom>
          <a:noFill/>
          <a:ln/>
        </p:spPr>
        <p:txBody>
          <a:bodyPr wrap="square" lIns="0" tIns="0" rIns="0" bIns="0" rtlCol="0" anchor="t"/>
          <a:lstStyle/>
          <a:p>
            <a:pPr indent="0" marL="0">
              <a:lnSpc>
                <a:spcPts val="1500"/>
              </a:lnSpc>
              <a:buNone/>
            </a:pPr>
            <a:r>
              <a:rPr lang="en-US" sz="1000" dirty="0">
                <a:solidFill>
                  <a:srgbClr val="6E6658"/>
                </a:solidFill>
                <a:latin typeface="Calibri" pitchFamily="34" charset="0"/>
                <a:ea typeface="Calibri" pitchFamily="34" charset="-122"/>
                <a:cs typeface="Calibri" pitchFamily="34" charset="-120"/>
              </a:rPr>
              <a:t>floor_area: severe right skew (3.63) from tiny units to complexes above 6,000,000 sq.ft → log transform justified.</a:t>
            </a:r>
            <a:endParaRPr lang="en-US" sz="1000" dirty="0"/>
          </a:p>
          <a:p>
            <a:pPr indent="0" marL="0">
              <a:lnSpc>
                <a:spcPts val="1500"/>
              </a:lnSpc>
              <a:buNone/>
            </a:pPr>
            <a:endParaRPr lang="en-US" sz="1000" dirty="0"/>
          </a:p>
          <a:p>
            <a:pPr indent="0" marL="0">
              <a:lnSpc>
                <a:spcPts val="1500"/>
              </a:lnSpc>
              <a:buNone/>
            </a:pPr>
            <a:r>
              <a:rPr lang="en-US" sz="1000" dirty="0">
                <a:solidFill>
                  <a:srgbClr val="6E6658"/>
                </a:solidFill>
                <a:latin typeface="Calibri" pitchFamily="34" charset="0"/>
                <a:ea typeface="Calibri" pitchFamily="34" charset="-122"/>
                <a:cs typeface="Calibri" pitchFamily="34" charset="-120"/>
              </a:rPr>
              <a:t>year_built: wide historical spread; impossible years already masked.</a:t>
            </a:r>
            <a:endParaRPr lang="en-US" sz="1000" dirty="0"/>
          </a:p>
          <a:p>
            <a:pPr indent="0" marL="0">
              <a:lnSpc>
                <a:spcPts val="1500"/>
              </a:lnSpc>
              <a:buNone/>
            </a:pPr>
            <a:endParaRPr lang="en-US" sz="1000" dirty="0"/>
          </a:p>
          <a:p>
            <a:pPr indent="0" marL="0">
              <a:lnSpc>
                <a:spcPts val="1500"/>
              </a:lnSpc>
              <a:buNone/>
            </a:pPr>
            <a:r>
              <a:rPr lang="en-US" sz="1000" dirty="0">
                <a:solidFill>
                  <a:srgbClr val="6E6658"/>
                </a:solidFill>
                <a:latin typeface="Calibri" pitchFamily="34" charset="0"/>
                <a:ea typeface="Calibri" pitchFamily="34" charset="-122"/>
                <a:cs typeface="Calibri" pitchFamily="34" charset="-120"/>
              </a:rPr>
              <a:t>energy_star_rating: spread across the full 0–100 benchmark scale.</a:t>
            </a:r>
            <a:endParaRPr lang="en-US" sz="1000" dirty="0"/>
          </a:p>
          <a:p>
            <a:pPr indent="0" marL="0">
              <a:lnSpc>
                <a:spcPts val="1500"/>
              </a:lnSpc>
              <a:buNone/>
            </a:pPr>
            <a:endParaRPr lang="en-US" sz="1000" dirty="0"/>
          </a:p>
          <a:p>
            <a:pPr indent="0" marL="0">
              <a:lnSpc>
                <a:spcPts val="1500"/>
              </a:lnSpc>
              <a:buNone/>
            </a:pPr>
            <a:r>
              <a:rPr lang="en-US" sz="1000" dirty="0">
                <a:solidFill>
                  <a:srgbClr val="6E6658"/>
                </a:solidFill>
                <a:latin typeface="Calibri" pitchFamily="34" charset="0"/>
                <a:ea typeface="Calibri" pitchFamily="34" charset="-122"/>
                <a:cs typeface="Calibri" pitchFamily="34" charset="-120"/>
              </a:rPr>
              <a:t>Heating / cooling degree days: clear regional climate clusters.</a:t>
            </a:r>
            <a:endParaRPr lang="en-US" sz="1000" dirty="0"/>
          </a:p>
          <a:p>
            <a:pPr indent="0" marL="0">
              <a:lnSpc>
                <a:spcPts val="1500"/>
              </a:lnSpc>
              <a:buNone/>
            </a:pPr>
            <a:endParaRPr lang="en-US" sz="1000" dirty="0"/>
          </a:p>
          <a:p>
            <a:pPr indent="0" marL="0">
              <a:lnSpc>
                <a:spcPts val="1500"/>
              </a:lnSpc>
              <a:buNone/>
            </a:pPr>
            <a:r>
              <a:rPr lang="en-US" sz="1000" dirty="0">
                <a:solidFill>
                  <a:srgbClr val="6E6658"/>
                </a:solidFill>
                <a:latin typeface="Calibri" pitchFamily="34" charset="0"/>
                <a:ea typeface="Calibri" pitchFamily="34" charset="-122"/>
                <a:cs typeface="Calibri" pitchFamily="34" charset="-120"/>
              </a:rPr>
              <a:t>The remaining monthly min/avg/max temperature series (left, second grid) move together and overlap with the degree-day totals — a first hint of the multicollinearity that the heatmap confirms.</a:t>
            </a:r>
            <a:endParaRPr lang="en-US" sz="1000" dirty="0"/>
          </a:p>
        </p:txBody>
      </p:sp>
      <p:sp>
        <p:nvSpPr>
          <p:cNvPr id="9" name="Text 5"/>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15</a:t>
            </a:r>
            <a:endParaRPr lang="en-US" sz="900" dirty="0"/>
          </a:p>
        </p:txBody>
      </p:sp>
      <p:sp>
        <p:nvSpPr>
          <p:cNvPr id="10" name="Text 6"/>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EDA</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EDA</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Categorical feature distributions</a:t>
            </a:r>
            <a:endParaRPr lang="en-US" sz="2800" dirty="0"/>
          </a:p>
        </p:txBody>
      </p:sp>
      <p:pic>
        <p:nvPicPr>
          <p:cNvPr id="4" name="Image 0" descr="/home/claude/work/img/REG_73_0.png">    </p:cNvPr>
          <p:cNvPicPr>
            <a:picLocks noChangeAspect="1"/>
          </p:cNvPicPr>
          <p:nvPr/>
        </p:nvPicPr>
        <p:blipFill>
          <a:blip r:embed="rId1"/>
          <a:stretch>
            <a:fillRect/>
          </a:stretch>
        </p:blipFill>
        <p:spPr>
          <a:xfrm>
            <a:off x="548640" y="1371600"/>
            <a:ext cx="6035040" cy="2148840"/>
          </a:xfrm>
          <a:prstGeom prst="rect">
            <a:avLst/>
          </a:prstGeom>
        </p:spPr>
      </p:pic>
      <p:pic>
        <p:nvPicPr>
          <p:cNvPr id="5" name="Image 1" descr="/home/claude/work/img/REG_75_0.png">    </p:cNvPr>
          <p:cNvPicPr>
            <a:picLocks noChangeAspect="1"/>
          </p:cNvPicPr>
          <p:nvPr/>
        </p:nvPicPr>
        <p:blipFill>
          <a:blip r:embed="rId2"/>
          <a:stretch>
            <a:fillRect/>
          </a:stretch>
        </p:blipFill>
        <p:spPr>
          <a:xfrm>
            <a:off x="548640" y="3794760"/>
            <a:ext cx="6035040" cy="2103120"/>
          </a:xfrm>
          <a:prstGeom prst="rect">
            <a:avLst/>
          </a:prstGeom>
        </p:spPr>
      </p:pic>
      <p:sp>
        <p:nvSpPr>
          <p:cNvPr id="6" name="Text 2"/>
          <p:cNvSpPr txBox="1"/>
          <p:nvPr/>
        </p:nvSpPr>
        <p:spPr>
          <a:xfrm>
            <a:off x="6858000" y="1463040"/>
            <a:ext cx="4754880" cy="4389120"/>
          </a:xfrm>
          <a:prstGeom prst="rect">
            <a:avLst/>
          </a:prstGeom>
          <a:noFill/>
          <a:ln/>
        </p:spPr>
        <p:txBody>
          <a:bodyPr wrap="square" lIns="0" tIns="0" rIns="0" bIns="0" rtlCol="0" anchor="t"/>
          <a:lstStyle/>
          <a:p>
            <a:pPr marL="342900" indent="-342900">
              <a:lnSpc>
                <a:spcPts val="1800"/>
              </a:lnSpc>
              <a:spcAft>
                <a:spcPts val="800"/>
              </a:spcAft>
              <a:buSzPct val="100000"/>
              <a:buChar char="•"/>
            </a:pPr>
            <a:r>
              <a:rPr lang="en-US" sz="1200" dirty="0">
                <a:solidFill>
                  <a:srgbClr val="2B2A26"/>
                </a:solidFill>
                <a:latin typeface="Calibri" pitchFamily="34" charset="0"/>
                <a:ea typeface="Calibri" pitchFamily="34" charset="-122"/>
                <a:cs typeface="Calibri" pitchFamily="34" charset="-120"/>
              </a:rPr>
              <a:t>State_Factor: State 6 alone holds more than half of all records, followed by State 10, State 1 and State 8.</a:t>
            </a:r>
            <a:endParaRPr lang="en-US" sz="1200" dirty="0"/>
          </a:p>
          <a:p>
            <a:pPr marL="342900" indent="-342900">
              <a:lnSpc>
                <a:spcPts val="1800"/>
              </a:lnSpc>
              <a:spcAft>
                <a:spcPts val="800"/>
              </a:spcAft>
              <a:buSzPct val="100000"/>
              <a:buChar char="•"/>
            </a:pPr>
            <a:r>
              <a:rPr lang="en-US" sz="1200" dirty="0">
                <a:solidFill>
                  <a:srgbClr val="2B2A26"/>
                </a:solidFill>
                <a:latin typeface="Calibri" pitchFamily="34" charset="0"/>
                <a:ea typeface="Calibri" pitchFamily="34" charset="-122"/>
                <a:cs typeface="Calibri" pitchFamily="34" charset="-120"/>
              </a:rPr>
              <a:t>building_class: reasonably balanced — 40,855 Commercial (≈54%) against 34,863 Residential (≈46%).</a:t>
            </a:r>
            <a:endParaRPr lang="en-US" sz="1200" dirty="0"/>
          </a:p>
          <a:p>
            <a:pPr marL="342900" indent="-342900">
              <a:lnSpc>
                <a:spcPts val="1800"/>
              </a:lnSpc>
              <a:spcAft>
                <a:spcPts val="800"/>
              </a:spcAft>
              <a:buSzPct val="100000"/>
              <a:buChar char="•"/>
            </a:pPr>
            <a:r>
              <a:rPr lang="en-US" sz="1200" dirty="0">
                <a:solidFill>
                  <a:srgbClr val="2B2A26"/>
                </a:solidFill>
                <a:latin typeface="Calibri" pitchFamily="34" charset="0"/>
                <a:ea typeface="Calibri" pitchFamily="34" charset="-122"/>
                <a:cs typeface="Calibri" pitchFamily="34" charset="-120"/>
              </a:rPr>
              <a:t>facility_type: extremely uneven. Multifamily_Uncategorized has ≈39,455 rows and Office_Uncategorized ≈12,512, while dozens of types have only a handful.</a:t>
            </a:r>
            <a:endParaRPr lang="en-US" sz="1200" dirty="0"/>
          </a:p>
          <a:p>
            <a:pPr marL="342900" indent="-342900">
              <a:lnSpc>
                <a:spcPts val="1800"/>
              </a:lnSpc>
              <a:spcAft>
                <a:spcPts val="800"/>
              </a:spcAft>
              <a:buSzPct val="100000"/>
              <a:buChar char="•"/>
            </a:pPr>
            <a:r>
              <a:rPr lang="en-US" sz="1200" dirty="0">
                <a:solidFill>
                  <a:srgbClr val="2B2A26"/>
                </a:solidFill>
                <a:latin typeface="Calibri" pitchFamily="34" charset="0"/>
                <a:ea typeface="Calibri" pitchFamily="34" charset="-122"/>
                <a:cs typeface="Calibri" pitchFamily="34" charset="-120"/>
              </a:rPr>
              <a:t>Consequence: one-hot encoding with handle_unknown='ignore' is required so that rare categories seen only in the test split do not break the pipeline.</a:t>
            </a:r>
            <a:endParaRPr lang="en-US" sz="1200" dirty="0"/>
          </a:p>
        </p:txBody>
      </p:sp>
      <p:sp>
        <p:nvSpPr>
          <p:cNvPr id="7" name="Text 3"/>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16</a:t>
            </a:r>
            <a:endParaRPr lang="en-US" sz="900" dirty="0"/>
          </a:p>
        </p:txBody>
      </p:sp>
      <p:sp>
        <p:nvSpPr>
          <p:cNvPr id="8" name="Text 4"/>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EDA</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EDA</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Correlation heatmap — how features relate</a:t>
            </a:r>
            <a:endParaRPr lang="en-US" sz="2800" dirty="0"/>
          </a:p>
        </p:txBody>
      </p:sp>
      <p:pic>
        <p:nvPicPr>
          <p:cNvPr id="4" name="Image 0" descr="/home/claude/work/img/REG_78_0.png">    </p:cNvPr>
          <p:cNvPicPr>
            <a:picLocks noChangeAspect="1"/>
          </p:cNvPicPr>
          <p:nvPr/>
        </p:nvPicPr>
        <p:blipFill>
          <a:blip r:embed="rId1"/>
          <a:stretch>
            <a:fillRect/>
          </a:stretch>
        </p:blipFill>
        <p:spPr>
          <a:xfrm>
            <a:off x="548640" y="1325880"/>
            <a:ext cx="5212080" cy="4343400"/>
          </a:xfrm>
          <a:prstGeom prst="rect">
            <a:avLst/>
          </a:prstGeom>
        </p:spPr>
      </p:pic>
      <p:sp>
        <p:nvSpPr>
          <p:cNvPr id="5" name="Shape 2"/>
          <p:cNvSpPr/>
          <p:nvPr/>
        </p:nvSpPr>
        <p:spPr>
          <a:xfrm>
            <a:off x="6080760" y="1325880"/>
            <a:ext cx="5532120" cy="2148840"/>
          </a:xfrm>
          <a:prstGeom prst="roundRect">
            <a:avLst>
              <a:gd name="adj" fmla="val 3404"/>
            </a:avLst>
          </a:prstGeom>
          <a:solidFill>
            <a:srgbClr val="EAE3D6"/>
          </a:solidFill>
          <a:ln w="12700">
            <a:solidFill>
              <a:srgbClr val="EAE3D6"/>
            </a:solidFill>
            <a:prstDash val="solid"/>
          </a:ln>
        </p:spPr>
      </p:sp>
      <p:sp>
        <p:nvSpPr>
          <p:cNvPr id="6" name="Text 3"/>
          <p:cNvSpPr txBox="1"/>
          <p:nvPr/>
        </p:nvSpPr>
        <p:spPr>
          <a:xfrm>
            <a:off x="6309360" y="1490472"/>
            <a:ext cx="507492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How to read it</a:t>
            </a:r>
            <a:endParaRPr lang="en-US" sz="1400" dirty="0"/>
          </a:p>
        </p:txBody>
      </p:sp>
      <p:sp>
        <p:nvSpPr>
          <p:cNvPr id="7" name="Text 4"/>
          <p:cNvSpPr txBox="1"/>
          <p:nvPr/>
        </p:nvSpPr>
        <p:spPr>
          <a:xfrm>
            <a:off x="6309360" y="1837944"/>
            <a:ext cx="5074920" cy="146304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Each cell is the Pearson correlation between two columns, from −1 (perfect opposite) through 0 (no linear link) to +1 (perfect match). The diagonal is always 1 because a column matches itself. Only the 12 features most correlated with log_site_eui are shown, so the grid stays readable.</a:t>
            </a:r>
            <a:endParaRPr lang="en-US" sz="1150" dirty="0"/>
          </a:p>
        </p:txBody>
      </p:sp>
      <p:sp>
        <p:nvSpPr>
          <p:cNvPr id="8" name="Text 5"/>
          <p:cNvSpPr txBox="1"/>
          <p:nvPr/>
        </p:nvSpPr>
        <p:spPr>
          <a:xfrm>
            <a:off x="6309360" y="3703320"/>
            <a:ext cx="5120640" cy="2011680"/>
          </a:xfrm>
          <a:prstGeom prst="rect">
            <a:avLst/>
          </a:prstGeom>
          <a:noFill/>
          <a:ln/>
        </p:spPr>
        <p:txBody>
          <a:bodyPr wrap="square" lIns="0" tIns="0" rIns="0" bIns="0" rtlCol="0" anchor="t"/>
          <a:lstStyle/>
          <a:p>
            <a:pPr marL="342900" indent="-342900">
              <a:lnSpc>
                <a:spcPts val="1800"/>
              </a:lnSpc>
              <a:spcAft>
                <a:spcPts val="800"/>
              </a:spcAft>
              <a:buSzPct val="100000"/>
              <a:buChar char="•"/>
            </a:pPr>
            <a:r>
              <a:rPr lang="en-US" sz="1150" dirty="0">
                <a:solidFill>
                  <a:srgbClr val="2B2A26"/>
                </a:solidFill>
                <a:latin typeface="Calibri" pitchFamily="34" charset="0"/>
                <a:ea typeface="Calibri" pitchFamily="34" charset="-122"/>
                <a:cs typeface="Calibri" pitchFamily="34" charset="-120"/>
              </a:rPr>
              <a:t>energy_star_rating ↔ log_site_eui: −0.58, the strongest single relationship — better-rated buildings use less energy.</a:t>
            </a:r>
            <a:endParaRPr lang="en-US" sz="1150" dirty="0"/>
          </a:p>
          <a:p>
            <a:pPr marL="342900" indent="-342900">
              <a:lnSpc>
                <a:spcPts val="1800"/>
              </a:lnSpc>
              <a:spcAft>
                <a:spcPts val="800"/>
              </a:spcAft>
              <a:buSzPct val="100000"/>
              <a:buChar char="•"/>
            </a:pPr>
            <a:r>
              <a:rPr lang="en-US" sz="1150" dirty="0">
                <a:solidFill>
                  <a:srgbClr val="2B2A26"/>
                </a:solidFill>
                <a:latin typeface="Calibri" pitchFamily="34" charset="0"/>
                <a:ea typeface="Calibri" pitchFamily="34" charset="-122"/>
                <a:cs typeface="Calibri" pitchFamily="34" charset="-120"/>
              </a:rPr>
              <a:t>heating_degree_days: +0.21, colder places need more heating energy.</a:t>
            </a:r>
            <a:endParaRPr lang="en-US" sz="1150" dirty="0"/>
          </a:p>
          <a:p>
            <a:pPr marL="342900" indent="-342900">
              <a:lnSpc>
                <a:spcPts val="1800"/>
              </a:lnSpc>
              <a:spcAft>
                <a:spcPts val="800"/>
              </a:spcAft>
              <a:buSzPct val="100000"/>
              <a:buChar char="•"/>
            </a:pPr>
            <a:r>
              <a:rPr lang="en-US" sz="1150" dirty="0">
                <a:solidFill>
                  <a:srgbClr val="2B2A26"/>
                </a:solidFill>
                <a:latin typeface="Calibri" pitchFamily="34" charset="0"/>
                <a:ea typeface="Calibri" pitchFamily="34" charset="-122"/>
                <a:cs typeface="Calibri" pitchFamily="34" charset="-120"/>
              </a:rPr>
              <a:t>july_min_temp and related monthly series: weak individually but highly correlated with each other.</a:t>
            </a:r>
            <a:endParaRPr lang="en-US" sz="1150" dirty="0"/>
          </a:p>
        </p:txBody>
      </p:sp>
      <p:sp>
        <p:nvSpPr>
          <p:cNvPr id="9" name="Text 6"/>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17</a:t>
            </a:r>
            <a:endParaRPr lang="en-US" sz="900" dirty="0"/>
          </a:p>
        </p:txBody>
      </p:sp>
      <p:sp>
        <p:nvSpPr>
          <p:cNvPr id="10" name="Text 7"/>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EDA</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EDA</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Feature–target relationships (1 of 2)</a:t>
            </a:r>
            <a:endParaRPr lang="en-US" sz="2800" dirty="0"/>
          </a:p>
        </p:txBody>
      </p:sp>
      <p:pic>
        <p:nvPicPr>
          <p:cNvPr id="4" name="Image 0" descr="/home/claude/work/img/REG_82_1.png">    </p:cNvPr>
          <p:cNvPicPr>
            <a:picLocks noChangeAspect="1"/>
          </p:cNvPicPr>
          <p:nvPr/>
        </p:nvPicPr>
        <p:blipFill>
          <a:blip r:embed="rId1"/>
          <a:stretch>
            <a:fillRect/>
          </a:stretch>
        </p:blipFill>
        <p:spPr>
          <a:xfrm>
            <a:off x="548640" y="1371600"/>
            <a:ext cx="5394960" cy="3337560"/>
          </a:xfrm>
          <a:prstGeom prst="rect">
            <a:avLst/>
          </a:prstGeom>
        </p:spPr>
      </p:pic>
      <p:pic>
        <p:nvPicPr>
          <p:cNvPr id="5" name="Image 1" descr="/home/claude/work/img/REG_85_0.png">    </p:cNvPr>
          <p:cNvPicPr>
            <a:picLocks noChangeAspect="1"/>
          </p:cNvPicPr>
          <p:nvPr/>
        </p:nvPicPr>
        <p:blipFill>
          <a:blip r:embed="rId2"/>
          <a:stretch>
            <a:fillRect/>
          </a:stretch>
        </p:blipFill>
        <p:spPr>
          <a:xfrm>
            <a:off x="6217920" y="1371600"/>
            <a:ext cx="5394960" cy="3337560"/>
          </a:xfrm>
          <a:prstGeom prst="rect">
            <a:avLst/>
          </a:prstGeom>
        </p:spPr>
      </p:pic>
      <p:sp>
        <p:nvSpPr>
          <p:cNvPr id="6" name="Shape 2"/>
          <p:cNvSpPr/>
          <p:nvPr/>
        </p:nvSpPr>
        <p:spPr>
          <a:xfrm>
            <a:off x="548640" y="4892040"/>
            <a:ext cx="5394960" cy="1280160"/>
          </a:xfrm>
          <a:prstGeom prst="roundRect">
            <a:avLst>
              <a:gd name="adj" fmla="val 5714"/>
            </a:avLst>
          </a:prstGeom>
          <a:solidFill>
            <a:srgbClr val="EAE3D6"/>
          </a:solidFill>
          <a:ln w="12700">
            <a:solidFill>
              <a:srgbClr val="EAE3D6"/>
            </a:solidFill>
            <a:prstDash val="solid"/>
          </a:ln>
        </p:spPr>
      </p:sp>
      <p:sp>
        <p:nvSpPr>
          <p:cNvPr id="7" name="Text 3"/>
          <p:cNvSpPr txBox="1"/>
          <p:nvPr/>
        </p:nvSpPr>
        <p:spPr>
          <a:xfrm>
            <a:off x="777240" y="5056632"/>
            <a:ext cx="493776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energy_star_rating vs site_eui</a:t>
            </a:r>
            <a:endParaRPr lang="en-US" sz="1400" dirty="0"/>
          </a:p>
        </p:txBody>
      </p:sp>
      <p:sp>
        <p:nvSpPr>
          <p:cNvPr id="8" name="Text 4"/>
          <p:cNvSpPr txBox="1"/>
          <p:nvPr/>
        </p:nvSpPr>
        <p:spPr>
          <a:xfrm>
            <a:off x="777240" y="5404104"/>
            <a:ext cx="4937760" cy="594360"/>
          </a:xfrm>
          <a:prstGeom prst="rect">
            <a:avLst/>
          </a:prstGeom>
          <a:noFill/>
          <a:ln/>
        </p:spPr>
        <p:txBody>
          <a:bodyPr wrap="square" lIns="0" tIns="0" rIns="0" bIns="0" rtlCol="0" anchor="t"/>
          <a:lstStyle/>
          <a:p>
            <a:pPr indent="0" marL="0">
              <a:lnSpc>
                <a:spcPts val="1500"/>
              </a:lnSpc>
              <a:buNone/>
            </a:pPr>
            <a:r>
              <a:rPr lang="en-US" sz="1050" dirty="0">
                <a:solidFill>
                  <a:srgbClr val="6E6658"/>
                </a:solidFill>
                <a:latin typeface="Calibri" pitchFamily="34" charset="0"/>
                <a:ea typeface="Calibri" pitchFamily="34" charset="-122"/>
                <a:cs typeface="Calibri" pitchFamily="34" charset="-120"/>
              </a:rPr>
              <a:t>r = −0.5110 on the raw target and −0.5754 on the log target. The cloud slopes clearly downward: higher-rated buildings use less energy per square foot. Spread is wide, so the rating explains part — not all — of the variation.</a:t>
            </a:r>
            <a:endParaRPr lang="en-US" sz="1050" dirty="0"/>
          </a:p>
        </p:txBody>
      </p:sp>
      <p:sp>
        <p:nvSpPr>
          <p:cNvPr id="9" name="Shape 5"/>
          <p:cNvSpPr/>
          <p:nvPr/>
        </p:nvSpPr>
        <p:spPr>
          <a:xfrm>
            <a:off x="6217920" y="4892040"/>
            <a:ext cx="5394960" cy="1280160"/>
          </a:xfrm>
          <a:prstGeom prst="roundRect">
            <a:avLst>
              <a:gd name="adj" fmla="val 5714"/>
            </a:avLst>
          </a:prstGeom>
          <a:solidFill>
            <a:srgbClr val="E3DFD2"/>
          </a:solidFill>
          <a:ln w="12700">
            <a:solidFill>
              <a:srgbClr val="E3DFD2"/>
            </a:solidFill>
            <a:prstDash val="solid"/>
          </a:ln>
        </p:spPr>
      </p:sp>
      <p:sp>
        <p:nvSpPr>
          <p:cNvPr id="10" name="Text 6"/>
          <p:cNvSpPr txBox="1"/>
          <p:nvPr/>
        </p:nvSpPr>
        <p:spPr>
          <a:xfrm>
            <a:off x="6446520" y="5056632"/>
            <a:ext cx="493776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floor_area vs site_eui</a:t>
            </a:r>
            <a:endParaRPr lang="en-US" sz="1400" dirty="0"/>
          </a:p>
        </p:txBody>
      </p:sp>
      <p:sp>
        <p:nvSpPr>
          <p:cNvPr id="11" name="Text 7"/>
          <p:cNvSpPr txBox="1"/>
          <p:nvPr/>
        </p:nvSpPr>
        <p:spPr>
          <a:xfrm>
            <a:off x="6446520" y="5404104"/>
            <a:ext cx="4937760" cy="594360"/>
          </a:xfrm>
          <a:prstGeom prst="rect">
            <a:avLst/>
          </a:prstGeom>
          <a:noFill/>
          <a:ln/>
        </p:spPr>
        <p:txBody>
          <a:bodyPr wrap="square" lIns="0" tIns="0" rIns="0" bIns="0" rtlCol="0" anchor="t"/>
          <a:lstStyle/>
          <a:p>
            <a:pPr indent="0" marL="0">
              <a:lnSpc>
                <a:spcPts val="1500"/>
              </a:lnSpc>
              <a:buNone/>
            </a:pPr>
            <a:r>
              <a:rPr lang="en-US" sz="1050" dirty="0">
                <a:solidFill>
                  <a:srgbClr val="6E6658"/>
                </a:solidFill>
                <a:latin typeface="Calibri" pitchFamily="34" charset="0"/>
                <a:ea typeface="Calibri" pitchFamily="34" charset="-122"/>
                <a:cs typeface="Calibri" pitchFamily="34" charset="-120"/>
              </a:rPr>
              <a:t>Most buildings sit at small floor areas with a long thin tail to the right. Small buildings show the widest range of EUI values including the extremes; as area grows the values settle lower and tighter — a mild downward trend.</a:t>
            </a:r>
            <a:endParaRPr lang="en-US" sz="1050" dirty="0"/>
          </a:p>
        </p:txBody>
      </p:sp>
      <p:sp>
        <p:nvSpPr>
          <p:cNvPr id="12" name="Text 8"/>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18</a:t>
            </a:r>
            <a:endParaRPr lang="en-US" sz="900" dirty="0"/>
          </a:p>
        </p:txBody>
      </p:sp>
      <p:sp>
        <p:nvSpPr>
          <p:cNvPr id="13" name="Text 9"/>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EDA</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EDA</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Feature–target relationships (2 of 2)</a:t>
            </a:r>
            <a:endParaRPr lang="en-US" sz="2800" dirty="0"/>
          </a:p>
        </p:txBody>
      </p:sp>
      <p:pic>
        <p:nvPicPr>
          <p:cNvPr id="4" name="Image 0" descr="/home/claude/work/img/REG_88_0.png">    </p:cNvPr>
          <p:cNvPicPr>
            <a:picLocks noChangeAspect="1"/>
          </p:cNvPicPr>
          <p:nvPr/>
        </p:nvPicPr>
        <p:blipFill>
          <a:blip r:embed="rId1"/>
          <a:stretch>
            <a:fillRect/>
          </a:stretch>
        </p:blipFill>
        <p:spPr>
          <a:xfrm>
            <a:off x="548640" y="1371600"/>
            <a:ext cx="5394960" cy="3337560"/>
          </a:xfrm>
          <a:prstGeom prst="rect">
            <a:avLst/>
          </a:prstGeom>
        </p:spPr>
      </p:pic>
      <p:pic>
        <p:nvPicPr>
          <p:cNvPr id="5" name="Image 1" descr="/home/claude/work/img/REG_91_0.png">    </p:cNvPr>
          <p:cNvPicPr>
            <a:picLocks noChangeAspect="1"/>
          </p:cNvPicPr>
          <p:nvPr/>
        </p:nvPicPr>
        <p:blipFill>
          <a:blip r:embed="rId2"/>
          <a:stretch>
            <a:fillRect/>
          </a:stretch>
        </p:blipFill>
        <p:spPr>
          <a:xfrm>
            <a:off x="6217920" y="1371600"/>
            <a:ext cx="5394960" cy="3337560"/>
          </a:xfrm>
          <a:prstGeom prst="rect">
            <a:avLst/>
          </a:prstGeom>
        </p:spPr>
      </p:pic>
      <p:sp>
        <p:nvSpPr>
          <p:cNvPr id="6" name="Shape 2"/>
          <p:cNvSpPr/>
          <p:nvPr/>
        </p:nvSpPr>
        <p:spPr>
          <a:xfrm>
            <a:off x="548640" y="4892040"/>
            <a:ext cx="5394960" cy="1280160"/>
          </a:xfrm>
          <a:prstGeom prst="roundRect">
            <a:avLst>
              <a:gd name="adj" fmla="val 5714"/>
            </a:avLst>
          </a:prstGeom>
          <a:solidFill>
            <a:srgbClr val="EAE3D6"/>
          </a:solidFill>
          <a:ln w="12700">
            <a:solidFill>
              <a:srgbClr val="EAE3D6"/>
            </a:solidFill>
            <a:prstDash val="solid"/>
          </a:ln>
        </p:spPr>
      </p:sp>
      <p:sp>
        <p:nvSpPr>
          <p:cNvPr id="7" name="Text 3"/>
          <p:cNvSpPr txBox="1"/>
          <p:nvPr/>
        </p:nvSpPr>
        <p:spPr>
          <a:xfrm>
            <a:off x="777240" y="5056632"/>
            <a:ext cx="493776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heating_degree_days vs site_eui</a:t>
            </a:r>
            <a:endParaRPr lang="en-US" sz="1400" dirty="0"/>
          </a:p>
        </p:txBody>
      </p:sp>
      <p:sp>
        <p:nvSpPr>
          <p:cNvPr id="8" name="Text 4"/>
          <p:cNvSpPr txBox="1"/>
          <p:nvPr/>
        </p:nvSpPr>
        <p:spPr>
          <a:xfrm>
            <a:off x="777240" y="5404104"/>
            <a:ext cx="4937760" cy="594360"/>
          </a:xfrm>
          <a:prstGeom prst="rect">
            <a:avLst/>
          </a:prstGeom>
          <a:noFill/>
          <a:ln/>
        </p:spPr>
        <p:txBody>
          <a:bodyPr wrap="square" lIns="0" tIns="0" rIns="0" bIns="0" rtlCol="0" anchor="t"/>
          <a:lstStyle/>
          <a:p>
            <a:pPr indent="0" marL="0">
              <a:lnSpc>
                <a:spcPts val="1500"/>
              </a:lnSpc>
              <a:buNone/>
            </a:pPr>
            <a:r>
              <a:rPr lang="en-US" sz="1050" dirty="0">
                <a:solidFill>
                  <a:srgbClr val="6E6658"/>
                </a:solidFill>
                <a:latin typeface="Calibri" pitchFamily="34" charset="0"/>
                <a:ea typeface="Calibri" pitchFamily="34" charset="-122"/>
                <a:cs typeface="Calibri" pitchFamily="34" charset="-120"/>
              </a:rPr>
              <a:t>A weak positive association: the more heating a location needs across the year, the higher the typical site EUI. This matches the physics — colder climates burn more energy keeping buildings warm.</a:t>
            </a:r>
            <a:endParaRPr lang="en-US" sz="1050" dirty="0"/>
          </a:p>
        </p:txBody>
      </p:sp>
      <p:sp>
        <p:nvSpPr>
          <p:cNvPr id="9" name="Shape 5"/>
          <p:cNvSpPr/>
          <p:nvPr/>
        </p:nvSpPr>
        <p:spPr>
          <a:xfrm>
            <a:off x="6217920" y="4892040"/>
            <a:ext cx="5394960" cy="1280160"/>
          </a:xfrm>
          <a:prstGeom prst="roundRect">
            <a:avLst>
              <a:gd name="adj" fmla="val 5714"/>
            </a:avLst>
          </a:prstGeom>
          <a:solidFill>
            <a:srgbClr val="E3DFD2"/>
          </a:solidFill>
          <a:ln w="12700">
            <a:solidFill>
              <a:srgbClr val="E3DFD2"/>
            </a:solidFill>
            <a:prstDash val="solid"/>
          </a:ln>
        </p:spPr>
      </p:sp>
      <p:sp>
        <p:nvSpPr>
          <p:cNvPr id="10" name="Text 6"/>
          <p:cNvSpPr txBox="1"/>
          <p:nvPr/>
        </p:nvSpPr>
        <p:spPr>
          <a:xfrm>
            <a:off x="6446520" y="5056632"/>
            <a:ext cx="493776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cooling_degree_days vs site_eui</a:t>
            </a:r>
            <a:endParaRPr lang="en-US" sz="1400" dirty="0"/>
          </a:p>
        </p:txBody>
      </p:sp>
      <p:sp>
        <p:nvSpPr>
          <p:cNvPr id="11" name="Text 7"/>
          <p:cNvSpPr txBox="1"/>
          <p:nvPr/>
        </p:nvSpPr>
        <p:spPr>
          <a:xfrm>
            <a:off x="6446520" y="5404104"/>
            <a:ext cx="4937760" cy="594360"/>
          </a:xfrm>
          <a:prstGeom prst="rect">
            <a:avLst/>
          </a:prstGeom>
          <a:noFill/>
          <a:ln/>
        </p:spPr>
        <p:txBody>
          <a:bodyPr wrap="square" lIns="0" tIns="0" rIns="0" bIns="0" rtlCol="0" anchor="t"/>
          <a:lstStyle/>
          <a:p>
            <a:pPr indent="0" marL="0">
              <a:lnSpc>
                <a:spcPts val="1500"/>
              </a:lnSpc>
              <a:buNone/>
            </a:pPr>
            <a:r>
              <a:rPr lang="en-US" sz="1050" dirty="0">
                <a:solidFill>
                  <a:srgbClr val="6E6658"/>
                </a:solidFill>
                <a:latin typeface="Calibri" pitchFamily="34" charset="0"/>
                <a:ea typeface="Calibri" pitchFamily="34" charset="-122"/>
                <a:cs typeface="Calibri" pitchFamily="34" charset="-120"/>
              </a:rPr>
              <a:t>Most records sit in the low-to-mid cooling range and the points are widely scattered. A band of high EUI values appears around 1,000–1,600 cooling degree days, but no clean straight-line trend — the link is real yet nonlinear.</a:t>
            </a:r>
            <a:endParaRPr lang="en-US" sz="1050" dirty="0"/>
          </a:p>
        </p:txBody>
      </p:sp>
      <p:sp>
        <p:nvSpPr>
          <p:cNvPr id="12" name="Text 8"/>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19</a:t>
            </a:r>
            <a:endParaRPr lang="en-US" sz="900" dirty="0"/>
          </a:p>
        </p:txBody>
      </p:sp>
      <p:sp>
        <p:nvSpPr>
          <p:cNvPr id="13" name="Text 9"/>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EDA</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EDA</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Box plots — what they are and the two kinds used</a:t>
            </a:r>
            <a:endParaRPr lang="en-US" sz="2800" dirty="0"/>
          </a:p>
        </p:txBody>
      </p:sp>
      <p:pic>
        <p:nvPicPr>
          <p:cNvPr id="4" name="Image 0" descr="/home/claude/work/img/REG_94_0.png">    </p:cNvPr>
          <p:cNvPicPr>
            <a:picLocks noChangeAspect="1"/>
          </p:cNvPicPr>
          <p:nvPr/>
        </p:nvPicPr>
        <p:blipFill>
          <a:blip r:embed="rId1"/>
          <a:stretch>
            <a:fillRect/>
          </a:stretch>
        </p:blipFill>
        <p:spPr>
          <a:xfrm>
            <a:off x="548640" y="1371600"/>
            <a:ext cx="5943600" cy="2926080"/>
          </a:xfrm>
          <a:prstGeom prst="rect">
            <a:avLst/>
          </a:prstGeom>
        </p:spPr>
      </p:pic>
      <p:sp>
        <p:nvSpPr>
          <p:cNvPr id="5" name="Text 2"/>
          <p:cNvSpPr txBox="1"/>
          <p:nvPr/>
        </p:nvSpPr>
        <p:spPr>
          <a:xfrm>
            <a:off x="548640" y="4352544"/>
            <a:ext cx="5943600" cy="274320"/>
          </a:xfrm>
          <a:prstGeom prst="rect">
            <a:avLst/>
          </a:prstGeom>
          <a:noFill/>
          <a:ln/>
        </p:spPr>
        <p:txBody>
          <a:bodyPr wrap="square" lIns="0" tIns="0" rIns="0" bIns="0" rtlCol="0" anchor="ctr"/>
          <a:lstStyle/>
          <a:p>
            <a:pPr algn="ctr" indent="0" marL="0">
              <a:buNone/>
            </a:pPr>
            <a:r>
              <a:rPr lang="en-US" sz="950" i="1" dirty="0">
                <a:solidFill>
                  <a:srgbClr val="6E6658"/>
                </a:solidFill>
                <a:latin typeface="Calibri" pitchFamily="34" charset="0"/>
                <a:ea typeface="Calibri" pitchFamily="34" charset="-122"/>
                <a:cs typeface="Calibri" pitchFamily="34" charset="-120"/>
              </a:rPr>
              <a:t>site_eui distribution across State_Factor groups (grouped box plot)</a:t>
            </a:r>
            <a:endParaRPr lang="en-US" sz="950" dirty="0"/>
          </a:p>
        </p:txBody>
      </p:sp>
      <p:sp>
        <p:nvSpPr>
          <p:cNvPr id="6" name="Shape 3"/>
          <p:cNvSpPr/>
          <p:nvPr/>
        </p:nvSpPr>
        <p:spPr>
          <a:xfrm>
            <a:off x="6766560" y="1371600"/>
            <a:ext cx="4846320" cy="3017520"/>
          </a:xfrm>
          <a:prstGeom prst="roundRect">
            <a:avLst>
              <a:gd name="adj" fmla="val 2424"/>
            </a:avLst>
          </a:prstGeom>
          <a:solidFill>
            <a:srgbClr val="EAE3D6"/>
          </a:solidFill>
          <a:ln w="12700">
            <a:solidFill>
              <a:srgbClr val="EAE3D6"/>
            </a:solidFill>
            <a:prstDash val="solid"/>
          </a:ln>
        </p:spPr>
      </p:sp>
      <p:sp>
        <p:nvSpPr>
          <p:cNvPr id="7" name="Text 4"/>
          <p:cNvSpPr txBox="1"/>
          <p:nvPr/>
        </p:nvSpPr>
        <p:spPr>
          <a:xfrm>
            <a:off x="6995160" y="1536192"/>
            <a:ext cx="438912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Anatomy of a box plot</a:t>
            </a:r>
            <a:endParaRPr lang="en-US" sz="1400" dirty="0"/>
          </a:p>
        </p:txBody>
      </p:sp>
      <p:sp>
        <p:nvSpPr>
          <p:cNvPr id="8" name="Text 5"/>
          <p:cNvSpPr txBox="1"/>
          <p:nvPr/>
        </p:nvSpPr>
        <p:spPr>
          <a:xfrm>
            <a:off x="6995160" y="1883664"/>
            <a:ext cx="4389120" cy="233172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 The box spans Q1 (25th percentile) to Q3 (75th percentile) — the middle half of the data.</a:t>
            </a: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 The line inside the box is the median (Q3 − Q1 is the IQR).</a:t>
            </a: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 The whiskers reach the furthest point still within 1.5 × IQR of the box.</a:t>
            </a: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 Every dot beyond a whisker is flagged as a statistical outlier.</a:t>
            </a:r>
            <a:endParaRPr lang="en-US" sz="1150" dirty="0"/>
          </a:p>
        </p:txBody>
      </p:sp>
      <p:sp>
        <p:nvSpPr>
          <p:cNvPr id="9" name="Shape 6"/>
          <p:cNvSpPr/>
          <p:nvPr/>
        </p:nvSpPr>
        <p:spPr>
          <a:xfrm>
            <a:off x="548640" y="4617720"/>
            <a:ext cx="5532120" cy="1600200"/>
          </a:xfrm>
          <a:prstGeom prst="roundRect">
            <a:avLst>
              <a:gd name="adj" fmla="val 3429"/>
            </a:avLst>
          </a:prstGeom>
          <a:solidFill>
            <a:srgbClr val="EAE3D6"/>
          </a:solidFill>
          <a:ln w="12700">
            <a:solidFill>
              <a:srgbClr val="F6F2EA"/>
            </a:solidFill>
            <a:prstDash val="solid"/>
          </a:ln>
        </p:spPr>
      </p:sp>
      <p:sp>
        <p:nvSpPr>
          <p:cNvPr id="10" name="Text 7"/>
          <p:cNvSpPr txBox="1"/>
          <p:nvPr/>
        </p:nvSpPr>
        <p:spPr>
          <a:xfrm>
            <a:off x="749808" y="4736592"/>
            <a:ext cx="5120640" cy="274320"/>
          </a:xfrm>
          <a:prstGeom prst="rect">
            <a:avLst/>
          </a:prstGeom>
          <a:noFill/>
          <a:ln/>
        </p:spPr>
        <p:txBody>
          <a:bodyPr wrap="square" lIns="0" tIns="0" rIns="0" bIns="0" rtlCol="0" anchor="ctr"/>
          <a:lstStyle/>
          <a:p>
            <a:pPr indent="0" marL="0">
              <a:buNone/>
            </a:pPr>
            <a:r>
              <a:rPr lang="en-US" sz="1150" b="1" dirty="0">
                <a:solidFill>
                  <a:srgbClr val="A4613C"/>
                </a:solidFill>
                <a:latin typeface="Cambria" pitchFamily="34" charset="0"/>
                <a:ea typeface="Cambria" pitchFamily="34" charset="-122"/>
                <a:cs typeface="Cambria" pitchFamily="34" charset="-120"/>
              </a:rPr>
              <a:t>Grouped box plot (categorical × numeric)</a:t>
            </a:r>
            <a:endParaRPr lang="en-US" sz="1150" dirty="0"/>
          </a:p>
        </p:txBody>
      </p:sp>
      <p:sp>
        <p:nvSpPr>
          <p:cNvPr id="11" name="Text 8"/>
          <p:cNvSpPr txBox="1"/>
          <p:nvPr/>
        </p:nvSpPr>
        <p:spPr>
          <a:xfrm>
            <a:off x="749808" y="5029200"/>
            <a:ext cx="5120640" cy="1097280"/>
          </a:xfrm>
          <a:prstGeom prst="rect">
            <a:avLst/>
          </a:prstGeom>
          <a:noFill/>
          <a:ln/>
        </p:spPr>
        <p:txBody>
          <a:bodyPr wrap="square" lIns="0" tIns="0" rIns="0" bIns="0" rtlCol="0" anchor="ctr"/>
          <a:lstStyle/>
          <a:p>
            <a:pPr indent="0" marL="0">
              <a:lnSpc>
                <a:spcPts val="1250"/>
              </a:lnSpc>
              <a:buNone/>
            </a:pPr>
            <a:r>
              <a:rPr lang="en-US" sz="980" dirty="0">
                <a:solidFill>
                  <a:srgbClr val="6E6658"/>
                </a:solidFill>
                <a:latin typeface="Calibri" pitchFamily="34" charset="0"/>
                <a:ea typeface="Calibri" pitchFamily="34" charset="-122"/>
                <a:cs typeface="Calibri" pitchFamily="34" charset="-120"/>
              </a:rPr>
              <a:t>One box per category — here one per State_Factor. Used to compare the target between groups and judge whether the category is worth keeping as a predictor.</a:t>
            </a:r>
            <a:endParaRPr lang="en-US" sz="980" dirty="0"/>
          </a:p>
          <a:p>
            <a:pPr indent="0" marL="0">
              <a:lnSpc>
                <a:spcPts val="1250"/>
              </a:lnSpc>
              <a:buNone/>
            </a:pPr>
            <a:r>
              <a:rPr lang="en-US" sz="980" dirty="0">
                <a:solidFill>
                  <a:srgbClr val="6E6658"/>
                </a:solidFill>
                <a:latin typeface="Calibri" pitchFamily="34" charset="0"/>
                <a:ea typeface="Calibri" pitchFamily="34" charset="-122"/>
                <a:cs typeface="Calibri" pitchFamily="34" charset="-120"/>
              </a:rPr>
              <a:t>State 8 has one of the highest median EUI values, State 11 the lowest; States 4 and 6 also run high while State 10 is low and compact. Because the medians differ, State_Factor carries real signal.</a:t>
            </a:r>
            <a:endParaRPr lang="en-US" sz="980" dirty="0"/>
          </a:p>
        </p:txBody>
      </p:sp>
      <p:sp>
        <p:nvSpPr>
          <p:cNvPr id="12" name="Shape 9"/>
          <p:cNvSpPr/>
          <p:nvPr/>
        </p:nvSpPr>
        <p:spPr>
          <a:xfrm>
            <a:off x="6446520" y="4617720"/>
            <a:ext cx="5532120" cy="1600200"/>
          </a:xfrm>
          <a:prstGeom prst="roundRect">
            <a:avLst>
              <a:gd name="adj" fmla="val 3429"/>
            </a:avLst>
          </a:prstGeom>
          <a:solidFill>
            <a:srgbClr val="E3DFD2"/>
          </a:solidFill>
          <a:ln w="12700">
            <a:solidFill>
              <a:srgbClr val="F6F2EA"/>
            </a:solidFill>
            <a:prstDash val="solid"/>
          </a:ln>
        </p:spPr>
      </p:sp>
      <p:sp>
        <p:nvSpPr>
          <p:cNvPr id="13" name="Text 10"/>
          <p:cNvSpPr txBox="1"/>
          <p:nvPr/>
        </p:nvSpPr>
        <p:spPr>
          <a:xfrm>
            <a:off x="6647688" y="4736592"/>
            <a:ext cx="5120640" cy="274320"/>
          </a:xfrm>
          <a:prstGeom prst="rect">
            <a:avLst/>
          </a:prstGeom>
          <a:noFill/>
          <a:ln/>
        </p:spPr>
        <p:txBody>
          <a:bodyPr wrap="square" lIns="0" tIns="0" rIns="0" bIns="0" rtlCol="0" anchor="ctr"/>
          <a:lstStyle/>
          <a:p>
            <a:pPr indent="0" marL="0">
              <a:buNone/>
            </a:pPr>
            <a:r>
              <a:rPr lang="en-US" sz="1150" b="1" dirty="0">
                <a:solidFill>
                  <a:srgbClr val="A4613C"/>
                </a:solidFill>
                <a:latin typeface="Cambria" pitchFamily="34" charset="0"/>
                <a:ea typeface="Cambria" pitchFamily="34" charset="-122"/>
                <a:cs typeface="Cambria" pitchFamily="34" charset="-120"/>
              </a:rPr>
              <a:t>Single-variable box plot (numeric only)</a:t>
            </a:r>
            <a:endParaRPr lang="en-US" sz="1150" dirty="0"/>
          </a:p>
        </p:txBody>
      </p:sp>
      <p:sp>
        <p:nvSpPr>
          <p:cNvPr id="14" name="Text 11"/>
          <p:cNvSpPr txBox="1"/>
          <p:nvPr/>
        </p:nvSpPr>
        <p:spPr>
          <a:xfrm>
            <a:off x="6647688" y="5029200"/>
            <a:ext cx="5120640" cy="1097280"/>
          </a:xfrm>
          <a:prstGeom prst="rect">
            <a:avLst/>
          </a:prstGeom>
          <a:noFill/>
          <a:ln/>
        </p:spPr>
        <p:txBody>
          <a:bodyPr wrap="square" lIns="0" tIns="0" rIns="0" bIns="0" rtlCol="0" anchor="ctr"/>
          <a:lstStyle/>
          <a:p>
            <a:pPr indent="0" marL="0">
              <a:lnSpc>
                <a:spcPts val="1250"/>
              </a:lnSpc>
              <a:buNone/>
            </a:pPr>
            <a:r>
              <a:rPr lang="en-US" sz="980" dirty="0">
                <a:solidFill>
                  <a:srgbClr val="6E6658"/>
                </a:solidFill>
                <a:latin typeface="Calibri" pitchFamily="34" charset="0"/>
                <a:ea typeface="Calibri" pitchFamily="34" charset="-122"/>
                <a:cs typeface="Calibri" pitchFamily="34" charset="-120"/>
              </a:rPr>
              <a:t>One box for one column, drawn purely to expose the spread and the outliers of that column — not to compare groups.</a:t>
            </a:r>
            <a:endParaRPr lang="en-US" sz="980" dirty="0"/>
          </a:p>
          <a:p>
            <a:pPr indent="0" marL="0">
              <a:lnSpc>
                <a:spcPts val="1250"/>
              </a:lnSpc>
              <a:buNone/>
            </a:pPr>
            <a:r>
              <a:rPr lang="en-US" sz="980" dirty="0">
                <a:solidFill>
                  <a:srgbClr val="6E6658"/>
                </a:solidFill>
                <a:latin typeface="Calibri" pitchFamily="34" charset="0"/>
                <a:ea typeface="Calibri" pitchFamily="34" charset="-122"/>
                <a:cs typeface="Calibri" pitchFamily="34" charset="-120"/>
              </a:rPr>
              <a:t>Used on site_eui, floor_area, energy_star_rating, ELEVATION and heating_degree_days as the visual half of the IQR outlier analysis on the next slide.</a:t>
            </a:r>
            <a:endParaRPr lang="en-US" sz="980" dirty="0"/>
          </a:p>
        </p:txBody>
      </p:sp>
      <p:sp>
        <p:nvSpPr>
          <p:cNvPr id="15" name="Text 12"/>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20</a:t>
            </a:r>
            <a:endParaRPr lang="en-US" sz="900" dirty="0"/>
          </a:p>
        </p:txBody>
      </p:sp>
      <p:sp>
        <p:nvSpPr>
          <p:cNvPr id="16" name="Text 13"/>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Box plots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EDA</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Outlier detection — the IQR method</a:t>
            </a:r>
            <a:endParaRPr lang="en-US" sz="2800" dirty="0"/>
          </a:p>
        </p:txBody>
      </p:sp>
      <p:pic>
        <p:nvPicPr>
          <p:cNvPr id="4" name="Image 0" descr="/home/claude/work/img/REG_99_0.png">    </p:cNvPr>
          <p:cNvPicPr>
            <a:picLocks noChangeAspect="1"/>
          </p:cNvPicPr>
          <p:nvPr/>
        </p:nvPicPr>
        <p:blipFill>
          <a:blip r:embed="rId1"/>
          <a:stretch>
            <a:fillRect/>
          </a:stretch>
        </p:blipFill>
        <p:spPr>
          <a:xfrm>
            <a:off x="548640" y="1325880"/>
            <a:ext cx="11064240" cy="2560320"/>
          </a:xfrm>
          <a:prstGeom prst="rect">
            <a:avLst/>
          </a:prstGeom>
        </p:spPr>
      </p:pic>
      <p:sp>
        <p:nvSpPr>
          <p:cNvPr id="5" name="Text 2"/>
          <p:cNvSpPr txBox="1"/>
          <p:nvPr/>
        </p:nvSpPr>
        <p:spPr>
          <a:xfrm>
            <a:off x="548640" y="3941064"/>
            <a:ext cx="11064240" cy="274320"/>
          </a:xfrm>
          <a:prstGeom prst="rect">
            <a:avLst/>
          </a:prstGeom>
          <a:noFill/>
          <a:ln/>
        </p:spPr>
        <p:txBody>
          <a:bodyPr wrap="square" lIns="0" tIns="0" rIns="0" bIns="0" rtlCol="0" anchor="ctr"/>
          <a:lstStyle/>
          <a:p>
            <a:pPr algn="ctr" indent="0" marL="0">
              <a:buNone/>
            </a:pPr>
            <a:r>
              <a:rPr lang="en-US" sz="950" i="1" dirty="0">
                <a:solidFill>
                  <a:srgbClr val="6E6658"/>
                </a:solidFill>
                <a:latin typeface="Calibri" pitchFamily="34" charset="0"/>
                <a:ea typeface="Calibri" pitchFamily="34" charset="-122"/>
                <a:cs typeface="Calibri" pitchFamily="34" charset="-120"/>
              </a:rPr>
              <a:t>Box plots for the five numeric columns selected for formal outlier analysis</a:t>
            </a:r>
            <a:endParaRPr lang="en-US" sz="950" dirty="0"/>
          </a:p>
        </p:txBody>
      </p:sp>
      <p:sp>
        <p:nvSpPr>
          <p:cNvPr id="6" name="Shape 3"/>
          <p:cNvSpPr/>
          <p:nvPr/>
        </p:nvSpPr>
        <p:spPr>
          <a:xfrm>
            <a:off x="548640" y="4160520"/>
            <a:ext cx="3840480" cy="1920240"/>
          </a:xfrm>
          <a:prstGeom prst="roundRect">
            <a:avLst>
              <a:gd name="adj" fmla="val 3810"/>
            </a:avLst>
          </a:prstGeom>
          <a:solidFill>
            <a:srgbClr val="EAE3D6"/>
          </a:solidFill>
          <a:ln w="12700">
            <a:solidFill>
              <a:srgbClr val="EAE3D6"/>
            </a:solidFill>
            <a:prstDash val="solid"/>
          </a:ln>
        </p:spPr>
      </p:sp>
      <p:sp>
        <p:nvSpPr>
          <p:cNvPr id="7" name="Text 4"/>
          <p:cNvSpPr txBox="1"/>
          <p:nvPr/>
        </p:nvSpPr>
        <p:spPr>
          <a:xfrm>
            <a:off x="777240" y="4325112"/>
            <a:ext cx="338328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How the limits are calculated</a:t>
            </a:r>
            <a:endParaRPr lang="en-US" sz="1400" dirty="0"/>
          </a:p>
        </p:txBody>
      </p:sp>
      <p:sp>
        <p:nvSpPr>
          <p:cNvPr id="8" name="Text 5"/>
          <p:cNvSpPr txBox="1"/>
          <p:nvPr/>
        </p:nvSpPr>
        <p:spPr>
          <a:xfrm>
            <a:off x="777240" y="4672584"/>
            <a:ext cx="3383280" cy="1234440"/>
          </a:xfrm>
          <a:prstGeom prst="rect">
            <a:avLst/>
          </a:prstGeom>
          <a:noFill/>
          <a:ln/>
        </p:spPr>
        <p:txBody>
          <a:bodyPr wrap="square" lIns="0" tIns="0" rIns="0" bIns="0" rtlCol="0" anchor="t"/>
          <a:lstStyle/>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Q1 = 25th percentile,  Q3 = 75th percentile</a:t>
            </a:r>
            <a:endParaRPr lang="en-US" sz="1100" dirty="0"/>
          </a:p>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IQR = Q3 − Q1</a:t>
            </a:r>
            <a:endParaRPr lang="en-US" sz="1100" dirty="0"/>
          </a:p>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Lower bound = Q1 − 1.5 × IQR</a:t>
            </a:r>
            <a:endParaRPr lang="en-US" sz="1100" dirty="0"/>
          </a:p>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Upper bound = Q3 + 1.5 × IQR</a:t>
            </a:r>
            <a:endParaRPr lang="en-US" sz="1100" dirty="0"/>
          </a:p>
          <a:p>
            <a:pPr indent="0" marL="0">
              <a:lnSpc>
                <a:spcPts val="1500"/>
              </a:lnSpc>
              <a:buNone/>
            </a:pPr>
            <a:endParaRPr lang="en-US" sz="1100" dirty="0"/>
          </a:p>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Any value below the lower bound or above the upper bound is counted as an outlier; the count divided by the column's non-null rows gives the outlier percentage.</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663440" y="4160520"/>
          <a:ext cx="6949440" cy="914400"/>
        </p:xfrm>
        <a:graphic>
          <a:graphicData uri="http://schemas.openxmlformats.org/drawingml/2006/table">
            <a:tbl>
              <a:tblPr/>
              <a:tblGrid>
                <a:gridCol w="1737360"/>
                <a:gridCol w="868680"/>
                <a:gridCol w="960120"/>
                <a:gridCol w="1005840"/>
                <a:gridCol w="1143000"/>
                <a:gridCol w="777240"/>
                <a:gridCol w="548640"/>
              </a:tblGrid>
              <a:tr h="301752">
                <a:tc>
                  <a:txBody>
                    <a:bodyPr/>
                    <a:lstStyle/>
                    <a:p>
                      <a:pPr indent="0" marL="0">
                        <a:buNone/>
                      </a:pPr>
                      <a:r>
                        <a:rPr lang="en-US" sz="1000" b="1" dirty="0">
                          <a:solidFill>
                            <a:srgbClr val="F6F2EA"/>
                          </a:solidFill>
                          <a:latin typeface="Calibri" pitchFamily="34" charset="0"/>
                          <a:ea typeface="Calibri" pitchFamily="34" charset="-122"/>
                          <a:cs typeface="Calibri" pitchFamily="34" charset="-120"/>
                        </a:rPr>
                        <a:t>Feature</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00" b="1" dirty="0">
                          <a:solidFill>
                            <a:srgbClr val="F6F2EA"/>
                          </a:solidFill>
                          <a:latin typeface="Calibri" pitchFamily="34" charset="0"/>
                          <a:ea typeface="Calibri" pitchFamily="34" charset="-122"/>
                          <a:cs typeface="Calibri" pitchFamily="34" charset="-120"/>
                        </a:rPr>
                        <a:t>Q1</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00" b="1" dirty="0">
                          <a:solidFill>
                            <a:srgbClr val="F6F2EA"/>
                          </a:solidFill>
                          <a:latin typeface="Calibri" pitchFamily="34" charset="0"/>
                          <a:ea typeface="Calibri" pitchFamily="34" charset="-122"/>
                          <a:cs typeface="Calibri" pitchFamily="34" charset="-120"/>
                        </a:rPr>
                        <a:t>Q3</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00" b="1" dirty="0">
                          <a:solidFill>
                            <a:srgbClr val="F6F2EA"/>
                          </a:solidFill>
                          <a:latin typeface="Calibri" pitchFamily="34" charset="0"/>
                          <a:ea typeface="Calibri" pitchFamily="34" charset="-122"/>
                          <a:cs typeface="Calibri" pitchFamily="34" charset="-120"/>
                        </a:rPr>
                        <a:t>IQR</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00" b="1" dirty="0">
                          <a:solidFill>
                            <a:srgbClr val="F6F2EA"/>
                          </a:solidFill>
                          <a:latin typeface="Calibri" pitchFamily="34" charset="0"/>
                          <a:ea typeface="Calibri" pitchFamily="34" charset="-122"/>
                          <a:cs typeface="Calibri" pitchFamily="34" charset="-120"/>
                        </a:rPr>
                        <a:t>Upper bound</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00" b="1" dirty="0">
                          <a:solidFill>
                            <a:srgbClr val="F6F2EA"/>
                          </a:solidFill>
                          <a:latin typeface="Calibri" pitchFamily="34" charset="0"/>
                          <a:ea typeface="Calibri" pitchFamily="34" charset="-122"/>
                          <a:cs typeface="Calibri" pitchFamily="34" charset="-120"/>
                        </a:rPr>
                        <a:t>Outliers</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00" b="1" dirty="0">
                          <a:solidFill>
                            <a:srgbClr val="F6F2E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r>
              <a:tr h="301752">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site_eui</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54.53</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97.28</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42.75</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161.40</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3,844</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5.07%</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01752">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floor_area</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62,379</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166,000</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103,621</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321,431</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8,245</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10.88%</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energy_star_rating</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40.00</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85.00</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45.00</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152.50</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01752">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ELEVATION</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11.90</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42.70</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30.80</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88.90</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6,858</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9.05%</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heating_degree_days</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3,978</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4,670</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692</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5,708</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7,346</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9.70%</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bl>
          </a:graphicData>
        </a:graphic>
      </p:graphicFrame>
      <p:sp>
        <p:nvSpPr>
          <p:cNvPr id="10" name="Text 6"/>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21</a:t>
            </a:r>
            <a:endParaRPr lang="en-US" sz="900" dirty="0"/>
          </a:p>
        </p:txBody>
      </p:sp>
      <p:sp>
        <p:nvSpPr>
          <p:cNvPr id="11" name="Text 7"/>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Outliers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EDA</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Outlier treatment decision &amp; EDA summary</a:t>
            </a:r>
            <a:endParaRPr lang="en-US" sz="2800" dirty="0"/>
          </a:p>
        </p:txBody>
      </p:sp>
      <p:sp>
        <p:nvSpPr>
          <p:cNvPr id="4" name="Shape 2"/>
          <p:cNvSpPr/>
          <p:nvPr/>
        </p:nvSpPr>
        <p:spPr>
          <a:xfrm>
            <a:off x="548640" y="1417320"/>
            <a:ext cx="5486400" cy="2788920"/>
          </a:xfrm>
          <a:prstGeom prst="roundRect">
            <a:avLst>
              <a:gd name="adj" fmla="val 2623"/>
            </a:avLst>
          </a:prstGeom>
          <a:solidFill>
            <a:srgbClr val="EAE3D6"/>
          </a:solidFill>
          <a:ln w="12700">
            <a:solidFill>
              <a:srgbClr val="EAE3D6"/>
            </a:solidFill>
            <a:prstDash val="solid"/>
          </a:ln>
        </p:spPr>
      </p:sp>
      <p:sp>
        <p:nvSpPr>
          <p:cNvPr id="5" name="Text 3"/>
          <p:cNvSpPr txBox="1"/>
          <p:nvPr/>
        </p:nvSpPr>
        <p:spPr>
          <a:xfrm>
            <a:off x="777240" y="1581912"/>
            <a:ext cx="50292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Why the outliers are kept</a:t>
            </a:r>
            <a:endParaRPr lang="en-US" sz="1400" dirty="0"/>
          </a:p>
        </p:txBody>
      </p:sp>
      <p:sp>
        <p:nvSpPr>
          <p:cNvPr id="6" name="Text 4"/>
          <p:cNvSpPr txBox="1"/>
          <p:nvPr/>
        </p:nvSpPr>
        <p:spPr>
          <a:xfrm>
            <a:off x="777240" y="1929384"/>
            <a:ext cx="5029200" cy="210312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The high site_eui values are not typing errors — they are hospitals, laboratories and data centres, which genuinely consume far more energy per square foot than an office.</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Deleting or capping them would throw away the very buildings a planner most wants to identify, and would make the model over-confident on ordinary buildings.</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Instead, log1p compresses the scale so extreme values still count but no longer dominate. energy_star_rating shows 0 outliers because it is bounded to 0–100 by design.</a:t>
            </a:r>
            <a:endParaRPr lang="en-US" sz="1150" dirty="0"/>
          </a:p>
        </p:txBody>
      </p:sp>
      <p:sp>
        <p:nvSpPr>
          <p:cNvPr id="7" name="Text 5"/>
          <p:cNvSpPr txBox="1"/>
          <p:nvPr/>
        </p:nvSpPr>
        <p:spPr>
          <a:xfrm>
            <a:off x="6263640" y="1463040"/>
            <a:ext cx="5349240" cy="365760"/>
          </a:xfrm>
          <a:prstGeom prst="rect">
            <a:avLst/>
          </a:prstGeom>
          <a:noFill/>
          <a:ln/>
        </p:spPr>
        <p:txBody>
          <a:bodyPr wrap="square" lIns="0" tIns="0" rIns="0" bIns="0" rtlCol="0" anchor="ctr"/>
          <a:lstStyle/>
          <a:p>
            <a:pPr indent="0" marL="0">
              <a:buNone/>
            </a:pPr>
            <a:r>
              <a:rPr lang="en-US" sz="1600" b="1" dirty="0">
                <a:solidFill>
                  <a:srgbClr val="2B2A26"/>
                </a:solidFill>
                <a:latin typeface="Cambria" pitchFamily="34" charset="0"/>
                <a:ea typeface="Cambria" pitchFamily="34" charset="-122"/>
                <a:cs typeface="Cambria" pitchFamily="34" charset="-120"/>
              </a:rPr>
              <a:t>EDA summary in one place</a:t>
            </a:r>
            <a:endParaRPr lang="en-US" sz="1600" dirty="0"/>
          </a:p>
        </p:txBody>
      </p:sp>
      <p:sp>
        <p:nvSpPr>
          <p:cNvPr id="8" name="Text 6"/>
          <p:cNvSpPr txBox="1"/>
          <p:nvPr/>
        </p:nvSpPr>
        <p:spPr>
          <a:xfrm>
            <a:off x="6263640" y="1920240"/>
            <a:ext cx="5349240" cy="3291840"/>
          </a:xfrm>
          <a:prstGeom prst="rect">
            <a:avLst/>
          </a:prstGeom>
          <a:noFill/>
          <a:ln/>
        </p:spPr>
        <p:txBody>
          <a:bodyPr wrap="square" lIns="0" tIns="0" rIns="0" bIns="0" rtlCol="0" anchor="t"/>
          <a:lstStyle/>
          <a:p>
            <a:pPr marL="342900" indent="-342900">
              <a:lnSpc>
                <a:spcPts val="1800"/>
              </a:lnSpc>
              <a:spcAft>
                <a:spcPts val="800"/>
              </a:spcAft>
              <a:buSzPct val="100000"/>
              <a:buChar char="•"/>
            </a:pPr>
            <a:r>
              <a:rPr lang="en-US" sz="1250" dirty="0">
                <a:solidFill>
                  <a:srgbClr val="2B2A26"/>
                </a:solidFill>
                <a:latin typeface="Calibri" pitchFamily="34" charset="0"/>
                <a:ea typeface="Calibri" pitchFamily="34" charset="-122"/>
                <a:cs typeface="Calibri" pitchFamily="34" charset="-120"/>
              </a:rPr>
              <a:t>The target is right-skewed (skew 4.74) and needs a log transform.</a:t>
            </a:r>
            <a:endParaRPr lang="en-US" sz="1250" dirty="0"/>
          </a:p>
          <a:p>
            <a:pPr marL="342900" indent="-342900">
              <a:lnSpc>
                <a:spcPts val="1800"/>
              </a:lnSpc>
              <a:spcAft>
                <a:spcPts val="800"/>
              </a:spcAft>
              <a:buSzPct val="100000"/>
              <a:buChar char="•"/>
            </a:pPr>
            <a:r>
              <a:rPr lang="en-US" sz="1250" dirty="0">
                <a:solidFill>
                  <a:srgbClr val="2B2A26"/>
                </a:solidFill>
                <a:latin typeface="Calibri" pitchFamily="34" charset="0"/>
                <a:ea typeface="Calibri" pitchFamily="34" charset="-122"/>
                <a:cs typeface="Calibri" pitchFamily="34" charset="-120"/>
              </a:rPr>
              <a:t>energy_star_rating is the single strongest predictor (r ≈ −0.58).</a:t>
            </a:r>
            <a:endParaRPr lang="en-US" sz="1250" dirty="0"/>
          </a:p>
          <a:p>
            <a:pPr marL="342900" indent="-342900">
              <a:lnSpc>
                <a:spcPts val="1800"/>
              </a:lnSpc>
              <a:spcAft>
                <a:spcPts val="800"/>
              </a:spcAft>
              <a:buSzPct val="100000"/>
              <a:buChar char="•"/>
            </a:pPr>
            <a:r>
              <a:rPr lang="en-US" sz="1250" dirty="0">
                <a:solidFill>
                  <a:srgbClr val="2B2A26"/>
                </a:solidFill>
                <a:latin typeface="Calibri" pitchFamily="34" charset="0"/>
                <a:ea typeface="Calibri" pitchFamily="34" charset="-122"/>
                <a:cs typeface="Calibri" pitchFamily="34" charset="-120"/>
              </a:rPr>
              <a:t>Building size matters, but through its log rather than its raw value.</a:t>
            </a:r>
            <a:endParaRPr lang="en-US" sz="1250" dirty="0"/>
          </a:p>
          <a:p>
            <a:pPr marL="342900" indent="-342900">
              <a:lnSpc>
                <a:spcPts val="1800"/>
              </a:lnSpc>
              <a:spcAft>
                <a:spcPts val="800"/>
              </a:spcAft>
              <a:buSzPct val="100000"/>
              <a:buChar char="•"/>
            </a:pPr>
            <a:r>
              <a:rPr lang="en-US" sz="1250" dirty="0">
                <a:solidFill>
                  <a:srgbClr val="2B2A26"/>
                </a:solidFill>
                <a:latin typeface="Calibri" pitchFamily="34" charset="0"/>
                <a:ea typeface="Calibri" pitchFamily="34" charset="-122"/>
                <a:cs typeface="Calibri" pitchFamily="34" charset="-120"/>
              </a:rPr>
              <a:t>Climate features are informative yet heavily correlated with each other.</a:t>
            </a:r>
            <a:endParaRPr lang="en-US" sz="1250" dirty="0"/>
          </a:p>
          <a:p>
            <a:pPr marL="342900" indent="-342900">
              <a:lnSpc>
                <a:spcPts val="1800"/>
              </a:lnSpc>
              <a:spcAft>
                <a:spcPts val="800"/>
              </a:spcAft>
              <a:buSzPct val="100000"/>
              <a:buChar char="•"/>
            </a:pPr>
            <a:r>
              <a:rPr lang="en-US" sz="1250" dirty="0">
                <a:solidFill>
                  <a:srgbClr val="2B2A26"/>
                </a:solidFill>
                <a:latin typeface="Calibri" pitchFamily="34" charset="0"/>
                <a:ea typeface="Calibri" pitchFamily="34" charset="-122"/>
                <a:cs typeface="Calibri" pitchFamily="34" charset="-120"/>
              </a:rPr>
              <a:t>Categorical columns are very unbalanced — encoding must tolerate rare and unseen categories.</a:t>
            </a:r>
            <a:endParaRPr lang="en-US" sz="1250" dirty="0"/>
          </a:p>
          <a:p>
            <a:pPr marL="342900" indent="-342900">
              <a:lnSpc>
                <a:spcPts val="1800"/>
              </a:lnSpc>
              <a:spcAft>
                <a:spcPts val="800"/>
              </a:spcAft>
              <a:buSzPct val="100000"/>
              <a:buChar char="•"/>
            </a:pPr>
            <a:r>
              <a:rPr lang="en-US" sz="1250" dirty="0">
                <a:solidFill>
                  <a:srgbClr val="2B2A26"/>
                </a:solidFill>
                <a:latin typeface="Calibri" pitchFamily="34" charset="0"/>
                <a:ea typeface="Calibri" pitchFamily="34" charset="-122"/>
                <a:cs typeface="Calibri" pitchFamily="34" charset="-120"/>
              </a:rPr>
              <a:t>Outliers are real buildings; they are transformed, not deleted.</a:t>
            </a:r>
            <a:endParaRPr lang="en-US" sz="1250" dirty="0"/>
          </a:p>
        </p:txBody>
      </p:sp>
      <p:sp>
        <p:nvSpPr>
          <p:cNvPr id="9" name="Text 7"/>
          <p:cNvSpPr txBox="1"/>
          <p:nvPr/>
        </p:nvSpPr>
        <p:spPr>
          <a:xfrm>
            <a:off x="548640" y="4526280"/>
            <a:ext cx="1828800" cy="685800"/>
          </a:xfrm>
          <a:prstGeom prst="rect">
            <a:avLst/>
          </a:prstGeom>
          <a:noFill/>
          <a:ln/>
        </p:spPr>
        <p:txBody>
          <a:bodyPr wrap="square" lIns="0" tIns="0" rIns="0" bIns="0" rtlCol="0" anchor="ctr"/>
          <a:lstStyle/>
          <a:p>
            <a:pPr indent="0" marL="0">
              <a:buNone/>
            </a:pPr>
            <a:r>
              <a:rPr lang="en-US" sz="3600" b="1" dirty="0">
                <a:solidFill>
                  <a:srgbClr val="A4613C"/>
                </a:solidFill>
                <a:latin typeface="Cambria" pitchFamily="34" charset="0"/>
                <a:ea typeface="Cambria" pitchFamily="34" charset="-122"/>
                <a:cs typeface="Cambria" pitchFamily="34" charset="-120"/>
              </a:rPr>
              <a:t>4.74</a:t>
            </a:r>
            <a:endParaRPr lang="en-US" sz="3600" dirty="0"/>
          </a:p>
        </p:txBody>
      </p:sp>
      <p:sp>
        <p:nvSpPr>
          <p:cNvPr id="10" name="Text 8"/>
          <p:cNvSpPr txBox="1"/>
          <p:nvPr/>
        </p:nvSpPr>
        <p:spPr>
          <a:xfrm>
            <a:off x="548640" y="5184648"/>
            <a:ext cx="1828800" cy="457200"/>
          </a:xfrm>
          <a:prstGeom prst="rect">
            <a:avLst/>
          </a:prstGeom>
          <a:noFill/>
          <a:ln/>
        </p:spPr>
        <p:txBody>
          <a:bodyPr wrap="square" lIns="0" tIns="0" rIns="0" bIns="0" rtlCol="0" anchor="ctr"/>
          <a:lstStyle/>
          <a:p>
            <a:pPr indent="0" marL="0">
              <a:lnSpc>
                <a:spcPts val="1300"/>
              </a:lnSpc>
              <a:buNone/>
            </a:pPr>
            <a:r>
              <a:rPr lang="en-US" sz="1050" dirty="0">
                <a:solidFill>
                  <a:srgbClr val="6E6658"/>
                </a:solidFill>
                <a:latin typeface="Calibri" pitchFamily="34" charset="0"/>
                <a:ea typeface="Calibri" pitchFamily="34" charset="-122"/>
                <a:cs typeface="Calibri" pitchFamily="34" charset="-120"/>
              </a:rPr>
              <a:t>raw target skewness</a:t>
            </a:r>
            <a:endParaRPr lang="en-US" sz="1050" dirty="0"/>
          </a:p>
        </p:txBody>
      </p:sp>
      <p:sp>
        <p:nvSpPr>
          <p:cNvPr id="11" name="Text 9"/>
          <p:cNvSpPr txBox="1"/>
          <p:nvPr/>
        </p:nvSpPr>
        <p:spPr>
          <a:xfrm>
            <a:off x="2514600" y="4526280"/>
            <a:ext cx="1828800" cy="685800"/>
          </a:xfrm>
          <a:prstGeom prst="rect">
            <a:avLst/>
          </a:prstGeom>
          <a:noFill/>
          <a:ln/>
        </p:spPr>
        <p:txBody>
          <a:bodyPr wrap="square" lIns="0" tIns="0" rIns="0" bIns="0" rtlCol="0" anchor="ctr"/>
          <a:lstStyle/>
          <a:p>
            <a:pPr indent="0" marL="0">
              <a:buNone/>
            </a:pPr>
            <a:r>
              <a:rPr lang="en-US" sz="3600" b="1" dirty="0">
                <a:solidFill>
                  <a:srgbClr val="A4613C"/>
                </a:solidFill>
                <a:latin typeface="Cambria" pitchFamily="34" charset="0"/>
                <a:ea typeface="Cambria" pitchFamily="34" charset="-122"/>
                <a:cs typeface="Cambria" pitchFamily="34" charset="-120"/>
              </a:rPr>
              <a:t>−1.08</a:t>
            </a:r>
            <a:endParaRPr lang="en-US" sz="3600" dirty="0"/>
          </a:p>
        </p:txBody>
      </p:sp>
      <p:sp>
        <p:nvSpPr>
          <p:cNvPr id="12" name="Text 10"/>
          <p:cNvSpPr txBox="1"/>
          <p:nvPr/>
        </p:nvSpPr>
        <p:spPr>
          <a:xfrm>
            <a:off x="2514600" y="5184648"/>
            <a:ext cx="1828800" cy="457200"/>
          </a:xfrm>
          <a:prstGeom prst="rect">
            <a:avLst/>
          </a:prstGeom>
          <a:noFill/>
          <a:ln/>
        </p:spPr>
        <p:txBody>
          <a:bodyPr wrap="square" lIns="0" tIns="0" rIns="0" bIns="0" rtlCol="0" anchor="ctr"/>
          <a:lstStyle/>
          <a:p>
            <a:pPr indent="0" marL="0">
              <a:lnSpc>
                <a:spcPts val="1300"/>
              </a:lnSpc>
              <a:buNone/>
            </a:pPr>
            <a:r>
              <a:rPr lang="en-US" sz="1050" dirty="0">
                <a:solidFill>
                  <a:srgbClr val="6E6658"/>
                </a:solidFill>
                <a:latin typeface="Calibri" pitchFamily="34" charset="0"/>
                <a:ea typeface="Calibri" pitchFamily="34" charset="-122"/>
                <a:cs typeface="Calibri" pitchFamily="34" charset="-120"/>
              </a:rPr>
              <a:t>after log1p</a:t>
            </a:r>
            <a:endParaRPr lang="en-US" sz="1050" dirty="0"/>
          </a:p>
        </p:txBody>
      </p:sp>
      <p:sp>
        <p:nvSpPr>
          <p:cNvPr id="13" name="Text 11"/>
          <p:cNvSpPr txBox="1"/>
          <p:nvPr/>
        </p:nvSpPr>
        <p:spPr>
          <a:xfrm>
            <a:off x="4480560" y="4526280"/>
            <a:ext cx="2011680" cy="685800"/>
          </a:xfrm>
          <a:prstGeom prst="rect">
            <a:avLst/>
          </a:prstGeom>
          <a:noFill/>
          <a:ln/>
        </p:spPr>
        <p:txBody>
          <a:bodyPr wrap="square" lIns="0" tIns="0" rIns="0" bIns="0" rtlCol="0" anchor="ctr"/>
          <a:lstStyle/>
          <a:p>
            <a:pPr indent="0" marL="0">
              <a:buNone/>
            </a:pPr>
            <a:r>
              <a:rPr lang="en-US" sz="3600" b="1" dirty="0">
                <a:solidFill>
                  <a:srgbClr val="77856B"/>
                </a:solidFill>
                <a:latin typeface="Cambria" pitchFamily="34" charset="0"/>
                <a:ea typeface="Cambria" pitchFamily="34" charset="-122"/>
                <a:cs typeface="Cambria" pitchFamily="34" charset="-120"/>
              </a:rPr>
              <a:t>−0.58</a:t>
            </a:r>
            <a:endParaRPr lang="en-US" sz="3600" dirty="0"/>
          </a:p>
        </p:txBody>
      </p:sp>
      <p:sp>
        <p:nvSpPr>
          <p:cNvPr id="14" name="Text 12"/>
          <p:cNvSpPr txBox="1"/>
          <p:nvPr/>
        </p:nvSpPr>
        <p:spPr>
          <a:xfrm>
            <a:off x="4480560" y="5184648"/>
            <a:ext cx="2011680" cy="457200"/>
          </a:xfrm>
          <a:prstGeom prst="rect">
            <a:avLst/>
          </a:prstGeom>
          <a:noFill/>
          <a:ln/>
        </p:spPr>
        <p:txBody>
          <a:bodyPr wrap="square" lIns="0" tIns="0" rIns="0" bIns="0" rtlCol="0" anchor="ctr"/>
          <a:lstStyle/>
          <a:p>
            <a:pPr indent="0" marL="0">
              <a:lnSpc>
                <a:spcPts val="1300"/>
              </a:lnSpc>
              <a:buNone/>
            </a:pPr>
            <a:r>
              <a:rPr lang="en-US" sz="1050" dirty="0">
                <a:solidFill>
                  <a:srgbClr val="6E6658"/>
                </a:solidFill>
                <a:latin typeface="Calibri" pitchFamily="34" charset="0"/>
                <a:ea typeface="Calibri" pitchFamily="34" charset="-122"/>
                <a:cs typeface="Calibri" pitchFamily="34" charset="-120"/>
              </a:rPr>
              <a:t>strongest correlation</a:t>
            </a:r>
            <a:endParaRPr lang="en-US" sz="1050" dirty="0"/>
          </a:p>
        </p:txBody>
      </p:sp>
      <p:sp>
        <p:nvSpPr>
          <p:cNvPr id="15" name="Text 13"/>
          <p:cNvSpPr txBox="1"/>
          <p:nvPr/>
        </p:nvSpPr>
        <p:spPr>
          <a:xfrm>
            <a:off x="6492240" y="4526280"/>
            <a:ext cx="2011680" cy="685800"/>
          </a:xfrm>
          <a:prstGeom prst="rect">
            <a:avLst/>
          </a:prstGeom>
          <a:noFill/>
          <a:ln/>
        </p:spPr>
        <p:txBody>
          <a:bodyPr wrap="square" lIns="0" tIns="0" rIns="0" bIns="0" rtlCol="0" anchor="ctr"/>
          <a:lstStyle/>
          <a:p>
            <a:pPr indent="0" marL="0">
              <a:buNone/>
            </a:pPr>
            <a:r>
              <a:rPr lang="en-US" sz="3600" b="1" dirty="0">
                <a:solidFill>
                  <a:srgbClr val="77856B"/>
                </a:solidFill>
                <a:latin typeface="Cambria" pitchFamily="34" charset="0"/>
                <a:ea typeface="Cambria" pitchFamily="34" charset="-122"/>
                <a:cs typeface="Cambria" pitchFamily="34" charset="-120"/>
              </a:rPr>
              <a:t>3,844</a:t>
            </a:r>
            <a:endParaRPr lang="en-US" sz="3600" dirty="0"/>
          </a:p>
        </p:txBody>
      </p:sp>
      <p:sp>
        <p:nvSpPr>
          <p:cNvPr id="16" name="Text 14"/>
          <p:cNvSpPr txBox="1"/>
          <p:nvPr/>
        </p:nvSpPr>
        <p:spPr>
          <a:xfrm>
            <a:off x="6492240" y="5184648"/>
            <a:ext cx="2011680" cy="457200"/>
          </a:xfrm>
          <a:prstGeom prst="rect">
            <a:avLst/>
          </a:prstGeom>
          <a:noFill/>
          <a:ln/>
        </p:spPr>
        <p:txBody>
          <a:bodyPr wrap="square" lIns="0" tIns="0" rIns="0" bIns="0" rtlCol="0" anchor="ctr"/>
          <a:lstStyle/>
          <a:p>
            <a:pPr indent="0" marL="0">
              <a:lnSpc>
                <a:spcPts val="1300"/>
              </a:lnSpc>
              <a:buNone/>
            </a:pPr>
            <a:r>
              <a:rPr lang="en-US" sz="1050" dirty="0">
                <a:solidFill>
                  <a:srgbClr val="6E6658"/>
                </a:solidFill>
                <a:latin typeface="Calibri" pitchFamily="34" charset="0"/>
                <a:ea typeface="Calibri" pitchFamily="34" charset="-122"/>
                <a:cs typeface="Calibri" pitchFamily="34" charset="-120"/>
              </a:rPr>
              <a:t>site_eui IQR outliers</a:t>
            </a:r>
            <a:endParaRPr lang="en-US" sz="1050" dirty="0"/>
          </a:p>
        </p:txBody>
      </p:sp>
      <p:sp>
        <p:nvSpPr>
          <p:cNvPr id="17" name="Text 15"/>
          <p:cNvSpPr txBox="1"/>
          <p:nvPr/>
        </p:nvSpPr>
        <p:spPr>
          <a:xfrm>
            <a:off x="8686800" y="4526280"/>
            <a:ext cx="2926080" cy="685800"/>
          </a:xfrm>
          <a:prstGeom prst="rect">
            <a:avLst/>
          </a:prstGeom>
          <a:noFill/>
          <a:ln/>
        </p:spPr>
        <p:txBody>
          <a:bodyPr wrap="square" lIns="0" tIns="0" rIns="0" bIns="0" rtlCol="0" anchor="ctr"/>
          <a:lstStyle/>
          <a:p>
            <a:pPr indent="0" marL="0">
              <a:buNone/>
            </a:pPr>
            <a:r>
              <a:rPr lang="en-US" sz="3600" b="1" dirty="0">
                <a:solidFill>
                  <a:srgbClr val="77856B"/>
                </a:solidFill>
                <a:latin typeface="Cambria" pitchFamily="34" charset="0"/>
                <a:ea typeface="Cambria" pitchFamily="34" charset="-122"/>
                <a:cs typeface="Cambria" pitchFamily="34" charset="-120"/>
              </a:rPr>
              <a:t>0 removed</a:t>
            </a:r>
            <a:endParaRPr lang="en-US" sz="3600" dirty="0"/>
          </a:p>
        </p:txBody>
      </p:sp>
      <p:sp>
        <p:nvSpPr>
          <p:cNvPr id="18" name="Text 16"/>
          <p:cNvSpPr txBox="1"/>
          <p:nvPr/>
        </p:nvSpPr>
        <p:spPr>
          <a:xfrm>
            <a:off x="8686800" y="5184648"/>
            <a:ext cx="2926080" cy="457200"/>
          </a:xfrm>
          <a:prstGeom prst="rect">
            <a:avLst/>
          </a:prstGeom>
          <a:noFill/>
          <a:ln/>
        </p:spPr>
        <p:txBody>
          <a:bodyPr wrap="square" lIns="0" tIns="0" rIns="0" bIns="0" rtlCol="0" anchor="ctr"/>
          <a:lstStyle/>
          <a:p>
            <a:pPr indent="0" marL="0">
              <a:lnSpc>
                <a:spcPts val="1300"/>
              </a:lnSpc>
              <a:buNone/>
            </a:pPr>
            <a:r>
              <a:rPr lang="en-US" sz="1050" dirty="0">
                <a:solidFill>
                  <a:srgbClr val="6E6658"/>
                </a:solidFill>
                <a:latin typeface="Calibri" pitchFamily="34" charset="0"/>
                <a:ea typeface="Calibri" pitchFamily="34" charset="-122"/>
                <a:cs typeface="Calibri" pitchFamily="34" charset="-120"/>
              </a:rPr>
              <a:t>outlier rows deleted</a:t>
            </a:r>
            <a:endParaRPr lang="en-US" sz="1050" dirty="0"/>
          </a:p>
        </p:txBody>
      </p:sp>
      <p:sp>
        <p:nvSpPr>
          <p:cNvPr id="19" name="Text 17"/>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22</a:t>
            </a:r>
            <a:endParaRPr lang="en-US" sz="900" dirty="0"/>
          </a:p>
        </p:txBody>
      </p:sp>
      <p:sp>
        <p:nvSpPr>
          <p:cNvPr id="20" name="Text 18"/>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Summary</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FEATURES</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Feature engineering — what was added</a:t>
            </a:r>
            <a:endParaRPr lang="en-US" sz="2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834640"/>
                <a:gridCol w="2377440"/>
                <a:gridCol w="2011680"/>
                <a:gridCol w="3840480"/>
              </a:tblGrid>
              <a:tr h="457200">
                <a:tc>
                  <a:txBody>
                    <a:bodyPr/>
                    <a:lstStyle/>
                    <a:p>
                      <a:pPr indent="0" marL="0">
                        <a:buNone/>
                      </a:pPr>
                      <a:r>
                        <a:rPr lang="en-US" sz="1000" b="1" dirty="0">
                          <a:solidFill>
                            <a:srgbClr val="F6F2EA"/>
                          </a:solidFill>
                          <a:latin typeface="Calibri" pitchFamily="34" charset="0"/>
                          <a:ea typeface="Calibri" pitchFamily="34" charset="-122"/>
                          <a:cs typeface="Calibri" pitchFamily="34" charset="-120"/>
                        </a:rPr>
                        <a:t>New feature</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00" b="1" dirty="0">
                          <a:solidFill>
                            <a:srgbClr val="F6F2EA"/>
                          </a:solidFill>
                          <a:latin typeface="Calibri" pitchFamily="34" charset="0"/>
                          <a:ea typeface="Calibri" pitchFamily="34" charset="-122"/>
                          <a:cs typeface="Calibri" pitchFamily="34" charset="-120"/>
                        </a:rPr>
                        <a:t>Built from</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00" b="1" dirty="0">
                          <a:solidFill>
                            <a:srgbClr val="F6F2EA"/>
                          </a:solidFill>
                          <a:latin typeface="Calibri" pitchFamily="34" charset="0"/>
                          <a:ea typeface="Calibri" pitchFamily="34" charset="-122"/>
                          <a:cs typeface="Calibri" pitchFamily="34" charset="-120"/>
                        </a:rPr>
                        <a:t>Formula</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00" b="1" dirty="0">
                          <a:solidFill>
                            <a:srgbClr val="F6F2EA"/>
                          </a:solidFill>
                          <a:latin typeface="Calibri" pitchFamily="34" charset="0"/>
                          <a:ea typeface="Calibri" pitchFamily="34" charset="-122"/>
                          <a:cs typeface="Calibri" pitchFamily="34" charset="-120"/>
                        </a:rPr>
                        <a:t>Why it helps</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r>
              <a:tr h="457200">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age_of_building</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year_built</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2022 − year_built</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Age drives insulation and equipment efficiency far more directly than a calendar year does</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457200">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floor_area_log</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floor_area</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log1p(floor_area)</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Cuts skew from 6.61 to 0.52, so huge complexes stop distorting linear and distance-based models</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r h="457200">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hdd_cdd_ratio</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heating &amp; cooling degree days</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HDD / (CDD + 1)</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One number describing whether a climate is heating-dominated or cooling-dominated (mean 4.71)</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457200">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energy_star_missing_flag</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energy_star_rating</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isnull() → 0/1</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Marks the 26,709 unrated buildings so 'never benchmarked' becomes usable information</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r h="457200">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wind_direction_max_missing_flag</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direction_max_wind_speed</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isnull() → 0/1</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Records the 41,082 rows where the station reported nothing</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457200">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wind_direction_peak_missing_flag</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direction_peak_wind_speed</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isnull() → 0/1</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Records the 41,811 rows with no peak-direction reading</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r h="457200">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max_wind_speed_missing_flag</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max_wind_speed</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isnull() → 0/1</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Same 41,082 rows as the max-direction flag, confirming a station-level gap</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bl>
          </a:graphicData>
        </a:graphic>
      </p:graphicFrame>
      <p:sp>
        <p:nvSpPr>
          <p:cNvPr id="5" name="Text 2"/>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100" i="1" dirty="0">
                <a:solidFill>
                  <a:srgbClr val="6E6658"/>
                </a:solidFill>
                <a:latin typeface="Calibri" pitchFamily="34" charset="0"/>
                <a:ea typeface="Calibri" pitchFamily="34" charset="-122"/>
                <a:cs typeface="Calibri" pitchFamily="34" charset="-120"/>
              </a:rPr>
              <a:t>The +1 in hdd_cdd_ratio prevents division by zero in locations that never need cooling. All seven features are built from inputs only — never from the target — so none of them can leak.</a:t>
            </a:r>
            <a:endParaRPr lang="en-US" sz="1100" dirty="0"/>
          </a:p>
        </p:txBody>
      </p:sp>
      <p:sp>
        <p:nvSpPr>
          <p:cNvPr id="6" name="Text 3"/>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23</a:t>
            </a:r>
            <a:endParaRPr lang="en-US" sz="900" dirty="0"/>
          </a:p>
        </p:txBody>
      </p:sp>
      <p:sp>
        <p:nvSpPr>
          <p:cNvPr id="7" name="Text 4"/>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Feature engineering</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FEATURES</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Feature engineering — what was removed</a:t>
            </a:r>
            <a:endParaRPr lang="en-US" sz="2800" dirty="0"/>
          </a:p>
        </p:txBody>
      </p:sp>
      <p:sp>
        <p:nvSpPr>
          <p:cNvPr id="4" name="Shape 2"/>
          <p:cNvSpPr/>
          <p:nvPr/>
        </p:nvSpPr>
        <p:spPr>
          <a:xfrm>
            <a:off x="548640" y="1417320"/>
            <a:ext cx="11064240" cy="749808"/>
          </a:xfrm>
          <a:prstGeom prst="roundRect">
            <a:avLst>
              <a:gd name="adj" fmla="val 6098"/>
            </a:avLst>
          </a:prstGeom>
          <a:solidFill>
            <a:srgbClr val="EAE3D6"/>
          </a:solidFill>
          <a:ln w="12700">
            <a:solidFill>
              <a:srgbClr val="F6F2EA"/>
            </a:solidFill>
            <a:prstDash val="solid"/>
          </a:ln>
        </p:spPr>
      </p:sp>
      <p:sp>
        <p:nvSpPr>
          <p:cNvPr id="5" name="Text 3"/>
          <p:cNvSpPr txBox="1"/>
          <p:nvPr/>
        </p:nvSpPr>
        <p:spPr>
          <a:xfrm>
            <a:off x="777240" y="1636776"/>
            <a:ext cx="2377440" cy="365760"/>
          </a:xfrm>
          <a:prstGeom prst="rect">
            <a:avLst/>
          </a:prstGeom>
          <a:noFill/>
          <a:ln/>
        </p:spPr>
        <p:txBody>
          <a:bodyPr wrap="square" lIns="0" tIns="0" rIns="0" bIns="0" rtlCol="0" anchor="ctr"/>
          <a:lstStyle/>
          <a:p>
            <a:pPr indent="0" marL="0">
              <a:buNone/>
            </a:pPr>
            <a:r>
              <a:rPr lang="en-US" sz="1200" b="1" dirty="0">
                <a:solidFill>
                  <a:srgbClr val="A4613C"/>
                </a:solidFill>
                <a:latin typeface="Calibri" pitchFamily="34" charset="0"/>
                <a:ea typeface="Calibri" pitchFamily="34" charset="-122"/>
                <a:cs typeface="Calibri" pitchFamily="34" charset="-120"/>
              </a:rPr>
              <a:t>year_built</a:t>
            </a:r>
            <a:endParaRPr lang="en-US" sz="1200" dirty="0"/>
          </a:p>
        </p:txBody>
      </p:sp>
      <p:sp>
        <p:nvSpPr>
          <p:cNvPr id="6" name="Text 4"/>
          <p:cNvSpPr txBox="1"/>
          <p:nvPr/>
        </p:nvSpPr>
        <p:spPr>
          <a:xfrm>
            <a:off x="3200400" y="1517904"/>
            <a:ext cx="8183880" cy="566928"/>
          </a:xfrm>
          <a:prstGeom prst="rect">
            <a:avLst/>
          </a:prstGeom>
          <a:noFill/>
          <a:ln/>
        </p:spPr>
        <p:txBody>
          <a:bodyPr wrap="square" lIns="0" tIns="0" rIns="0" bIns="0" rtlCol="0" anchor="ctr"/>
          <a:lstStyle/>
          <a:p>
            <a:pPr indent="0" marL="0">
              <a:lnSpc>
                <a:spcPts val="1350"/>
              </a:lnSpc>
              <a:buNone/>
            </a:pPr>
            <a:r>
              <a:rPr lang="en-US" sz="1050" dirty="0">
                <a:solidFill>
                  <a:srgbClr val="6E6658"/>
                </a:solidFill>
                <a:latin typeface="Calibri" pitchFamily="34" charset="0"/>
                <a:ea typeface="Calibri" pitchFamily="34" charset="-122"/>
                <a:cs typeface="Calibri" pitchFamily="34" charset="-120"/>
              </a:rPr>
              <a:t>Dropped after age_of_building was created. age = 2022 − year_built, so the two are perfectly collinear: keeping both would give a linear model two ways to express the same effect and make its coefficients unstable.</a:t>
            </a:r>
            <a:endParaRPr lang="en-US" sz="1050" dirty="0"/>
          </a:p>
        </p:txBody>
      </p:sp>
      <p:sp>
        <p:nvSpPr>
          <p:cNvPr id="7" name="Shape 5"/>
          <p:cNvSpPr/>
          <p:nvPr/>
        </p:nvSpPr>
        <p:spPr>
          <a:xfrm>
            <a:off x="548640" y="2258568"/>
            <a:ext cx="11064240" cy="749808"/>
          </a:xfrm>
          <a:prstGeom prst="roundRect">
            <a:avLst>
              <a:gd name="adj" fmla="val 6098"/>
            </a:avLst>
          </a:prstGeom>
          <a:solidFill>
            <a:srgbClr val="E3DFD2"/>
          </a:solidFill>
          <a:ln w="12700">
            <a:solidFill>
              <a:srgbClr val="F6F2EA"/>
            </a:solidFill>
            <a:prstDash val="solid"/>
          </a:ln>
        </p:spPr>
      </p:sp>
      <p:sp>
        <p:nvSpPr>
          <p:cNvPr id="8" name="Text 6"/>
          <p:cNvSpPr txBox="1"/>
          <p:nvPr/>
        </p:nvSpPr>
        <p:spPr>
          <a:xfrm>
            <a:off x="777240" y="2478024"/>
            <a:ext cx="2377440" cy="365760"/>
          </a:xfrm>
          <a:prstGeom prst="rect">
            <a:avLst/>
          </a:prstGeom>
          <a:noFill/>
          <a:ln/>
        </p:spPr>
        <p:txBody>
          <a:bodyPr wrap="square" lIns="0" tIns="0" rIns="0" bIns="0" rtlCol="0" anchor="ctr"/>
          <a:lstStyle/>
          <a:p>
            <a:pPr indent="0" marL="0">
              <a:buNone/>
            </a:pPr>
            <a:r>
              <a:rPr lang="en-US" sz="1200" b="1" dirty="0">
                <a:solidFill>
                  <a:srgbClr val="A4613C"/>
                </a:solidFill>
                <a:latin typeface="Calibri" pitchFamily="34" charset="0"/>
                <a:ea typeface="Calibri" pitchFamily="34" charset="-122"/>
                <a:cs typeface="Calibri" pitchFamily="34" charset="-120"/>
              </a:rPr>
              <a:t>floor_area</a:t>
            </a:r>
            <a:endParaRPr lang="en-US" sz="1200" dirty="0"/>
          </a:p>
        </p:txBody>
      </p:sp>
      <p:sp>
        <p:nvSpPr>
          <p:cNvPr id="9" name="Text 7"/>
          <p:cNvSpPr txBox="1"/>
          <p:nvPr/>
        </p:nvSpPr>
        <p:spPr>
          <a:xfrm>
            <a:off x="3200400" y="2359152"/>
            <a:ext cx="8183880" cy="566928"/>
          </a:xfrm>
          <a:prstGeom prst="rect">
            <a:avLst/>
          </a:prstGeom>
          <a:noFill/>
          <a:ln/>
        </p:spPr>
        <p:txBody>
          <a:bodyPr wrap="square" lIns="0" tIns="0" rIns="0" bIns="0" rtlCol="0" anchor="ctr"/>
          <a:lstStyle/>
          <a:p>
            <a:pPr indent="0" marL="0">
              <a:lnSpc>
                <a:spcPts val="1350"/>
              </a:lnSpc>
              <a:buNone/>
            </a:pPr>
            <a:r>
              <a:rPr lang="en-US" sz="1050" dirty="0">
                <a:solidFill>
                  <a:srgbClr val="6E6658"/>
                </a:solidFill>
                <a:latin typeface="Calibri" pitchFamily="34" charset="0"/>
                <a:ea typeface="Calibri" pitchFamily="34" charset="-122"/>
                <a:cs typeface="Calibri" pitchFamily="34" charset="-120"/>
              </a:rPr>
              <a:t>Dropped after floor_area_log was created, for the same reason — the log and the raw value carry identical information on different scales.</a:t>
            </a:r>
            <a:endParaRPr lang="en-US" sz="1050" dirty="0"/>
          </a:p>
        </p:txBody>
      </p:sp>
      <p:sp>
        <p:nvSpPr>
          <p:cNvPr id="10" name="Shape 8"/>
          <p:cNvSpPr/>
          <p:nvPr/>
        </p:nvSpPr>
        <p:spPr>
          <a:xfrm>
            <a:off x="548640" y="3099816"/>
            <a:ext cx="11064240" cy="749808"/>
          </a:xfrm>
          <a:prstGeom prst="roundRect">
            <a:avLst>
              <a:gd name="adj" fmla="val 6098"/>
            </a:avLst>
          </a:prstGeom>
          <a:solidFill>
            <a:srgbClr val="EAE3D6"/>
          </a:solidFill>
          <a:ln w="12700">
            <a:solidFill>
              <a:srgbClr val="F6F2EA"/>
            </a:solidFill>
            <a:prstDash val="solid"/>
          </a:ln>
        </p:spPr>
      </p:sp>
      <p:sp>
        <p:nvSpPr>
          <p:cNvPr id="11" name="Text 9"/>
          <p:cNvSpPr txBox="1"/>
          <p:nvPr/>
        </p:nvSpPr>
        <p:spPr>
          <a:xfrm>
            <a:off x="777240" y="3319272"/>
            <a:ext cx="2377440" cy="365760"/>
          </a:xfrm>
          <a:prstGeom prst="rect">
            <a:avLst/>
          </a:prstGeom>
          <a:noFill/>
          <a:ln/>
        </p:spPr>
        <p:txBody>
          <a:bodyPr wrap="square" lIns="0" tIns="0" rIns="0" bIns="0" rtlCol="0" anchor="ctr"/>
          <a:lstStyle/>
          <a:p>
            <a:pPr indent="0" marL="0">
              <a:buNone/>
            </a:pPr>
            <a:r>
              <a:rPr lang="en-US" sz="1200" b="1" dirty="0">
                <a:solidFill>
                  <a:srgbClr val="A4613C"/>
                </a:solidFill>
                <a:latin typeface="Calibri" pitchFamily="34" charset="0"/>
                <a:ea typeface="Calibri" pitchFamily="34" charset="-122"/>
                <a:cs typeface="Calibri" pitchFamily="34" charset="-120"/>
              </a:rPr>
              <a:t>days_with_fog</a:t>
            </a:r>
            <a:endParaRPr lang="en-US" sz="1200" dirty="0"/>
          </a:p>
        </p:txBody>
      </p:sp>
      <p:sp>
        <p:nvSpPr>
          <p:cNvPr id="12" name="Text 10"/>
          <p:cNvSpPr txBox="1"/>
          <p:nvPr/>
        </p:nvSpPr>
        <p:spPr>
          <a:xfrm>
            <a:off x="3200400" y="3200400"/>
            <a:ext cx="8183880" cy="566928"/>
          </a:xfrm>
          <a:prstGeom prst="rect">
            <a:avLst/>
          </a:prstGeom>
          <a:noFill/>
          <a:ln/>
        </p:spPr>
        <p:txBody>
          <a:bodyPr wrap="square" lIns="0" tIns="0" rIns="0" bIns="0" rtlCol="0" anchor="ctr"/>
          <a:lstStyle/>
          <a:p>
            <a:pPr indent="0" marL="0">
              <a:lnSpc>
                <a:spcPts val="1350"/>
              </a:lnSpc>
              <a:buNone/>
            </a:pPr>
            <a:r>
              <a:rPr lang="en-US" sz="1050" dirty="0">
                <a:solidFill>
                  <a:srgbClr val="6E6658"/>
                </a:solidFill>
                <a:latin typeface="Calibri" pitchFamily="34" charset="0"/>
                <a:ea typeface="Calibri" pitchFamily="34" charset="-122"/>
                <a:cs typeface="Calibri" pitchFamily="34" charset="-120"/>
              </a:rPr>
              <a:t>Dropped during cleaning: 60.45% of values are missing, too sparse to impute without inventing data.</a:t>
            </a:r>
            <a:endParaRPr lang="en-US" sz="1050" dirty="0"/>
          </a:p>
        </p:txBody>
      </p:sp>
      <p:sp>
        <p:nvSpPr>
          <p:cNvPr id="13" name="Shape 11"/>
          <p:cNvSpPr/>
          <p:nvPr/>
        </p:nvSpPr>
        <p:spPr>
          <a:xfrm>
            <a:off x="548640" y="3941064"/>
            <a:ext cx="11064240" cy="749808"/>
          </a:xfrm>
          <a:prstGeom prst="roundRect">
            <a:avLst>
              <a:gd name="adj" fmla="val 6098"/>
            </a:avLst>
          </a:prstGeom>
          <a:solidFill>
            <a:srgbClr val="E3DFD2"/>
          </a:solidFill>
          <a:ln w="12700">
            <a:solidFill>
              <a:srgbClr val="F6F2EA"/>
            </a:solidFill>
            <a:prstDash val="solid"/>
          </a:ln>
        </p:spPr>
      </p:sp>
      <p:sp>
        <p:nvSpPr>
          <p:cNvPr id="14" name="Text 12"/>
          <p:cNvSpPr txBox="1"/>
          <p:nvPr/>
        </p:nvSpPr>
        <p:spPr>
          <a:xfrm>
            <a:off x="777240" y="4160520"/>
            <a:ext cx="2377440" cy="365760"/>
          </a:xfrm>
          <a:prstGeom prst="rect">
            <a:avLst/>
          </a:prstGeom>
          <a:noFill/>
          <a:ln/>
        </p:spPr>
        <p:txBody>
          <a:bodyPr wrap="square" lIns="0" tIns="0" rIns="0" bIns="0" rtlCol="0" anchor="ctr"/>
          <a:lstStyle/>
          <a:p>
            <a:pPr indent="0" marL="0">
              <a:buNone/>
            </a:pPr>
            <a:r>
              <a:rPr lang="en-US" sz="1200" b="1" dirty="0">
                <a:solidFill>
                  <a:srgbClr val="A4613C"/>
                </a:solidFill>
                <a:latin typeface="Calibri" pitchFamily="34" charset="0"/>
                <a:ea typeface="Calibri" pitchFamily="34" charset="-122"/>
                <a:cs typeface="Calibri" pitchFamily="34" charset="-120"/>
              </a:rPr>
              <a:t>id</a:t>
            </a:r>
            <a:endParaRPr lang="en-US" sz="1200" dirty="0"/>
          </a:p>
        </p:txBody>
      </p:sp>
      <p:sp>
        <p:nvSpPr>
          <p:cNvPr id="15" name="Text 13"/>
          <p:cNvSpPr txBox="1"/>
          <p:nvPr/>
        </p:nvSpPr>
        <p:spPr>
          <a:xfrm>
            <a:off x="3200400" y="4041648"/>
            <a:ext cx="8183880" cy="566928"/>
          </a:xfrm>
          <a:prstGeom prst="rect">
            <a:avLst/>
          </a:prstGeom>
          <a:noFill/>
          <a:ln/>
        </p:spPr>
        <p:txBody>
          <a:bodyPr wrap="square" lIns="0" tIns="0" rIns="0" bIns="0" rtlCol="0" anchor="ctr"/>
          <a:lstStyle/>
          <a:p>
            <a:pPr indent="0" marL="0">
              <a:lnSpc>
                <a:spcPts val="1350"/>
              </a:lnSpc>
              <a:buNone/>
            </a:pPr>
            <a:r>
              <a:rPr lang="en-US" sz="1050" dirty="0">
                <a:solidFill>
                  <a:srgbClr val="6E6658"/>
                </a:solidFill>
                <a:latin typeface="Calibri" pitchFamily="34" charset="0"/>
                <a:ea typeface="Calibri" pitchFamily="34" charset="-122"/>
                <a:cs typeface="Calibri" pitchFamily="34" charset="-120"/>
              </a:rPr>
              <a:t>Dropped as a non-predictive primary key. A tree model can memorise row identifiers and appear accurate while learning nothing.</a:t>
            </a:r>
            <a:endParaRPr lang="en-US" sz="1050" dirty="0"/>
          </a:p>
        </p:txBody>
      </p:sp>
      <p:sp>
        <p:nvSpPr>
          <p:cNvPr id="16" name="Shape 14"/>
          <p:cNvSpPr/>
          <p:nvPr/>
        </p:nvSpPr>
        <p:spPr>
          <a:xfrm>
            <a:off x="548640" y="4782312"/>
            <a:ext cx="11064240" cy="749808"/>
          </a:xfrm>
          <a:prstGeom prst="roundRect">
            <a:avLst>
              <a:gd name="adj" fmla="val 6098"/>
            </a:avLst>
          </a:prstGeom>
          <a:solidFill>
            <a:srgbClr val="EAE3D6"/>
          </a:solidFill>
          <a:ln w="12700">
            <a:solidFill>
              <a:srgbClr val="F6F2EA"/>
            </a:solidFill>
            <a:prstDash val="solid"/>
          </a:ln>
        </p:spPr>
      </p:sp>
      <p:sp>
        <p:nvSpPr>
          <p:cNvPr id="17" name="Text 15"/>
          <p:cNvSpPr txBox="1"/>
          <p:nvPr/>
        </p:nvSpPr>
        <p:spPr>
          <a:xfrm>
            <a:off x="777240" y="5001768"/>
            <a:ext cx="2377440" cy="365760"/>
          </a:xfrm>
          <a:prstGeom prst="rect">
            <a:avLst/>
          </a:prstGeom>
          <a:noFill/>
          <a:ln/>
        </p:spPr>
        <p:txBody>
          <a:bodyPr wrap="square" lIns="0" tIns="0" rIns="0" bIns="0" rtlCol="0" anchor="ctr"/>
          <a:lstStyle/>
          <a:p>
            <a:pPr indent="0" marL="0">
              <a:buNone/>
            </a:pPr>
            <a:r>
              <a:rPr lang="en-US" sz="1200" b="1" dirty="0">
                <a:solidFill>
                  <a:srgbClr val="A4613C"/>
                </a:solidFill>
                <a:latin typeface="Calibri" pitchFamily="34" charset="0"/>
                <a:ea typeface="Calibri" pitchFamily="34" charset="-122"/>
                <a:cs typeface="Calibri" pitchFamily="34" charset="-120"/>
              </a:rPr>
              <a:t>Year_Factor</a:t>
            </a:r>
            <a:endParaRPr lang="en-US" sz="1200" dirty="0"/>
          </a:p>
        </p:txBody>
      </p:sp>
      <p:sp>
        <p:nvSpPr>
          <p:cNvPr id="18" name="Text 16"/>
          <p:cNvSpPr txBox="1"/>
          <p:nvPr/>
        </p:nvSpPr>
        <p:spPr>
          <a:xfrm>
            <a:off x="3200400" y="4882896"/>
            <a:ext cx="8183880" cy="566928"/>
          </a:xfrm>
          <a:prstGeom prst="rect">
            <a:avLst/>
          </a:prstGeom>
          <a:noFill/>
          <a:ln/>
        </p:spPr>
        <p:txBody>
          <a:bodyPr wrap="square" lIns="0" tIns="0" rIns="0" bIns="0" rtlCol="0" anchor="ctr"/>
          <a:lstStyle/>
          <a:p>
            <a:pPr indent="0" marL="0">
              <a:lnSpc>
                <a:spcPts val="1350"/>
              </a:lnSpc>
              <a:buNone/>
            </a:pPr>
            <a:r>
              <a:rPr lang="en-US" sz="1050" dirty="0">
                <a:solidFill>
                  <a:srgbClr val="6E6658"/>
                </a:solidFill>
                <a:latin typeface="Calibri" pitchFamily="34" charset="0"/>
                <a:ea typeface="Calibri" pitchFamily="34" charset="-122"/>
                <a:cs typeface="Calibri" pitchFamily="34" charset="-120"/>
              </a:rPr>
              <a:t>Excluded at feature-selection time: it records which administrative year the row came from, so a model could latch onto the data-collection batch rather than building physics.</a:t>
            </a:r>
            <a:endParaRPr lang="en-US" sz="1050" dirty="0"/>
          </a:p>
        </p:txBody>
      </p:sp>
      <p:sp>
        <p:nvSpPr>
          <p:cNvPr id="19" name="Shape 17"/>
          <p:cNvSpPr/>
          <p:nvPr/>
        </p:nvSpPr>
        <p:spPr>
          <a:xfrm>
            <a:off x="548640" y="5623560"/>
            <a:ext cx="11064240" cy="749808"/>
          </a:xfrm>
          <a:prstGeom prst="roundRect">
            <a:avLst>
              <a:gd name="adj" fmla="val 6098"/>
            </a:avLst>
          </a:prstGeom>
          <a:solidFill>
            <a:srgbClr val="E3DFD2"/>
          </a:solidFill>
          <a:ln w="12700">
            <a:solidFill>
              <a:srgbClr val="F6F2EA"/>
            </a:solidFill>
            <a:prstDash val="solid"/>
          </a:ln>
        </p:spPr>
      </p:sp>
      <p:sp>
        <p:nvSpPr>
          <p:cNvPr id="20" name="Text 18"/>
          <p:cNvSpPr txBox="1"/>
          <p:nvPr/>
        </p:nvSpPr>
        <p:spPr>
          <a:xfrm>
            <a:off x="777240" y="5843016"/>
            <a:ext cx="2377440" cy="365760"/>
          </a:xfrm>
          <a:prstGeom prst="rect">
            <a:avLst/>
          </a:prstGeom>
          <a:noFill/>
          <a:ln/>
        </p:spPr>
        <p:txBody>
          <a:bodyPr wrap="square" lIns="0" tIns="0" rIns="0" bIns="0" rtlCol="0" anchor="ctr"/>
          <a:lstStyle/>
          <a:p>
            <a:pPr indent="0" marL="0">
              <a:buNone/>
            </a:pPr>
            <a:r>
              <a:rPr lang="en-US" sz="1200" b="1" dirty="0">
                <a:solidFill>
                  <a:srgbClr val="A4613C"/>
                </a:solidFill>
                <a:latin typeface="Calibri" pitchFamily="34" charset="0"/>
                <a:ea typeface="Calibri" pitchFamily="34" charset="-122"/>
                <a:cs typeface="Calibri" pitchFamily="34" charset="-120"/>
              </a:rPr>
              <a:t>site_eui, log_site_eui</a:t>
            </a:r>
            <a:endParaRPr lang="en-US" sz="1200" dirty="0"/>
          </a:p>
        </p:txBody>
      </p:sp>
      <p:sp>
        <p:nvSpPr>
          <p:cNvPr id="21" name="Text 19"/>
          <p:cNvSpPr txBox="1"/>
          <p:nvPr/>
        </p:nvSpPr>
        <p:spPr>
          <a:xfrm>
            <a:off x="3200400" y="5724144"/>
            <a:ext cx="8183880" cy="566928"/>
          </a:xfrm>
          <a:prstGeom prst="rect">
            <a:avLst/>
          </a:prstGeom>
          <a:noFill/>
          <a:ln/>
        </p:spPr>
        <p:txBody>
          <a:bodyPr wrap="square" lIns="0" tIns="0" rIns="0" bIns="0" rtlCol="0" anchor="ctr"/>
          <a:lstStyle/>
          <a:p>
            <a:pPr indent="0" marL="0">
              <a:lnSpc>
                <a:spcPts val="1350"/>
              </a:lnSpc>
              <a:buNone/>
            </a:pPr>
            <a:r>
              <a:rPr lang="en-US" sz="1050" dirty="0">
                <a:solidFill>
                  <a:srgbClr val="6E6658"/>
                </a:solidFill>
                <a:latin typeface="Calibri" pitchFamily="34" charset="0"/>
                <a:ea typeface="Calibri" pitchFamily="34" charset="-122"/>
                <a:cs typeface="Calibri" pitchFamily="34" charset="-120"/>
              </a:rPr>
              <a:t>Excluded from the feature matrix X — these are the target. Including either would be textbook leakage.</a:t>
            </a:r>
            <a:endParaRPr lang="en-US" sz="1050" dirty="0"/>
          </a:p>
        </p:txBody>
      </p:sp>
      <p:sp>
        <p:nvSpPr>
          <p:cNvPr id="22" name="Text 20"/>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24</a:t>
            </a:r>
            <a:endParaRPr lang="en-US" sz="900" dirty="0"/>
          </a:p>
        </p:txBody>
      </p:sp>
      <p:sp>
        <p:nvSpPr>
          <p:cNvPr id="23" name="Text 21"/>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Feature engineering</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FEATURES</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Categorical vs numerical features</a:t>
            </a:r>
            <a:endParaRPr lang="en-US" sz="2800" dirty="0"/>
          </a:p>
        </p:txBody>
      </p:sp>
      <p:sp>
        <p:nvSpPr>
          <p:cNvPr id="4" name="Text 2"/>
          <p:cNvSpPr txBox="1"/>
          <p:nvPr/>
        </p:nvSpPr>
        <p:spPr>
          <a:xfrm>
            <a:off x="548640" y="1371600"/>
            <a:ext cx="11064240" cy="365760"/>
          </a:xfrm>
          <a:prstGeom prst="rect">
            <a:avLst/>
          </a:prstGeom>
          <a:noFill/>
          <a:ln/>
        </p:spPr>
        <p:txBody>
          <a:bodyPr wrap="square" lIns="0" tIns="0" rIns="0" bIns="0" rtlCol="0" anchor="ctr"/>
          <a:lstStyle/>
          <a:p>
            <a:pPr indent="0" marL="0">
              <a:buNone/>
            </a:pPr>
            <a:r>
              <a:rPr lang="en-US" sz="1250" dirty="0">
                <a:solidFill>
                  <a:srgbClr val="6E6658"/>
                </a:solidFill>
                <a:latin typeface="Calibri" pitchFamily="34" charset="0"/>
                <a:ea typeface="Calibri" pitchFamily="34" charset="-122"/>
                <a:cs typeface="Calibri" pitchFamily="34" charset="-120"/>
              </a:rPr>
              <a:t>The final predictor set holds 65 columns: 3 categorical and 62 numerical. The split decides which preprocessing branch each column travels through.</a:t>
            </a:r>
            <a:endParaRPr lang="en-US" sz="1250" dirty="0"/>
          </a:p>
        </p:txBody>
      </p:sp>
      <p:sp>
        <p:nvSpPr>
          <p:cNvPr id="5" name="Text 3"/>
          <p:cNvSpPr txBox="1"/>
          <p:nvPr/>
        </p:nvSpPr>
        <p:spPr>
          <a:xfrm>
            <a:off x="548640" y="1828800"/>
            <a:ext cx="5120640" cy="320040"/>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Categorical features (3)</a:t>
            </a:r>
            <a:endParaRPr lang="en-US" sz="1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5120640" cy="914400"/>
        </p:xfrm>
        <a:graphic>
          <a:graphicData uri="http://schemas.openxmlformats.org/drawingml/2006/table">
            <a:tbl>
              <a:tblPr/>
              <a:tblGrid>
                <a:gridCol w="1828800"/>
                <a:gridCol w="1280160"/>
                <a:gridCol w="2011680"/>
              </a:tblGrid>
              <a:tr h="384048">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Feature</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Levels</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Handling</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r>
              <a:tr h="384048">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State_Factor</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11 states</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Most-frequent impute → one-hot</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84048">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building_class</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2 classes</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Most-frequent impute → one-hot</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facility_type</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60+ types</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Most-frequent impute → one-hot</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bl>
          </a:graphicData>
        </a:graphic>
      </p:graphicFrame>
      <p:sp>
        <p:nvSpPr>
          <p:cNvPr id="7" name="Shape 4"/>
          <p:cNvSpPr/>
          <p:nvPr/>
        </p:nvSpPr>
        <p:spPr>
          <a:xfrm>
            <a:off x="548640" y="3931920"/>
            <a:ext cx="5120640" cy="1737360"/>
          </a:xfrm>
          <a:prstGeom prst="roundRect">
            <a:avLst>
              <a:gd name="adj" fmla="val 4211"/>
            </a:avLst>
          </a:prstGeom>
          <a:solidFill>
            <a:srgbClr val="EAE3D6"/>
          </a:solidFill>
          <a:ln w="12700">
            <a:solidFill>
              <a:srgbClr val="EAE3D6"/>
            </a:solidFill>
            <a:prstDash val="solid"/>
          </a:ln>
        </p:spPr>
      </p:sp>
      <p:sp>
        <p:nvSpPr>
          <p:cNvPr id="8" name="Text 5"/>
          <p:cNvSpPr txBox="1"/>
          <p:nvPr/>
        </p:nvSpPr>
        <p:spPr>
          <a:xfrm>
            <a:off x="777240" y="4096512"/>
            <a:ext cx="466344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Why one-hot with drop='first'</a:t>
            </a:r>
            <a:endParaRPr lang="en-US" sz="1400" dirty="0"/>
          </a:p>
        </p:txBody>
      </p:sp>
      <p:sp>
        <p:nvSpPr>
          <p:cNvPr id="9" name="Text 6"/>
          <p:cNvSpPr txBox="1"/>
          <p:nvPr/>
        </p:nvSpPr>
        <p:spPr>
          <a:xfrm>
            <a:off x="777240" y="4443984"/>
            <a:ext cx="4663440" cy="1051560"/>
          </a:xfrm>
          <a:prstGeom prst="rect">
            <a:avLst/>
          </a:prstGeom>
          <a:noFill/>
          <a:ln/>
        </p:spPr>
        <p:txBody>
          <a:bodyPr wrap="square" lIns="0" tIns="0" rIns="0" bIns="0" rtlCol="0" anchor="t"/>
          <a:lstStyle/>
          <a:p>
            <a:pPr indent="0" marL="0">
              <a:lnSpc>
                <a:spcPts val="1500"/>
              </a:lnSpc>
              <a:buNone/>
            </a:pPr>
            <a:r>
              <a:rPr lang="en-US" sz="1050" dirty="0">
                <a:solidFill>
                  <a:srgbClr val="6E6658"/>
                </a:solidFill>
                <a:latin typeface="Calibri" pitchFamily="34" charset="0"/>
                <a:ea typeface="Calibri" pitchFamily="34" charset="-122"/>
                <a:cs typeface="Calibri" pitchFamily="34" charset="-120"/>
              </a:rPr>
              <a:t>Text cannot enter a model directly. One-hot creates a 0/1 column per category; dropping the first level avoids the dummy-variable trap (perfectly redundant columns). handle_unknown='ignore' means a category that appears only in the test set is encoded as all zeros rather than crashing the pipeline. After encoding, 65 columns expand to 128 model features.</a:t>
            </a:r>
            <a:endParaRPr lang="en-US" sz="1050" dirty="0"/>
          </a:p>
        </p:txBody>
      </p:sp>
      <p:sp>
        <p:nvSpPr>
          <p:cNvPr id="10" name="Text 7"/>
          <p:cNvSpPr txBox="1"/>
          <p:nvPr/>
        </p:nvSpPr>
        <p:spPr>
          <a:xfrm>
            <a:off x="6126480" y="1828800"/>
            <a:ext cx="5486400" cy="320040"/>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Numerical features (62)</a:t>
            </a:r>
            <a:endParaRPr lang="en-US" sz="1400" dirty="0"/>
          </a:p>
        </p:txBody>
      </p:sp>
      <p:graphicFrame>
        <p:nvGraphicFramePr>
          <p:cNvPr id="51" name="Table 1"/>
          <p:cNvGraphicFramePr>
            <a:graphicFrameLocks noGrp="1"/>
          </p:cNvGraphicFramePr>
          <p:nvPr>
            <p:extLst>
              <p:ext uri="{D42A27DB-BD31-4B8C-83A1-F6EECF244321}">
                <p14:modId xmlns:p14="http://schemas.microsoft.com/office/powerpoint/2010/main" val="1579011935"/>
              </p:ext>
            </p:extLst>
          </p:nvPr>
        </p:nvGraphicFramePr>
        <p:xfrm>
          <a:off x="6126480" y="2194560"/>
          <a:ext cx="5486400" cy="914400"/>
        </p:xfrm>
        <a:graphic>
          <a:graphicData uri="http://schemas.openxmlformats.org/drawingml/2006/table">
            <a:tbl>
              <a:tblPr/>
              <a:tblGrid>
                <a:gridCol w="1737360"/>
                <a:gridCol w="640080"/>
                <a:gridCol w="3108960"/>
              </a:tblGrid>
              <a:tr h="384048">
                <a:tc>
                  <a:txBody>
                    <a:bodyPr/>
                    <a:lstStyle/>
                    <a:p>
                      <a:pPr indent="0" marL="0">
                        <a:buNone/>
                      </a:pPr>
                      <a:r>
                        <a:rPr lang="en-US" sz="950" b="1" dirty="0">
                          <a:solidFill>
                            <a:srgbClr val="F6F2EA"/>
                          </a:solidFill>
                          <a:latin typeface="Calibri" pitchFamily="34" charset="0"/>
                          <a:ea typeface="Calibri" pitchFamily="34" charset="-122"/>
                          <a:cs typeface="Calibri" pitchFamily="34" charset="-120"/>
                        </a:rPr>
                        <a:t>Group</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950" b="1" dirty="0">
                          <a:solidFill>
                            <a:srgbClr val="F6F2EA"/>
                          </a:solidFill>
                          <a:latin typeface="Calibri" pitchFamily="34" charset="0"/>
                          <a:ea typeface="Calibri" pitchFamily="34" charset="-122"/>
                          <a:cs typeface="Calibri" pitchFamily="34" charset="-120"/>
                        </a:rPr>
                        <a:t>Count</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950" b="1" dirty="0">
                          <a:solidFill>
                            <a:srgbClr val="F6F2EA"/>
                          </a:solidFill>
                          <a:latin typeface="Calibri" pitchFamily="34" charset="0"/>
                          <a:ea typeface="Calibri" pitchFamily="34" charset="-122"/>
                          <a:cs typeface="Calibri" pitchFamily="34" charset="-120"/>
                        </a:rPr>
                        <a:t>Examples</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r>
              <a:tr h="384048">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Building properties</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energy_star_rating, floor_area_log, age_of_building</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84048">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Location</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ELEVATION</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r h="384048">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Monthly temperatures</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36</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january_min/avg/max_temp … december</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84048">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Climate aggregates</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heating_ &amp; cooling_degree_days, avg_temp, precipitation_inches, snowfall_inches</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r h="384048">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Threshold day counts</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days_below_30F … days_above_110F, snowdepth_inches</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84048">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Wind metrics</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max_wind_speed, direction_max / peak_wind_speed</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r h="384048">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Engineered flags &amp; ratio</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hdd_cdd_ratio + 4 missing-indicator flags</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bl>
          </a:graphicData>
        </a:graphic>
      </p:graphicFrame>
      <p:sp>
        <p:nvSpPr>
          <p:cNvPr id="12" name="Text 8"/>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25</a:t>
            </a:r>
            <a:endParaRPr lang="en-US" sz="900" dirty="0"/>
          </a:p>
        </p:txBody>
      </p:sp>
      <p:sp>
        <p:nvSpPr>
          <p:cNvPr id="13" name="Text 9"/>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Feature types</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MODELLING</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Regression feature selection &amp; dataset creation</a:t>
            </a:r>
            <a:endParaRPr lang="en-US" sz="2800" dirty="0"/>
          </a:p>
        </p:txBody>
      </p:sp>
      <p:sp>
        <p:nvSpPr>
          <p:cNvPr id="4" name="Shape 2"/>
          <p:cNvSpPr/>
          <p:nvPr/>
        </p:nvSpPr>
        <p:spPr>
          <a:xfrm>
            <a:off x="548640" y="1417320"/>
            <a:ext cx="5486400" cy="2103120"/>
          </a:xfrm>
          <a:prstGeom prst="roundRect">
            <a:avLst>
              <a:gd name="adj" fmla="val 3478"/>
            </a:avLst>
          </a:prstGeom>
          <a:solidFill>
            <a:srgbClr val="EAE3D6"/>
          </a:solidFill>
          <a:ln w="12700">
            <a:solidFill>
              <a:srgbClr val="EAE3D6"/>
            </a:solidFill>
            <a:prstDash val="solid"/>
          </a:ln>
        </p:spPr>
      </p:sp>
      <p:sp>
        <p:nvSpPr>
          <p:cNvPr id="5" name="Text 3"/>
          <p:cNvSpPr txBox="1"/>
          <p:nvPr/>
        </p:nvSpPr>
        <p:spPr>
          <a:xfrm>
            <a:off x="777240" y="1581912"/>
            <a:ext cx="50292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How selected_predictors is built</a:t>
            </a:r>
            <a:endParaRPr lang="en-US" sz="1400" dirty="0"/>
          </a:p>
        </p:txBody>
      </p:sp>
      <p:sp>
        <p:nvSpPr>
          <p:cNvPr id="6" name="Text 4"/>
          <p:cNvSpPr txBox="1"/>
          <p:nvPr/>
        </p:nvSpPr>
        <p:spPr>
          <a:xfrm>
            <a:off x="777240" y="1929384"/>
            <a:ext cx="5029200" cy="141732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excluded_cols = ['id', 'Year_Factor', 'site_eui', 'log_site_eui', 'floor_area', 'year_built']</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selected_predictors = every remaining column of df_master.</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This is a rule-based selection rather than an automatic one: each exclusion has a written justification (identifier, administrative artefact, target, or collinear twin), which keeps the choice reproducible and auditable.</a:t>
            </a:r>
            <a:endParaRPr lang="en-US" sz="1150" dirty="0"/>
          </a:p>
        </p:txBody>
      </p:sp>
      <p:sp>
        <p:nvSpPr>
          <p:cNvPr id="7" name="Shape 5"/>
          <p:cNvSpPr/>
          <p:nvPr/>
        </p:nvSpPr>
        <p:spPr>
          <a:xfrm>
            <a:off x="548640" y="3703320"/>
            <a:ext cx="5486400" cy="1920240"/>
          </a:xfrm>
          <a:prstGeom prst="roundRect">
            <a:avLst>
              <a:gd name="adj" fmla="val 3810"/>
            </a:avLst>
          </a:prstGeom>
          <a:solidFill>
            <a:srgbClr val="E3DFD2"/>
          </a:solidFill>
          <a:ln w="12700">
            <a:solidFill>
              <a:srgbClr val="E3DFD2"/>
            </a:solidFill>
            <a:prstDash val="solid"/>
          </a:ln>
        </p:spPr>
      </p:sp>
      <p:sp>
        <p:nvSpPr>
          <p:cNvPr id="8" name="Text 6"/>
          <p:cNvSpPr txBox="1"/>
          <p:nvPr/>
        </p:nvSpPr>
        <p:spPr>
          <a:xfrm>
            <a:off x="777240" y="3867912"/>
            <a:ext cx="50292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Regression dataset creation</a:t>
            </a:r>
            <a:endParaRPr lang="en-US" sz="1400" dirty="0"/>
          </a:p>
        </p:txBody>
      </p:sp>
      <p:sp>
        <p:nvSpPr>
          <p:cNvPr id="9" name="Text 7"/>
          <p:cNvSpPr txBox="1"/>
          <p:nvPr/>
        </p:nvSpPr>
        <p:spPr>
          <a:xfrm>
            <a:off x="777240" y="4215384"/>
            <a:ext cx="5029200" cy="123444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df_regression = df_master.copy() — a frozen snapshot after cleaning and feature engineering.</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X = df_regression[selected_predictors]  → 75,757 × 65</a:t>
            </a: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y_log = df_regression['log_site_eui']</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Remaining gaps in X (energy_star_rating, 3 wind columns, age_of_building) are intentionally left for the pipeline to fill.</a:t>
            </a:r>
            <a:endParaRPr lang="en-US" sz="1150" dirty="0"/>
          </a:p>
        </p:txBody>
      </p:sp>
      <p:sp>
        <p:nvSpPr>
          <p:cNvPr id="10" name="Text 8"/>
          <p:cNvSpPr txBox="1"/>
          <p:nvPr/>
        </p:nvSpPr>
        <p:spPr>
          <a:xfrm>
            <a:off x="6492240" y="1600200"/>
            <a:ext cx="2468880" cy="685800"/>
          </a:xfrm>
          <a:prstGeom prst="rect">
            <a:avLst/>
          </a:prstGeom>
          <a:noFill/>
          <a:ln/>
        </p:spPr>
        <p:txBody>
          <a:bodyPr wrap="square" lIns="0" tIns="0" rIns="0" bIns="0" rtlCol="0" anchor="ctr"/>
          <a:lstStyle/>
          <a:p>
            <a:pPr indent="0" marL="0">
              <a:buNone/>
            </a:pPr>
            <a:r>
              <a:rPr lang="en-US" sz="3600" b="1" dirty="0">
                <a:solidFill>
                  <a:srgbClr val="A4613C"/>
                </a:solidFill>
                <a:latin typeface="Cambria" pitchFamily="34" charset="0"/>
                <a:ea typeface="Cambria" pitchFamily="34" charset="-122"/>
                <a:cs typeface="Cambria" pitchFamily="34" charset="-120"/>
              </a:rPr>
              <a:t>65</a:t>
            </a:r>
            <a:endParaRPr lang="en-US" sz="3600" dirty="0"/>
          </a:p>
        </p:txBody>
      </p:sp>
      <p:sp>
        <p:nvSpPr>
          <p:cNvPr id="11" name="Text 9"/>
          <p:cNvSpPr txBox="1"/>
          <p:nvPr/>
        </p:nvSpPr>
        <p:spPr>
          <a:xfrm>
            <a:off x="6492240" y="2258568"/>
            <a:ext cx="2468880" cy="457200"/>
          </a:xfrm>
          <a:prstGeom prst="rect">
            <a:avLst/>
          </a:prstGeom>
          <a:noFill/>
          <a:ln/>
        </p:spPr>
        <p:txBody>
          <a:bodyPr wrap="square" lIns="0" tIns="0" rIns="0" bIns="0" rtlCol="0" anchor="ctr"/>
          <a:lstStyle/>
          <a:p>
            <a:pPr indent="0" marL="0">
              <a:lnSpc>
                <a:spcPts val="1300"/>
              </a:lnSpc>
              <a:buNone/>
            </a:pPr>
            <a:r>
              <a:rPr lang="en-US" sz="1050" dirty="0">
                <a:solidFill>
                  <a:srgbClr val="6E6658"/>
                </a:solidFill>
                <a:latin typeface="Calibri" pitchFamily="34" charset="0"/>
                <a:ea typeface="Calibri" pitchFamily="34" charset="-122"/>
                <a:cs typeface="Calibri" pitchFamily="34" charset="-120"/>
              </a:rPr>
              <a:t>predictors selected</a:t>
            </a:r>
            <a:endParaRPr lang="en-US" sz="1050" dirty="0"/>
          </a:p>
        </p:txBody>
      </p:sp>
      <p:sp>
        <p:nvSpPr>
          <p:cNvPr id="12" name="Text 10"/>
          <p:cNvSpPr txBox="1"/>
          <p:nvPr/>
        </p:nvSpPr>
        <p:spPr>
          <a:xfrm>
            <a:off x="9144000" y="1600200"/>
            <a:ext cx="2468880" cy="685800"/>
          </a:xfrm>
          <a:prstGeom prst="rect">
            <a:avLst/>
          </a:prstGeom>
          <a:noFill/>
          <a:ln/>
        </p:spPr>
        <p:txBody>
          <a:bodyPr wrap="square" lIns="0" tIns="0" rIns="0" bIns="0" rtlCol="0" anchor="ctr"/>
          <a:lstStyle/>
          <a:p>
            <a:pPr indent="0" marL="0">
              <a:buNone/>
            </a:pPr>
            <a:r>
              <a:rPr lang="en-US" sz="3600" b="1" dirty="0">
                <a:solidFill>
                  <a:srgbClr val="A4613C"/>
                </a:solidFill>
                <a:latin typeface="Cambria" pitchFamily="34" charset="0"/>
                <a:ea typeface="Cambria" pitchFamily="34" charset="-122"/>
                <a:cs typeface="Cambria" pitchFamily="34" charset="-120"/>
              </a:rPr>
              <a:t>128</a:t>
            </a:r>
            <a:endParaRPr lang="en-US" sz="3600" dirty="0"/>
          </a:p>
        </p:txBody>
      </p:sp>
      <p:sp>
        <p:nvSpPr>
          <p:cNvPr id="13" name="Text 11"/>
          <p:cNvSpPr txBox="1"/>
          <p:nvPr/>
        </p:nvSpPr>
        <p:spPr>
          <a:xfrm>
            <a:off x="9144000" y="2258568"/>
            <a:ext cx="2468880" cy="457200"/>
          </a:xfrm>
          <a:prstGeom prst="rect">
            <a:avLst/>
          </a:prstGeom>
          <a:noFill/>
          <a:ln/>
        </p:spPr>
        <p:txBody>
          <a:bodyPr wrap="square" lIns="0" tIns="0" rIns="0" bIns="0" rtlCol="0" anchor="ctr"/>
          <a:lstStyle/>
          <a:p>
            <a:pPr indent="0" marL="0">
              <a:lnSpc>
                <a:spcPts val="1300"/>
              </a:lnSpc>
              <a:buNone/>
            </a:pPr>
            <a:r>
              <a:rPr lang="en-US" sz="1050" dirty="0">
                <a:solidFill>
                  <a:srgbClr val="6E6658"/>
                </a:solidFill>
                <a:latin typeface="Calibri" pitchFamily="34" charset="0"/>
                <a:ea typeface="Calibri" pitchFamily="34" charset="-122"/>
                <a:cs typeface="Calibri" pitchFamily="34" charset="-120"/>
              </a:rPr>
              <a:t>features after encoding</a:t>
            </a:r>
            <a:endParaRPr lang="en-US" sz="1050" dirty="0"/>
          </a:p>
        </p:txBody>
      </p:sp>
      <p:sp>
        <p:nvSpPr>
          <p:cNvPr id="14" name="Text 12"/>
          <p:cNvSpPr txBox="1"/>
          <p:nvPr/>
        </p:nvSpPr>
        <p:spPr>
          <a:xfrm>
            <a:off x="6492240" y="2880360"/>
            <a:ext cx="2468880" cy="685800"/>
          </a:xfrm>
          <a:prstGeom prst="rect">
            <a:avLst/>
          </a:prstGeom>
          <a:noFill/>
          <a:ln/>
        </p:spPr>
        <p:txBody>
          <a:bodyPr wrap="square" lIns="0" tIns="0" rIns="0" bIns="0" rtlCol="0" anchor="ctr"/>
          <a:lstStyle/>
          <a:p>
            <a:pPr indent="0" marL="0">
              <a:buNone/>
            </a:pPr>
            <a:r>
              <a:rPr lang="en-US" sz="3600" b="1" dirty="0">
                <a:solidFill>
                  <a:srgbClr val="77856B"/>
                </a:solidFill>
                <a:latin typeface="Cambria" pitchFamily="34" charset="0"/>
                <a:ea typeface="Cambria" pitchFamily="34" charset="-122"/>
                <a:cs typeface="Cambria" pitchFamily="34" charset="-120"/>
              </a:rPr>
              <a:t>6</a:t>
            </a:r>
            <a:endParaRPr lang="en-US" sz="3600" dirty="0"/>
          </a:p>
        </p:txBody>
      </p:sp>
      <p:sp>
        <p:nvSpPr>
          <p:cNvPr id="15" name="Text 13"/>
          <p:cNvSpPr txBox="1"/>
          <p:nvPr/>
        </p:nvSpPr>
        <p:spPr>
          <a:xfrm>
            <a:off x="6492240" y="3538728"/>
            <a:ext cx="2468880" cy="457200"/>
          </a:xfrm>
          <a:prstGeom prst="rect">
            <a:avLst/>
          </a:prstGeom>
          <a:noFill/>
          <a:ln/>
        </p:spPr>
        <p:txBody>
          <a:bodyPr wrap="square" lIns="0" tIns="0" rIns="0" bIns="0" rtlCol="0" anchor="ctr"/>
          <a:lstStyle/>
          <a:p>
            <a:pPr indent="0" marL="0">
              <a:lnSpc>
                <a:spcPts val="1300"/>
              </a:lnSpc>
              <a:buNone/>
            </a:pPr>
            <a:r>
              <a:rPr lang="en-US" sz="1050" dirty="0">
                <a:solidFill>
                  <a:srgbClr val="6E6658"/>
                </a:solidFill>
                <a:latin typeface="Calibri" pitchFamily="34" charset="0"/>
                <a:ea typeface="Calibri" pitchFamily="34" charset="-122"/>
                <a:cs typeface="Calibri" pitchFamily="34" charset="-120"/>
              </a:rPr>
              <a:t>columns deliberately excluded</a:t>
            </a:r>
            <a:endParaRPr lang="en-US" sz="1050" dirty="0"/>
          </a:p>
        </p:txBody>
      </p:sp>
      <p:sp>
        <p:nvSpPr>
          <p:cNvPr id="16" name="Text 14"/>
          <p:cNvSpPr txBox="1"/>
          <p:nvPr/>
        </p:nvSpPr>
        <p:spPr>
          <a:xfrm>
            <a:off x="9144000" y="2880360"/>
            <a:ext cx="2468880" cy="685800"/>
          </a:xfrm>
          <a:prstGeom prst="rect">
            <a:avLst/>
          </a:prstGeom>
          <a:noFill/>
          <a:ln/>
        </p:spPr>
        <p:txBody>
          <a:bodyPr wrap="square" lIns="0" tIns="0" rIns="0" bIns="0" rtlCol="0" anchor="ctr"/>
          <a:lstStyle/>
          <a:p>
            <a:pPr indent="0" marL="0">
              <a:buNone/>
            </a:pPr>
            <a:r>
              <a:rPr lang="en-US" sz="3600" b="1" dirty="0">
                <a:solidFill>
                  <a:srgbClr val="77856B"/>
                </a:solidFill>
                <a:latin typeface="Cambria" pitchFamily="34" charset="0"/>
                <a:ea typeface="Cambria" pitchFamily="34" charset="-122"/>
                <a:cs typeface="Cambria" pitchFamily="34" charset="-120"/>
              </a:rPr>
              <a:t>0</a:t>
            </a:r>
            <a:endParaRPr lang="en-US" sz="3600" dirty="0"/>
          </a:p>
        </p:txBody>
      </p:sp>
      <p:sp>
        <p:nvSpPr>
          <p:cNvPr id="17" name="Text 15"/>
          <p:cNvSpPr txBox="1"/>
          <p:nvPr/>
        </p:nvSpPr>
        <p:spPr>
          <a:xfrm>
            <a:off x="9144000" y="3538728"/>
            <a:ext cx="2468880" cy="457200"/>
          </a:xfrm>
          <a:prstGeom prst="rect">
            <a:avLst/>
          </a:prstGeom>
          <a:noFill/>
          <a:ln/>
        </p:spPr>
        <p:txBody>
          <a:bodyPr wrap="square" lIns="0" tIns="0" rIns="0" bIns="0" rtlCol="0" anchor="ctr"/>
          <a:lstStyle/>
          <a:p>
            <a:pPr indent="0" marL="0">
              <a:lnSpc>
                <a:spcPts val="1300"/>
              </a:lnSpc>
              <a:buNone/>
            </a:pPr>
            <a:r>
              <a:rPr lang="en-US" sz="1050" dirty="0">
                <a:solidFill>
                  <a:srgbClr val="6E6658"/>
                </a:solidFill>
                <a:latin typeface="Calibri" pitchFamily="34" charset="0"/>
                <a:ea typeface="Calibri" pitchFamily="34" charset="-122"/>
                <a:cs typeface="Calibri" pitchFamily="34" charset="-120"/>
              </a:rPr>
              <a:t>target-derived inputs left in X</a:t>
            </a:r>
            <a:endParaRPr lang="en-US" sz="1050" dirty="0"/>
          </a:p>
        </p:txBody>
      </p:sp>
      <p:sp>
        <p:nvSpPr>
          <p:cNvPr id="18" name="Shape 16"/>
          <p:cNvSpPr/>
          <p:nvPr/>
        </p:nvSpPr>
        <p:spPr>
          <a:xfrm>
            <a:off x="6492240" y="4114800"/>
            <a:ext cx="5120640" cy="1508760"/>
          </a:xfrm>
          <a:prstGeom prst="roundRect">
            <a:avLst>
              <a:gd name="adj" fmla="val 4848"/>
            </a:avLst>
          </a:prstGeom>
          <a:solidFill>
            <a:srgbClr val="EAE3D6"/>
          </a:solidFill>
          <a:ln w="12700">
            <a:solidFill>
              <a:srgbClr val="EAE3D6"/>
            </a:solidFill>
            <a:prstDash val="solid"/>
          </a:ln>
        </p:spPr>
      </p:sp>
      <p:sp>
        <p:nvSpPr>
          <p:cNvPr id="19" name="Text 17"/>
          <p:cNvSpPr txBox="1"/>
          <p:nvPr/>
        </p:nvSpPr>
        <p:spPr>
          <a:xfrm>
            <a:off x="6720840" y="4279392"/>
            <a:ext cx="466344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Selection philosophy</a:t>
            </a:r>
            <a:endParaRPr lang="en-US" sz="1400" dirty="0"/>
          </a:p>
        </p:txBody>
      </p:sp>
      <p:sp>
        <p:nvSpPr>
          <p:cNvPr id="20" name="Text 18"/>
          <p:cNvSpPr txBox="1"/>
          <p:nvPr/>
        </p:nvSpPr>
        <p:spPr>
          <a:xfrm>
            <a:off x="6720840" y="4626864"/>
            <a:ext cx="4663440" cy="822960"/>
          </a:xfrm>
          <a:prstGeom prst="rect">
            <a:avLst/>
          </a:prstGeom>
          <a:noFill/>
          <a:ln/>
        </p:spPr>
        <p:txBody>
          <a:bodyPr wrap="square" lIns="0" tIns="0" rIns="0" bIns="0" rtlCol="0" anchor="t"/>
          <a:lstStyle/>
          <a:p>
            <a:pPr indent="0" marL="0">
              <a:lnSpc>
                <a:spcPts val="1500"/>
              </a:lnSpc>
              <a:buNone/>
            </a:pPr>
            <a:r>
              <a:rPr lang="en-US" sz="1050" dirty="0">
                <a:solidFill>
                  <a:srgbClr val="6E6658"/>
                </a:solidFill>
                <a:latin typeface="Calibri" pitchFamily="34" charset="0"/>
                <a:ea typeface="Calibri" pitchFamily="34" charset="-122"/>
                <a:cs typeface="Calibri" pitchFamily="34" charset="-120"/>
              </a:rPr>
              <a:t>Keep every domain-relevant physical, climate and structural-missingness signal; remove only identifiers, administrative artefacts, target representations and exact collinear twins. Regularised models (Lasso, ElasticNet) then prune what is left — the tuned Lasso zeroes 32 of 128 encoded features, 25% sparsity.</a:t>
            </a:r>
            <a:endParaRPr lang="en-US" sz="1050" dirty="0"/>
          </a:p>
        </p:txBody>
      </p:sp>
      <p:sp>
        <p:nvSpPr>
          <p:cNvPr id="21" name="Text 19"/>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26</a:t>
            </a:r>
            <a:endParaRPr lang="en-US" sz="900" dirty="0"/>
          </a:p>
        </p:txBody>
      </p:sp>
      <p:sp>
        <p:nvSpPr>
          <p:cNvPr id="22" name="Text 20"/>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Feature selection</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MODELLING</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Train–test split (stratified 80 : 20)</a:t>
            </a:r>
            <a:endParaRPr lang="en-US" sz="2800" dirty="0"/>
          </a:p>
        </p:txBody>
      </p:sp>
      <p:sp>
        <p:nvSpPr>
          <p:cNvPr id="4" name="Shape 2"/>
          <p:cNvSpPr/>
          <p:nvPr/>
        </p:nvSpPr>
        <p:spPr>
          <a:xfrm>
            <a:off x="548640" y="1463040"/>
            <a:ext cx="5760720" cy="914400"/>
          </a:xfrm>
          <a:prstGeom prst="roundRect">
            <a:avLst>
              <a:gd name="adj" fmla="val 5000"/>
            </a:avLst>
          </a:prstGeom>
          <a:solidFill>
            <a:srgbClr val="EAE3D6"/>
          </a:solidFill>
          <a:ln w="12700">
            <a:solidFill>
              <a:srgbClr val="F6F2EA"/>
            </a:solidFill>
            <a:prstDash val="solid"/>
          </a:ln>
        </p:spPr>
      </p:sp>
      <p:sp>
        <p:nvSpPr>
          <p:cNvPr id="5" name="Text 3"/>
          <p:cNvSpPr txBox="1"/>
          <p:nvPr/>
        </p:nvSpPr>
        <p:spPr>
          <a:xfrm>
            <a:off x="777240" y="1572768"/>
            <a:ext cx="5303520" cy="274320"/>
          </a:xfrm>
          <a:prstGeom prst="rect">
            <a:avLst/>
          </a:prstGeom>
          <a:noFill/>
          <a:ln/>
        </p:spPr>
        <p:txBody>
          <a:bodyPr wrap="square" lIns="0" tIns="0" rIns="0" bIns="0" rtlCol="0" anchor="ctr"/>
          <a:lstStyle/>
          <a:p>
            <a:pPr indent="0" marL="0">
              <a:buNone/>
            </a:pPr>
            <a:r>
              <a:rPr lang="en-US" sz="1250" b="1" dirty="0">
                <a:solidFill>
                  <a:srgbClr val="A4613C"/>
                </a:solidFill>
                <a:latin typeface="Cambria" pitchFamily="34" charset="0"/>
                <a:ea typeface="Cambria" pitchFamily="34" charset="-122"/>
                <a:cs typeface="Cambria" pitchFamily="34" charset="-120"/>
              </a:rPr>
              <a:t>Bin the target</a:t>
            </a:r>
            <a:endParaRPr lang="en-US" sz="1250" dirty="0"/>
          </a:p>
        </p:txBody>
      </p:sp>
      <p:sp>
        <p:nvSpPr>
          <p:cNvPr id="6" name="Text 4"/>
          <p:cNvSpPr txBox="1"/>
          <p:nvPr/>
        </p:nvSpPr>
        <p:spPr>
          <a:xfrm>
            <a:off x="777240" y="1865376"/>
            <a:ext cx="5303520" cy="457200"/>
          </a:xfrm>
          <a:prstGeom prst="rect">
            <a:avLst/>
          </a:prstGeom>
          <a:noFill/>
          <a:ln/>
        </p:spPr>
        <p:txBody>
          <a:bodyPr wrap="square" lIns="0" tIns="0" rIns="0" bIns="0" rtlCol="0" anchor="ctr"/>
          <a:lstStyle/>
          <a:p>
            <a:pPr indent="0" marL="0">
              <a:lnSpc>
                <a:spcPts val="1300"/>
              </a:lnSpc>
              <a:buNone/>
            </a:pPr>
            <a:r>
              <a:rPr lang="en-US" sz="1050" dirty="0">
                <a:solidFill>
                  <a:srgbClr val="6E6658"/>
                </a:solidFill>
                <a:latin typeface="Calibri" pitchFamily="34" charset="0"/>
                <a:ea typeface="Calibri" pitchFamily="34" charset="-122"/>
                <a:cs typeface="Calibri" pitchFamily="34" charset="-120"/>
              </a:rPr>
              <a:t>y_quantiles = pd.qcut(y_log, q=10) turns the continuous target into 10 equal-sized bands.</a:t>
            </a:r>
            <a:endParaRPr lang="en-US" sz="1050" dirty="0"/>
          </a:p>
        </p:txBody>
      </p:sp>
      <p:sp>
        <p:nvSpPr>
          <p:cNvPr id="7" name="Shape 5"/>
          <p:cNvSpPr/>
          <p:nvPr/>
        </p:nvSpPr>
        <p:spPr>
          <a:xfrm>
            <a:off x="548640" y="2468880"/>
            <a:ext cx="5760720" cy="914400"/>
          </a:xfrm>
          <a:prstGeom prst="roundRect">
            <a:avLst>
              <a:gd name="adj" fmla="val 5000"/>
            </a:avLst>
          </a:prstGeom>
          <a:solidFill>
            <a:srgbClr val="E3DFD2"/>
          </a:solidFill>
          <a:ln w="12700">
            <a:solidFill>
              <a:srgbClr val="F6F2EA"/>
            </a:solidFill>
            <a:prstDash val="solid"/>
          </a:ln>
        </p:spPr>
      </p:sp>
      <p:sp>
        <p:nvSpPr>
          <p:cNvPr id="8" name="Text 6"/>
          <p:cNvSpPr txBox="1"/>
          <p:nvPr/>
        </p:nvSpPr>
        <p:spPr>
          <a:xfrm>
            <a:off x="777240" y="2578608"/>
            <a:ext cx="5303520" cy="274320"/>
          </a:xfrm>
          <a:prstGeom prst="rect">
            <a:avLst/>
          </a:prstGeom>
          <a:noFill/>
          <a:ln/>
        </p:spPr>
        <p:txBody>
          <a:bodyPr wrap="square" lIns="0" tIns="0" rIns="0" bIns="0" rtlCol="0" anchor="ctr"/>
          <a:lstStyle/>
          <a:p>
            <a:pPr indent="0" marL="0">
              <a:buNone/>
            </a:pPr>
            <a:r>
              <a:rPr lang="en-US" sz="1250" b="1" dirty="0">
                <a:solidFill>
                  <a:srgbClr val="A4613C"/>
                </a:solidFill>
                <a:latin typeface="Cambria" pitchFamily="34" charset="0"/>
                <a:ea typeface="Cambria" pitchFamily="34" charset="-122"/>
                <a:cs typeface="Cambria" pitchFamily="34" charset="-120"/>
              </a:rPr>
              <a:t>Split with stratify</a:t>
            </a:r>
            <a:endParaRPr lang="en-US" sz="1250" dirty="0"/>
          </a:p>
        </p:txBody>
      </p:sp>
      <p:sp>
        <p:nvSpPr>
          <p:cNvPr id="9" name="Text 7"/>
          <p:cNvSpPr txBox="1"/>
          <p:nvPr/>
        </p:nvSpPr>
        <p:spPr>
          <a:xfrm>
            <a:off x="777240" y="2871216"/>
            <a:ext cx="5303520" cy="457200"/>
          </a:xfrm>
          <a:prstGeom prst="rect">
            <a:avLst/>
          </a:prstGeom>
          <a:noFill/>
          <a:ln/>
        </p:spPr>
        <p:txBody>
          <a:bodyPr wrap="square" lIns="0" tIns="0" rIns="0" bIns="0" rtlCol="0" anchor="ctr"/>
          <a:lstStyle/>
          <a:p>
            <a:pPr indent="0" marL="0">
              <a:lnSpc>
                <a:spcPts val="1300"/>
              </a:lnSpc>
              <a:buNone/>
            </a:pPr>
            <a:r>
              <a:rPr lang="en-US" sz="1050" dirty="0">
                <a:solidFill>
                  <a:srgbClr val="6E6658"/>
                </a:solidFill>
                <a:latin typeface="Calibri" pitchFamily="34" charset="0"/>
                <a:ea typeface="Calibri" pitchFamily="34" charset="-122"/>
                <a:cs typeface="Calibri" pitchFamily="34" charset="-120"/>
              </a:rPr>
              <a:t>train_test_split(..., test_size=0.2, random_state=42, stratify=y_quantiles) keeps the same share of every band in both sets.</a:t>
            </a:r>
            <a:endParaRPr lang="en-US" sz="1050" dirty="0"/>
          </a:p>
        </p:txBody>
      </p:sp>
      <p:sp>
        <p:nvSpPr>
          <p:cNvPr id="10" name="Shape 8"/>
          <p:cNvSpPr/>
          <p:nvPr/>
        </p:nvSpPr>
        <p:spPr>
          <a:xfrm>
            <a:off x="548640" y="3474720"/>
            <a:ext cx="5760720" cy="914400"/>
          </a:xfrm>
          <a:prstGeom prst="roundRect">
            <a:avLst>
              <a:gd name="adj" fmla="val 5000"/>
            </a:avLst>
          </a:prstGeom>
          <a:solidFill>
            <a:srgbClr val="EAE3D6"/>
          </a:solidFill>
          <a:ln w="12700">
            <a:solidFill>
              <a:srgbClr val="F6F2EA"/>
            </a:solidFill>
            <a:prstDash val="solid"/>
          </a:ln>
        </p:spPr>
      </p:sp>
      <p:sp>
        <p:nvSpPr>
          <p:cNvPr id="11" name="Text 9"/>
          <p:cNvSpPr txBox="1"/>
          <p:nvPr/>
        </p:nvSpPr>
        <p:spPr>
          <a:xfrm>
            <a:off x="777240" y="3584448"/>
            <a:ext cx="5303520" cy="274320"/>
          </a:xfrm>
          <a:prstGeom prst="rect">
            <a:avLst/>
          </a:prstGeom>
          <a:noFill/>
          <a:ln/>
        </p:spPr>
        <p:txBody>
          <a:bodyPr wrap="square" lIns="0" tIns="0" rIns="0" bIns="0" rtlCol="0" anchor="ctr"/>
          <a:lstStyle/>
          <a:p>
            <a:pPr indent="0" marL="0">
              <a:buNone/>
            </a:pPr>
            <a:r>
              <a:rPr lang="en-US" sz="1250" b="1" dirty="0">
                <a:solidFill>
                  <a:srgbClr val="A4613C"/>
                </a:solidFill>
                <a:latin typeface="Cambria" pitchFamily="34" charset="0"/>
                <a:ea typeface="Cambria" pitchFamily="34" charset="-122"/>
                <a:cs typeface="Cambria" pitchFamily="34" charset="-120"/>
              </a:rPr>
              <a:t>Verify</a:t>
            </a:r>
            <a:endParaRPr lang="en-US" sz="1250" dirty="0"/>
          </a:p>
        </p:txBody>
      </p:sp>
      <p:sp>
        <p:nvSpPr>
          <p:cNvPr id="12" name="Text 10"/>
          <p:cNvSpPr txBox="1"/>
          <p:nvPr/>
        </p:nvSpPr>
        <p:spPr>
          <a:xfrm>
            <a:off x="777240" y="3877056"/>
            <a:ext cx="5303520" cy="457200"/>
          </a:xfrm>
          <a:prstGeom prst="rect">
            <a:avLst/>
          </a:prstGeom>
          <a:noFill/>
          <a:ln/>
        </p:spPr>
        <p:txBody>
          <a:bodyPr wrap="square" lIns="0" tIns="0" rIns="0" bIns="0" rtlCol="0" anchor="ctr"/>
          <a:lstStyle/>
          <a:p>
            <a:pPr indent="0" marL="0">
              <a:lnSpc>
                <a:spcPts val="1300"/>
              </a:lnSpc>
              <a:buNone/>
            </a:pPr>
            <a:r>
              <a:rPr lang="en-US" sz="1050" dirty="0">
                <a:solidFill>
                  <a:srgbClr val="6E6658"/>
                </a:solidFill>
                <a:latin typeface="Calibri" pitchFamily="34" charset="0"/>
                <a:ea typeface="Calibri" pitchFamily="34" charset="-122"/>
                <a:cs typeface="Calibri" pitchFamily="34" charset="-120"/>
              </a:rPr>
              <a:t>Train and test target statistics are compared before any model is fitted.</a:t>
            </a:r>
            <a:endParaRPr lang="en-US" sz="1050" dirty="0"/>
          </a:p>
        </p:txBody>
      </p:sp>
      <p:sp>
        <p:nvSpPr>
          <p:cNvPr id="13" name="Shape 11"/>
          <p:cNvSpPr/>
          <p:nvPr/>
        </p:nvSpPr>
        <p:spPr>
          <a:xfrm>
            <a:off x="548640" y="4526280"/>
            <a:ext cx="5760720" cy="1280160"/>
          </a:xfrm>
          <a:prstGeom prst="roundRect">
            <a:avLst>
              <a:gd name="adj" fmla="val 5714"/>
            </a:avLst>
          </a:prstGeom>
          <a:solidFill>
            <a:srgbClr val="EAE3D6"/>
          </a:solidFill>
          <a:ln w="12700">
            <a:solidFill>
              <a:srgbClr val="EAE3D6"/>
            </a:solidFill>
            <a:prstDash val="solid"/>
          </a:ln>
        </p:spPr>
      </p:sp>
      <p:sp>
        <p:nvSpPr>
          <p:cNvPr id="14" name="Text 12"/>
          <p:cNvSpPr txBox="1"/>
          <p:nvPr/>
        </p:nvSpPr>
        <p:spPr>
          <a:xfrm>
            <a:off x="777240" y="4690872"/>
            <a:ext cx="530352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Why stratify a continuous target?</a:t>
            </a:r>
            <a:endParaRPr lang="en-US" sz="1400" dirty="0"/>
          </a:p>
        </p:txBody>
      </p:sp>
      <p:sp>
        <p:nvSpPr>
          <p:cNvPr id="15" name="Text 13"/>
          <p:cNvSpPr txBox="1"/>
          <p:nvPr/>
        </p:nvSpPr>
        <p:spPr>
          <a:xfrm>
            <a:off x="777240" y="5038344"/>
            <a:ext cx="5303520" cy="594360"/>
          </a:xfrm>
          <a:prstGeom prst="rect">
            <a:avLst/>
          </a:prstGeom>
          <a:noFill/>
          <a:ln/>
        </p:spPr>
        <p:txBody>
          <a:bodyPr wrap="square" lIns="0" tIns="0" rIns="0" bIns="0" rtlCol="0" anchor="t"/>
          <a:lstStyle/>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Ordinary random splitting can land most of the very high-EUI buildings in one side. Binning into deciles first and stratifying on those bins guarantees that rare extreme values appear in both train and test, so the test score is a fair estimate.</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675120" y="1463040"/>
          <a:ext cx="4937760" cy="914400"/>
        </p:xfrm>
        <a:graphic>
          <a:graphicData uri="http://schemas.openxmlformats.org/drawingml/2006/table">
            <a:tbl>
              <a:tblPr/>
              <a:tblGrid>
                <a:gridCol w="1645920"/>
                <a:gridCol w="1645920"/>
                <a:gridCol w="1645920"/>
              </a:tblGrid>
              <a:tr h="384048">
                <a:tc>
                  <a:txBody>
                    <a:bodyPr/>
                    <a:lstStyle/>
                    <a:p>
                      <a:pPr indent="0" marL="0">
                        <a:buNone/>
                      </a:pPr>
                      <a:r>
                        <a:rPr lang="en-US" sz="1100" b="1" dirty="0">
                          <a:solidFill>
                            <a:srgbClr val="F6F2EA"/>
                          </a:solidFill>
                          <a:latin typeface="Calibri" pitchFamily="34" charset="0"/>
                          <a:ea typeface="Calibri" pitchFamily="34" charset="-122"/>
                          <a:cs typeface="Calibri" pitchFamily="34" charset="-120"/>
                        </a:rPr>
                        <a:t>Set</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100" b="1" dirty="0">
                          <a:solidFill>
                            <a:srgbClr val="F6F2EA"/>
                          </a:solidFill>
                          <a:latin typeface="Calibri" pitchFamily="34" charset="0"/>
                          <a:ea typeface="Calibri" pitchFamily="34" charset="-122"/>
                          <a:cs typeface="Calibri" pitchFamily="34" charset="-120"/>
                        </a:rPr>
                        <a:t>Rows</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100" b="1" dirty="0">
                          <a:solidFill>
                            <a:srgbClr val="F6F2EA"/>
                          </a:solidFill>
                          <a:latin typeface="Calibri" pitchFamily="34" charset="0"/>
                          <a:ea typeface="Calibri" pitchFamily="34" charset="-122"/>
                          <a:cs typeface="Calibri" pitchFamily="34" charset="-120"/>
                        </a:rPr>
                        <a:t>Columns</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r>
              <a:tr h="384048">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X_train</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60,605</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65</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84048">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X_test</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15,152</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65</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bl>
          </a:graphicData>
        </a:graphic>
      </p:graphicFrame>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6675120" y="3063240"/>
          <a:ext cx="4937760" cy="914400"/>
        </p:xfrm>
        <a:graphic>
          <a:graphicData uri="http://schemas.openxmlformats.org/drawingml/2006/table">
            <a:tbl>
              <a:tblPr/>
              <a:tblGrid>
                <a:gridCol w="1828800"/>
                <a:gridCol w="1554480"/>
                <a:gridCol w="1554480"/>
              </a:tblGrid>
              <a:tr h="384048">
                <a:tc>
                  <a:txBody>
                    <a:bodyPr/>
                    <a:lstStyle/>
                    <a:p>
                      <a:pPr indent="0" marL="0">
                        <a:buNone/>
                      </a:pPr>
                      <a:r>
                        <a:rPr lang="en-US" sz="1100" b="1" dirty="0">
                          <a:solidFill>
                            <a:srgbClr val="F6F2EA"/>
                          </a:solidFill>
                          <a:latin typeface="Calibri" pitchFamily="34" charset="0"/>
                          <a:ea typeface="Calibri" pitchFamily="34" charset="-122"/>
                          <a:cs typeface="Calibri" pitchFamily="34" charset="-120"/>
                        </a:rPr>
                        <a:t>log_site_eui</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100" b="1" dirty="0">
                          <a:solidFill>
                            <a:srgbClr val="F6F2EA"/>
                          </a:solidFill>
                          <a:latin typeface="Calibri" pitchFamily="34" charset="0"/>
                          <a:ea typeface="Calibri" pitchFamily="34" charset="-122"/>
                          <a:cs typeface="Calibri" pitchFamily="34" charset="-120"/>
                        </a:rPr>
                        <a:t>Train</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100" b="1" dirty="0">
                          <a:solidFill>
                            <a:srgbClr val="F6F2EA"/>
                          </a:solidFill>
                          <a:latin typeface="Calibri" pitchFamily="34" charset="0"/>
                          <a:ea typeface="Calibri" pitchFamily="34" charset="-122"/>
                          <a:cs typeface="Calibri" pitchFamily="34" charset="-120"/>
                        </a:rPr>
                        <a:t>Test</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r>
              <a:tr h="384048">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Mean</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4.2424</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4.2401</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84048">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Std</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0.6480</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0.6505</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Median</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4.3346</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100" dirty="0">
                          <a:solidFill>
                            <a:srgbClr val="2B2A26"/>
                          </a:solidFill>
                          <a:latin typeface="Calibri" pitchFamily="34" charset="0"/>
                          <a:ea typeface="Calibri" pitchFamily="34" charset="-122"/>
                          <a:cs typeface="Calibri" pitchFamily="34" charset="-120"/>
                        </a:rPr>
                        <a:t>4.3346</a:t>
                      </a:r>
                      <a:endParaRPr lang="en-US" sz="11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bl>
          </a:graphicData>
        </a:graphic>
      </p:graphicFrame>
      <p:sp>
        <p:nvSpPr>
          <p:cNvPr id="18" name="Text 14"/>
          <p:cNvSpPr txBox="1"/>
          <p:nvPr/>
        </p:nvSpPr>
        <p:spPr>
          <a:xfrm>
            <a:off x="6675120" y="4892040"/>
            <a:ext cx="4937760" cy="822960"/>
          </a:xfrm>
          <a:prstGeom prst="rect">
            <a:avLst/>
          </a:prstGeom>
          <a:noFill/>
          <a:ln/>
        </p:spPr>
        <p:txBody>
          <a:bodyPr wrap="square" lIns="0" tIns="0" rIns="0" bIns="0" rtlCol="0" anchor="ctr"/>
          <a:lstStyle/>
          <a:p>
            <a:pPr indent="0" marL="0">
              <a:lnSpc>
                <a:spcPts val="1500"/>
              </a:lnSpc>
              <a:buNone/>
            </a:pPr>
            <a:r>
              <a:rPr lang="en-US" sz="1100" dirty="0">
                <a:solidFill>
                  <a:srgbClr val="2B2A26"/>
                </a:solidFill>
                <a:latin typeface="Calibri" pitchFamily="34" charset="0"/>
                <a:ea typeface="Calibri" pitchFamily="34" charset="-122"/>
                <a:cs typeface="Calibri" pitchFamily="34" charset="-120"/>
              </a:rPr>
              <a:t>The near-identical statistics confirm the stratification worked: both sets describe the same population, so test performance is trustworthy.</a:t>
            </a:r>
            <a:endParaRPr lang="en-US" sz="1100" dirty="0"/>
          </a:p>
        </p:txBody>
      </p:sp>
      <p:sp>
        <p:nvSpPr>
          <p:cNvPr id="19" name="Text 15"/>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27</a:t>
            </a:r>
            <a:endParaRPr lang="en-US" sz="900" dirty="0"/>
          </a:p>
        </p:txBody>
      </p:sp>
      <p:sp>
        <p:nvSpPr>
          <p:cNvPr id="20" name="Text 16"/>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Split</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MODELLING</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Preprocessing pipeline — how it is wired</a:t>
            </a:r>
            <a:endParaRPr lang="en-US" sz="2800" dirty="0"/>
          </a:p>
        </p:txBody>
      </p:sp>
      <p:sp>
        <p:nvSpPr>
          <p:cNvPr id="4" name="Shape 2"/>
          <p:cNvSpPr/>
          <p:nvPr/>
        </p:nvSpPr>
        <p:spPr>
          <a:xfrm>
            <a:off x="548640" y="1463040"/>
            <a:ext cx="5394960" cy="2148840"/>
          </a:xfrm>
          <a:prstGeom prst="roundRect">
            <a:avLst>
              <a:gd name="adj" fmla="val 3404"/>
            </a:avLst>
          </a:prstGeom>
          <a:solidFill>
            <a:srgbClr val="EAE3D6"/>
          </a:solidFill>
          <a:ln w="12700">
            <a:solidFill>
              <a:srgbClr val="EAE3D6"/>
            </a:solidFill>
            <a:prstDash val="solid"/>
          </a:ln>
        </p:spPr>
      </p:sp>
      <p:sp>
        <p:nvSpPr>
          <p:cNvPr id="5" name="Text 3"/>
          <p:cNvSpPr txBox="1"/>
          <p:nvPr/>
        </p:nvSpPr>
        <p:spPr>
          <a:xfrm>
            <a:off x="777240" y="1627632"/>
            <a:ext cx="493776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Numerical branch — 62 columns</a:t>
            </a:r>
            <a:endParaRPr lang="en-US" sz="1400" dirty="0"/>
          </a:p>
        </p:txBody>
      </p:sp>
      <p:sp>
        <p:nvSpPr>
          <p:cNvPr id="6" name="Text 4"/>
          <p:cNvSpPr txBox="1"/>
          <p:nvPr/>
        </p:nvSpPr>
        <p:spPr>
          <a:xfrm>
            <a:off x="777240" y="1975104"/>
            <a:ext cx="4937760" cy="1463040"/>
          </a:xfrm>
          <a:prstGeom prst="rect">
            <a:avLst/>
          </a:prstGeom>
          <a:noFill/>
          <a:ln/>
        </p:spPr>
        <p:txBody>
          <a:bodyPr wrap="square" lIns="0" tIns="0" rIns="0" bIns="0" rtlCol="0" anchor="t"/>
          <a:lstStyle/>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Pipeline([</a:t>
            </a:r>
            <a:endParaRPr lang="en-US" sz="1100" dirty="0"/>
          </a:p>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  ('imputer', SimpleImputer(strategy='median')),</a:t>
            </a:r>
            <a:endParaRPr lang="en-US" sz="1100" dirty="0"/>
          </a:p>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  ('scaler',  StandardScaler())</a:t>
            </a:r>
            <a:endParaRPr lang="en-US" sz="1100" dirty="0"/>
          </a:p>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a:t>
            </a:r>
            <a:endParaRPr lang="en-US" sz="1100" dirty="0"/>
          </a:p>
          <a:p>
            <a:pPr indent="0" marL="0">
              <a:lnSpc>
                <a:spcPts val="1500"/>
              </a:lnSpc>
              <a:buNone/>
            </a:pPr>
            <a:endParaRPr lang="en-US" sz="1100" dirty="0"/>
          </a:p>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Median fills gaps without being dragged by extreme values; StandardScaler rescales every column to mean 0 and standard deviation 1 so no feature dominates by unit alone.</a:t>
            </a:r>
            <a:endParaRPr lang="en-US" sz="1100" dirty="0"/>
          </a:p>
        </p:txBody>
      </p:sp>
      <p:sp>
        <p:nvSpPr>
          <p:cNvPr id="7" name="Shape 5"/>
          <p:cNvSpPr/>
          <p:nvPr/>
        </p:nvSpPr>
        <p:spPr>
          <a:xfrm>
            <a:off x="6217920" y="1463040"/>
            <a:ext cx="5394960" cy="2148840"/>
          </a:xfrm>
          <a:prstGeom prst="roundRect">
            <a:avLst>
              <a:gd name="adj" fmla="val 3404"/>
            </a:avLst>
          </a:prstGeom>
          <a:solidFill>
            <a:srgbClr val="E3DFD2"/>
          </a:solidFill>
          <a:ln w="12700">
            <a:solidFill>
              <a:srgbClr val="E3DFD2"/>
            </a:solidFill>
            <a:prstDash val="solid"/>
          </a:ln>
        </p:spPr>
      </p:sp>
      <p:sp>
        <p:nvSpPr>
          <p:cNvPr id="8" name="Text 6"/>
          <p:cNvSpPr txBox="1"/>
          <p:nvPr/>
        </p:nvSpPr>
        <p:spPr>
          <a:xfrm>
            <a:off x="6446520" y="1627632"/>
            <a:ext cx="493776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Categorical branch — 3 columns</a:t>
            </a:r>
            <a:endParaRPr lang="en-US" sz="1400" dirty="0"/>
          </a:p>
        </p:txBody>
      </p:sp>
      <p:sp>
        <p:nvSpPr>
          <p:cNvPr id="9" name="Text 7"/>
          <p:cNvSpPr txBox="1"/>
          <p:nvPr/>
        </p:nvSpPr>
        <p:spPr>
          <a:xfrm>
            <a:off x="6446520" y="1975104"/>
            <a:ext cx="4937760" cy="1463040"/>
          </a:xfrm>
          <a:prstGeom prst="rect">
            <a:avLst/>
          </a:prstGeom>
          <a:noFill/>
          <a:ln/>
        </p:spPr>
        <p:txBody>
          <a:bodyPr wrap="square" lIns="0" tIns="0" rIns="0" bIns="0" rtlCol="0" anchor="t"/>
          <a:lstStyle/>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Pipeline([</a:t>
            </a:r>
            <a:endParaRPr lang="en-US" sz="1100" dirty="0"/>
          </a:p>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  ('imputer', SimpleImputer(strategy='most_frequent')),</a:t>
            </a:r>
            <a:endParaRPr lang="en-US" sz="1100" dirty="0"/>
          </a:p>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  ('ohe', OneHotEncoder(drop='first',</a:t>
            </a:r>
            <a:endParaRPr lang="en-US" sz="1100" dirty="0"/>
          </a:p>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           handle_unknown='ignore'))</a:t>
            </a:r>
            <a:endParaRPr lang="en-US" sz="1100" dirty="0"/>
          </a:p>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a:t>
            </a:r>
            <a:endParaRPr lang="en-US" sz="1100" dirty="0"/>
          </a:p>
          <a:p>
            <a:pPr indent="0" marL="0">
              <a:lnSpc>
                <a:spcPts val="1500"/>
              </a:lnSpc>
              <a:buNone/>
            </a:pPr>
            <a:endParaRPr lang="en-US" sz="1100" dirty="0"/>
          </a:p>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Missing text becomes the most common category; one-hot turns every level into a 0/1 column the model can read.</a:t>
            </a:r>
            <a:endParaRPr lang="en-US" sz="1100" dirty="0"/>
          </a:p>
        </p:txBody>
      </p:sp>
      <p:sp>
        <p:nvSpPr>
          <p:cNvPr id="10" name="Shape 8"/>
          <p:cNvSpPr/>
          <p:nvPr/>
        </p:nvSpPr>
        <p:spPr>
          <a:xfrm>
            <a:off x="548640" y="3749040"/>
            <a:ext cx="11064240" cy="1188720"/>
          </a:xfrm>
          <a:prstGeom prst="roundRect">
            <a:avLst>
              <a:gd name="adj" fmla="val 6154"/>
            </a:avLst>
          </a:prstGeom>
          <a:solidFill>
            <a:srgbClr val="EAE3D6"/>
          </a:solidFill>
          <a:ln w="12700">
            <a:solidFill>
              <a:srgbClr val="EAE3D6"/>
            </a:solidFill>
            <a:prstDash val="solid"/>
          </a:ln>
        </p:spPr>
      </p:sp>
      <p:sp>
        <p:nvSpPr>
          <p:cNvPr id="11" name="Text 9"/>
          <p:cNvSpPr txBox="1"/>
          <p:nvPr/>
        </p:nvSpPr>
        <p:spPr>
          <a:xfrm>
            <a:off x="777240" y="3913632"/>
            <a:ext cx="1060704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ColumnTransformer — the junction</a:t>
            </a:r>
            <a:endParaRPr lang="en-US" sz="1400" dirty="0"/>
          </a:p>
        </p:txBody>
      </p:sp>
      <p:sp>
        <p:nvSpPr>
          <p:cNvPr id="12" name="Text 10"/>
          <p:cNvSpPr txBox="1"/>
          <p:nvPr/>
        </p:nvSpPr>
        <p:spPr>
          <a:xfrm>
            <a:off x="777240" y="4261104"/>
            <a:ext cx="10607040" cy="50292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ColumnTransformer([('num', num_pipeline, num_cols), ('cat', cat_pipeline, cat_cols)]) routes each column to the correct branch and glues the results back together: 65 input columns → 128 model-ready features. The whole transformer is then placed inside each model's Pipeline, so GridSearchCV refits the preprocessing separately on every cross-validation fold.</a:t>
            </a:r>
            <a:endParaRPr lang="en-US" sz="1150" dirty="0"/>
          </a:p>
        </p:txBody>
      </p:sp>
      <p:sp>
        <p:nvSpPr>
          <p:cNvPr id="13" name="Shape 11"/>
          <p:cNvSpPr/>
          <p:nvPr/>
        </p:nvSpPr>
        <p:spPr>
          <a:xfrm>
            <a:off x="548640" y="5074920"/>
            <a:ext cx="11064240" cy="1234440"/>
          </a:xfrm>
          <a:prstGeom prst="roundRect">
            <a:avLst>
              <a:gd name="adj" fmla="val 5926"/>
            </a:avLst>
          </a:prstGeom>
          <a:solidFill>
            <a:srgbClr val="E3DFD2"/>
          </a:solidFill>
          <a:ln w="12700">
            <a:solidFill>
              <a:srgbClr val="E3DFD2"/>
            </a:solidFill>
            <a:prstDash val="solid"/>
          </a:ln>
        </p:spPr>
      </p:sp>
      <p:sp>
        <p:nvSpPr>
          <p:cNvPr id="14" name="Text 12"/>
          <p:cNvSpPr txBox="1"/>
          <p:nvPr/>
        </p:nvSpPr>
        <p:spPr>
          <a:xfrm>
            <a:off x="777240" y="5239512"/>
            <a:ext cx="1060704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Zero-leakage guarantee</a:t>
            </a:r>
            <a:endParaRPr lang="en-US" sz="1400" dirty="0"/>
          </a:p>
        </p:txBody>
      </p:sp>
      <p:sp>
        <p:nvSpPr>
          <p:cNvPr id="15" name="Text 13"/>
          <p:cNvSpPr txBox="1"/>
          <p:nvPr/>
        </p:nvSpPr>
        <p:spPr>
          <a:xfrm>
            <a:off x="777240" y="5586984"/>
            <a:ext cx="10607040" cy="54864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fit_transform() is called on X_train only; X_test is passed through transform() alone. Every median, every scaling mean and standard deviation, and the full list of one-hot categories are learned from training rows exclusively — the test set contributes nothing to the preprocessing. handle_unknown='ignore' then absorbs any category the training data never contained, so the guarantee holds without special-casing.</a:t>
            </a:r>
            <a:endParaRPr lang="en-US" sz="1150" dirty="0"/>
          </a:p>
        </p:txBody>
      </p:sp>
      <p:sp>
        <p:nvSpPr>
          <p:cNvPr id="16" name="Text 14"/>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28</a:t>
            </a:r>
            <a:endParaRPr lang="en-US" sz="900" dirty="0"/>
          </a:p>
        </p:txBody>
      </p:sp>
      <p:sp>
        <p:nvSpPr>
          <p:cNvPr id="17" name="Text 15"/>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Pipeline</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ALGORITHMS</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Algorithms 1–3 · Linear and regularised models</a:t>
            </a:r>
            <a:endParaRPr lang="en-US" sz="2800" dirty="0"/>
          </a:p>
        </p:txBody>
      </p:sp>
      <p:sp>
        <p:nvSpPr>
          <p:cNvPr id="4" name="Shape 2"/>
          <p:cNvSpPr/>
          <p:nvPr/>
        </p:nvSpPr>
        <p:spPr>
          <a:xfrm>
            <a:off x="548640" y="1463040"/>
            <a:ext cx="11064240" cy="1371600"/>
          </a:xfrm>
          <a:prstGeom prst="roundRect">
            <a:avLst>
              <a:gd name="adj" fmla="val 4000"/>
            </a:avLst>
          </a:prstGeom>
          <a:solidFill>
            <a:srgbClr val="EAE3D6"/>
          </a:solidFill>
          <a:ln w="12700">
            <a:solidFill>
              <a:srgbClr val="F6F2EA"/>
            </a:solidFill>
            <a:prstDash val="solid"/>
          </a:ln>
        </p:spPr>
      </p:sp>
      <p:sp>
        <p:nvSpPr>
          <p:cNvPr id="5" name="Text 3"/>
          <p:cNvSpPr txBox="1"/>
          <p:nvPr/>
        </p:nvSpPr>
        <p:spPr>
          <a:xfrm>
            <a:off x="777240" y="1627632"/>
            <a:ext cx="3291840" cy="457200"/>
          </a:xfrm>
          <a:prstGeom prst="rect">
            <a:avLst/>
          </a:prstGeom>
          <a:noFill/>
          <a:ln/>
        </p:spPr>
        <p:txBody>
          <a:bodyPr wrap="square" lIns="0" tIns="0" rIns="0" bIns="0" rtlCol="0" anchor="ctr"/>
          <a:lstStyle/>
          <a:p>
            <a:pPr indent="0" marL="0">
              <a:buNone/>
            </a:pPr>
            <a:r>
              <a:rPr lang="en-US" sz="1350" b="1" dirty="0">
                <a:solidFill>
                  <a:srgbClr val="A4613C"/>
                </a:solidFill>
                <a:latin typeface="Cambria" pitchFamily="34" charset="0"/>
                <a:ea typeface="Cambria" pitchFamily="34" charset="-122"/>
                <a:cs typeface="Cambria" pitchFamily="34" charset="-120"/>
              </a:rPr>
              <a:t>1. Linear Regression (OLS)</a:t>
            </a:r>
            <a:endParaRPr lang="en-US" sz="1350" dirty="0"/>
          </a:p>
        </p:txBody>
      </p:sp>
      <p:sp>
        <p:nvSpPr>
          <p:cNvPr id="6" name="Text 4"/>
          <p:cNvSpPr txBox="1"/>
          <p:nvPr/>
        </p:nvSpPr>
        <p:spPr>
          <a:xfrm>
            <a:off x="777240" y="2240280"/>
            <a:ext cx="3291840" cy="365760"/>
          </a:xfrm>
          <a:prstGeom prst="rect">
            <a:avLst/>
          </a:prstGeom>
          <a:noFill/>
          <a:ln/>
        </p:spPr>
        <p:txBody>
          <a:bodyPr wrap="square" lIns="0" tIns="0" rIns="0" bIns="0" rtlCol="0" anchor="ctr"/>
          <a:lstStyle/>
          <a:p>
            <a:pPr indent="0" marL="0">
              <a:buNone/>
            </a:pPr>
            <a:r>
              <a:rPr lang="en-US" sz="1100" b="1" dirty="0">
                <a:solidFill>
                  <a:srgbClr val="2B2A26"/>
                </a:solidFill>
                <a:latin typeface="Calibri" pitchFamily="34" charset="0"/>
                <a:ea typeface="Calibri" pitchFamily="34" charset="-122"/>
                <a:cs typeface="Calibri" pitchFamily="34" charset="-120"/>
              </a:rPr>
              <a:t>R² 0.3229 · RMSE 48.15 · MAE 23.56</a:t>
            </a:r>
            <a:endParaRPr lang="en-US" sz="1100" dirty="0"/>
          </a:p>
        </p:txBody>
      </p:sp>
      <p:sp>
        <p:nvSpPr>
          <p:cNvPr id="7" name="Text 5"/>
          <p:cNvSpPr txBox="1"/>
          <p:nvPr/>
        </p:nvSpPr>
        <p:spPr>
          <a:xfrm>
            <a:off x="4297680" y="1627632"/>
            <a:ext cx="7086600" cy="1051560"/>
          </a:xfrm>
          <a:prstGeom prst="rect">
            <a:avLst/>
          </a:prstGeom>
          <a:noFill/>
          <a:ln/>
        </p:spPr>
        <p:txBody>
          <a:bodyPr wrap="square" lIns="0" tIns="0" rIns="0" bIns="0" rtlCol="0" anchor="ctr"/>
          <a:lstStyle/>
          <a:p>
            <a:pPr indent="0" marL="0">
              <a:lnSpc>
                <a:spcPts val="1550"/>
              </a:lnSpc>
              <a:buNone/>
            </a:pPr>
            <a:r>
              <a:rPr lang="en-US" sz="1150" dirty="0">
                <a:solidFill>
                  <a:srgbClr val="6E6658"/>
                </a:solidFill>
                <a:latin typeface="Calibri" pitchFamily="34" charset="0"/>
                <a:ea typeface="Calibri" pitchFamily="34" charset="-122"/>
                <a:cs typeface="Calibri" pitchFamily="34" charset="-120"/>
              </a:rPr>
              <a:t>Fits a straight-line combination of the 128 features by minimising the sum of squared errors. No penalty, no hyperparameter — the baseline every other model must beat.</a:t>
            </a:r>
            <a:endParaRPr lang="en-US" sz="1150" dirty="0"/>
          </a:p>
        </p:txBody>
      </p:sp>
      <p:sp>
        <p:nvSpPr>
          <p:cNvPr id="8" name="Shape 6"/>
          <p:cNvSpPr/>
          <p:nvPr/>
        </p:nvSpPr>
        <p:spPr>
          <a:xfrm>
            <a:off x="548640" y="2926080"/>
            <a:ext cx="11064240" cy="1371600"/>
          </a:xfrm>
          <a:prstGeom prst="roundRect">
            <a:avLst>
              <a:gd name="adj" fmla="val 4000"/>
            </a:avLst>
          </a:prstGeom>
          <a:solidFill>
            <a:srgbClr val="E3DFD2"/>
          </a:solidFill>
          <a:ln w="12700">
            <a:solidFill>
              <a:srgbClr val="F6F2EA"/>
            </a:solidFill>
            <a:prstDash val="solid"/>
          </a:ln>
        </p:spPr>
      </p:sp>
      <p:sp>
        <p:nvSpPr>
          <p:cNvPr id="9" name="Text 7"/>
          <p:cNvSpPr txBox="1"/>
          <p:nvPr/>
        </p:nvSpPr>
        <p:spPr>
          <a:xfrm>
            <a:off x="777240" y="3090672"/>
            <a:ext cx="3291840" cy="457200"/>
          </a:xfrm>
          <a:prstGeom prst="rect">
            <a:avLst/>
          </a:prstGeom>
          <a:noFill/>
          <a:ln/>
        </p:spPr>
        <p:txBody>
          <a:bodyPr wrap="square" lIns="0" tIns="0" rIns="0" bIns="0" rtlCol="0" anchor="ctr"/>
          <a:lstStyle/>
          <a:p>
            <a:pPr indent="0" marL="0">
              <a:buNone/>
            </a:pPr>
            <a:r>
              <a:rPr lang="en-US" sz="1350" b="1" dirty="0">
                <a:solidFill>
                  <a:srgbClr val="A4613C"/>
                </a:solidFill>
                <a:latin typeface="Cambria" pitchFamily="34" charset="0"/>
                <a:ea typeface="Cambria" pitchFamily="34" charset="-122"/>
                <a:cs typeface="Cambria" pitchFamily="34" charset="-120"/>
              </a:rPr>
              <a:t>2. Ridge Regression (L2)</a:t>
            </a:r>
            <a:endParaRPr lang="en-US" sz="1350" dirty="0"/>
          </a:p>
        </p:txBody>
      </p:sp>
      <p:sp>
        <p:nvSpPr>
          <p:cNvPr id="10" name="Text 8"/>
          <p:cNvSpPr txBox="1"/>
          <p:nvPr/>
        </p:nvSpPr>
        <p:spPr>
          <a:xfrm>
            <a:off x="777240" y="3703320"/>
            <a:ext cx="3291840" cy="365760"/>
          </a:xfrm>
          <a:prstGeom prst="rect">
            <a:avLst/>
          </a:prstGeom>
          <a:noFill/>
          <a:ln/>
        </p:spPr>
        <p:txBody>
          <a:bodyPr wrap="square" lIns="0" tIns="0" rIns="0" bIns="0" rtlCol="0" anchor="ctr"/>
          <a:lstStyle/>
          <a:p>
            <a:pPr indent="0" marL="0">
              <a:buNone/>
            </a:pPr>
            <a:r>
              <a:rPr lang="en-US" sz="1100" b="1" dirty="0">
                <a:solidFill>
                  <a:srgbClr val="2B2A26"/>
                </a:solidFill>
                <a:latin typeface="Calibri" pitchFamily="34" charset="0"/>
                <a:ea typeface="Calibri" pitchFamily="34" charset="-122"/>
                <a:cs typeface="Calibri" pitchFamily="34" charset="-120"/>
              </a:rPr>
              <a:t>R² 0.3222 · RMSE 48.18 · MAE 23.56</a:t>
            </a:r>
            <a:endParaRPr lang="en-US" sz="1100" dirty="0"/>
          </a:p>
        </p:txBody>
      </p:sp>
      <p:sp>
        <p:nvSpPr>
          <p:cNvPr id="11" name="Text 9"/>
          <p:cNvSpPr txBox="1"/>
          <p:nvPr/>
        </p:nvSpPr>
        <p:spPr>
          <a:xfrm>
            <a:off x="4297680" y="3090672"/>
            <a:ext cx="7086600" cy="1051560"/>
          </a:xfrm>
          <a:prstGeom prst="rect">
            <a:avLst/>
          </a:prstGeom>
          <a:noFill/>
          <a:ln/>
        </p:spPr>
        <p:txBody>
          <a:bodyPr wrap="square" lIns="0" tIns="0" rIns="0" bIns="0" rtlCol="0" anchor="ctr"/>
          <a:lstStyle/>
          <a:p>
            <a:pPr indent="0" marL="0">
              <a:lnSpc>
                <a:spcPts val="1550"/>
              </a:lnSpc>
              <a:buNone/>
            </a:pPr>
            <a:r>
              <a:rPr lang="en-US" sz="1150" dirty="0">
                <a:solidFill>
                  <a:srgbClr val="6E6658"/>
                </a:solidFill>
                <a:latin typeface="Calibri" pitchFamily="34" charset="0"/>
                <a:ea typeface="Calibri" pitchFamily="34" charset="-122"/>
                <a:cs typeface="Calibri" pitchFamily="34" charset="-120"/>
              </a:rPr>
              <a:t>Adds α·Σβ² to the loss, shrinking large coefficients so correlated features (the monthly temperature series) share influence instead of fighting. Tuned over 13 α values by 5-fold GridSearchCV; best α = 3.1623.</a:t>
            </a:r>
            <a:endParaRPr lang="en-US" sz="1150" dirty="0"/>
          </a:p>
        </p:txBody>
      </p:sp>
      <p:sp>
        <p:nvSpPr>
          <p:cNvPr id="12" name="Shape 10"/>
          <p:cNvSpPr/>
          <p:nvPr/>
        </p:nvSpPr>
        <p:spPr>
          <a:xfrm>
            <a:off x="548640" y="4389120"/>
            <a:ext cx="11064240" cy="1371600"/>
          </a:xfrm>
          <a:prstGeom prst="roundRect">
            <a:avLst>
              <a:gd name="adj" fmla="val 4000"/>
            </a:avLst>
          </a:prstGeom>
          <a:solidFill>
            <a:srgbClr val="EAE3D6"/>
          </a:solidFill>
          <a:ln w="12700">
            <a:solidFill>
              <a:srgbClr val="F6F2EA"/>
            </a:solidFill>
            <a:prstDash val="solid"/>
          </a:ln>
        </p:spPr>
      </p:sp>
      <p:sp>
        <p:nvSpPr>
          <p:cNvPr id="13" name="Text 11"/>
          <p:cNvSpPr txBox="1"/>
          <p:nvPr/>
        </p:nvSpPr>
        <p:spPr>
          <a:xfrm>
            <a:off x="777240" y="4553712"/>
            <a:ext cx="3291840" cy="457200"/>
          </a:xfrm>
          <a:prstGeom prst="rect">
            <a:avLst/>
          </a:prstGeom>
          <a:noFill/>
          <a:ln/>
        </p:spPr>
        <p:txBody>
          <a:bodyPr wrap="square" lIns="0" tIns="0" rIns="0" bIns="0" rtlCol="0" anchor="ctr"/>
          <a:lstStyle/>
          <a:p>
            <a:pPr indent="0" marL="0">
              <a:buNone/>
            </a:pPr>
            <a:r>
              <a:rPr lang="en-US" sz="1350" b="1" dirty="0">
                <a:solidFill>
                  <a:srgbClr val="A4613C"/>
                </a:solidFill>
                <a:latin typeface="Cambria" pitchFamily="34" charset="0"/>
                <a:ea typeface="Cambria" pitchFamily="34" charset="-122"/>
                <a:cs typeface="Cambria" pitchFamily="34" charset="-120"/>
              </a:rPr>
              <a:t>3. Lasso Regression (L1)</a:t>
            </a:r>
            <a:endParaRPr lang="en-US" sz="1350" dirty="0"/>
          </a:p>
        </p:txBody>
      </p:sp>
      <p:sp>
        <p:nvSpPr>
          <p:cNvPr id="14" name="Text 12"/>
          <p:cNvSpPr txBox="1"/>
          <p:nvPr/>
        </p:nvSpPr>
        <p:spPr>
          <a:xfrm>
            <a:off x="777240" y="5166360"/>
            <a:ext cx="3291840" cy="365760"/>
          </a:xfrm>
          <a:prstGeom prst="rect">
            <a:avLst/>
          </a:prstGeom>
          <a:noFill/>
          <a:ln/>
        </p:spPr>
        <p:txBody>
          <a:bodyPr wrap="square" lIns="0" tIns="0" rIns="0" bIns="0" rtlCol="0" anchor="ctr"/>
          <a:lstStyle/>
          <a:p>
            <a:pPr indent="0" marL="0">
              <a:buNone/>
            </a:pPr>
            <a:r>
              <a:rPr lang="en-US" sz="1100" b="1" dirty="0">
                <a:solidFill>
                  <a:srgbClr val="2B2A26"/>
                </a:solidFill>
                <a:latin typeface="Calibri" pitchFamily="34" charset="0"/>
                <a:ea typeface="Calibri" pitchFamily="34" charset="-122"/>
                <a:cs typeface="Calibri" pitchFamily="34" charset="-120"/>
              </a:rPr>
              <a:t>R² 0.3219 · RMSE 48.19 · MAE 23.57</a:t>
            </a:r>
            <a:endParaRPr lang="en-US" sz="1100" dirty="0"/>
          </a:p>
        </p:txBody>
      </p:sp>
      <p:sp>
        <p:nvSpPr>
          <p:cNvPr id="15" name="Text 13"/>
          <p:cNvSpPr txBox="1"/>
          <p:nvPr/>
        </p:nvSpPr>
        <p:spPr>
          <a:xfrm>
            <a:off x="4297680" y="4553712"/>
            <a:ext cx="7086600" cy="1051560"/>
          </a:xfrm>
          <a:prstGeom prst="rect">
            <a:avLst/>
          </a:prstGeom>
          <a:noFill/>
          <a:ln/>
        </p:spPr>
        <p:txBody>
          <a:bodyPr wrap="square" lIns="0" tIns="0" rIns="0" bIns="0" rtlCol="0" anchor="ctr"/>
          <a:lstStyle/>
          <a:p>
            <a:pPr indent="0" marL="0">
              <a:lnSpc>
                <a:spcPts val="1550"/>
              </a:lnSpc>
              <a:buNone/>
            </a:pPr>
            <a:r>
              <a:rPr lang="en-US" sz="1150" dirty="0">
                <a:solidFill>
                  <a:srgbClr val="6E6658"/>
                </a:solidFill>
                <a:latin typeface="Calibri" pitchFamily="34" charset="0"/>
                <a:ea typeface="Calibri" pitchFamily="34" charset="-122"/>
                <a:cs typeface="Calibri" pitchFamily="34" charset="-120"/>
              </a:rPr>
              <a:t>Adds α·Σ|β|, which can push coefficients to exactly zero and so performs automatic feature selection. Default α = 1.0 badly underfits (R² −0.0564); tuning selects α = 0.0001 and zeroes 32 of 128 features (25% sparsity).</a:t>
            </a:r>
            <a:endParaRPr lang="en-US" sz="1150" dirty="0"/>
          </a:p>
        </p:txBody>
      </p:sp>
      <p:sp>
        <p:nvSpPr>
          <p:cNvPr id="16" name="Text 14"/>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150" i="1" dirty="0">
                <a:solidFill>
                  <a:srgbClr val="2B2A26"/>
                </a:solidFill>
                <a:latin typeface="Calibri" pitchFamily="34" charset="0"/>
                <a:ea typeface="Calibri" pitchFamily="34" charset="-122"/>
                <a:cs typeface="Calibri" pitchFamily="34" charset="-120"/>
              </a:rPr>
              <a:t>All three land near R² ≈ 0.32, which tells us the relationship between building attributes and energy use is largely non-linear — regularisation alone cannot fix that.</a:t>
            </a:r>
            <a:endParaRPr lang="en-US" sz="1150" dirty="0"/>
          </a:p>
        </p:txBody>
      </p:sp>
      <p:sp>
        <p:nvSpPr>
          <p:cNvPr id="17" name="Text 15"/>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29</a:t>
            </a:r>
            <a:endParaRPr lang="en-US" sz="900" dirty="0"/>
          </a:p>
        </p:txBody>
      </p:sp>
      <p:sp>
        <p:nvSpPr>
          <p:cNvPr id="18" name="Text 16"/>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Algorithms</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ALGORITHMS</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Algorithms 4–5 · ElasticNet and Polynomial</a:t>
            </a:r>
            <a:endParaRPr lang="en-US" sz="2800" dirty="0"/>
          </a:p>
        </p:txBody>
      </p:sp>
      <p:sp>
        <p:nvSpPr>
          <p:cNvPr id="4" name="Shape 2"/>
          <p:cNvSpPr/>
          <p:nvPr/>
        </p:nvSpPr>
        <p:spPr>
          <a:xfrm>
            <a:off x="548640" y="1463040"/>
            <a:ext cx="5486400" cy="2286000"/>
          </a:xfrm>
          <a:prstGeom prst="roundRect">
            <a:avLst>
              <a:gd name="adj" fmla="val 3200"/>
            </a:avLst>
          </a:prstGeom>
          <a:solidFill>
            <a:srgbClr val="EAE3D6"/>
          </a:solidFill>
          <a:ln w="12700">
            <a:solidFill>
              <a:srgbClr val="EAE3D6"/>
            </a:solidFill>
            <a:prstDash val="solid"/>
          </a:ln>
        </p:spPr>
      </p:sp>
      <p:sp>
        <p:nvSpPr>
          <p:cNvPr id="5" name="Text 3"/>
          <p:cNvSpPr txBox="1"/>
          <p:nvPr/>
        </p:nvSpPr>
        <p:spPr>
          <a:xfrm>
            <a:off x="777240" y="1627632"/>
            <a:ext cx="50292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4. ElasticNet Regression</a:t>
            </a:r>
            <a:endParaRPr lang="en-US" sz="1400" dirty="0"/>
          </a:p>
        </p:txBody>
      </p:sp>
      <p:sp>
        <p:nvSpPr>
          <p:cNvPr id="6" name="Text 4"/>
          <p:cNvSpPr txBox="1"/>
          <p:nvPr/>
        </p:nvSpPr>
        <p:spPr>
          <a:xfrm>
            <a:off x="777240" y="1975104"/>
            <a:ext cx="5029200" cy="160020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Blends both penalties: α·ρ·Σ|β| + ½·α(1−ρ)·Σβ². The mixing parameter l1_ratio (ρ) decides how much of the penalty behaves like Lasso and how much like Ridge.</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Grid search over α ∈ {0.0003, 0.001, 0.01} and ρ ∈ {0.1, 0.5} selected α = 0.0003, ρ = 0.1.</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Default settings scored R² 0.1126; tuning lifted it to 0.3167 — the clearest demonstration in the study of how much hyperparameter search matters for penalised models.</a:t>
            </a:r>
            <a:endParaRPr lang="en-US" sz="1150" dirty="0"/>
          </a:p>
        </p:txBody>
      </p:sp>
      <p:sp>
        <p:nvSpPr>
          <p:cNvPr id="7" name="Shape 5"/>
          <p:cNvSpPr/>
          <p:nvPr/>
        </p:nvSpPr>
        <p:spPr>
          <a:xfrm>
            <a:off x="6217920" y="1463040"/>
            <a:ext cx="5394960" cy="2286000"/>
          </a:xfrm>
          <a:prstGeom prst="roundRect">
            <a:avLst>
              <a:gd name="adj" fmla="val 3200"/>
            </a:avLst>
          </a:prstGeom>
          <a:solidFill>
            <a:srgbClr val="E3DFD2"/>
          </a:solidFill>
          <a:ln w="12700">
            <a:solidFill>
              <a:srgbClr val="E3DFD2"/>
            </a:solidFill>
            <a:prstDash val="solid"/>
          </a:ln>
        </p:spPr>
      </p:sp>
      <p:sp>
        <p:nvSpPr>
          <p:cNvPr id="8" name="Text 6"/>
          <p:cNvSpPr txBox="1"/>
          <p:nvPr/>
        </p:nvSpPr>
        <p:spPr>
          <a:xfrm>
            <a:off x="6446520" y="1627632"/>
            <a:ext cx="493776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5. Polynomial Regression</a:t>
            </a:r>
            <a:endParaRPr lang="en-US" sz="1400" dirty="0"/>
          </a:p>
        </p:txBody>
      </p:sp>
      <p:sp>
        <p:nvSpPr>
          <p:cNvPr id="9" name="Text 7"/>
          <p:cNvSpPr txBox="1"/>
          <p:nvPr/>
        </p:nvSpPr>
        <p:spPr>
          <a:xfrm>
            <a:off x="6446520" y="1975104"/>
            <a:ext cx="4937760" cy="160020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Creates squared and interaction terms so a linear model can bend. Expanding all 128 features to degree 3 would create 366,144 terms, so expansion is restricted to the 15 features with the largest absolute OLS coefficients.</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Degree 1 → 15 features, degree 2 → 135, degree 3 → 815.</a:t>
            </a:r>
            <a:endParaRPr lang="en-US" sz="11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217920" y="3931920"/>
          <a:ext cx="5394960" cy="914400"/>
        </p:xfrm>
        <a:graphic>
          <a:graphicData uri="http://schemas.openxmlformats.org/drawingml/2006/table">
            <a:tbl>
              <a:tblPr/>
              <a:tblGrid>
                <a:gridCol w="1005840"/>
                <a:gridCol w="1188720"/>
                <a:gridCol w="1005840"/>
                <a:gridCol w="1097280"/>
                <a:gridCol w="1097280"/>
              </a:tblGrid>
              <a:tr h="329184">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Degree</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Features</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R²</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RMSE</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MAE</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r>
              <a:tr h="329184">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0.1008</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55.49</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30.86</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29184">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135</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0.1104</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55.19</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30.56</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815</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0.1114</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55.16</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30.57</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bl>
          </a:graphicData>
        </a:graphic>
      </p:graphicFrame>
      <p:sp>
        <p:nvSpPr>
          <p:cNvPr id="11" name="Shape 8"/>
          <p:cNvSpPr/>
          <p:nvPr/>
        </p:nvSpPr>
        <p:spPr>
          <a:xfrm>
            <a:off x="548640" y="3931920"/>
            <a:ext cx="5486400" cy="1737360"/>
          </a:xfrm>
          <a:prstGeom prst="roundRect">
            <a:avLst>
              <a:gd name="adj" fmla="val 4211"/>
            </a:avLst>
          </a:prstGeom>
          <a:solidFill>
            <a:srgbClr val="EAE3D6"/>
          </a:solidFill>
          <a:ln w="12700">
            <a:solidFill>
              <a:srgbClr val="EAE3D6"/>
            </a:solidFill>
            <a:prstDash val="solid"/>
          </a:ln>
        </p:spPr>
      </p:sp>
      <p:sp>
        <p:nvSpPr>
          <p:cNvPr id="12" name="Text 9"/>
          <p:cNvSpPr txBox="1"/>
          <p:nvPr/>
        </p:nvSpPr>
        <p:spPr>
          <a:xfrm>
            <a:off x="777240" y="4096512"/>
            <a:ext cx="50292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Reading the polynomial result</a:t>
            </a:r>
            <a:endParaRPr lang="en-US" sz="1400" dirty="0"/>
          </a:p>
        </p:txBody>
      </p:sp>
      <p:sp>
        <p:nvSpPr>
          <p:cNvPr id="13" name="Text 10"/>
          <p:cNvSpPr txBox="1"/>
          <p:nvPr/>
        </p:nvSpPr>
        <p:spPr>
          <a:xfrm>
            <a:off x="777240" y="4443984"/>
            <a:ext cx="5029200" cy="1051560"/>
          </a:xfrm>
          <a:prstGeom prst="rect">
            <a:avLst/>
          </a:prstGeom>
          <a:noFill/>
          <a:ln/>
        </p:spPr>
        <p:txBody>
          <a:bodyPr wrap="square" lIns="0" tIns="0" rIns="0" bIns="0" rtlCol="0" anchor="t"/>
          <a:lstStyle/>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Multiplying the feature count by 54 (15 → 815) buys only +0.011 R². The restriction to 15 features is the binding constraint: the discarded 113 features carried information that no amount of curvature among the survivors can recover. Degree 2 is reported in the final comparison as the better complexity-to-benefit trade.</a:t>
            </a:r>
            <a:endParaRPr lang="en-US" sz="1100" dirty="0"/>
          </a:p>
        </p:txBody>
      </p:sp>
      <p:sp>
        <p:nvSpPr>
          <p:cNvPr id="14" name="Text 11"/>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30</a:t>
            </a:r>
            <a:endParaRPr lang="en-US" sz="900" dirty="0"/>
          </a:p>
        </p:txBody>
      </p:sp>
      <p:sp>
        <p:nvSpPr>
          <p:cNvPr id="15" name="Text 12"/>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Algorithms</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ALGORITHMS</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Algorithms 6–8 · Tree-based models</a:t>
            </a:r>
            <a:endParaRPr lang="en-US" sz="2800" dirty="0"/>
          </a:p>
        </p:txBody>
      </p:sp>
      <p:sp>
        <p:nvSpPr>
          <p:cNvPr id="4" name="Shape 2"/>
          <p:cNvSpPr/>
          <p:nvPr/>
        </p:nvSpPr>
        <p:spPr>
          <a:xfrm>
            <a:off x="548640" y="1463040"/>
            <a:ext cx="11064240" cy="1417320"/>
          </a:xfrm>
          <a:prstGeom prst="roundRect">
            <a:avLst>
              <a:gd name="adj" fmla="val 3871"/>
            </a:avLst>
          </a:prstGeom>
          <a:solidFill>
            <a:srgbClr val="EAE3D6"/>
          </a:solidFill>
          <a:ln w="12700">
            <a:solidFill>
              <a:srgbClr val="F6F2EA"/>
            </a:solidFill>
            <a:prstDash val="solid"/>
          </a:ln>
        </p:spPr>
      </p:sp>
      <p:sp>
        <p:nvSpPr>
          <p:cNvPr id="5" name="Text 3"/>
          <p:cNvSpPr txBox="1"/>
          <p:nvPr/>
        </p:nvSpPr>
        <p:spPr>
          <a:xfrm>
            <a:off x="777240" y="1645920"/>
            <a:ext cx="2743200" cy="411480"/>
          </a:xfrm>
          <a:prstGeom prst="rect">
            <a:avLst/>
          </a:prstGeom>
          <a:noFill/>
          <a:ln/>
        </p:spPr>
        <p:txBody>
          <a:bodyPr wrap="square" lIns="0" tIns="0" rIns="0" bIns="0" rtlCol="0" anchor="ctr"/>
          <a:lstStyle/>
          <a:p>
            <a:pPr indent="0" marL="0">
              <a:buNone/>
            </a:pPr>
            <a:r>
              <a:rPr lang="en-US" sz="1350" b="1" dirty="0">
                <a:solidFill>
                  <a:srgbClr val="A4613C"/>
                </a:solidFill>
                <a:latin typeface="Cambria" pitchFamily="34" charset="0"/>
                <a:ea typeface="Cambria" pitchFamily="34" charset="-122"/>
                <a:cs typeface="Cambria" pitchFamily="34" charset="-120"/>
              </a:rPr>
              <a:t>6. Decision Tree</a:t>
            </a:r>
            <a:endParaRPr lang="en-US" sz="1350" dirty="0"/>
          </a:p>
        </p:txBody>
      </p:sp>
      <p:sp>
        <p:nvSpPr>
          <p:cNvPr id="6" name="Text 4"/>
          <p:cNvSpPr txBox="1"/>
          <p:nvPr/>
        </p:nvSpPr>
        <p:spPr>
          <a:xfrm>
            <a:off x="3611880" y="1645920"/>
            <a:ext cx="4572000" cy="1097280"/>
          </a:xfrm>
          <a:prstGeom prst="rect">
            <a:avLst/>
          </a:prstGeom>
          <a:noFill/>
          <a:ln/>
        </p:spPr>
        <p:txBody>
          <a:bodyPr wrap="square" lIns="0" tIns="0" rIns="0" bIns="0" rtlCol="0" anchor="ctr"/>
          <a:lstStyle/>
          <a:p>
            <a:pPr indent="0" marL="0">
              <a:lnSpc>
                <a:spcPts val="1450"/>
              </a:lnSpc>
              <a:buNone/>
            </a:pPr>
            <a:r>
              <a:rPr lang="en-US" sz="1100" dirty="0">
                <a:solidFill>
                  <a:srgbClr val="6E6658"/>
                </a:solidFill>
                <a:latin typeface="Calibri" pitchFamily="34" charset="0"/>
                <a:ea typeface="Calibri" pitchFamily="34" charset="-122"/>
                <a:cs typeface="Calibri" pitchFamily="34" charset="-120"/>
              </a:rPr>
              <a:t>Splits the feature space into rectangular regions; each leaf predicts the average target of the training rows that reach it. Captures non-linearity with no scaling needed, but an unconstrained tree memorises the training set.</a:t>
            </a:r>
            <a:endParaRPr lang="en-US" sz="1100" dirty="0"/>
          </a:p>
        </p:txBody>
      </p:sp>
      <p:sp>
        <p:nvSpPr>
          <p:cNvPr id="7" name="Text 5"/>
          <p:cNvSpPr txBox="1"/>
          <p:nvPr/>
        </p:nvSpPr>
        <p:spPr>
          <a:xfrm>
            <a:off x="8412480" y="1682496"/>
            <a:ext cx="2971800" cy="1005840"/>
          </a:xfrm>
          <a:prstGeom prst="rect">
            <a:avLst/>
          </a:prstGeom>
          <a:noFill/>
          <a:ln/>
        </p:spPr>
        <p:txBody>
          <a:bodyPr wrap="square" lIns="0" tIns="0" rIns="0" bIns="0" rtlCol="0" anchor="ctr"/>
          <a:lstStyle/>
          <a:p>
            <a:pPr indent="0" marL="0">
              <a:lnSpc>
                <a:spcPts val="1400"/>
              </a:lnSpc>
              <a:buNone/>
            </a:pPr>
            <a:r>
              <a:rPr lang="en-US" sz="1050" b="1" dirty="0">
                <a:solidFill>
                  <a:srgbClr val="2B2A26"/>
                </a:solidFill>
                <a:latin typeface="Calibri" pitchFamily="34" charset="0"/>
                <a:ea typeface="Calibri" pitchFamily="34" charset="-122"/>
                <a:cs typeface="Calibri" pitchFamily="34" charset="-120"/>
              </a:rPr>
              <a:t>Default R² 0.1405 → Tuned 0.4308</a:t>
            </a:r>
            <a:endParaRPr lang="en-US" sz="1050" dirty="0"/>
          </a:p>
          <a:p>
            <a:pPr indent="0" marL="0">
              <a:lnSpc>
                <a:spcPts val="1400"/>
              </a:lnSpc>
              <a:buNone/>
            </a:pPr>
            <a:r>
              <a:rPr lang="en-US" sz="1050" b="1" dirty="0">
                <a:solidFill>
                  <a:srgbClr val="2B2A26"/>
                </a:solidFill>
                <a:latin typeface="Calibri" pitchFamily="34" charset="0"/>
                <a:ea typeface="Calibri" pitchFamily="34" charset="-122"/>
                <a:cs typeface="Calibri" pitchFamily="34" charset="-120"/>
              </a:rPr>
              <a:t>max_depth 20, min_samples_split 10</a:t>
            </a:r>
            <a:endParaRPr lang="en-US" sz="1050" dirty="0"/>
          </a:p>
        </p:txBody>
      </p:sp>
      <p:sp>
        <p:nvSpPr>
          <p:cNvPr id="8" name="Shape 6"/>
          <p:cNvSpPr/>
          <p:nvPr/>
        </p:nvSpPr>
        <p:spPr>
          <a:xfrm>
            <a:off x="548640" y="2971800"/>
            <a:ext cx="11064240" cy="1417320"/>
          </a:xfrm>
          <a:prstGeom prst="roundRect">
            <a:avLst>
              <a:gd name="adj" fmla="val 3871"/>
            </a:avLst>
          </a:prstGeom>
          <a:solidFill>
            <a:srgbClr val="E3DFD2"/>
          </a:solidFill>
          <a:ln w="12700">
            <a:solidFill>
              <a:srgbClr val="F6F2EA"/>
            </a:solidFill>
            <a:prstDash val="solid"/>
          </a:ln>
        </p:spPr>
      </p:sp>
      <p:sp>
        <p:nvSpPr>
          <p:cNvPr id="9" name="Text 7"/>
          <p:cNvSpPr txBox="1"/>
          <p:nvPr/>
        </p:nvSpPr>
        <p:spPr>
          <a:xfrm>
            <a:off x="777240" y="3154680"/>
            <a:ext cx="2743200" cy="411480"/>
          </a:xfrm>
          <a:prstGeom prst="rect">
            <a:avLst/>
          </a:prstGeom>
          <a:noFill/>
          <a:ln/>
        </p:spPr>
        <p:txBody>
          <a:bodyPr wrap="square" lIns="0" tIns="0" rIns="0" bIns="0" rtlCol="0" anchor="ctr"/>
          <a:lstStyle/>
          <a:p>
            <a:pPr indent="0" marL="0">
              <a:buNone/>
            </a:pPr>
            <a:r>
              <a:rPr lang="en-US" sz="1350" b="1" dirty="0">
                <a:solidFill>
                  <a:srgbClr val="A4613C"/>
                </a:solidFill>
                <a:latin typeface="Cambria" pitchFamily="34" charset="0"/>
                <a:ea typeface="Cambria" pitchFamily="34" charset="-122"/>
                <a:cs typeface="Cambria" pitchFamily="34" charset="-120"/>
              </a:rPr>
              <a:t>7. Random Forest</a:t>
            </a:r>
            <a:endParaRPr lang="en-US" sz="1350" dirty="0"/>
          </a:p>
        </p:txBody>
      </p:sp>
      <p:sp>
        <p:nvSpPr>
          <p:cNvPr id="10" name="Text 8"/>
          <p:cNvSpPr txBox="1"/>
          <p:nvPr/>
        </p:nvSpPr>
        <p:spPr>
          <a:xfrm>
            <a:off x="3611880" y="3154680"/>
            <a:ext cx="4572000" cy="1097280"/>
          </a:xfrm>
          <a:prstGeom prst="rect">
            <a:avLst/>
          </a:prstGeom>
          <a:noFill/>
          <a:ln/>
        </p:spPr>
        <p:txBody>
          <a:bodyPr wrap="square" lIns="0" tIns="0" rIns="0" bIns="0" rtlCol="0" anchor="ctr"/>
          <a:lstStyle/>
          <a:p>
            <a:pPr indent="0" marL="0">
              <a:lnSpc>
                <a:spcPts val="1450"/>
              </a:lnSpc>
              <a:buNone/>
            </a:pPr>
            <a:r>
              <a:rPr lang="en-US" sz="1100" dirty="0">
                <a:solidFill>
                  <a:srgbClr val="6E6658"/>
                </a:solidFill>
                <a:latin typeface="Calibri" pitchFamily="34" charset="0"/>
                <a:ea typeface="Calibri" pitchFamily="34" charset="-122"/>
                <a:cs typeface="Calibri" pitchFamily="34" charset="-120"/>
              </a:rPr>
              <a:t>Grows 200 trees, each on a bootstrap sample of rows and a random subset of features, then averages them. Averaging cancels the individual trees' errors, which is why it beats a single tree so decisively.</a:t>
            </a:r>
            <a:endParaRPr lang="en-US" sz="1100" dirty="0"/>
          </a:p>
        </p:txBody>
      </p:sp>
      <p:sp>
        <p:nvSpPr>
          <p:cNvPr id="11" name="Text 9"/>
          <p:cNvSpPr txBox="1"/>
          <p:nvPr/>
        </p:nvSpPr>
        <p:spPr>
          <a:xfrm>
            <a:off x="8412480" y="3191256"/>
            <a:ext cx="2971800" cy="1005840"/>
          </a:xfrm>
          <a:prstGeom prst="rect">
            <a:avLst/>
          </a:prstGeom>
          <a:noFill/>
          <a:ln/>
        </p:spPr>
        <p:txBody>
          <a:bodyPr wrap="square" lIns="0" tIns="0" rIns="0" bIns="0" rtlCol="0" anchor="ctr"/>
          <a:lstStyle/>
          <a:p>
            <a:pPr indent="0" marL="0">
              <a:lnSpc>
                <a:spcPts val="1400"/>
              </a:lnSpc>
              <a:buNone/>
            </a:pPr>
            <a:r>
              <a:rPr lang="en-US" sz="1050" b="1" dirty="0">
                <a:solidFill>
                  <a:srgbClr val="2B2A26"/>
                </a:solidFill>
                <a:latin typeface="Calibri" pitchFamily="34" charset="0"/>
                <a:ea typeface="Calibri" pitchFamily="34" charset="-122"/>
                <a:cs typeface="Calibri" pitchFamily="34" charset="-120"/>
              </a:rPr>
              <a:t>Default R² 0.5166 → Tuned 0.5180</a:t>
            </a:r>
            <a:endParaRPr lang="en-US" sz="1050" dirty="0"/>
          </a:p>
          <a:p>
            <a:pPr indent="0" marL="0">
              <a:lnSpc>
                <a:spcPts val="1400"/>
              </a:lnSpc>
              <a:buNone/>
            </a:pPr>
            <a:r>
              <a:rPr lang="en-US" sz="1050" b="1" dirty="0">
                <a:solidFill>
                  <a:srgbClr val="2B2A26"/>
                </a:solidFill>
                <a:latin typeface="Calibri" pitchFamily="34" charset="0"/>
                <a:ea typeface="Calibri" pitchFamily="34" charset="-122"/>
                <a:cs typeface="Calibri" pitchFamily="34" charset="-120"/>
              </a:rPr>
              <a:t>max_depth None, min_samples_split 5, n_estimators 200 — best model overall</a:t>
            </a:r>
            <a:endParaRPr lang="en-US" sz="1050" dirty="0"/>
          </a:p>
        </p:txBody>
      </p:sp>
      <p:sp>
        <p:nvSpPr>
          <p:cNvPr id="12" name="Shape 10"/>
          <p:cNvSpPr/>
          <p:nvPr/>
        </p:nvSpPr>
        <p:spPr>
          <a:xfrm>
            <a:off x="548640" y="4480560"/>
            <a:ext cx="11064240" cy="1417320"/>
          </a:xfrm>
          <a:prstGeom prst="roundRect">
            <a:avLst>
              <a:gd name="adj" fmla="val 3871"/>
            </a:avLst>
          </a:prstGeom>
          <a:solidFill>
            <a:srgbClr val="EAE3D6"/>
          </a:solidFill>
          <a:ln w="12700">
            <a:solidFill>
              <a:srgbClr val="F6F2EA"/>
            </a:solidFill>
            <a:prstDash val="solid"/>
          </a:ln>
        </p:spPr>
      </p:sp>
      <p:sp>
        <p:nvSpPr>
          <p:cNvPr id="13" name="Text 11"/>
          <p:cNvSpPr txBox="1"/>
          <p:nvPr/>
        </p:nvSpPr>
        <p:spPr>
          <a:xfrm>
            <a:off x="777240" y="4663440"/>
            <a:ext cx="2743200" cy="411480"/>
          </a:xfrm>
          <a:prstGeom prst="rect">
            <a:avLst/>
          </a:prstGeom>
          <a:noFill/>
          <a:ln/>
        </p:spPr>
        <p:txBody>
          <a:bodyPr wrap="square" lIns="0" tIns="0" rIns="0" bIns="0" rtlCol="0" anchor="ctr"/>
          <a:lstStyle/>
          <a:p>
            <a:pPr indent="0" marL="0">
              <a:buNone/>
            </a:pPr>
            <a:r>
              <a:rPr lang="en-US" sz="1350" b="1" dirty="0">
                <a:solidFill>
                  <a:srgbClr val="A4613C"/>
                </a:solidFill>
                <a:latin typeface="Cambria" pitchFamily="34" charset="0"/>
                <a:ea typeface="Cambria" pitchFamily="34" charset="-122"/>
                <a:cs typeface="Cambria" pitchFamily="34" charset="-120"/>
              </a:rPr>
              <a:t>8. Gradient Boosting</a:t>
            </a:r>
            <a:endParaRPr lang="en-US" sz="1350" dirty="0"/>
          </a:p>
        </p:txBody>
      </p:sp>
      <p:sp>
        <p:nvSpPr>
          <p:cNvPr id="14" name="Text 12"/>
          <p:cNvSpPr txBox="1"/>
          <p:nvPr/>
        </p:nvSpPr>
        <p:spPr>
          <a:xfrm>
            <a:off x="3611880" y="4663440"/>
            <a:ext cx="4572000" cy="1097280"/>
          </a:xfrm>
          <a:prstGeom prst="rect">
            <a:avLst/>
          </a:prstGeom>
          <a:noFill/>
          <a:ln/>
        </p:spPr>
        <p:txBody>
          <a:bodyPr wrap="square" lIns="0" tIns="0" rIns="0" bIns="0" rtlCol="0" anchor="ctr"/>
          <a:lstStyle/>
          <a:p>
            <a:pPr indent="0" marL="0">
              <a:lnSpc>
                <a:spcPts val="1450"/>
              </a:lnSpc>
              <a:buNone/>
            </a:pPr>
            <a:r>
              <a:rPr lang="en-US" sz="1100" dirty="0">
                <a:solidFill>
                  <a:srgbClr val="6E6658"/>
                </a:solidFill>
                <a:latin typeface="Calibri" pitchFamily="34" charset="0"/>
                <a:ea typeface="Calibri" pitchFamily="34" charset="-122"/>
                <a:cs typeface="Calibri" pitchFamily="34" charset="-120"/>
              </a:rPr>
              <a:t>Builds trees one after another, each new tree fitted to the errors left by the ensemble so far. Learning rate controls how much of each correction is applied.</a:t>
            </a:r>
            <a:endParaRPr lang="en-US" sz="1100" dirty="0"/>
          </a:p>
        </p:txBody>
      </p:sp>
      <p:sp>
        <p:nvSpPr>
          <p:cNvPr id="15" name="Text 13"/>
          <p:cNvSpPr txBox="1"/>
          <p:nvPr/>
        </p:nvSpPr>
        <p:spPr>
          <a:xfrm>
            <a:off x="8412480" y="4700016"/>
            <a:ext cx="2971800" cy="1005840"/>
          </a:xfrm>
          <a:prstGeom prst="rect">
            <a:avLst/>
          </a:prstGeom>
          <a:noFill/>
          <a:ln/>
        </p:spPr>
        <p:txBody>
          <a:bodyPr wrap="square" lIns="0" tIns="0" rIns="0" bIns="0" rtlCol="0" anchor="ctr"/>
          <a:lstStyle/>
          <a:p>
            <a:pPr indent="0" marL="0">
              <a:lnSpc>
                <a:spcPts val="1400"/>
              </a:lnSpc>
              <a:buNone/>
            </a:pPr>
            <a:r>
              <a:rPr lang="en-US" sz="1050" b="1" dirty="0">
                <a:solidFill>
                  <a:srgbClr val="2B2A26"/>
                </a:solidFill>
                <a:latin typeface="Calibri" pitchFamily="34" charset="0"/>
                <a:ea typeface="Calibri" pitchFamily="34" charset="-122"/>
                <a:cs typeface="Calibri" pitchFamily="34" charset="-120"/>
              </a:rPr>
              <a:t>Default R² 0.3408 → Tuned 0.3806</a:t>
            </a:r>
            <a:endParaRPr lang="en-US" sz="1050" dirty="0"/>
          </a:p>
          <a:p>
            <a:pPr indent="0" marL="0">
              <a:lnSpc>
                <a:spcPts val="1400"/>
              </a:lnSpc>
              <a:buNone/>
            </a:pPr>
            <a:r>
              <a:rPr lang="en-US" sz="1050" b="1" dirty="0">
                <a:solidFill>
                  <a:srgbClr val="2B2A26"/>
                </a:solidFill>
                <a:latin typeface="Calibri" pitchFamily="34" charset="0"/>
                <a:ea typeface="Calibri" pitchFamily="34" charset="-122"/>
                <a:cs typeface="Calibri" pitchFamily="34" charset="-120"/>
              </a:rPr>
              <a:t>learning_rate 0.1, max_depth 3, n_estimators 200</a:t>
            </a:r>
            <a:endParaRPr lang="en-US" sz="1050" dirty="0"/>
          </a:p>
        </p:txBody>
      </p:sp>
      <p:sp>
        <p:nvSpPr>
          <p:cNvPr id="16" name="Text 14"/>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100" i="1" dirty="0">
                <a:solidFill>
                  <a:srgbClr val="6E6658"/>
                </a:solidFill>
                <a:latin typeface="Calibri" pitchFamily="34" charset="0"/>
                <a:ea typeface="Calibri" pitchFamily="34" charset="-122"/>
                <a:cs typeface="Calibri" pitchFamily="34" charset="-120"/>
              </a:rPr>
              <a:t>Gradient Boosting is capped at max_depth 3 by the grid, which keeps each tree shallow — one reason it trails Random Forest here despite usually being the stronger family.</a:t>
            </a:r>
            <a:endParaRPr lang="en-US" sz="1100" dirty="0"/>
          </a:p>
        </p:txBody>
      </p:sp>
      <p:sp>
        <p:nvSpPr>
          <p:cNvPr id="17" name="Text 15"/>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31</a:t>
            </a:r>
            <a:endParaRPr lang="en-US" sz="900" dirty="0"/>
          </a:p>
        </p:txBody>
      </p:sp>
      <p:sp>
        <p:nvSpPr>
          <p:cNvPr id="18" name="Text 16"/>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Algorithms</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ALGORITHMS</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Algorithms 9–10 · Distance and kernel models</a:t>
            </a:r>
            <a:endParaRPr lang="en-US" sz="2800" dirty="0"/>
          </a:p>
        </p:txBody>
      </p:sp>
      <p:sp>
        <p:nvSpPr>
          <p:cNvPr id="4" name="Shape 2"/>
          <p:cNvSpPr/>
          <p:nvPr/>
        </p:nvSpPr>
        <p:spPr>
          <a:xfrm>
            <a:off x="548640" y="1463040"/>
            <a:ext cx="5486400" cy="2743200"/>
          </a:xfrm>
          <a:prstGeom prst="roundRect">
            <a:avLst>
              <a:gd name="adj" fmla="val 2667"/>
            </a:avLst>
          </a:prstGeom>
          <a:solidFill>
            <a:srgbClr val="EAE3D6"/>
          </a:solidFill>
          <a:ln w="12700">
            <a:solidFill>
              <a:srgbClr val="EAE3D6"/>
            </a:solidFill>
            <a:prstDash val="solid"/>
          </a:ln>
        </p:spPr>
      </p:sp>
      <p:sp>
        <p:nvSpPr>
          <p:cNvPr id="5" name="Text 3"/>
          <p:cNvSpPr txBox="1"/>
          <p:nvPr/>
        </p:nvSpPr>
        <p:spPr>
          <a:xfrm>
            <a:off x="777240" y="1627632"/>
            <a:ext cx="50292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9. Support Vector Regressor</a:t>
            </a:r>
            <a:endParaRPr lang="en-US" sz="1400" dirty="0"/>
          </a:p>
        </p:txBody>
      </p:sp>
      <p:sp>
        <p:nvSpPr>
          <p:cNvPr id="6" name="Text 4"/>
          <p:cNvSpPr txBox="1"/>
          <p:nvPr/>
        </p:nvSpPr>
        <p:spPr>
          <a:xfrm>
            <a:off x="777240" y="1975104"/>
            <a:ext cx="5029200" cy="205740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SVR fits a tube of width ε around the data and penalises only the points falling outside it, with an RBF kernel bending the tube into a curved surface.</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Kernel methods scale roughly with the square of the sample count, so fitting all 60,605 training rows is impractical. A reproducible random subset of 15,000 rows (random_state=42) is used instead, with its own ColumnTransformer fitted on that subset only.</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Settings: kernel='rbf', C=10, ε=0.1 → 130 processed features.</a:t>
            </a:r>
            <a:endParaRPr lang="en-US" sz="1150" dirty="0"/>
          </a:p>
        </p:txBody>
      </p:sp>
      <p:sp>
        <p:nvSpPr>
          <p:cNvPr id="7" name="Shape 5"/>
          <p:cNvSpPr/>
          <p:nvPr/>
        </p:nvSpPr>
        <p:spPr>
          <a:xfrm>
            <a:off x="6217920" y="1463040"/>
            <a:ext cx="5394960" cy="2743200"/>
          </a:xfrm>
          <a:prstGeom prst="roundRect">
            <a:avLst>
              <a:gd name="adj" fmla="val 2667"/>
            </a:avLst>
          </a:prstGeom>
          <a:solidFill>
            <a:srgbClr val="E3DFD2"/>
          </a:solidFill>
          <a:ln w="12700">
            <a:solidFill>
              <a:srgbClr val="E3DFD2"/>
            </a:solidFill>
            <a:prstDash val="solid"/>
          </a:ln>
        </p:spPr>
      </p:sp>
      <p:sp>
        <p:nvSpPr>
          <p:cNvPr id="8" name="Text 6"/>
          <p:cNvSpPr txBox="1"/>
          <p:nvPr/>
        </p:nvSpPr>
        <p:spPr>
          <a:xfrm>
            <a:off x="6446520" y="1627632"/>
            <a:ext cx="493776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10. K-Nearest Neighbours Regressor</a:t>
            </a:r>
            <a:endParaRPr lang="en-US" sz="1400" dirty="0"/>
          </a:p>
        </p:txBody>
      </p:sp>
      <p:sp>
        <p:nvSpPr>
          <p:cNvPr id="9" name="Text 7"/>
          <p:cNvSpPr txBox="1"/>
          <p:nvPr/>
        </p:nvSpPr>
        <p:spPr>
          <a:xfrm>
            <a:off x="6446520" y="1975104"/>
            <a:ext cx="4937760" cy="205740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Predicts a building's EUI by averaging the EUI of the k most similar buildings in feature space.</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Settings: n_neighbors=10, weights='distance', so closer neighbours count more than distant ones.</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KNN depends entirely on the distance metric, which is why StandardScaler is essential — without it, floor_area_log and a 0/1 flag would carry wildly different weight in the same distance calculation.</a:t>
            </a:r>
            <a:endParaRPr lang="en-US" sz="1150" dirty="0"/>
          </a:p>
        </p:txBody>
      </p:sp>
      <p:sp>
        <p:nvSpPr>
          <p:cNvPr id="10" name="Text 8"/>
          <p:cNvSpPr txBox="1"/>
          <p:nvPr/>
        </p:nvSpPr>
        <p:spPr>
          <a:xfrm>
            <a:off x="548640" y="4480560"/>
            <a:ext cx="2743200" cy="685800"/>
          </a:xfrm>
          <a:prstGeom prst="rect">
            <a:avLst/>
          </a:prstGeom>
          <a:noFill/>
          <a:ln/>
        </p:spPr>
        <p:txBody>
          <a:bodyPr wrap="square" lIns="0" tIns="0" rIns="0" bIns="0" rtlCol="0" anchor="ctr"/>
          <a:lstStyle/>
          <a:p>
            <a:pPr indent="0" marL="0">
              <a:buNone/>
            </a:pPr>
            <a:r>
              <a:rPr lang="en-US" sz="3600" b="1" dirty="0">
                <a:solidFill>
                  <a:srgbClr val="A4613C"/>
                </a:solidFill>
                <a:latin typeface="Cambria" pitchFamily="34" charset="0"/>
                <a:ea typeface="Cambria" pitchFamily="34" charset="-122"/>
                <a:cs typeface="Cambria" pitchFamily="34" charset="-120"/>
              </a:rPr>
              <a:t>0.3471</a:t>
            </a:r>
            <a:endParaRPr lang="en-US" sz="3600" dirty="0"/>
          </a:p>
        </p:txBody>
      </p:sp>
      <p:sp>
        <p:nvSpPr>
          <p:cNvPr id="11" name="Text 9"/>
          <p:cNvSpPr txBox="1"/>
          <p:nvPr/>
        </p:nvSpPr>
        <p:spPr>
          <a:xfrm>
            <a:off x="548640" y="5138928"/>
            <a:ext cx="2743200" cy="457200"/>
          </a:xfrm>
          <a:prstGeom prst="rect">
            <a:avLst/>
          </a:prstGeom>
          <a:noFill/>
          <a:ln/>
        </p:spPr>
        <p:txBody>
          <a:bodyPr wrap="square" lIns="0" tIns="0" rIns="0" bIns="0" rtlCol="0" anchor="ctr"/>
          <a:lstStyle/>
          <a:p>
            <a:pPr indent="0" marL="0">
              <a:lnSpc>
                <a:spcPts val="1300"/>
              </a:lnSpc>
              <a:buNone/>
            </a:pPr>
            <a:r>
              <a:rPr lang="en-US" sz="1050" dirty="0">
                <a:solidFill>
                  <a:srgbClr val="6E6658"/>
                </a:solidFill>
                <a:latin typeface="Calibri" pitchFamily="34" charset="0"/>
                <a:ea typeface="Calibri" pitchFamily="34" charset="-122"/>
                <a:cs typeface="Calibri" pitchFamily="34" charset="-120"/>
              </a:rPr>
              <a:t>SVR test R² (RMSE 47.29)</a:t>
            </a:r>
            <a:endParaRPr lang="en-US" sz="1050" dirty="0"/>
          </a:p>
        </p:txBody>
      </p:sp>
      <p:sp>
        <p:nvSpPr>
          <p:cNvPr id="12" name="Text 10"/>
          <p:cNvSpPr txBox="1"/>
          <p:nvPr/>
        </p:nvSpPr>
        <p:spPr>
          <a:xfrm>
            <a:off x="3566160" y="4480560"/>
            <a:ext cx="2743200" cy="685800"/>
          </a:xfrm>
          <a:prstGeom prst="rect">
            <a:avLst/>
          </a:prstGeom>
          <a:noFill/>
          <a:ln/>
        </p:spPr>
        <p:txBody>
          <a:bodyPr wrap="square" lIns="0" tIns="0" rIns="0" bIns="0" rtlCol="0" anchor="ctr"/>
          <a:lstStyle/>
          <a:p>
            <a:pPr indent="0" marL="0">
              <a:buNone/>
            </a:pPr>
            <a:r>
              <a:rPr lang="en-US" sz="3600" b="1" dirty="0">
                <a:solidFill>
                  <a:srgbClr val="A4613C"/>
                </a:solidFill>
                <a:latin typeface="Cambria" pitchFamily="34" charset="0"/>
                <a:ea typeface="Cambria" pitchFamily="34" charset="-122"/>
                <a:cs typeface="Cambria" pitchFamily="34" charset="-120"/>
              </a:rPr>
              <a:t>0.2587</a:t>
            </a:r>
            <a:endParaRPr lang="en-US" sz="3600" dirty="0"/>
          </a:p>
        </p:txBody>
      </p:sp>
      <p:sp>
        <p:nvSpPr>
          <p:cNvPr id="13" name="Text 11"/>
          <p:cNvSpPr txBox="1"/>
          <p:nvPr/>
        </p:nvSpPr>
        <p:spPr>
          <a:xfrm>
            <a:off x="3566160" y="5138928"/>
            <a:ext cx="2743200" cy="457200"/>
          </a:xfrm>
          <a:prstGeom prst="rect">
            <a:avLst/>
          </a:prstGeom>
          <a:noFill/>
          <a:ln/>
        </p:spPr>
        <p:txBody>
          <a:bodyPr wrap="square" lIns="0" tIns="0" rIns="0" bIns="0" rtlCol="0" anchor="ctr"/>
          <a:lstStyle/>
          <a:p>
            <a:pPr indent="0" marL="0">
              <a:lnSpc>
                <a:spcPts val="1300"/>
              </a:lnSpc>
              <a:buNone/>
            </a:pPr>
            <a:r>
              <a:rPr lang="en-US" sz="1050" dirty="0">
                <a:solidFill>
                  <a:srgbClr val="6E6658"/>
                </a:solidFill>
                <a:latin typeface="Calibri" pitchFamily="34" charset="0"/>
                <a:ea typeface="Calibri" pitchFamily="34" charset="-122"/>
                <a:cs typeface="Calibri" pitchFamily="34" charset="-120"/>
              </a:rPr>
              <a:t>KNN test R² (RMSE 50.38)</a:t>
            </a:r>
            <a:endParaRPr lang="en-US" sz="1050" dirty="0"/>
          </a:p>
        </p:txBody>
      </p:sp>
      <p:sp>
        <p:nvSpPr>
          <p:cNvPr id="14" name="Shape 12"/>
          <p:cNvSpPr/>
          <p:nvPr/>
        </p:nvSpPr>
        <p:spPr>
          <a:xfrm>
            <a:off x="6492240" y="4434840"/>
            <a:ext cx="5120640" cy="1325880"/>
          </a:xfrm>
          <a:prstGeom prst="roundRect">
            <a:avLst>
              <a:gd name="adj" fmla="val 5517"/>
            </a:avLst>
          </a:prstGeom>
          <a:solidFill>
            <a:srgbClr val="EAE3D6"/>
          </a:solidFill>
          <a:ln w="12700">
            <a:solidFill>
              <a:srgbClr val="EAE3D6"/>
            </a:solidFill>
            <a:prstDash val="solid"/>
          </a:ln>
        </p:spPr>
      </p:sp>
      <p:sp>
        <p:nvSpPr>
          <p:cNvPr id="15" name="Text 13"/>
          <p:cNvSpPr txBox="1"/>
          <p:nvPr/>
        </p:nvSpPr>
        <p:spPr>
          <a:xfrm>
            <a:off x="6720840" y="4599432"/>
            <a:ext cx="466344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What their scores tell us</a:t>
            </a:r>
            <a:endParaRPr lang="en-US" sz="1400" dirty="0"/>
          </a:p>
        </p:txBody>
      </p:sp>
      <p:sp>
        <p:nvSpPr>
          <p:cNvPr id="16" name="Text 14"/>
          <p:cNvSpPr txBox="1"/>
          <p:nvPr/>
        </p:nvSpPr>
        <p:spPr>
          <a:xfrm>
            <a:off x="6720840" y="4946904"/>
            <a:ext cx="4663440" cy="640080"/>
          </a:xfrm>
          <a:prstGeom prst="rect">
            <a:avLst/>
          </a:prstGeom>
          <a:noFill/>
          <a:ln/>
        </p:spPr>
        <p:txBody>
          <a:bodyPr wrap="square" lIns="0" tIns="0" rIns="0" bIns="0" rtlCol="0" anchor="t"/>
          <a:lstStyle/>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Both sit mid-table. SVR is handicapped by its 15,000-row subset; KNN struggles because in 128 dimensions every building is roughly equidistant from every other — the curse of dimensionality in action.</a:t>
            </a:r>
            <a:endParaRPr lang="en-US" sz="1100" dirty="0"/>
          </a:p>
        </p:txBody>
      </p:sp>
      <p:sp>
        <p:nvSpPr>
          <p:cNvPr id="17" name="Text 15"/>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32</a:t>
            </a:r>
            <a:endParaRPr lang="en-US" sz="900" dirty="0"/>
          </a:p>
        </p:txBody>
      </p:sp>
      <p:sp>
        <p:nvSpPr>
          <p:cNvPr id="18" name="Text 16"/>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Algorithms</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RESULTS</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Regression model comparison</a:t>
            </a:r>
            <a:endParaRPr lang="en-US" sz="28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57200"/>
                <a:gridCol w="3017520"/>
                <a:gridCol w="1097280"/>
                <a:gridCol w="1005840"/>
                <a:gridCol w="868680"/>
                <a:gridCol w="868680"/>
                <a:gridCol w="3749040"/>
              </a:tblGrid>
              <a:tr h="329184">
                <a:tc>
                  <a:txBody>
                    <a:bodyPr/>
                    <a:lstStyle/>
                    <a:p>
                      <a:pPr indent="0" marL="0">
                        <a:buNone/>
                      </a:pPr>
                      <a:r>
                        <a:rPr lang="en-US" sz="950" b="1" dirty="0">
                          <a:solidFill>
                            <a:srgbClr val="F6F2EA"/>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950" b="1" dirty="0">
                          <a:solidFill>
                            <a:srgbClr val="F6F2EA"/>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950" b="1" dirty="0">
                          <a:solidFill>
                            <a:srgbClr val="F6F2EA"/>
                          </a:solidFill>
                          <a:latin typeface="Calibri" pitchFamily="34" charset="0"/>
                          <a:ea typeface="Calibri" pitchFamily="34" charset="-122"/>
                          <a:cs typeface="Calibri" pitchFamily="34" charset="-120"/>
                        </a:rPr>
                        <a:t>Untuned R²</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950" b="1" dirty="0">
                          <a:solidFill>
                            <a:srgbClr val="F6F2EA"/>
                          </a:solidFill>
                          <a:latin typeface="Calibri" pitchFamily="34" charset="0"/>
                          <a:ea typeface="Calibri" pitchFamily="34" charset="-122"/>
                          <a:cs typeface="Calibri" pitchFamily="34" charset="-120"/>
                        </a:rPr>
                        <a:t>Tuned R²</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950" b="1" dirty="0">
                          <a:solidFill>
                            <a:srgbClr val="F6F2EA"/>
                          </a:solidFill>
                          <a:latin typeface="Calibri" pitchFamily="34" charset="0"/>
                          <a:ea typeface="Calibri" pitchFamily="34" charset="-122"/>
                          <a:cs typeface="Calibri" pitchFamily="34" charset="-120"/>
                        </a:rPr>
                        <a:t>RMSE</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950" b="1" dirty="0">
                          <a:solidFill>
                            <a:srgbClr val="F6F2EA"/>
                          </a:solidFill>
                          <a:latin typeface="Calibri" pitchFamily="34" charset="0"/>
                          <a:ea typeface="Calibri" pitchFamily="34" charset="-122"/>
                          <a:cs typeface="Calibri" pitchFamily="34" charset="-120"/>
                        </a:rPr>
                        <a:t>MAE</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950" b="1" dirty="0">
                          <a:solidFill>
                            <a:srgbClr val="F6F2EA"/>
                          </a:solidFill>
                          <a:latin typeface="Calibri" pitchFamily="34" charset="0"/>
                          <a:ea typeface="Calibri" pitchFamily="34" charset="-122"/>
                          <a:cs typeface="Calibri" pitchFamily="34" charset="-120"/>
                        </a:rPr>
                        <a:t>Best parameters</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r>
              <a:tr h="329184">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Random Forest Regressor</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0.5166</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0.5180</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40.63</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19.24</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max_depth None, min_samples_split 5, n_estimators 200</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29184">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Decision Tree Regressor</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0.1405</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0.4308</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44.15</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21.46</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max_depth 20, min_samples_split 10</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r h="329184">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Gradient Boosting Regressor</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0.3408</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0.3806</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46.06</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21.74</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learning_rate 0.1, max_depth 3, n_estimators 200</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29184">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Support Vector Regressor</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0.3471</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0.3471</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47.29</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22.12</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rbf, C=10, ε=0.1, 15,000 samples</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r h="329184">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Linear Regression</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0.3229</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0.3229</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48.15</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23.56</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None (OLS baseline)</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29184">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Ridge Regression</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0.3227</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0.3222</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48.18</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23.56</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alpha = 3.1623</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r h="329184">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Lasso Regression</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−0.0564</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0.3219</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48.19</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23.57</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alpha = 0.0001</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29184">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ElasticNet Regression</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0.1126</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0.3166</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48.38</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23.64</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alpha = 0.0003, l1_ratio = 0.1</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r h="329184">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KNN Regressor</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0.2587</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0.2587</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50.38</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24.04</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n_neighbors 10, weights distance</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29184">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Polynomial Regression (deg 2)</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0.1104</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0.1104</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55.19</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30.56</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950" dirty="0">
                          <a:solidFill>
                            <a:srgbClr val="2B2A26"/>
                          </a:solidFill>
                          <a:latin typeface="Calibri" pitchFamily="34" charset="0"/>
                          <a:ea typeface="Calibri" pitchFamily="34" charset="-122"/>
                          <a:cs typeface="Calibri" pitchFamily="34" charset="-120"/>
                        </a:rPr>
                        <a:t>Degree 2 on top 15 features</a:t>
                      </a:r>
                      <a:endParaRPr lang="en-US" sz="9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257800"/>
            <a:ext cx="11064240" cy="457200"/>
          </a:xfrm>
          <a:prstGeom prst="rect">
            <a:avLst/>
          </a:prstGeom>
          <a:noFill/>
          <a:ln/>
        </p:spPr>
        <p:txBody>
          <a:bodyPr wrap="square" lIns="0" tIns="0" rIns="0" bIns="0" rtlCol="0" anchor="ctr"/>
          <a:lstStyle/>
          <a:p>
            <a:pPr indent="0" marL="0">
              <a:lnSpc>
                <a:spcPts val="1400"/>
              </a:lnSpc>
              <a:buNone/>
            </a:pPr>
            <a:r>
              <a:rPr lang="en-US" sz="1100" i="1" dirty="0">
                <a:solidFill>
                  <a:srgbClr val="6E6658"/>
                </a:solidFill>
                <a:latin typeface="Calibri" pitchFamily="34" charset="0"/>
                <a:ea typeface="Calibri" pitchFamily="34" charset="-122"/>
                <a:cs typeface="Calibri" pitchFamily="34" charset="-120"/>
              </a:rPr>
              <a:t>R², RMSE and MAE are all computed after converting predictions back to the original kBtu/sq.ft scale with expm1, so the numbers are directly interpretable: the best model is typically within ≈19 kBtu/sq.ft of the true value.</a:t>
            </a:r>
            <a:endParaRPr lang="en-US" sz="1100" dirty="0"/>
          </a:p>
        </p:txBody>
      </p:sp>
      <p:sp>
        <p:nvSpPr>
          <p:cNvPr id="6" name="Text 3"/>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33</a:t>
            </a:r>
            <a:endParaRPr lang="en-US" sz="900" dirty="0"/>
          </a:p>
        </p:txBody>
      </p:sp>
      <p:sp>
        <p:nvSpPr>
          <p:cNvPr id="7" name="Text 4"/>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Results</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RESULTS</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Tuned R² across the ten models</a:t>
            </a:r>
            <a:endParaRPr lang="en-US" sz="2800" dirty="0"/>
          </a:p>
        </p:txBody>
      </p:sp>
      <p:graphicFrame>
        <p:nvGraphicFramePr>
          <p:cNvPr id="4" name="Chart 0" descr=""/>
          <p:cNvGraphicFramePr/>
          <p:nvPr/>
        </p:nvGraphicFramePr>
        <p:xfrm>
          <a:off x="548640" y="137160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772400" y="1508760"/>
            <a:ext cx="3840480" cy="4206240"/>
          </a:xfrm>
          <a:prstGeom prst="rect">
            <a:avLst/>
          </a:prstGeom>
          <a:noFill/>
          <a:ln/>
        </p:spPr>
        <p:txBody>
          <a:bodyPr wrap="square" lIns="0" tIns="0" rIns="0" bIns="0" rtlCol="0" anchor="t"/>
          <a:lstStyle/>
          <a:p>
            <a:pPr marL="342900" indent="-342900">
              <a:lnSpc>
                <a:spcPts val="1800"/>
              </a:lnSpc>
              <a:spcAft>
                <a:spcPts val="800"/>
              </a:spcAft>
              <a:buSzPct val="100000"/>
              <a:buChar char="•"/>
            </a:pPr>
            <a:r>
              <a:rPr lang="en-US" sz="1200" dirty="0">
                <a:solidFill>
                  <a:srgbClr val="2B2A26"/>
                </a:solidFill>
                <a:latin typeface="Calibri" pitchFamily="34" charset="0"/>
                <a:ea typeface="Calibri" pitchFamily="34" charset="-122"/>
                <a:cs typeface="Calibri" pitchFamily="34" charset="-120"/>
              </a:rPr>
              <a:t>Ensembles win: Random Forest (0.5180) explains roughly half the variation in building energy intensity.</a:t>
            </a:r>
            <a:endParaRPr lang="en-US" sz="1200" dirty="0"/>
          </a:p>
          <a:p>
            <a:pPr marL="342900" indent="-342900">
              <a:lnSpc>
                <a:spcPts val="1800"/>
              </a:lnSpc>
              <a:spcAft>
                <a:spcPts val="800"/>
              </a:spcAft>
              <a:buSzPct val="100000"/>
              <a:buChar char="•"/>
            </a:pPr>
            <a:r>
              <a:rPr lang="en-US" sz="1200" dirty="0">
                <a:solidFill>
                  <a:srgbClr val="2B2A26"/>
                </a:solidFill>
                <a:latin typeface="Calibri" pitchFamily="34" charset="0"/>
                <a:ea typeface="Calibri" pitchFamily="34" charset="-122"/>
                <a:cs typeface="Calibri" pitchFamily="34" charset="-120"/>
              </a:rPr>
              <a:t>Tuning matters most for trees: a single Decision Tree jumps from 0.1405 to 0.4308 once depth is limited.</a:t>
            </a:r>
            <a:endParaRPr lang="en-US" sz="1200" dirty="0"/>
          </a:p>
          <a:p>
            <a:pPr marL="342900" indent="-342900">
              <a:lnSpc>
                <a:spcPts val="1800"/>
              </a:lnSpc>
              <a:spcAft>
                <a:spcPts val="800"/>
              </a:spcAft>
              <a:buSzPct val="100000"/>
              <a:buChar char="•"/>
            </a:pPr>
            <a:r>
              <a:rPr lang="en-US" sz="1200" dirty="0">
                <a:solidFill>
                  <a:srgbClr val="2B2A26"/>
                </a:solidFill>
                <a:latin typeface="Calibri" pitchFamily="34" charset="0"/>
                <a:ea typeface="Calibri" pitchFamily="34" charset="-122"/>
                <a:cs typeface="Calibri" pitchFamily="34" charset="-120"/>
              </a:rPr>
              <a:t>All linear models cluster near 0.32 — proof the underlying relationship is non-linear.</a:t>
            </a:r>
            <a:endParaRPr lang="en-US" sz="1200" dirty="0"/>
          </a:p>
          <a:p>
            <a:pPr marL="342900" indent="-342900">
              <a:lnSpc>
                <a:spcPts val="1800"/>
              </a:lnSpc>
              <a:spcAft>
                <a:spcPts val="800"/>
              </a:spcAft>
              <a:buSzPct val="100000"/>
              <a:buChar char="•"/>
            </a:pPr>
            <a:r>
              <a:rPr lang="en-US" sz="1200" dirty="0">
                <a:solidFill>
                  <a:srgbClr val="2B2A26"/>
                </a:solidFill>
                <a:latin typeface="Calibri" pitchFamily="34" charset="0"/>
                <a:ea typeface="Calibri" pitchFamily="34" charset="-122"/>
                <a:cs typeface="Calibri" pitchFamily="34" charset="-120"/>
              </a:rPr>
              <a:t>Polynomial expansion on 15 features is the weakest approach, confirming feature coverage beats feature curvature.</a:t>
            </a:r>
            <a:endParaRPr lang="en-US" sz="1200" dirty="0"/>
          </a:p>
        </p:txBody>
      </p:sp>
      <p:sp>
        <p:nvSpPr>
          <p:cNvPr id="6" name="Text 3"/>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34</a:t>
            </a:r>
            <a:endParaRPr lang="en-US" sz="900" dirty="0"/>
          </a:p>
        </p:txBody>
      </p:sp>
      <p:sp>
        <p:nvSpPr>
          <p:cNvPr id="7" name="Text 4"/>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Results</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RESULTS</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Five-fold cross-validation &amp; residual diagnostics</a:t>
            </a:r>
            <a:endParaRPr lang="en-US" sz="28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394960" cy="914400"/>
        </p:xfrm>
        <a:graphic>
          <a:graphicData uri="http://schemas.openxmlformats.org/drawingml/2006/table">
            <a:tbl>
              <a:tblPr/>
              <a:tblGrid>
                <a:gridCol w="2286000"/>
                <a:gridCol w="914400"/>
                <a:gridCol w="1463040"/>
                <a:gridCol w="731520"/>
              </a:tblGrid>
              <a:tr h="384048">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Test R²</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Mean 5-fold CV R²</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Std</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r>
              <a:tr h="384048">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Random Forest Regressor</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0.5180</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0.6067</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0.0063</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84048">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Decision Tree Regressor</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0.4308</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0.5010</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0.0138</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2834640"/>
            <a:ext cx="5394960" cy="1371600"/>
          </a:xfrm>
          <a:prstGeom prst="roundRect">
            <a:avLst>
              <a:gd name="adj" fmla="val 5333"/>
            </a:avLst>
          </a:prstGeom>
          <a:solidFill>
            <a:srgbClr val="EAE3D6"/>
          </a:solidFill>
          <a:ln w="12700">
            <a:solidFill>
              <a:srgbClr val="EAE3D6"/>
            </a:solidFill>
            <a:prstDash val="solid"/>
          </a:ln>
        </p:spPr>
      </p:sp>
      <p:sp>
        <p:nvSpPr>
          <p:cNvPr id="6" name="Text 3"/>
          <p:cNvSpPr txBox="1"/>
          <p:nvPr/>
        </p:nvSpPr>
        <p:spPr>
          <a:xfrm>
            <a:off x="777240" y="2999232"/>
            <a:ext cx="493776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What cross-validation adds</a:t>
            </a:r>
            <a:endParaRPr lang="en-US" sz="1400" dirty="0"/>
          </a:p>
        </p:txBody>
      </p:sp>
      <p:sp>
        <p:nvSpPr>
          <p:cNvPr id="7" name="Text 4"/>
          <p:cNvSpPr txBox="1"/>
          <p:nvPr/>
        </p:nvSpPr>
        <p:spPr>
          <a:xfrm>
            <a:off x="777240" y="3346704"/>
            <a:ext cx="4937760" cy="685800"/>
          </a:xfrm>
          <a:prstGeom prst="rect">
            <a:avLst/>
          </a:prstGeom>
          <a:noFill/>
          <a:ln/>
        </p:spPr>
        <p:txBody>
          <a:bodyPr wrap="square" lIns="0" tIns="0" rIns="0" bIns="0" rtlCol="0" anchor="t"/>
          <a:lstStyle/>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The training data is split into five parts; each part takes a turn as the validation set. Five scores instead of one show how stable the model is. Random Forest's tiny standard deviation (0.0063) means its performance barely changes with the data it sees — the model is reliable, not lucky.</a:t>
            </a:r>
            <a:endParaRPr lang="en-US" sz="1100" dirty="0"/>
          </a:p>
        </p:txBody>
      </p:sp>
      <p:pic>
        <p:nvPicPr>
          <p:cNvPr id="8" name="Image 0" descr="/home/claude/work/img/REG_271_0.png">    </p:cNvPr>
          <p:cNvPicPr>
            <a:picLocks noChangeAspect="1"/>
          </p:cNvPicPr>
          <p:nvPr/>
        </p:nvPicPr>
        <p:blipFill>
          <a:blip r:embed="rId1"/>
          <a:stretch>
            <a:fillRect/>
          </a:stretch>
        </p:blipFill>
        <p:spPr>
          <a:xfrm>
            <a:off x="6217920" y="1417320"/>
            <a:ext cx="5394960" cy="2331720"/>
          </a:xfrm>
          <a:prstGeom prst="rect">
            <a:avLst/>
          </a:prstGeom>
        </p:spPr>
      </p:pic>
      <p:pic>
        <p:nvPicPr>
          <p:cNvPr id="9" name="Image 1" descr="/home/claude/work/img/REG_272_0.png">    </p:cNvPr>
          <p:cNvPicPr>
            <a:picLocks noChangeAspect="1"/>
          </p:cNvPicPr>
          <p:nvPr/>
        </p:nvPicPr>
        <p:blipFill>
          <a:blip r:embed="rId2"/>
          <a:stretch>
            <a:fillRect/>
          </a:stretch>
        </p:blipFill>
        <p:spPr>
          <a:xfrm>
            <a:off x="6217920" y="3886200"/>
            <a:ext cx="5394960" cy="2194560"/>
          </a:xfrm>
          <a:prstGeom prst="rect">
            <a:avLst/>
          </a:prstGeom>
        </p:spPr>
      </p:pic>
      <p:sp>
        <p:nvSpPr>
          <p:cNvPr id="10" name="Shape 5"/>
          <p:cNvSpPr/>
          <p:nvPr/>
        </p:nvSpPr>
        <p:spPr>
          <a:xfrm>
            <a:off x="548640" y="4389120"/>
            <a:ext cx="5394960" cy="1737360"/>
          </a:xfrm>
          <a:prstGeom prst="roundRect">
            <a:avLst>
              <a:gd name="adj" fmla="val 4211"/>
            </a:avLst>
          </a:prstGeom>
          <a:solidFill>
            <a:srgbClr val="E3DFD2"/>
          </a:solidFill>
          <a:ln w="12700">
            <a:solidFill>
              <a:srgbClr val="E3DFD2"/>
            </a:solidFill>
            <a:prstDash val="solid"/>
          </a:ln>
        </p:spPr>
      </p:sp>
      <p:sp>
        <p:nvSpPr>
          <p:cNvPr id="11" name="Text 6"/>
          <p:cNvSpPr txBox="1"/>
          <p:nvPr/>
        </p:nvSpPr>
        <p:spPr>
          <a:xfrm>
            <a:off x="777240" y="4553712"/>
            <a:ext cx="493776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Reading the two plots</a:t>
            </a:r>
            <a:endParaRPr lang="en-US" sz="1400" dirty="0"/>
          </a:p>
        </p:txBody>
      </p:sp>
      <p:sp>
        <p:nvSpPr>
          <p:cNvPr id="12" name="Text 7"/>
          <p:cNvSpPr txBox="1"/>
          <p:nvPr/>
        </p:nvSpPr>
        <p:spPr>
          <a:xfrm>
            <a:off x="777240" y="4901184"/>
            <a:ext cx="4937760" cy="1051560"/>
          </a:xfrm>
          <a:prstGeom prst="rect">
            <a:avLst/>
          </a:prstGeom>
          <a:noFill/>
          <a:ln/>
        </p:spPr>
        <p:txBody>
          <a:bodyPr wrap="square" lIns="0" tIns="0" rIns="0" bIns="0" rtlCol="0" anchor="t"/>
          <a:lstStyle/>
          <a:p>
            <a:pPr indent="0" marL="0">
              <a:lnSpc>
                <a:spcPts val="1500"/>
              </a:lnSpc>
              <a:buNone/>
            </a:pPr>
            <a:r>
              <a:rPr lang="en-US" sz="1050" dirty="0">
                <a:solidFill>
                  <a:srgbClr val="6E6658"/>
                </a:solidFill>
                <a:latin typeface="Calibri" pitchFamily="34" charset="0"/>
                <a:ea typeface="Calibri" pitchFamily="34" charset="-122"/>
                <a:cs typeface="Calibri" pitchFamily="34" charset="-120"/>
              </a:rPr>
              <a:t>Actual vs Predicted (top): points hug the dashed 45° line at low and medium EUI, then fall below it for very high values — the model under-predicts the most extreme buildings.</a:t>
            </a:r>
            <a:endParaRPr lang="en-US" sz="1050" dirty="0"/>
          </a:p>
          <a:p>
            <a:pPr indent="0" marL="0">
              <a:lnSpc>
                <a:spcPts val="1500"/>
              </a:lnSpc>
              <a:buNone/>
            </a:pPr>
            <a:endParaRPr lang="en-US" sz="1050" dirty="0"/>
          </a:p>
          <a:p>
            <a:pPr indent="0" marL="0">
              <a:lnSpc>
                <a:spcPts val="1500"/>
              </a:lnSpc>
              <a:buNone/>
            </a:pPr>
            <a:r>
              <a:rPr lang="en-US" sz="1050" dirty="0">
                <a:solidFill>
                  <a:srgbClr val="6E6658"/>
                </a:solidFill>
                <a:latin typeface="Calibri" pitchFamily="34" charset="0"/>
                <a:ea typeface="Calibri" pitchFamily="34" charset="-122"/>
                <a:cs typeface="Calibri" pitchFamily="34" charset="-120"/>
              </a:rPr>
              <a:t>Residuals (bottom): errors are centred on zero with no curved pattern, which means no systematic bias; their spread widens as predictions grow, the expected signature of a skewed target.</a:t>
            </a:r>
            <a:endParaRPr lang="en-US" sz="1050" dirty="0"/>
          </a:p>
        </p:txBody>
      </p:sp>
      <p:sp>
        <p:nvSpPr>
          <p:cNvPr id="13" name="Text 8"/>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35</a:t>
            </a:r>
            <a:endParaRPr lang="en-US" sz="900" dirty="0"/>
          </a:p>
        </p:txBody>
      </p:sp>
      <p:sp>
        <p:nvSpPr>
          <p:cNvPr id="14" name="Text 9"/>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Validation</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RESULTS</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Which features drive the prediction</a:t>
            </a:r>
            <a:endParaRPr lang="en-US" sz="2800" dirty="0"/>
          </a:p>
        </p:txBody>
      </p:sp>
      <p:pic>
        <p:nvPicPr>
          <p:cNvPr id="4" name="Image 0" descr="/home/claude/work/img/REG_275_0.png">    </p:cNvPr>
          <p:cNvPicPr>
            <a:picLocks noChangeAspect="1"/>
          </p:cNvPicPr>
          <p:nvPr/>
        </p:nvPicPr>
        <p:blipFill>
          <a:blip r:embed="rId1"/>
          <a:stretch>
            <a:fillRect/>
          </a:stretch>
        </p:blipFill>
        <p:spPr>
          <a:xfrm>
            <a:off x="548640" y="1371600"/>
            <a:ext cx="6400800" cy="4480560"/>
          </a:xfrm>
          <a:prstGeom prst="rect">
            <a:avLst/>
          </a:prstGeom>
        </p:spPr>
      </p:pic>
      <p:sp>
        <p:nvSpPr>
          <p:cNvPr id="5" name="Text 2"/>
          <p:cNvSpPr txBox="1"/>
          <p:nvPr/>
        </p:nvSpPr>
        <p:spPr>
          <a:xfrm>
            <a:off x="7223760" y="1463040"/>
            <a:ext cx="4389120" cy="2926080"/>
          </a:xfrm>
          <a:prstGeom prst="rect">
            <a:avLst/>
          </a:prstGeom>
          <a:noFill/>
          <a:ln/>
        </p:spPr>
        <p:txBody>
          <a:bodyPr wrap="square" lIns="0" tIns="0" rIns="0" bIns="0" rtlCol="0" anchor="t"/>
          <a:lstStyle/>
          <a:p>
            <a:pPr marL="342900" indent="-342900">
              <a:lnSpc>
                <a:spcPts val="1800"/>
              </a:lnSpc>
              <a:spcAft>
                <a:spcPts val="800"/>
              </a:spcAft>
              <a:buSzPct val="100000"/>
              <a:buChar char="•"/>
            </a:pPr>
            <a:r>
              <a:rPr lang="en-US" sz="1200" dirty="0">
                <a:solidFill>
                  <a:srgbClr val="2B2A26"/>
                </a:solidFill>
                <a:latin typeface="Calibri" pitchFamily="34" charset="0"/>
                <a:ea typeface="Calibri" pitchFamily="34" charset="-122"/>
                <a:cs typeface="Calibri" pitchFamily="34" charset="-120"/>
              </a:rPr>
              <a:t>energy_star_rating — 0.2503, by far the strongest single driver.</a:t>
            </a:r>
            <a:endParaRPr lang="en-US" sz="1200" dirty="0"/>
          </a:p>
          <a:p>
            <a:pPr marL="342900" indent="-342900">
              <a:lnSpc>
                <a:spcPts val="1800"/>
              </a:lnSpc>
              <a:spcAft>
                <a:spcPts val="800"/>
              </a:spcAft>
              <a:buSzPct val="100000"/>
              <a:buChar char="•"/>
            </a:pPr>
            <a:r>
              <a:rPr lang="en-US" sz="1200" dirty="0">
                <a:solidFill>
                  <a:srgbClr val="2B2A26"/>
                </a:solidFill>
                <a:latin typeface="Calibri" pitchFamily="34" charset="0"/>
                <a:ea typeface="Calibri" pitchFamily="34" charset="-122"/>
                <a:cs typeface="Calibri" pitchFamily="34" charset="-120"/>
              </a:rPr>
              <a:t>floor_area_log — 0.1838, the engineered log of building size.</a:t>
            </a:r>
            <a:endParaRPr lang="en-US" sz="1200" dirty="0"/>
          </a:p>
          <a:p>
            <a:pPr marL="342900" indent="-342900">
              <a:lnSpc>
                <a:spcPts val="1800"/>
              </a:lnSpc>
              <a:spcAft>
                <a:spcPts val="800"/>
              </a:spcAft>
              <a:buSzPct val="100000"/>
              <a:buChar char="•"/>
            </a:pPr>
            <a:r>
              <a:rPr lang="en-US" sz="1200" dirty="0">
                <a:solidFill>
                  <a:srgbClr val="2B2A26"/>
                </a:solidFill>
                <a:latin typeface="Calibri" pitchFamily="34" charset="0"/>
                <a:ea typeface="Calibri" pitchFamily="34" charset="-122"/>
                <a:cs typeface="Calibri" pitchFamily="34" charset="-120"/>
              </a:rPr>
              <a:t>age_of_building — 0.1195, another engineered feature.</a:t>
            </a:r>
            <a:endParaRPr lang="en-US" sz="1200" dirty="0"/>
          </a:p>
          <a:p>
            <a:pPr marL="342900" indent="-342900">
              <a:lnSpc>
                <a:spcPts val="1800"/>
              </a:lnSpc>
              <a:spcAft>
                <a:spcPts val="800"/>
              </a:spcAft>
              <a:buSzPct val="100000"/>
              <a:buChar char="•"/>
            </a:pPr>
            <a:r>
              <a:rPr lang="en-US" sz="1200" dirty="0">
                <a:solidFill>
                  <a:srgbClr val="2B2A26"/>
                </a:solidFill>
                <a:latin typeface="Calibri" pitchFamily="34" charset="0"/>
                <a:ea typeface="Calibri" pitchFamily="34" charset="-122"/>
                <a:cs typeface="Calibri" pitchFamily="34" charset="-120"/>
              </a:rPr>
              <a:t>january_avg_temp — 0.0445, winter climate context.</a:t>
            </a:r>
            <a:endParaRPr lang="en-US" sz="1200" dirty="0"/>
          </a:p>
          <a:p>
            <a:pPr marL="342900" indent="-342900">
              <a:lnSpc>
                <a:spcPts val="1800"/>
              </a:lnSpc>
              <a:spcAft>
                <a:spcPts val="800"/>
              </a:spcAft>
              <a:buSzPct val="100000"/>
              <a:buChar char="•"/>
            </a:pPr>
            <a:r>
              <a:rPr lang="en-US" sz="1200" dirty="0">
                <a:solidFill>
                  <a:srgbClr val="2B2A26"/>
                </a:solidFill>
                <a:latin typeface="Calibri" pitchFamily="34" charset="0"/>
                <a:ea typeface="Calibri" pitchFamily="34" charset="-122"/>
                <a:cs typeface="Calibri" pitchFamily="34" charset="-120"/>
              </a:rPr>
              <a:t>Warehouse and grocery facility types — 0.0434 / 0.0357 / 0.0254.</a:t>
            </a:r>
            <a:endParaRPr lang="en-US" sz="1200" dirty="0"/>
          </a:p>
        </p:txBody>
      </p:sp>
      <p:sp>
        <p:nvSpPr>
          <p:cNvPr id="6" name="Shape 3"/>
          <p:cNvSpPr/>
          <p:nvPr/>
        </p:nvSpPr>
        <p:spPr>
          <a:xfrm>
            <a:off x="7223760" y="4526280"/>
            <a:ext cx="4389120" cy="1371600"/>
          </a:xfrm>
          <a:prstGeom prst="roundRect">
            <a:avLst>
              <a:gd name="adj" fmla="val 5333"/>
            </a:avLst>
          </a:prstGeom>
          <a:solidFill>
            <a:srgbClr val="EAE3D6"/>
          </a:solidFill>
          <a:ln w="12700">
            <a:solidFill>
              <a:srgbClr val="EAE3D6"/>
            </a:solidFill>
            <a:prstDash val="solid"/>
          </a:ln>
        </p:spPr>
      </p:sp>
      <p:sp>
        <p:nvSpPr>
          <p:cNvPr id="7" name="Text 4"/>
          <p:cNvSpPr txBox="1"/>
          <p:nvPr/>
        </p:nvSpPr>
        <p:spPr>
          <a:xfrm>
            <a:off x="7452360" y="4690872"/>
            <a:ext cx="393192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Feature engineering paid off</a:t>
            </a:r>
            <a:endParaRPr lang="en-US" sz="1400" dirty="0"/>
          </a:p>
        </p:txBody>
      </p:sp>
      <p:sp>
        <p:nvSpPr>
          <p:cNvPr id="8" name="Text 5"/>
          <p:cNvSpPr txBox="1"/>
          <p:nvPr/>
        </p:nvSpPr>
        <p:spPr>
          <a:xfrm>
            <a:off x="7452360" y="5038344"/>
            <a:ext cx="3931920" cy="685800"/>
          </a:xfrm>
          <a:prstGeom prst="rect">
            <a:avLst/>
          </a:prstGeom>
          <a:noFill/>
          <a:ln/>
        </p:spPr>
        <p:txBody>
          <a:bodyPr wrap="square" lIns="0" tIns="0" rIns="0" bIns="0" rtlCol="0" anchor="t"/>
          <a:lstStyle/>
          <a:p>
            <a:pPr indent="0" marL="0">
              <a:lnSpc>
                <a:spcPts val="1500"/>
              </a:lnSpc>
              <a:buNone/>
            </a:pPr>
            <a:r>
              <a:rPr lang="en-US" sz="1050" dirty="0">
                <a:solidFill>
                  <a:srgbClr val="6E6658"/>
                </a:solidFill>
                <a:latin typeface="Calibri" pitchFamily="34" charset="0"/>
                <a:ea typeface="Calibri" pitchFamily="34" charset="-122"/>
                <a:cs typeface="Calibri" pitchFamily="34" charset="-120"/>
              </a:rPr>
              <a:t>Two of the top three drivers (floor_area_log, age_of_building) did not exist in the raw file. Together they account for ≈30% of total importance — direct evidence that the engineering step improved the model rather than just reshaping it.</a:t>
            </a:r>
            <a:endParaRPr lang="en-US" sz="1050" dirty="0"/>
          </a:p>
        </p:txBody>
      </p:sp>
      <p:sp>
        <p:nvSpPr>
          <p:cNvPr id="9" name="Text 6"/>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36</a:t>
            </a:r>
            <a:endParaRPr lang="en-US" sz="900" dirty="0"/>
          </a:p>
        </p:txBody>
      </p:sp>
      <p:sp>
        <p:nvSpPr>
          <p:cNvPr id="10" name="Text 7"/>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Results</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A · CONCLUSION</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Regression — what we learned</a:t>
            </a:r>
            <a:endParaRPr lang="en-US" sz="2800" dirty="0"/>
          </a:p>
        </p:txBody>
      </p:sp>
      <p:sp>
        <p:nvSpPr>
          <p:cNvPr id="4" name="Shape 2"/>
          <p:cNvSpPr/>
          <p:nvPr/>
        </p:nvSpPr>
        <p:spPr>
          <a:xfrm>
            <a:off x="548640" y="1463040"/>
            <a:ext cx="5486400" cy="2103120"/>
          </a:xfrm>
          <a:prstGeom prst="roundRect">
            <a:avLst>
              <a:gd name="adj" fmla="val 3478"/>
            </a:avLst>
          </a:prstGeom>
          <a:solidFill>
            <a:srgbClr val="EAE3D6"/>
          </a:solidFill>
          <a:ln w="12700">
            <a:solidFill>
              <a:srgbClr val="EAE3D6"/>
            </a:solidFill>
            <a:prstDash val="solid"/>
          </a:ln>
        </p:spPr>
      </p:sp>
      <p:sp>
        <p:nvSpPr>
          <p:cNvPr id="5" name="Text 3"/>
          <p:cNvSpPr txBox="1"/>
          <p:nvPr/>
        </p:nvSpPr>
        <p:spPr>
          <a:xfrm>
            <a:off x="777240" y="1627632"/>
            <a:ext cx="50292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Best model</a:t>
            </a:r>
            <a:endParaRPr lang="en-US" sz="1400" dirty="0"/>
          </a:p>
        </p:txBody>
      </p:sp>
      <p:sp>
        <p:nvSpPr>
          <p:cNvPr id="6" name="Text 4"/>
          <p:cNvSpPr txBox="1"/>
          <p:nvPr/>
        </p:nvSpPr>
        <p:spPr>
          <a:xfrm>
            <a:off x="777240" y="1975104"/>
            <a:ext cx="5029200" cy="141732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Random Forest Regressor: test R² 0.5180, RMSE 40.63, MAE 19.24 kBtu/sq.ft, with a mean 5-fold CV R² of 0.6067 (std 0.0063).</a:t>
            </a:r>
            <a:endParaRPr lang="en-US" sz="1150" dirty="0"/>
          </a:p>
        </p:txBody>
      </p:sp>
      <p:sp>
        <p:nvSpPr>
          <p:cNvPr id="7" name="Shape 5"/>
          <p:cNvSpPr/>
          <p:nvPr/>
        </p:nvSpPr>
        <p:spPr>
          <a:xfrm>
            <a:off x="6217920" y="1463040"/>
            <a:ext cx="5486400" cy="2103120"/>
          </a:xfrm>
          <a:prstGeom prst="roundRect">
            <a:avLst>
              <a:gd name="adj" fmla="val 3478"/>
            </a:avLst>
          </a:prstGeom>
          <a:solidFill>
            <a:srgbClr val="E3DFD2"/>
          </a:solidFill>
          <a:ln w="12700">
            <a:solidFill>
              <a:srgbClr val="E3DFD2"/>
            </a:solidFill>
            <a:prstDash val="solid"/>
          </a:ln>
        </p:spPr>
      </p:sp>
      <p:sp>
        <p:nvSpPr>
          <p:cNvPr id="8" name="Text 6"/>
          <p:cNvSpPr txBox="1"/>
          <p:nvPr/>
        </p:nvSpPr>
        <p:spPr>
          <a:xfrm>
            <a:off x="6446520" y="1627632"/>
            <a:ext cx="50292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Biggest lever</a:t>
            </a:r>
            <a:endParaRPr lang="en-US" sz="1400" dirty="0"/>
          </a:p>
        </p:txBody>
      </p:sp>
      <p:sp>
        <p:nvSpPr>
          <p:cNvPr id="9" name="Text 7"/>
          <p:cNvSpPr txBox="1"/>
          <p:nvPr/>
        </p:nvSpPr>
        <p:spPr>
          <a:xfrm>
            <a:off x="6446520" y="1975104"/>
            <a:ext cx="5029200" cy="141732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energy_star_rating alone carries 25% of the model's importance — the single most useful piece of information about a building.</a:t>
            </a:r>
            <a:endParaRPr lang="en-US" sz="1150" dirty="0"/>
          </a:p>
        </p:txBody>
      </p:sp>
      <p:sp>
        <p:nvSpPr>
          <p:cNvPr id="10" name="Shape 8"/>
          <p:cNvSpPr/>
          <p:nvPr/>
        </p:nvSpPr>
        <p:spPr>
          <a:xfrm>
            <a:off x="548640" y="3749040"/>
            <a:ext cx="5486400" cy="2103120"/>
          </a:xfrm>
          <a:prstGeom prst="roundRect">
            <a:avLst>
              <a:gd name="adj" fmla="val 3478"/>
            </a:avLst>
          </a:prstGeom>
          <a:solidFill>
            <a:srgbClr val="EAE3D6"/>
          </a:solidFill>
          <a:ln w="12700">
            <a:solidFill>
              <a:srgbClr val="EAE3D6"/>
            </a:solidFill>
            <a:prstDash val="solid"/>
          </a:ln>
        </p:spPr>
      </p:sp>
      <p:sp>
        <p:nvSpPr>
          <p:cNvPr id="11" name="Text 9"/>
          <p:cNvSpPr txBox="1"/>
          <p:nvPr/>
        </p:nvSpPr>
        <p:spPr>
          <a:xfrm>
            <a:off x="777240" y="3913632"/>
            <a:ext cx="50292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Engineering wins</a:t>
            </a:r>
            <a:endParaRPr lang="en-US" sz="1400" dirty="0"/>
          </a:p>
        </p:txBody>
      </p:sp>
      <p:sp>
        <p:nvSpPr>
          <p:cNvPr id="12" name="Text 10"/>
          <p:cNvSpPr txBox="1"/>
          <p:nvPr/>
        </p:nvSpPr>
        <p:spPr>
          <a:xfrm>
            <a:off x="777240" y="4261104"/>
            <a:ext cx="5029200" cy="141732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floor_area_log and age_of_building rank second and third, together ≈30% of importance, despite being derived rather than collected.</a:t>
            </a:r>
            <a:endParaRPr lang="en-US" sz="1150" dirty="0"/>
          </a:p>
        </p:txBody>
      </p:sp>
      <p:sp>
        <p:nvSpPr>
          <p:cNvPr id="13" name="Shape 11"/>
          <p:cNvSpPr/>
          <p:nvPr/>
        </p:nvSpPr>
        <p:spPr>
          <a:xfrm>
            <a:off x="6217920" y="3749040"/>
            <a:ext cx="5486400" cy="2103120"/>
          </a:xfrm>
          <a:prstGeom prst="roundRect">
            <a:avLst>
              <a:gd name="adj" fmla="val 3478"/>
            </a:avLst>
          </a:prstGeom>
          <a:solidFill>
            <a:srgbClr val="E3DFD2"/>
          </a:solidFill>
          <a:ln w="12700">
            <a:solidFill>
              <a:srgbClr val="E3DFD2"/>
            </a:solidFill>
            <a:prstDash val="solid"/>
          </a:ln>
        </p:spPr>
      </p:sp>
      <p:sp>
        <p:nvSpPr>
          <p:cNvPr id="14" name="Text 12"/>
          <p:cNvSpPr txBox="1"/>
          <p:nvPr/>
        </p:nvSpPr>
        <p:spPr>
          <a:xfrm>
            <a:off x="6446520" y="3913632"/>
            <a:ext cx="50292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Honest limits</a:t>
            </a:r>
            <a:endParaRPr lang="en-US" sz="1400" dirty="0"/>
          </a:p>
        </p:txBody>
      </p:sp>
      <p:sp>
        <p:nvSpPr>
          <p:cNvPr id="15" name="Text 13"/>
          <p:cNvSpPr txBox="1"/>
          <p:nvPr/>
        </p:nvSpPr>
        <p:spPr>
          <a:xfrm>
            <a:off x="6446520" y="4261104"/>
            <a:ext cx="5029200" cy="141732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About half the variance stays unexplained: occupancy, equipment and operating hours are simply not in this dataset, and very high-EUI buildings are systematically under-predicted.</a:t>
            </a:r>
            <a:endParaRPr lang="en-US" sz="1150" dirty="0"/>
          </a:p>
        </p:txBody>
      </p:sp>
      <p:sp>
        <p:nvSpPr>
          <p:cNvPr id="16" name="Text 14"/>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37</a:t>
            </a:r>
            <a:endParaRPr lang="en-US" sz="900" dirty="0"/>
          </a:p>
        </p:txBody>
      </p:sp>
      <p:sp>
        <p:nvSpPr>
          <p:cNvPr id="17" name="Text 15"/>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A · Conclusion</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2E322C"/>
        </a:solidFill>
      </p:bgPr>
    </p:bg>
    <p:spTree>
      <p:nvGrpSpPr>
        <p:cNvPr id="1" name=""/>
        <p:cNvGrpSpPr/>
        <p:nvPr/>
      </p:nvGrpSpPr>
      <p:grpSpPr>
        <a:xfrm>
          <a:off x="0" y="0"/>
          <a:ext cx="0" cy="0"/>
          <a:chOff x="0" y="0"/>
          <a:chExt cx="0" cy="0"/>
        </a:xfrm>
      </p:grpSpPr>
      <p:sp>
        <p:nvSpPr>
          <p:cNvPr id="2" name="Text 0"/>
          <p:cNvSpPr txBox="1"/>
          <p:nvPr/>
        </p:nvSpPr>
        <p:spPr>
          <a:xfrm>
            <a:off x="822960" y="1828800"/>
            <a:ext cx="2743200" cy="1280160"/>
          </a:xfrm>
          <a:prstGeom prst="rect">
            <a:avLst/>
          </a:prstGeom>
          <a:noFill/>
          <a:ln/>
        </p:spPr>
        <p:txBody>
          <a:bodyPr wrap="square" lIns="0" tIns="0" rIns="0" bIns="0" rtlCol="0" anchor="ctr"/>
          <a:lstStyle/>
          <a:p>
            <a:pPr indent="0" marL="0">
              <a:buNone/>
            </a:pPr>
            <a:r>
              <a:rPr lang="en-US" sz="8000" b="1" dirty="0">
                <a:solidFill>
                  <a:srgbClr val="A4613C"/>
                </a:solidFill>
                <a:latin typeface="Cambria" pitchFamily="34" charset="0"/>
                <a:ea typeface="Cambria" pitchFamily="34" charset="-122"/>
                <a:cs typeface="Cambria" pitchFamily="34" charset="-120"/>
              </a:rPr>
              <a:t>02</a:t>
            </a:r>
            <a:endParaRPr lang="en-US" sz="8000" dirty="0"/>
          </a:p>
        </p:txBody>
      </p:sp>
      <p:sp>
        <p:nvSpPr>
          <p:cNvPr id="3" name="Text 1"/>
          <p:cNvSpPr txBox="1"/>
          <p:nvPr/>
        </p:nvSpPr>
        <p:spPr>
          <a:xfrm>
            <a:off x="822960" y="3063240"/>
            <a:ext cx="9144000" cy="822960"/>
          </a:xfrm>
          <a:prstGeom prst="rect">
            <a:avLst/>
          </a:prstGeom>
          <a:noFill/>
          <a:ln/>
        </p:spPr>
        <p:txBody>
          <a:bodyPr wrap="square" lIns="0" tIns="0" rIns="0" bIns="0" rtlCol="0" anchor="ctr"/>
          <a:lstStyle/>
          <a:p>
            <a:pPr indent="0" marL="0">
              <a:buNone/>
            </a:pPr>
            <a:r>
              <a:rPr lang="en-US" sz="3800" b="1" dirty="0">
                <a:solidFill>
                  <a:srgbClr val="F6F2EA"/>
                </a:solidFill>
                <a:latin typeface="Cambria" pitchFamily="34" charset="0"/>
                <a:ea typeface="Cambria" pitchFamily="34" charset="-122"/>
                <a:cs typeface="Cambria" pitchFamily="34" charset="-120"/>
              </a:rPr>
              <a:t>Part B — Classification</a:t>
            </a:r>
            <a:endParaRPr lang="en-US" sz="3800" dirty="0"/>
          </a:p>
        </p:txBody>
      </p:sp>
      <p:sp>
        <p:nvSpPr>
          <p:cNvPr id="4" name="Text 2"/>
          <p:cNvSpPr txBox="1"/>
          <p:nvPr/>
        </p:nvSpPr>
        <p:spPr>
          <a:xfrm>
            <a:off x="868680" y="3931920"/>
            <a:ext cx="8686800" cy="1097280"/>
          </a:xfrm>
          <a:prstGeom prst="rect">
            <a:avLst/>
          </a:prstGeom>
          <a:noFill/>
          <a:ln/>
        </p:spPr>
        <p:txBody>
          <a:bodyPr wrap="square" lIns="0" tIns="0" rIns="0" bIns="0" rtlCol="0" anchor="ctr"/>
          <a:lstStyle/>
          <a:p>
            <a:pPr indent="0" marL="0">
              <a:lnSpc>
                <a:spcPts val="2000"/>
              </a:lnSpc>
              <a:buNone/>
            </a:pPr>
            <a:r>
              <a:rPr lang="en-US" sz="1400" dirty="0">
                <a:solidFill>
                  <a:srgbClr val="C9C3B5"/>
                </a:solidFill>
                <a:latin typeface="Calibri" pitchFamily="34" charset="0"/>
                <a:ea typeface="Calibri" pitchFamily="34" charset="-122"/>
                <a:cs typeface="Calibri" pitchFamily="34" charset="-120"/>
              </a:rPr>
              <a:t>Sorting water samples into Good, Moderate or Poor quality from 50+ chemical and physical measurements,</a:t>
            </a:r>
            <a:endParaRPr lang="en-US" sz="1400" dirty="0"/>
          </a:p>
          <a:p>
            <a:pPr indent="0" marL="0">
              <a:lnSpc>
                <a:spcPts val="2000"/>
              </a:lnSpc>
              <a:buNone/>
            </a:pPr>
            <a:r>
              <a:rPr lang="en-US" sz="1400" dirty="0">
                <a:solidFill>
                  <a:srgbClr val="C9C3B5"/>
                </a:solidFill>
                <a:latin typeface="Calibri" pitchFamily="34" charset="0"/>
                <a:ea typeface="Calibri" pitchFamily="34" charset="-122"/>
                <a:cs typeface="Calibri" pitchFamily="34" charset="-120"/>
              </a:rPr>
              <a:t>using five classification algorithms compared on the same test set.</a:t>
            </a:r>
            <a:endParaRPr lang="en-US" sz="1400" dirty="0"/>
          </a:p>
        </p:txBody>
      </p:sp>
      <p:sp>
        <p:nvSpPr>
          <p:cNvPr id="5" name="Text 3"/>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B · PROBLEM</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Problem definition &amp; dataset</a:t>
            </a:r>
            <a:endParaRPr lang="en-US" sz="2800" dirty="0"/>
          </a:p>
        </p:txBody>
      </p:sp>
      <p:sp>
        <p:nvSpPr>
          <p:cNvPr id="4" name="Text 2"/>
          <p:cNvSpPr txBox="1"/>
          <p:nvPr/>
        </p:nvSpPr>
        <p:spPr>
          <a:xfrm>
            <a:off x="548640" y="1371600"/>
            <a:ext cx="11064240" cy="411480"/>
          </a:xfrm>
          <a:prstGeom prst="rect">
            <a:avLst/>
          </a:prstGeom>
          <a:noFill/>
          <a:ln/>
        </p:spPr>
        <p:txBody>
          <a:bodyPr wrap="square" lIns="0" tIns="0" rIns="0" bIns="0" rtlCol="0" anchor="ctr"/>
          <a:lstStyle/>
          <a:p>
            <a:pPr indent="0" marL="0">
              <a:buNone/>
            </a:pPr>
            <a:r>
              <a:rPr lang="en-US" sz="1250" dirty="0">
                <a:solidFill>
                  <a:srgbClr val="6E6658"/>
                </a:solidFill>
                <a:latin typeface="Calibri" pitchFamily="34" charset="0"/>
                <a:ea typeface="Calibri" pitchFamily="34" charset="-122"/>
                <a:cs typeface="Calibri" pitchFamily="34" charset="-120"/>
              </a:rPr>
              <a:t>Here the target is a label, not a number. Each water sample must be placed into one of three quality classes, so this is a multi-class classification problem rather than a regression one.</a:t>
            </a:r>
            <a:endParaRPr lang="en-US" sz="1250" dirty="0"/>
          </a:p>
        </p:txBody>
      </p:sp>
      <p:sp>
        <p:nvSpPr>
          <p:cNvPr id="5" name="Shape 3"/>
          <p:cNvSpPr/>
          <p:nvPr/>
        </p:nvSpPr>
        <p:spPr>
          <a:xfrm>
            <a:off x="548640" y="1874520"/>
            <a:ext cx="5486400" cy="2103120"/>
          </a:xfrm>
          <a:prstGeom prst="roundRect">
            <a:avLst>
              <a:gd name="adj" fmla="val 3478"/>
            </a:avLst>
          </a:prstGeom>
          <a:solidFill>
            <a:srgbClr val="EAE3D6"/>
          </a:solidFill>
          <a:ln w="12700">
            <a:solidFill>
              <a:srgbClr val="EAE3D6"/>
            </a:solidFill>
            <a:prstDash val="solid"/>
          </a:ln>
        </p:spPr>
      </p:sp>
      <p:sp>
        <p:nvSpPr>
          <p:cNvPr id="6" name="Text 4"/>
          <p:cNvSpPr txBox="1"/>
          <p:nvPr/>
        </p:nvSpPr>
        <p:spPr>
          <a:xfrm>
            <a:off x="777240" y="2039112"/>
            <a:ext cx="50292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The task</a:t>
            </a:r>
            <a:endParaRPr lang="en-US" sz="1400" dirty="0"/>
          </a:p>
        </p:txBody>
      </p:sp>
      <p:sp>
        <p:nvSpPr>
          <p:cNvPr id="7" name="Text 5"/>
          <p:cNvSpPr txBox="1"/>
          <p:nvPr/>
        </p:nvSpPr>
        <p:spPr>
          <a:xfrm>
            <a:off x="777240" y="2386584"/>
            <a:ext cx="5029200" cy="141732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Given laboratory and field measurements of a water sample — pH, dissolved oxygen, turbidity, nitrates, heavy metals and more — predict its Water_Quality_Class: Good, Moderate or Poor.</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This mirrors how an environmental agency works: a full laboratory panel is expensive, so a model that infers the class from routinely collected measurements helps prioritise which sites need deeper testing.</a:t>
            </a:r>
            <a:endParaRPr lang="en-US" sz="1150" dirty="0"/>
          </a:p>
        </p:txBody>
      </p:sp>
      <p:sp>
        <p:nvSpPr>
          <p:cNvPr id="8" name="Shape 6"/>
          <p:cNvSpPr/>
          <p:nvPr/>
        </p:nvSpPr>
        <p:spPr>
          <a:xfrm>
            <a:off x="548640" y="4160520"/>
            <a:ext cx="5486400" cy="1737360"/>
          </a:xfrm>
          <a:prstGeom prst="roundRect">
            <a:avLst>
              <a:gd name="adj" fmla="val 4211"/>
            </a:avLst>
          </a:prstGeom>
          <a:solidFill>
            <a:srgbClr val="E3DFD2"/>
          </a:solidFill>
          <a:ln w="12700">
            <a:solidFill>
              <a:srgbClr val="E3DFD2"/>
            </a:solidFill>
            <a:prstDash val="solid"/>
          </a:ln>
        </p:spPr>
      </p:sp>
      <p:sp>
        <p:nvSpPr>
          <p:cNvPr id="9" name="Text 7"/>
          <p:cNvSpPr txBox="1"/>
          <p:nvPr/>
        </p:nvSpPr>
        <p:spPr>
          <a:xfrm>
            <a:off x="777240" y="4325112"/>
            <a:ext cx="50292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Why it is classification, not regression</a:t>
            </a:r>
            <a:endParaRPr lang="en-US" sz="1400" dirty="0"/>
          </a:p>
        </p:txBody>
      </p:sp>
      <p:sp>
        <p:nvSpPr>
          <p:cNvPr id="10" name="Text 8"/>
          <p:cNvSpPr txBox="1"/>
          <p:nvPr/>
        </p:nvSpPr>
        <p:spPr>
          <a:xfrm>
            <a:off x="777240" y="4672584"/>
            <a:ext cx="5029200" cy="105156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The answer is one of three named categories with no meaningful arithmetic between them — 'Moderate' is not the average of 'Good' and 'Poor' in any measurable sense. Models are therefore judged on accuracy, precision, recall, F1 and ROC-AUC instead of R² or RMSE.</a:t>
            </a:r>
            <a:endParaRPr lang="en-US" sz="1150" dirty="0"/>
          </a:p>
        </p:txBody>
      </p:sp>
      <p:sp>
        <p:nvSpPr>
          <p:cNvPr id="11" name="Text 9"/>
          <p:cNvSpPr txBox="1"/>
          <p:nvPr/>
        </p:nvSpPr>
        <p:spPr>
          <a:xfrm>
            <a:off x="6492240" y="1965960"/>
            <a:ext cx="2468880" cy="685800"/>
          </a:xfrm>
          <a:prstGeom prst="rect">
            <a:avLst/>
          </a:prstGeom>
          <a:noFill/>
          <a:ln/>
        </p:spPr>
        <p:txBody>
          <a:bodyPr wrap="square" lIns="0" tIns="0" rIns="0" bIns="0" rtlCol="0" anchor="ctr"/>
          <a:lstStyle/>
          <a:p>
            <a:pPr indent="0" marL="0">
              <a:buNone/>
            </a:pPr>
            <a:r>
              <a:rPr lang="en-US" sz="3600" b="1" dirty="0">
                <a:solidFill>
                  <a:srgbClr val="A4613C"/>
                </a:solidFill>
                <a:latin typeface="Cambria" pitchFamily="34" charset="0"/>
                <a:ea typeface="Cambria" pitchFamily="34" charset="-122"/>
                <a:cs typeface="Cambria" pitchFamily="34" charset="-120"/>
              </a:rPr>
              <a:t>80,000</a:t>
            </a:r>
            <a:endParaRPr lang="en-US" sz="3600" dirty="0"/>
          </a:p>
        </p:txBody>
      </p:sp>
      <p:sp>
        <p:nvSpPr>
          <p:cNvPr id="12" name="Text 10"/>
          <p:cNvSpPr txBox="1"/>
          <p:nvPr/>
        </p:nvSpPr>
        <p:spPr>
          <a:xfrm>
            <a:off x="6492240" y="2624328"/>
            <a:ext cx="2468880" cy="457200"/>
          </a:xfrm>
          <a:prstGeom prst="rect">
            <a:avLst/>
          </a:prstGeom>
          <a:noFill/>
          <a:ln/>
        </p:spPr>
        <p:txBody>
          <a:bodyPr wrap="square" lIns="0" tIns="0" rIns="0" bIns="0" rtlCol="0" anchor="ctr"/>
          <a:lstStyle/>
          <a:p>
            <a:pPr indent="0" marL="0">
              <a:lnSpc>
                <a:spcPts val="1300"/>
              </a:lnSpc>
              <a:buNone/>
            </a:pPr>
            <a:r>
              <a:rPr lang="en-US" sz="1050" dirty="0">
                <a:solidFill>
                  <a:srgbClr val="6E6658"/>
                </a:solidFill>
                <a:latin typeface="Calibri" pitchFamily="34" charset="0"/>
                <a:ea typeface="Calibri" pitchFamily="34" charset="-122"/>
                <a:cs typeface="Calibri" pitchFamily="34" charset="-120"/>
              </a:rPr>
              <a:t>raw samples in the dataset</a:t>
            </a:r>
            <a:endParaRPr lang="en-US" sz="1050" dirty="0"/>
          </a:p>
        </p:txBody>
      </p:sp>
      <p:sp>
        <p:nvSpPr>
          <p:cNvPr id="13" name="Text 11"/>
          <p:cNvSpPr txBox="1"/>
          <p:nvPr/>
        </p:nvSpPr>
        <p:spPr>
          <a:xfrm>
            <a:off x="9144000" y="1965960"/>
            <a:ext cx="2468880" cy="685800"/>
          </a:xfrm>
          <a:prstGeom prst="rect">
            <a:avLst/>
          </a:prstGeom>
          <a:noFill/>
          <a:ln/>
        </p:spPr>
        <p:txBody>
          <a:bodyPr wrap="square" lIns="0" tIns="0" rIns="0" bIns="0" rtlCol="0" anchor="ctr"/>
          <a:lstStyle/>
          <a:p>
            <a:pPr indent="0" marL="0">
              <a:buNone/>
            </a:pPr>
            <a:r>
              <a:rPr lang="en-US" sz="3600" b="1" dirty="0">
                <a:solidFill>
                  <a:srgbClr val="A4613C"/>
                </a:solidFill>
                <a:latin typeface="Cambria" pitchFamily="34" charset="0"/>
                <a:ea typeface="Cambria" pitchFamily="34" charset="-122"/>
                <a:cs typeface="Cambria" pitchFamily="34" charset="-120"/>
              </a:rPr>
              <a:t>53</a:t>
            </a:r>
            <a:endParaRPr lang="en-US" sz="3600" dirty="0"/>
          </a:p>
        </p:txBody>
      </p:sp>
      <p:sp>
        <p:nvSpPr>
          <p:cNvPr id="14" name="Text 12"/>
          <p:cNvSpPr txBox="1"/>
          <p:nvPr/>
        </p:nvSpPr>
        <p:spPr>
          <a:xfrm>
            <a:off x="9144000" y="2624328"/>
            <a:ext cx="2468880" cy="457200"/>
          </a:xfrm>
          <a:prstGeom prst="rect">
            <a:avLst/>
          </a:prstGeom>
          <a:noFill/>
          <a:ln/>
        </p:spPr>
        <p:txBody>
          <a:bodyPr wrap="square" lIns="0" tIns="0" rIns="0" bIns="0" rtlCol="0" anchor="ctr"/>
          <a:lstStyle/>
          <a:p>
            <a:pPr indent="0" marL="0">
              <a:lnSpc>
                <a:spcPts val="1300"/>
              </a:lnSpc>
              <a:buNone/>
            </a:pPr>
            <a:r>
              <a:rPr lang="en-US" sz="1050" dirty="0">
                <a:solidFill>
                  <a:srgbClr val="6E6658"/>
                </a:solidFill>
                <a:latin typeface="Calibri" pitchFamily="34" charset="0"/>
                <a:ea typeface="Calibri" pitchFamily="34" charset="-122"/>
                <a:cs typeface="Calibri" pitchFamily="34" charset="-120"/>
              </a:rPr>
              <a:t>columns (52 measurements + target)</a:t>
            </a:r>
            <a:endParaRPr lang="en-US" sz="1050" dirty="0"/>
          </a:p>
        </p:txBody>
      </p:sp>
      <p:sp>
        <p:nvSpPr>
          <p:cNvPr id="15" name="Text 13"/>
          <p:cNvSpPr txBox="1"/>
          <p:nvPr/>
        </p:nvSpPr>
        <p:spPr>
          <a:xfrm>
            <a:off x="6492240" y="3291840"/>
            <a:ext cx="2468880" cy="685800"/>
          </a:xfrm>
          <a:prstGeom prst="rect">
            <a:avLst/>
          </a:prstGeom>
          <a:noFill/>
          <a:ln/>
        </p:spPr>
        <p:txBody>
          <a:bodyPr wrap="square" lIns="0" tIns="0" rIns="0" bIns="0" rtlCol="0" anchor="ctr"/>
          <a:lstStyle/>
          <a:p>
            <a:pPr indent="0" marL="0">
              <a:buNone/>
            </a:pPr>
            <a:r>
              <a:rPr lang="en-US" sz="3600" b="1" dirty="0">
                <a:solidFill>
                  <a:srgbClr val="77856B"/>
                </a:solidFill>
                <a:latin typeface="Cambria" pitchFamily="34" charset="0"/>
                <a:ea typeface="Cambria" pitchFamily="34" charset="-122"/>
                <a:cs typeface="Cambria" pitchFamily="34" charset="-120"/>
              </a:rPr>
              <a:t>3</a:t>
            </a:r>
            <a:endParaRPr lang="en-US" sz="3600" dirty="0"/>
          </a:p>
        </p:txBody>
      </p:sp>
      <p:sp>
        <p:nvSpPr>
          <p:cNvPr id="16" name="Text 14"/>
          <p:cNvSpPr txBox="1"/>
          <p:nvPr/>
        </p:nvSpPr>
        <p:spPr>
          <a:xfrm>
            <a:off x="6492240" y="3950208"/>
            <a:ext cx="2468880" cy="457200"/>
          </a:xfrm>
          <a:prstGeom prst="rect">
            <a:avLst/>
          </a:prstGeom>
          <a:noFill/>
          <a:ln/>
        </p:spPr>
        <p:txBody>
          <a:bodyPr wrap="square" lIns="0" tIns="0" rIns="0" bIns="0" rtlCol="0" anchor="ctr"/>
          <a:lstStyle/>
          <a:p>
            <a:pPr indent="0" marL="0">
              <a:lnSpc>
                <a:spcPts val="1300"/>
              </a:lnSpc>
              <a:buNone/>
            </a:pPr>
            <a:r>
              <a:rPr lang="en-US" sz="1050" dirty="0">
                <a:solidFill>
                  <a:srgbClr val="6E6658"/>
                </a:solidFill>
                <a:latin typeface="Calibri" pitchFamily="34" charset="0"/>
                <a:ea typeface="Calibri" pitchFamily="34" charset="-122"/>
                <a:cs typeface="Calibri" pitchFamily="34" charset="-120"/>
              </a:rPr>
              <a:t>target classes</a:t>
            </a:r>
            <a:endParaRPr lang="en-US" sz="1050" dirty="0"/>
          </a:p>
        </p:txBody>
      </p:sp>
      <p:sp>
        <p:nvSpPr>
          <p:cNvPr id="17" name="Text 15"/>
          <p:cNvSpPr txBox="1"/>
          <p:nvPr/>
        </p:nvSpPr>
        <p:spPr>
          <a:xfrm>
            <a:off x="9144000" y="3291840"/>
            <a:ext cx="2468880" cy="685800"/>
          </a:xfrm>
          <a:prstGeom prst="rect">
            <a:avLst/>
          </a:prstGeom>
          <a:noFill/>
          <a:ln/>
        </p:spPr>
        <p:txBody>
          <a:bodyPr wrap="square" lIns="0" tIns="0" rIns="0" bIns="0" rtlCol="0" anchor="ctr"/>
          <a:lstStyle/>
          <a:p>
            <a:pPr indent="0" marL="0">
              <a:buNone/>
            </a:pPr>
            <a:r>
              <a:rPr lang="en-US" sz="3600" b="1" dirty="0">
                <a:solidFill>
                  <a:srgbClr val="77856B"/>
                </a:solidFill>
                <a:latin typeface="Cambria" pitchFamily="34" charset="0"/>
                <a:ea typeface="Cambria" pitchFamily="34" charset="-122"/>
                <a:cs typeface="Cambria" pitchFamily="34" charset="-120"/>
              </a:rPr>
              <a:t>5</a:t>
            </a:r>
            <a:endParaRPr lang="en-US" sz="3600" dirty="0"/>
          </a:p>
        </p:txBody>
      </p:sp>
      <p:sp>
        <p:nvSpPr>
          <p:cNvPr id="18" name="Text 16"/>
          <p:cNvSpPr txBox="1"/>
          <p:nvPr/>
        </p:nvSpPr>
        <p:spPr>
          <a:xfrm>
            <a:off x="9144000" y="3950208"/>
            <a:ext cx="2468880" cy="457200"/>
          </a:xfrm>
          <a:prstGeom prst="rect">
            <a:avLst/>
          </a:prstGeom>
          <a:noFill/>
          <a:ln/>
        </p:spPr>
        <p:txBody>
          <a:bodyPr wrap="square" lIns="0" tIns="0" rIns="0" bIns="0" rtlCol="0" anchor="ctr"/>
          <a:lstStyle/>
          <a:p>
            <a:pPr indent="0" marL="0">
              <a:lnSpc>
                <a:spcPts val="1300"/>
              </a:lnSpc>
              <a:buNone/>
            </a:pPr>
            <a:r>
              <a:rPr lang="en-US" sz="1050" dirty="0">
                <a:solidFill>
                  <a:srgbClr val="6E6658"/>
                </a:solidFill>
                <a:latin typeface="Calibri" pitchFamily="34" charset="0"/>
                <a:ea typeface="Calibri" pitchFamily="34" charset="-122"/>
                <a:cs typeface="Calibri" pitchFamily="34" charset="-120"/>
              </a:rPr>
              <a:t>algorithms compared</a:t>
            </a:r>
            <a:endParaRPr lang="en-US" sz="10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6492240" y="4480560"/>
          <a:ext cx="5120640" cy="914400"/>
        </p:xfrm>
        <a:graphic>
          <a:graphicData uri="http://schemas.openxmlformats.org/drawingml/2006/table">
            <a:tbl>
              <a:tblPr/>
              <a:tblGrid>
                <a:gridCol w="2560320"/>
                <a:gridCol w="2560320"/>
              </a:tblGrid>
              <a:tr h="329184">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Class</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Share of training data</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r>
              <a:tr h="329184">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Moderate</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58.26%</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29184">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Good</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23.05%</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Poor</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18.69%</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bl>
          </a:graphicData>
        </a:graphic>
      </p:graphicFrame>
      <p:sp>
        <p:nvSpPr>
          <p:cNvPr id="20" name="Text 17"/>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39</a:t>
            </a:r>
            <a:endParaRPr lang="en-US" sz="900" dirty="0"/>
          </a:p>
        </p:txBody>
      </p:sp>
      <p:sp>
        <p:nvSpPr>
          <p:cNvPr id="21" name="Text 18"/>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B · Problem</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B · DATA</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Dataset audit &amp; missing values</a:t>
            </a:r>
            <a:endParaRPr lang="en-US" sz="2800" dirty="0"/>
          </a:p>
        </p:txBody>
      </p:sp>
      <p:sp>
        <p:nvSpPr>
          <p:cNvPr id="4" name="Text 2"/>
          <p:cNvSpPr txBox="1"/>
          <p:nvPr/>
        </p:nvSpPr>
        <p:spPr>
          <a:xfrm>
            <a:off x="548640" y="1371600"/>
            <a:ext cx="11064240" cy="365760"/>
          </a:xfrm>
          <a:prstGeom prst="rect">
            <a:avLst/>
          </a:prstGeom>
          <a:noFill/>
          <a:ln/>
        </p:spPr>
        <p:txBody>
          <a:bodyPr wrap="square" lIns="0" tIns="0" rIns="0" bIns="0" rtlCol="0" anchor="ctr"/>
          <a:lstStyle/>
          <a:p>
            <a:pPr indent="0" marL="0">
              <a:buNone/>
            </a:pPr>
            <a:r>
              <a:rPr lang="en-US" sz="1250" dirty="0">
                <a:solidFill>
                  <a:srgbClr val="6E6658"/>
                </a:solidFill>
                <a:latin typeface="Calibri" pitchFamily="34" charset="0"/>
                <a:ea typeface="Calibri" pitchFamily="34" charset="-122"/>
                <a:cs typeface="Calibri" pitchFamily="34" charset="-120"/>
              </a:rPr>
              <a:t>The same audit discipline as Part A: check shape, data types, missing values and target balance before changing anything.</a:t>
            </a:r>
            <a:endParaRPr lang="en-US" sz="1250" dirty="0"/>
          </a:p>
        </p:txBody>
      </p:sp>
      <p:sp>
        <p:nvSpPr>
          <p:cNvPr id="5" name="Shape 3"/>
          <p:cNvSpPr/>
          <p:nvPr/>
        </p:nvSpPr>
        <p:spPr>
          <a:xfrm>
            <a:off x="548640" y="1828800"/>
            <a:ext cx="5394960" cy="1828800"/>
          </a:xfrm>
          <a:prstGeom prst="roundRect">
            <a:avLst>
              <a:gd name="adj" fmla="val 4000"/>
            </a:avLst>
          </a:prstGeom>
          <a:solidFill>
            <a:srgbClr val="EAE3D6"/>
          </a:solidFill>
          <a:ln w="12700">
            <a:solidFill>
              <a:srgbClr val="EAE3D6"/>
            </a:solidFill>
            <a:prstDash val="solid"/>
          </a:ln>
        </p:spPr>
      </p:sp>
      <p:sp>
        <p:nvSpPr>
          <p:cNvPr id="6" name="Text 4"/>
          <p:cNvSpPr txBox="1"/>
          <p:nvPr/>
        </p:nvSpPr>
        <p:spPr>
          <a:xfrm>
            <a:off x="777240" y="1993392"/>
            <a:ext cx="493776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What the audit found</a:t>
            </a:r>
            <a:endParaRPr lang="en-US" sz="1400" dirty="0"/>
          </a:p>
        </p:txBody>
      </p:sp>
      <p:sp>
        <p:nvSpPr>
          <p:cNvPr id="7" name="Text 5"/>
          <p:cNvSpPr txBox="1"/>
          <p:nvPr/>
        </p:nvSpPr>
        <p:spPr>
          <a:xfrm>
            <a:off x="777240" y="2340864"/>
            <a:ext cx="4937760" cy="114300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 80,000 rows × 53 columns.</a:t>
            </a: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 Two text columns (Sample Date, Sample Time) plus the target; everything else is float64.</a:t>
            </a: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 Missing values are severe and widespread — many trace-element columns are almost entirely empty.</a:t>
            </a: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 The target itself has 12,011 missing labels.</a:t>
            </a:r>
            <a:endParaRPr lang="en-US" sz="115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3886200"/>
          <a:ext cx="5394960" cy="914400"/>
        </p:xfrm>
        <a:graphic>
          <a:graphicData uri="http://schemas.openxmlformats.org/drawingml/2006/table">
            <a:tbl>
              <a:tblPr/>
              <a:tblGrid>
                <a:gridCol w="2286000"/>
                <a:gridCol w="1554480"/>
                <a:gridCol w="1554480"/>
              </a:tblGrid>
              <a:tr h="301752">
                <a:tc>
                  <a:txBody>
                    <a:bodyPr/>
                    <a:lstStyle/>
                    <a:p>
                      <a:pPr indent="0" marL="0">
                        <a:buNone/>
                      </a:pPr>
                      <a:r>
                        <a:rPr lang="en-US" sz="1000" b="1" dirty="0">
                          <a:solidFill>
                            <a:srgbClr val="F6F2EA"/>
                          </a:solidFill>
                          <a:latin typeface="Calibri" pitchFamily="34" charset="0"/>
                          <a:ea typeface="Calibri" pitchFamily="34" charset="-122"/>
                          <a:cs typeface="Calibri" pitchFamily="34" charset="-120"/>
                        </a:rPr>
                        <a:t>Column</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00" b="1" dirty="0">
                          <a:solidFill>
                            <a:srgbClr val="F6F2EA"/>
                          </a:solidFill>
                          <a:latin typeface="Calibri" pitchFamily="34" charset="0"/>
                          <a:ea typeface="Calibri" pitchFamily="34" charset="-122"/>
                          <a:cs typeface="Calibri" pitchFamily="34" charset="-120"/>
                        </a:rPr>
                        <a:t>Missing</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00" b="1" dirty="0">
                          <a:solidFill>
                            <a:srgbClr val="F6F2EA"/>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r>
              <a:tr h="301752">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total_solids</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79,365</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99.2%</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01752">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sulfate</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78,858</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98.6%</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lithium</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77,440</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96.8%</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01752">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strontium</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77,302</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96.6%</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fluoride</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76,819</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96.0%</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01752">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uranium</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76,334</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95.4%</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bl>
          </a:graphicData>
        </a:graphic>
      </p:graphicFrame>
      <p:sp>
        <p:nvSpPr>
          <p:cNvPr id="9" name="Shape 6"/>
          <p:cNvSpPr/>
          <p:nvPr/>
        </p:nvSpPr>
        <p:spPr>
          <a:xfrm>
            <a:off x="6217920" y="1828800"/>
            <a:ext cx="5394960" cy="2148840"/>
          </a:xfrm>
          <a:prstGeom prst="roundRect">
            <a:avLst>
              <a:gd name="adj" fmla="val 3404"/>
            </a:avLst>
          </a:prstGeom>
          <a:solidFill>
            <a:srgbClr val="E3DFD2"/>
          </a:solidFill>
          <a:ln w="12700">
            <a:solidFill>
              <a:srgbClr val="E3DFD2"/>
            </a:solidFill>
            <a:prstDash val="solid"/>
          </a:ln>
        </p:spPr>
      </p:sp>
      <p:sp>
        <p:nvSpPr>
          <p:cNvPr id="10" name="Text 7"/>
          <p:cNvSpPr txBox="1"/>
          <p:nvPr/>
        </p:nvSpPr>
        <p:spPr>
          <a:xfrm>
            <a:off x="6446520" y="1993392"/>
            <a:ext cx="493776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How missingness is handled here</a:t>
            </a:r>
            <a:endParaRPr lang="en-US" sz="1400" dirty="0"/>
          </a:p>
        </p:txBody>
      </p:sp>
      <p:sp>
        <p:nvSpPr>
          <p:cNvPr id="11" name="Text 8"/>
          <p:cNvSpPr txBox="1"/>
          <p:nvPr/>
        </p:nvSpPr>
        <p:spPr>
          <a:xfrm>
            <a:off x="6446520" y="2340864"/>
            <a:ext cx="4937760" cy="146304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No column is dropped for sparsity in this notebook. Instead, every numeric predictor passes through median imputation learned on the training split only.</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The consequence is stated plainly: a column that is 99% empty contributes almost nothing but one repeated median value, so it adds little signal — which is exactly what the feature-importance chart later confirms.</a:t>
            </a:r>
            <a:endParaRPr lang="en-US" sz="1150" dirty="0"/>
          </a:p>
        </p:txBody>
      </p:sp>
      <p:sp>
        <p:nvSpPr>
          <p:cNvPr id="12" name="Shape 9"/>
          <p:cNvSpPr/>
          <p:nvPr/>
        </p:nvSpPr>
        <p:spPr>
          <a:xfrm>
            <a:off x="6217920" y="4206240"/>
            <a:ext cx="5394960" cy="1691640"/>
          </a:xfrm>
          <a:prstGeom prst="roundRect">
            <a:avLst>
              <a:gd name="adj" fmla="val 4324"/>
            </a:avLst>
          </a:prstGeom>
          <a:solidFill>
            <a:srgbClr val="EAE3D6"/>
          </a:solidFill>
          <a:ln w="12700">
            <a:solidFill>
              <a:srgbClr val="EAE3D6"/>
            </a:solidFill>
            <a:prstDash val="solid"/>
          </a:ln>
        </p:spPr>
      </p:sp>
      <p:sp>
        <p:nvSpPr>
          <p:cNvPr id="13" name="Text 10"/>
          <p:cNvSpPr txBox="1"/>
          <p:nvPr/>
        </p:nvSpPr>
        <p:spPr>
          <a:xfrm>
            <a:off x="6446520" y="4370832"/>
            <a:ext cx="493776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Rows with a missing target are removed</a:t>
            </a:r>
            <a:endParaRPr lang="en-US" sz="1400" dirty="0"/>
          </a:p>
        </p:txBody>
      </p:sp>
      <p:sp>
        <p:nvSpPr>
          <p:cNvPr id="14" name="Text 11"/>
          <p:cNvSpPr txBox="1"/>
          <p:nvPr/>
        </p:nvSpPr>
        <p:spPr>
          <a:xfrm>
            <a:off x="6446520" y="4718304"/>
            <a:ext cx="4937760" cy="100584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A supervised classifier needs a known answer to learn from, and a row with no label can be neither trained on nor scored. The 12,011 unlabelled rows are therefore dropped — this is the one place where deletion is the only correct choice.</a:t>
            </a:r>
            <a:endParaRPr lang="en-US" sz="1150" dirty="0"/>
          </a:p>
        </p:txBody>
      </p:sp>
      <p:sp>
        <p:nvSpPr>
          <p:cNvPr id="15" name="Text 12"/>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40</a:t>
            </a:r>
            <a:endParaRPr lang="en-US" sz="900" dirty="0"/>
          </a:p>
        </p:txBody>
      </p:sp>
      <p:sp>
        <p:nvSpPr>
          <p:cNvPr id="16" name="Text 13"/>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B · Data audit</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B · DATA</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Duplicate check &amp; basic cleaning</a:t>
            </a:r>
            <a:endParaRPr lang="en-US" sz="2800" dirty="0"/>
          </a:p>
        </p:txBody>
      </p:sp>
      <p:sp>
        <p:nvSpPr>
          <p:cNvPr id="4" name="Shape 2"/>
          <p:cNvSpPr/>
          <p:nvPr/>
        </p:nvSpPr>
        <p:spPr>
          <a:xfrm>
            <a:off x="548640" y="1554480"/>
            <a:ext cx="2697480" cy="1920240"/>
          </a:xfrm>
          <a:prstGeom prst="roundRect">
            <a:avLst>
              <a:gd name="adj" fmla="val 3333"/>
            </a:avLst>
          </a:prstGeom>
          <a:solidFill>
            <a:srgbClr val="EAE3D6"/>
          </a:solidFill>
          <a:ln w="12700">
            <a:solidFill>
              <a:srgbClr val="F6F2EA"/>
            </a:solidFill>
            <a:prstDash val="solid"/>
          </a:ln>
        </p:spPr>
      </p:sp>
      <p:sp>
        <p:nvSpPr>
          <p:cNvPr id="5" name="Text 3"/>
          <p:cNvSpPr txBox="1"/>
          <p:nvPr/>
        </p:nvSpPr>
        <p:spPr>
          <a:xfrm>
            <a:off x="777240" y="1783080"/>
            <a:ext cx="2240280" cy="640080"/>
          </a:xfrm>
          <a:prstGeom prst="rect">
            <a:avLst/>
          </a:prstGeom>
          <a:noFill/>
          <a:ln/>
        </p:spPr>
        <p:txBody>
          <a:bodyPr wrap="square" lIns="0" tIns="0" rIns="0" bIns="0" rtlCol="0" anchor="ctr"/>
          <a:lstStyle/>
          <a:p>
            <a:pPr indent="0" marL="0">
              <a:buNone/>
            </a:pPr>
            <a:r>
              <a:rPr lang="en-US" sz="2600" b="1" dirty="0">
                <a:solidFill>
                  <a:srgbClr val="A4613C"/>
                </a:solidFill>
                <a:latin typeface="Cambria" pitchFamily="34" charset="0"/>
                <a:ea typeface="Cambria" pitchFamily="34" charset="-122"/>
                <a:cs typeface="Cambria" pitchFamily="34" charset="-120"/>
              </a:rPr>
              <a:t>80,000</a:t>
            </a:r>
            <a:endParaRPr lang="en-US" sz="2600" dirty="0"/>
          </a:p>
        </p:txBody>
      </p:sp>
      <p:sp>
        <p:nvSpPr>
          <p:cNvPr id="6" name="Text 4"/>
          <p:cNvSpPr txBox="1"/>
          <p:nvPr/>
        </p:nvSpPr>
        <p:spPr>
          <a:xfrm>
            <a:off x="777240" y="2468880"/>
            <a:ext cx="2240280" cy="822960"/>
          </a:xfrm>
          <a:prstGeom prst="rect">
            <a:avLst/>
          </a:prstGeom>
          <a:noFill/>
          <a:ln/>
        </p:spPr>
        <p:txBody>
          <a:bodyPr wrap="square" lIns="0" tIns="0" rIns="0" bIns="0" rtlCol="0" anchor="ctr"/>
          <a:lstStyle/>
          <a:p>
            <a:pPr indent="0" marL="0">
              <a:lnSpc>
                <a:spcPts val="1400"/>
              </a:lnSpc>
              <a:buNone/>
            </a:pPr>
            <a:r>
              <a:rPr lang="en-US" sz="1100" dirty="0">
                <a:solidFill>
                  <a:srgbClr val="6E6658"/>
                </a:solidFill>
                <a:latin typeface="Calibri" pitchFamily="34" charset="0"/>
                <a:ea typeface="Calibri" pitchFamily="34" charset="-122"/>
                <a:cs typeface="Calibri" pitchFamily="34" charset="-120"/>
              </a:rPr>
              <a:t>Rows in the raw file</a:t>
            </a:r>
            <a:endParaRPr lang="en-US" sz="1100" dirty="0"/>
          </a:p>
        </p:txBody>
      </p:sp>
      <p:sp>
        <p:nvSpPr>
          <p:cNvPr id="7" name="Shape 5"/>
          <p:cNvSpPr/>
          <p:nvPr/>
        </p:nvSpPr>
        <p:spPr>
          <a:xfrm>
            <a:off x="3429000" y="1554480"/>
            <a:ext cx="2697480" cy="1920240"/>
          </a:xfrm>
          <a:prstGeom prst="roundRect">
            <a:avLst>
              <a:gd name="adj" fmla="val 3333"/>
            </a:avLst>
          </a:prstGeom>
          <a:solidFill>
            <a:srgbClr val="EAE3D6"/>
          </a:solidFill>
          <a:ln w="12700">
            <a:solidFill>
              <a:srgbClr val="F6F2EA"/>
            </a:solidFill>
            <a:prstDash val="solid"/>
          </a:ln>
        </p:spPr>
      </p:sp>
      <p:sp>
        <p:nvSpPr>
          <p:cNvPr id="8" name="Text 6"/>
          <p:cNvSpPr txBox="1"/>
          <p:nvPr/>
        </p:nvSpPr>
        <p:spPr>
          <a:xfrm>
            <a:off x="3657600" y="1783080"/>
            <a:ext cx="2240280" cy="640080"/>
          </a:xfrm>
          <a:prstGeom prst="rect">
            <a:avLst/>
          </a:prstGeom>
          <a:noFill/>
          <a:ln/>
        </p:spPr>
        <p:txBody>
          <a:bodyPr wrap="square" lIns="0" tIns="0" rIns="0" bIns="0" rtlCol="0" anchor="ctr"/>
          <a:lstStyle/>
          <a:p>
            <a:pPr indent="0" marL="0">
              <a:buNone/>
            </a:pPr>
            <a:r>
              <a:rPr lang="en-US" sz="2600" b="1" dirty="0">
                <a:solidFill>
                  <a:srgbClr val="A4613C"/>
                </a:solidFill>
                <a:latin typeface="Cambria" pitchFamily="34" charset="0"/>
                <a:ea typeface="Cambria" pitchFamily="34" charset="-122"/>
                <a:cs typeface="Cambria" pitchFamily="34" charset="-120"/>
              </a:rPr>
              <a:t>− 116</a:t>
            </a:r>
            <a:endParaRPr lang="en-US" sz="2600" dirty="0"/>
          </a:p>
        </p:txBody>
      </p:sp>
      <p:sp>
        <p:nvSpPr>
          <p:cNvPr id="9" name="Text 7"/>
          <p:cNvSpPr txBox="1"/>
          <p:nvPr/>
        </p:nvSpPr>
        <p:spPr>
          <a:xfrm>
            <a:off x="3657600" y="2468880"/>
            <a:ext cx="2240280" cy="822960"/>
          </a:xfrm>
          <a:prstGeom prst="rect">
            <a:avLst/>
          </a:prstGeom>
          <a:noFill/>
          <a:ln/>
        </p:spPr>
        <p:txBody>
          <a:bodyPr wrap="square" lIns="0" tIns="0" rIns="0" bIns="0" rtlCol="0" anchor="ctr"/>
          <a:lstStyle/>
          <a:p>
            <a:pPr indent="0" marL="0">
              <a:lnSpc>
                <a:spcPts val="1400"/>
              </a:lnSpc>
              <a:buNone/>
            </a:pPr>
            <a:r>
              <a:rPr lang="en-US" sz="1100" dirty="0">
                <a:solidFill>
                  <a:srgbClr val="6E6658"/>
                </a:solidFill>
                <a:latin typeface="Calibri" pitchFamily="34" charset="0"/>
                <a:ea typeface="Calibri" pitchFamily="34" charset="-122"/>
                <a:cs typeface="Calibri" pitchFamily="34" charset="-120"/>
              </a:rPr>
              <a:t>Exact duplicate rows removed with drop_duplicates()</a:t>
            </a:r>
            <a:endParaRPr lang="en-US" sz="1100" dirty="0"/>
          </a:p>
        </p:txBody>
      </p:sp>
      <p:sp>
        <p:nvSpPr>
          <p:cNvPr id="10" name="Shape 8"/>
          <p:cNvSpPr/>
          <p:nvPr/>
        </p:nvSpPr>
        <p:spPr>
          <a:xfrm>
            <a:off x="6309360" y="1554480"/>
            <a:ext cx="2697480" cy="1920240"/>
          </a:xfrm>
          <a:prstGeom prst="roundRect">
            <a:avLst>
              <a:gd name="adj" fmla="val 3333"/>
            </a:avLst>
          </a:prstGeom>
          <a:solidFill>
            <a:srgbClr val="EAE3D6"/>
          </a:solidFill>
          <a:ln w="12700">
            <a:solidFill>
              <a:srgbClr val="F6F2EA"/>
            </a:solidFill>
            <a:prstDash val="solid"/>
          </a:ln>
        </p:spPr>
      </p:sp>
      <p:sp>
        <p:nvSpPr>
          <p:cNvPr id="11" name="Text 9"/>
          <p:cNvSpPr txBox="1"/>
          <p:nvPr/>
        </p:nvSpPr>
        <p:spPr>
          <a:xfrm>
            <a:off x="6537960" y="1783080"/>
            <a:ext cx="2240280" cy="640080"/>
          </a:xfrm>
          <a:prstGeom prst="rect">
            <a:avLst/>
          </a:prstGeom>
          <a:noFill/>
          <a:ln/>
        </p:spPr>
        <p:txBody>
          <a:bodyPr wrap="square" lIns="0" tIns="0" rIns="0" bIns="0" rtlCol="0" anchor="ctr"/>
          <a:lstStyle/>
          <a:p>
            <a:pPr indent="0" marL="0">
              <a:buNone/>
            </a:pPr>
            <a:r>
              <a:rPr lang="en-US" sz="2600" b="1" dirty="0">
                <a:solidFill>
                  <a:srgbClr val="A4613C"/>
                </a:solidFill>
                <a:latin typeface="Cambria" pitchFamily="34" charset="0"/>
                <a:ea typeface="Cambria" pitchFamily="34" charset="-122"/>
                <a:cs typeface="Cambria" pitchFamily="34" charset="-120"/>
              </a:rPr>
              <a:t>− 12,011</a:t>
            </a:r>
            <a:endParaRPr lang="en-US" sz="2600" dirty="0"/>
          </a:p>
        </p:txBody>
      </p:sp>
      <p:sp>
        <p:nvSpPr>
          <p:cNvPr id="12" name="Text 10"/>
          <p:cNvSpPr txBox="1"/>
          <p:nvPr/>
        </p:nvSpPr>
        <p:spPr>
          <a:xfrm>
            <a:off x="6537960" y="2468880"/>
            <a:ext cx="2240280" cy="822960"/>
          </a:xfrm>
          <a:prstGeom prst="rect">
            <a:avLst/>
          </a:prstGeom>
          <a:noFill/>
          <a:ln/>
        </p:spPr>
        <p:txBody>
          <a:bodyPr wrap="square" lIns="0" tIns="0" rIns="0" bIns="0" rtlCol="0" anchor="ctr"/>
          <a:lstStyle/>
          <a:p>
            <a:pPr indent="0" marL="0">
              <a:lnSpc>
                <a:spcPts val="1400"/>
              </a:lnSpc>
              <a:buNone/>
            </a:pPr>
            <a:r>
              <a:rPr lang="en-US" sz="1100" dirty="0">
                <a:solidFill>
                  <a:srgbClr val="6E6658"/>
                </a:solidFill>
                <a:latin typeface="Calibri" pitchFamily="34" charset="0"/>
                <a:ea typeface="Calibri" pitchFamily="34" charset="-122"/>
                <a:cs typeface="Calibri" pitchFamily="34" charset="-120"/>
              </a:rPr>
              <a:t>Rows whose Water_Quality_Class was missing</a:t>
            </a:r>
            <a:endParaRPr lang="en-US" sz="1100" dirty="0"/>
          </a:p>
        </p:txBody>
      </p:sp>
      <p:sp>
        <p:nvSpPr>
          <p:cNvPr id="13" name="Shape 11"/>
          <p:cNvSpPr/>
          <p:nvPr/>
        </p:nvSpPr>
        <p:spPr>
          <a:xfrm>
            <a:off x="9189720" y="1554480"/>
            <a:ext cx="2697480" cy="1920240"/>
          </a:xfrm>
          <a:prstGeom prst="roundRect">
            <a:avLst>
              <a:gd name="adj" fmla="val 3333"/>
            </a:avLst>
          </a:prstGeom>
          <a:solidFill>
            <a:srgbClr val="E3DFD2"/>
          </a:solidFill>
          <a:ln w="12700">
            <a:solidFill>
              <a:srgbClr val="F6F2EA"/>
            </a:solidFill>
            <a:prstDash val="solid"/>
          </a:ln>
        </p:spPr>
      </p:sp>
      <p:sp>
        <p:nvSpPr>
          <p:cNvPr id="14" name="Text 12"/>
          <p:cNvSpPr txBox="1"/>
          <p:nvPr/>
        </p:nvSpPr>
        <p:spPr>
          <a:xfrm>
            <a:off x="9418320" y="1783080"/>
            <a:ext cx="2240280" cy="640080"/>
          </a:xfrm>
          <a:prstGeom prst="rect">
            <a:avLst/>
          </a:prstGeom>
          <a:noFill/>
          <a:ln/>
        </p:spPr>
        <p:txBody>
          <a:bodyPr wrap="square" lIns="0" tIns="0" rIns="0" bIns="0" rtlCol="0" anchor="ctr"/>
          <a:lstStyle/>
          <a:p>
            <a:pPr indent="0" marL="0">
              <a:buNone/>
            </a:pPr>
            <a:r>
              <a:rPr lang="en-US" sz="2600" b="1" dirty="0">
                <a:solidFill>
                  <a:srgbClr val="77856B"/>
                </a:solidFill>
                <a:latin typeface="Cambria" pitchFamily="34" charset="0"/>
                <a:ea typeface="Cambria" pitchFamily="34" charset="-122"/>
                <a:cs typeface="Cambria" pitchFamily="34" charset="-120"/>
              </a:rPr>
              <a:t>67,873</a:t>
            </a:r>
            <a:endParaRPr lang="en-US" sz="2600" dirty="0"/>
          </a:p>
        </p:txBody>
      </p:sp>
      <p:sp>
        <p:nvSpPr>
          <p:cNvPr id="15" name="Text 13"/>
          <p:cNvSpPr txBox="1"/>
          <p:nvPr/>
        </p:nvSpPr>
        <p:spPr>
          <a:xfrm>
            <a:off x="9418320" y="2468880"/>
            <a:ext cx="2240280" cy="822960"/>
          </a:xfrm>
          <a:prstGeom prst="rect">
            <a:avLst/>
          </a:prstGeom>
          <a:noFill/>
          <a:ln/>
        </p:spPr>
        <p:txBody>
          <a:bodyPr wrap="square" lIns="0" tIns="0" rIns="0" bIns="0" rtlCol="0" anchor="ctr"/>
          <a:lstStyle/>
          <a:p>
            <a:pPr indent="0" marL="0">
              <a:lnSpc>
                <a:spcPts val="1400"/>
              </a:lnSpc>
              <a:buNone/>
            </a:pPr>
            <a:r>
              <a:rPr lang="en-US" sz="1100" dirty="0">
                <a:solidFill>
                  <a:srgbClr val="6E6658"/>
                </a:solidFill>
                <a:latin typeface="Calibri" pitchFamily="34" charset="0"/>
                <a:ea typeface="Calibri" pitchFamily="34" charset="-122"/>
                <a:cs typeface="Calibri" pitchFamily="34" charset="-120"/>
              </a:rPr>
              <a:t>Rows carried into modelling</a:t>
            </a:r>
            <a:endParaRPr lang="en-US" sz="1100" dirty="0"/>
          </a:p>
        </p:txBody>
      </p:sp>
      <p:sp>
        <p:nvSpPr>
          <p:cNvPr id="16" name="Shape 14"/>
          <p:cNvSpPr/>
          <p:nvPr/>
        </p:nvSpPr>
        <p:spPr>
          <a:xfrm>
            <a:off x="548640" y="3749040"/>
            <a:ext cx="5486400" cy="2011680"/>
          </a:xfrm>
          <a:prstGeom prst="roundRect">
            <a:avLst>
              <a:gd name="adj" fmla="val 3636"/>
            </a:avLst>
          </a:prstGeom>
          <a:solidFill>
            <a:srgbClr val="EAE3D6"/>
          </a:solidFill>
          <a:ln w="12700">
            <a:solidFill>
              <a:srgbClr val="EAE3D6"/>
            </a:solidFill>
            <a:prstDash val="solid"/>
          </a:ln>
        </p:spPr>
      </p:sp>
      <p:sp>
        <p:nvSpPr>
          <p:cNvPr id="17" name="Text 15"/>
          <p:cNvSpPr txBox="1"/>
          <p:nvPr/>
        </p:nvSpPr>
        <p:spPr>
          <a:xfrm>
            <a:off x="777240" y="3913632"/>
            <a:ext cx="50292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Why duplicates are removed here but not in Part A</a:t>
            </a:r>
            <a:endParaRPr lang="en-US" sz="1400" dirty="0"/>
          </a:p>
        </p:txBody>
      </p:sp>
      <p:sp>
        <p:nvSpPr>
          <p:cNvPr id="18" name="Text 16"/>
          <p:cNvSpPr txBox="1"/>
          <p:nvPr/>
        </p:nvSpPr>
        <p:spPr>
          <a:xfrm>
            <a:off x="777240" y="4261104"/>
            <a:ext cx="5029200" cy="132588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The check is the same — df.duplicated().sum() compares every column of every row — but the answer differs: the building dataset had zero exact repeats, while this water dataset has 116.</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Leaving them in would quietly weight those 116 samples double during training and could place identical rows in both the training and test sets, inflating the test score. A re-check after removal confirms zero duplicates remain.</a:t>
            </a:r>
            <a:endParaRPr lang="en-US" sz="1150" dirty="0"/>
          </a:p>
        </p:txBody>
      </p:sp>
      <p:sp>
        <p:nvSpPr>
          <p:cNvPr id="19" name="Shape 17"/>
          <p:cNvSpPr/>
          <p:nvPr/>
        </p:nvSpPr>
        <p:spPr>
          <a:xfrm>
            <a:off x="6217920" y="3749040"/>
            <a:ext cx="5394960" cy="2011680"/>
          </a:xfrm>
          <a:prstGeom prst="roundRect">
            <a:avLst>
              <a:gd name="adj" fmla="val 3636"/>
            </a:avLst>
          </a:prstGeom>
          <a:solidFill>
            <a:srgbClr val="E3DFD2"/>
          </a:solidFill>
          <a:ln w="12700">
            <a:solidFill>
              <a:srgbClr val="E3DFD2"/>
            </a:solidFill>
            <a:prstDash val="solid"/>
          </a:ln>
        </p:spPr>
      </p:sp>
      <p:sp>
        <p:nvSpPr>
          <p:cNvPr id="20" name="Text 18"/>
          <p:cNvSpPr txBox="1"/>
          <p:nvPr/>
        </p:nvSpPr>
        <p:spPr>
          <a:xfrm>
            <a:off x="6446520" y="3913632"/>
            <a:ext cx="493776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What is deliberately not done</a:t>
            </a:r>
            <a:endParaRPr lang="en-US" sz="1400" dirty="0"/>
          </a:p>
        </p:txBody>
      </p:sp>
      <p:sp>
        <p:nvSpPr>
          <p:cNvPr id="21" name="Text 19"/>
          <p:cNvSpPr txBox="1"/>
          <p:nvPr/>
        </p:nvSpPr>
        <p:spPr>
          <a:xfrm>
            <a:off x="6446520" y="4261104"/>
            <a:ext cx="4937760" cy="132588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No feature value is filled in by hand at this stage, and no outlier is touched. Both operations learn something from the data, so both are postponed until after the train/test split and implemented inside the pipeline.</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This is the same zero-leakage principle used throughout Part A, applied to a different dataset.</a:t>
            </a:r>
            <a:endParaRPr lang="en-US" sz="1150" dirty="0"/>
          </a:p>
        </p:txBody>
      </p:sp>
      <p:sp>
        <p:nvSpPr>
          <p:cNvPr id="22" name="Text 20"/>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41</a:t>
            </a:r>
            <a:endParaRPr lang="en-US" sz="900" dirty="0"/>
          </a:p>
        </p:txBody>
      </p:sp>
      <p:sp>
        <p:nvSpPr>
          <p:cNvPr id="23" name="Text 21"/>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B · Cleaning</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B · EDA</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Feature distributions</a:t>
            </a:r>
            <a:endParaRPr lang="en-US" sz="2800" dirty="0"/>
          </a:p>
        </p:txBody>
      </p:sp>
      <p:pic>
        <p:nvPicPr>
          <p:cNvPr id="4" name="Image 0" descr="/home/claude/work/img/CLS_dist_top.png">    </p:cNvPr>
          <p:cNvPicPr>
            <a:picLocks noChangeAspect="1"/>
          </p:cNvPicPr>
          <p:nvPr/>
        </p:nvPicPr>
        <p:blipFill>
          <a:blip r:embed="rId1"/>
          <a:stretch>
            <a:fillRect/>
          </a:stretch>
        </p:blipFill>
        <p:spPr>
          <a:xfrm>
            <a:off x="548640" y="1371600"/>
            <a:ext cx="6949440" cy="4480560"/>
          </a:xfrm>
          <a:prstGeom prst="rect">
            <a:avLst/>
          </a:prstGeom>
        </p:spPr>
      </p:pic>
      <p:sp>
        <p:nvSpPr>
          <p:cNvPr id="5" name="Text 2"/>
          <p:cNvSpPr txBox="1"/>
          <p:nvPr/>
        </p:nvSpPr>
        <p:spPr>
          <a:xfrm>
            <a:off x="548640" y="5907024"/>
            <a:ext cx="6949440" cy="274320"/>
          </a:xfrm>
          <a:prstGeom prst="rect">
            <a:avLst/>
          </a:prstGeom>
          <a:noFill/>
          <a:ln/>
        </p:spPr>
        <p:txBody>
          <a:bodyPr wrap="square" lIns="0" tIns="0" rIns="0" bIns="0" rtlCol="0" anchor="ctr"/>
          <a:lstStyle/>
          <a:p>
            <a:pPr algn="ctr" indent="0" marL="0">
              <a:buNone/>
            </a:pPr>
            <a:r>
              <a:rPr lang="en-US" sz="950" i="1" dirty="0">
                <a:solidFill>
                  <a:srgbClr val="6E6658"/>
                </a:solidFill>
                <a:latin typeface="Calibri" pitchFamily="34" charset="0"/>
                <a:ea typeface="Calibri" pitchFamily="34" charset="-122"/>
                <a:cs typeface="Calibri" pitchFamily="34" charset="-120"/>
              </a:rPr>
              <a:t>Histograms for the numeric measurements (top rows of the 52-panel grid)</a:t>
            </a:r>
            <a:endParaRPr lang="en-US" sz="950" dirty="0"/>
          </a:p>
        </p:txBody>
      </p:sp>
      <p:sp>
        <p:nvSpPr>
          <p:cNvPr id="6" name="Shape 3"/>
          <p:cNvSpPr/>
          <p:nvPr/>
        </p:nvSpPr>
        <p:spPr>
          <a:xfrm>
            <a:off x="7772400" y="1371600"/>
            <a:ext cx="3840480" cy="2377440"/>
          </a:xfrm>
          <a:prstGeom prst="roundRect">
            <a:avLst>
              <a:gd name="adj" fmla="val 3077"/>
            </a:avLst>
          </a:prstGeom>
          <a:solidFill>
            <a:srgbClr val="EAE3D6"/>
          </a:solidFill>
          <a:ln w="12700">
            <a:solidFill>
              <a:srgbClr val="EAE3D6"/>
            </a:solidFill>
            <a:prstDash val="solid"/>
          </a:ln>
        </p:spPr>
      </p:sp>
      <p:sp>
        <p:nvSpPr>
          <p:cNvPr id="7" name="Text 4"/>
          <p:cNvSpPr txBox="1"/>
          <p:nvPr/>
        </p:nvSpPr>
        <p:spPr>
          <a:xfrm>
            <a:off x="8001000" y="1536192"/>
            <a:ext cx="338328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What the histograms show</a:t>
            </a:r>
            <a:endParaRPr lang="en-US" sz="1400" dirty="0"/>
          </a:p>
        </p:txBody>
      </p:sp>
      <p:sp>
        <p:nvSpPr>
          <p:cNvPr id="8" name="Text 5"/>
          <p:cNvSpPr txBox="1"/>
          <p:nvPr/>
        </p:nvSpPr>
        <p:spPr>
          <a:xfrm>
            <a:off x="8001000" y="1883664"/>
            <a:ext cx="3383280" cy="1691640"/>
          </a:xfrm>
          <a:prstGeom prst="rect">
            <a:avLst/>
          </a:prstGeom>
          <a:noFill/>
          <a:ln/>
        </p:spPr>
        <p:txBody>
          <a:bodyPr wrap="square" lIns="0" tIns="0" rIns="0" bIns="0" rtlCol="0" anchor="t"/>
          <a:lstStyle/>
          <a:p>
            <a:pPr indent="0" marL="0">
              <a:lnSpc>
                <a:spcPts val="1500"/>
              </a:lnSpc>
              <a:buNone/>
            </a:pPr>
            <a:r>
              <a:rPr lang="en-US" sz="1050" dirty="0">
                <a:solidFill>
                  <a:srgbClr val="6E6658"/>
                </a:solidFill>
                <a:latin typeface="Calibri" pitchFamily="34" charset="0"/>
                <a:ea typeface="Calibri" pitchFamily="34" charset="-122"/>
                <a:cs typeface="Calibri" pitchFamily="34" charset="-120"/>
              </a:rPr>
              <a:t>Every numeric column is plotted with 30 bins. Two things stand out immediately:</a:t>
            </a:r>
            <a:endParaRPr lang="en-US" sz="1050" dirty="0"/>
          </a:p>
          <a:p>
            <a:pPr indent="0" marL="0">
              <a:lnSpc>
                <a:spcPts val="1500"/>
              </a:lnSpc>
              <a:buNone/>
            </a:pPr>
            <a:endParaRPr lang="en-US" sz="1050" dirty="0"/>
          </a:p>
          <a:p>
            <a:pPr indent="0" marL="0">
              <a:lnSpc>
                <a:spcPts val="1500"/>
              </a:lnSpc>
              <a:buNone/>
            </a:pPr>
            <a:r>
              <a:rPr lang="en-US" sz="1050" dirty="0">
                <a:solidFill>
                  <a:srgbClr val="6E6658"/>
                </a:solidFill>
                <a:latin typeface="Calibri" pitchFamily="34" charset="0"/>
                <a:ea typeface="Calibri" pitchFamily="34" charset="-122"/>
                <a:cs typeface="Calibri" pitchFamily="34" charset="-120"/>
              </a:rPr>
              <a:t>1. The ranges are wildly different — pH sits between roughly 0 and 14, while electrical conductance runs into the thousands.</a:t>
            </a:r>
            <a:endParaRPr lang="en-US" sz="1050" dirty="0"/>
          </a:p>
          <a:p>
            <a:pPr indent="0" marL="0">
              <a:lnSpc>
                <a:spcPts val="1500"/>
              </a:lnSpc>
              <a:buNone/>
            </a:pPr>
            <a:endParaRPr lang="en-US" sz="1050" dirty="0"/>
          </a:p>
          <a:p>
            <a:pPr indent="0" marL="0">
              <a:lnSpc>
                <a:spcPts val="1500"/>
              </a:lnSpc>
              <a:buNone/>
            </a:pPr>
            <a:r>
              <a:rPr lang="en-US" sz="1050" dirty="0">
                <a:solidFill>
                  <a:srgbClr val="6E6658"/>
                </a:solidFill>
                <a:latin typeface="Calibri" pitchFamily="34" charset="0"/>
                <a:ea typeface="Calibri" pitchFamily="34" charset="-122"/>
                <a:cs typeface="Calibri" pitchFamily="34" charset="-120"/>
              </a:rPr>
              <a:t>2. Many panels are built on very few observations, reflecting the heavy missingness found in the audit.</a:t>
            </a:r>
            <a:endParaRPr lang="en-US" sz="1050" dirty="0"/>
          </a:p>
        </p:txBody>
      </p:sp>
      <p:sp>
        <p:nvSpPr>
          <p:cNvPr id="9" name="Shape 6"/>
          <p:cNvSpPr/>
          <p:nvPr/>
        </p:nvSpPr>
        <p:spPr>
          <a:xfrm>
            <a:off x="7772400" y="3931920"/>
            <a:ext cx="3840480" cy="1920240"/>
          </a:xfrm>
          <a:prstGeom prst="roundRect">
            <a:avLst>
              <a:gd name="adj" fmla="val 3810"/>
            </a:avLst>
          </a:prstGeom>
          <a:solidFill>
            <a:srgbClr val="E3DFD2"/>
          </a:solidFill>
          <a:ln w="12700">
            <a:solidFill>
              <a:srgbClr val="E3DFD2"/>
            </a:solidFill>
            <a:prstDash val="solid"/>
          </a:ln>
        </p:spPr>
      </p:sp>
      <p:sp>
        <p:nvSpPr>
          <p:cNvPr id="10" name="Text 7"/>
          <p:cNvSpPr txBox="1"/>
          <p:nvPr/>
        </p:nvSpPr>
        <p:spPr>
          <a:xfrm>
            <a:off x="8001000" y="4096512"/>
            <a:ext cx="338328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Why this drives the design</a:t>
            </a:r>
            <a:endParaRPr lang="en-US" sz="1400" dirty="0"/>
          </a:p>
        </p:txBody>
      </p:sp>
      <p:sp>
        <p:nvSpPr>
          <p:cNvPr id="11" name="Text 8"/>
          <p:cNvSpPr txBox="1"/>
          <p:nvPr/>
        </p:nvSpPr>
        <p:spPr>
          <a:xfrm>
            <a:off x="8001000" y="4443984"/>
            <a:ext cx="3383280" cy="1234440"/>
          </a:xfrm>
          <a:prstGeom prst="rect">
            <a:avLst/>
          </a:prstGeom>
          <a:noFill/>
          <a:ln/>
        </p:spPr>
        <p:txBody>
          <a:bodyPr wrap="square" lIns="0" tIns="0" rIns="0" bIns="0" rtlCol="0" anchor="t"/>
          <a:lstStyle/>
          <a:p>
            <a:pPr indent="0" marL="0">
              <a:lnSpc>
                <a:spcPts val="1500"/>
              </a:lnSpc>
              <a:buNone/>
            </a:pPr>
            <a:r>
              <a:rPr lang="en-US" sz="1050" dirty="0">
                <a:solidFill>
                  <a:srgbClr val="6E6658"/>
                </a:solidFill>
                <a:latin typeface="Calibri" pitchFamily="34" charset="0"/>
                <a:ea typeface="Calibri" pitchFamily="34" charset="-122"/>
                <a:cs typeface="Calibri" pitchFamily="34" charset="-120"/>
              </a:rPr>
              <a:t>Different ranges are precisely why StandardScaler is needed: KNN measures distances and SVM positions a boundary, so both are distorted when one feature is numerically larger than another.</a:t>
            </a:r>
            <a:endParaRPr lang="en-US" sz="1050" dirty="0"/>
          </a:p>
          <a:p>
            <a:pPr indent="0" marL="0">
              <a:lnSpc>
                <a:spcPts val="1500"/>
              </a:lnSpc>
              <a:buNone/>
            </a:pPr>
            <a:endParaRPr lang="en-US" sz="1050" dirty="0"/>
          </a:p>
          <a:p>
            <a:pPr indent="0" marL="0">
              <a:lnSpc>
                <a:spcPts val="1500"/>
              </a:lnSpc>
              <a:buNone/>
            </a:pPr>
            <a:r>
              <a:rPr lang="en-US" sz="1050" dirty="0">
                <a:solidFill>
                  <a:srgbClr val="6E6658"/>
                </a:solidFill>
                <a:latin typeface="Calibri" pitchFamily="34" charset="0"/>
                <a:ea typeface="Calibri" pitchFamily="34" charset="-122"/>
                <a:cs typeface="Calibri" pitchFamily="34" charset="-120"/>
              </a:rPr>
              <a:t>The missing values are left for the pipeline, applied after the split so the test set never influences the fill value.</a:t>
            </a:r>
            <a:endParaRPr lang="en-US" sz="1050" dirty="0"/>
          </a:p>
        </p:txBody>
      </p:sp>
      <p:sp>
        <p:nvSpPr>
          <p:cNvPr id="12" name="Text 9"/>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42</a:t>
            </a:r>
            <a:endParaRPr lang="en-US" sz="900" dirty="0"/>
          </a:p>
        </p:txBody>
      </p:sp>
      <p:sp>
        <p:nvSpPr>
          <p:cNvPr id="13" name="Text 10"/>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B · EDA</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B · EDA</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Target balance and feature correlations</a:t>
            </a:r>
            <a:endParaRPr lang="en-US" sz="2800" dirty="0"/>
          </a:p>
        </p:txBody>
      </p:sp>
      <p:pic>
        <p:nvPicPr>
          <p:cNvPr id="4" name="Image 0" descr="/home/claude/work/img/CLS_12_0.png">    </p:cNvPr>
          <p:cNvPicPr>
            <a:picLocks noChangeAspect="1"/>
          </p:cNvPicPr>
          <p:nvPr/>
        </p:nvPicPr>
        <p:blipFill>
          <a:blip r:embed="rId1"/>
          <a:stretch>
            <a:fillRect/>
          </a:stretch>
        </p:blipFill>
        <p:spPr>
          <a:xfrm>
            <a:off x="548640" y="1417320"/>
            <a:ext cx="4937760" cy="2743200"/>
          </a:xfrm>
          <a:prstGeom prst="rect">
            <a:avLst/>
          </a:prstGeom>
        </p:spPr>
      </p:pic>
      <p:pic>
        <p:nvPicPr>
          <p:cNvPr id="5" name="Image 1" descr="/home/claude/work/img/CLS_12_1.png">    </p:cNvPr>
          <p:cNvPicPr>
            <a:picLocks noChangeAspect="1"/>
          </p:cNvPicPr>
          <p:nvPr/>
        </p:nvPicPr>
        <p:blipFill>
          <a:blip r:embed="rId2"/>
          <a:stretch>
            <a:fillRect/>
          </a:stretch>
        </p:blipFill>
        <p:spPr>
          <a:xfrm>
            <a:off x="6035040" y="1417320"/>
            <a:ext cx="5577840" cy="3657600"/>
          </a:xfrm>
          <a:prstGeom prst="rect">
            <a:avLst/>
          </a:prstGeom>
        </p:spPr>
      </p:pic>
      <p:sp>
        <p:nvSpPr>
          <p:cNvPr id="6" name="Shape 2"/>
          <p:cNvSpPr/>
          <p:nvPr/>
        </p:nvSpPr>
        <p:spPr>
          <a:xfrm>
            <a:off x="548640" y="4343400"/>
            <a:ext cx="4937760" cy="1737360"/>
          </a:xfrm>
          <a:prstGeom prst="roundRect">
            <a:avLst>
              <a:gd name="adj" fmla="val 4211"/>
            </a:avLst>
          </a:prstGeom>
          <a:solidFill>
            <a:srgbClr val="EAE3D6"/>
          </a:solidFill>
          <a:ln w="12700">
            <a:solidFill>
              <a:srgbClr val="EAE3D6"/>
            </a:solidFill>
            <a:prstDash val="solid"/>
          </a:ln>
        </p:spPr>
      </p:sp>
      <p:sp>
        <p:nvSpPr>
          <p:cNvPr id="7" name="Text 3"/>
          <p:cNvSpPr txBox="1"/>
          <p:nvPr/>
        </p:nvSpPr>
        <p:spPr>
          <a:xfrm>
            <a:off x="777240" y="4507992"/>
            <a:ext cx="448056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Class distribution</a:t>
            </a:r>
            <a:endParaRPr lang="en-US" sz="1400" dirty="0"/>
          </a:p>
        </p:txBody>
      </p:sp>
      <p:sp>
        <p:nvSpPr>
          <p:cNvPr id="8" name="Text 4"/>
          <p:cNvSpPr txBox="1"/>
          <p:nvPr/>
        </p:nvSpPr>
        <p:spPr>
          <a:xfrm>
            <a:off x="777240" y="4855464"/>
            <a:ext cx="4480560" cy="1051560"/>
          </a:xfrm>
          <a:prstGeom prst="rect">
            <a:avLst/>
          </a:prstGeom>
          <a:noFill/>
          <a:ln/>
        </p:spPr>
        <p:txBody>
          <a:bodyPr wrap="square" lIns="0" tIns="0" rIns="0" bIns="0" rtlCol="0" anchor="t"/>
          <a:lstStyle/>
          <a:p>
            <a:pPr indent="0" marL="0">
              <a:lnSpc>
                <a:spcPts val="1500"/>
              </a:lnSpc>
              <a:buNone/>
            </a:pPr>
            <a:r>
              <a:rPr lang="en-US" sz="1050" dirty="0">
                <a:solidFill>
                  <a:srgbClr val="6E6658"/>
                </a:solidFill>
                <a:latin typeface="Calibri" pitchFamily="34" charset="0"/>
                <a:ea typeface="Calibri" pitchFamily="34" charset="-122"/>
                <a:cs typeface="Calibri" pitchFamily="34" charset="-120"/>
              </a:rPr>
              <a:t>Moderate dominates at 58.26% of samples, with Good at 23.05% and Poor at 18.69%. This imbalance is why accuracy alone is misleading — always guessing 'Moderate' would already score about 58%. Weighted F1 and per-class ROC-AUC are reported alongside accuracy for this reason, and the split is stratified so both sets keep the same proportions.</a:t>
            </a:r>
            <a:endParaRPr lang="en-US" sz="1050" dirty="0"/>
          </a:p>
        </p:txBody>
      </p:sp>
      <p:sp>
        <p:nvSpPr>
          <p:cNvPr id="9" name="Shape 5"/>
          <p:cNvSpPr/>
          <p:nvPr/>
        </p:nvSpPr>
        <p:spPr>
          <a:xfrm>
            <a:off x="6035040" y="5212080"/>
            <a:ext cx="5577840" cy="868680"/>
          </a:xfrm>
          <a:prstGeom prst="roundRect">
            <a:avLst>
              <a:gd name="adj" fmla="val 8421"/>
            </a:avLst>
          </a:prstGeom>
          <a:solidFill>
            <a:srgbClr val="E3DFD2"/>
          </a:solidFill>
          <a:ln w="12700">
            <a:solidFill>
              <a:srgbClr val="E3DFD2"/>
            </a:solidFill>
            <a:prstDash val="solid"/>
          </a:ln>
        </p:spPr>
      </p:sp>
      <p:sp>
        <p:nvSpPr>
          <p:cNvPr id="10" name="Text 6"/>
          <p:cNvSpPr txBox="1"/>
          <p:nvPr/>
        </p:nvSpPr>
        <p:spPr>
          <a:xfrm>
            <a:off x="6263640" y="5376672"/>
            <a:ext cx="512064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Correlation heatmap</a:t>
            </a:r>
            <a:endParaRPr lang="en-US" sz="1400" dirty="0"/>
          </a:p>
        </p:txBody>
      </p:sp>
      <p:sp>
        <p:nvSpPr>
          <p:cNvPr id="11" name="Text 7"/>
          <p:cNvSpPr txBox="1"/>
          <p:nvPr/>
        </p:nvSpPr>
        <p:spPr>
          <a:xfrm>
            <a:off x="6263640" y="5724144"/>
            <a:ext cx="5120640" cy="182880"/>
          </a:xfrm>
          <a:prstGeom prst="rect">
            <a:avLst/>
          </a:prstGeom>
          <a:noFill/>
          <a:ln/>
        </p:spPr>
        <p:txBody>
          <a:bodyPr wrap="square" lIns="0" tIns="0" rIns="0" bIns="0" rtlCol="0" anchor="t"/>
          <a:lstStyle/>
          <a:p>
            <a:pPr indent="0" marL="0">
              <a:lnSpc>
                <a:spcPts val="1500"/>
              </a:lnSpc>
              <a:buNone/>
            </a:pPr>
            <a:r>
              <a:rPr lang="en-US" sz="1050" dirty="0">
                <a:solidFill>
                  <a:srgbClr val="6E6658"/>
                </a:solidFill>
                <a:latin typeface="Calibri" pitchFamily="34" charset="0"/>
                <a:ea typeface="Calibri" pitchFamily="34" charset="-122"/>
                <a:cs typeface="Calibri" pitchFamily="34" charset="-120"/>
              </a:rPr>
              <a:t>Blue-to-red grid of correlations between all numeric measurements. Chemically related groups (the nitrogen series, the dissolved-solids family) move together, while trace metals are largely independent — useful context before choosing models.</a:t>
            </a:r>
            <a:endParaRPr lang="en-US" sz="1050" dirty="0"/>
          </a:p>
        </p:txBody>
      </p:sp>
      <p:sp>
        <p:nvSpPr>
          <p:cNvPr id="12" name="Text 8"/>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43</a:t>
            </a:r>
            <a:endParaRPr lang="en-US" sz="900" dirty="0"/>
          </a:p>
        </p:txBody>
      </p:sp>
      <p:sp>
        <p:nvSpPr>
          <p:cNvPr id="13" name="Text 9"/>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B · EDA</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B · EDA</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Feature vs target relationships</a:t>
            </a:r>
            <a:endParaRPr lang="en-US" sz="2800" dirty="0"/>
          </a:p>
        </p:txBody>
      </p:sp>
      <p:pic>
        <p:nvPicPr>
          <p:cNvPr id="4" name="Image 0" descr="/home/claude/work/img/CLS_14_0.png">    </p:cNvPr>
          <p:cNvPicPr>
            <a:picLocks noChangeAspect="1"/>
          </p:cNvPicPr>
          <p:nvPr/>
        </p:nvPicPr>
        <p:blipFill>
          <a:blip r:embed="rId1"/>
          <a:stretch>
            <a:fillRect/>
          </a:stretch>
        </p:blipFill>
        <p:spPr>
          <a:xfrm>
            <a:off x="548640" y="1417320"/>
            <a:ext cx="5303520" cy="3017520"/>
          </a:xfrm>
          <a:prstGeom prst="rect">
            <a:avLst/>
          </a:prstGeom>
        </p:spPr>
      </p:pic>
      <p:pic>
        <p:nvPicPr>
          <p:cNvPr id="5" name="Image 1" descr="/home/claude/work/img/CLS_14_1.png">    </p:cNvPr>
          <p:cNvPicPr>
            <a:picLocks noChangeAspect="1"/>
          </p:cNvPicPr>
          <p:nvPr/>
        </p:nvPicPr>
        <p:blipFill>
          <a:blip r:embed="rId2"/>
          <a:stretch>
            <a:fillRect/>
          </a:stretch>
        </p:blipFill>
        <p:spPr>
          <a:xfrm>
            <a:off x="6126480" y="1417320"/>
            <a:ext cx="5303520" cy="3017520"/>
          </a:xfrm>
          <a:prstGeom prst="rect">
            <a:avLst/>
          </a:prstGeom>
        </p:spPr>
      </p:pic>
      <p:sp>
        <p:nvSpPr>
          <p:cNvPr id="6" name="Shape 2"/>
          <p:cNvSpPr/>
          <p:nvPr/>
        </p:nvSpPr>
        <p:spPr>
          <a:xfrm>
            <a:off x="548640" y="4663440"/>
            <a:ext cx="5303520" cy="1463040"/>
          </a:xfrm>
          <a:prstGeom prst="roundRect">
            <a:avLst>
              <a:gd name="adj" fmla="val 5000"/>
            </a:avLst>
          </a:prstGeom>
          <a:solidFill>
            <a:srgbClr val="EAE3D6"/>
          </a:solidFill>
          <a:ln w="12700">
            <a:solidFill>
              <a:srgbClr val="EAE3D6"/>
            </a:solidFill>
            <a:prstDash val="solid"/>
          </a:ln>
        </p:spPr>
      </p:sp>
      <p:sp>
        <p:nvSpPr>
          <p:cNvPr id="7" name="Text 3"/>
          <p:cNvSpPr txBox="1"/>
          <p:nvPr/>
        </p:nvSpPr>
        <p:spPr>
          <a:xfrm>
            <a:off x="777240" y="4828032"/>
            <a:ext cx="484632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pH across the three classes</a:t>
            </a:r>
            <a:endParaRPr lang="en-US" sz="1400" dirty="0"/>
          </a:p>
        </p:txBody>
      </p:sp>
      <p:sp>
        <p:nvSpPr>
          <p:cNvPr id="8" name="Text 4"/>
          <p:cNvSpPr txBox="1"/>
          <p:nvPr/>
        </p:nvSpPr>
        <p:spPr>
          <a:xfrm>
            <a:off x="777240" y="5175504"/>
            <a:ext cx="4846320" cy="777240"/>
          </a:xfrm>
          <a:prstGeom prst="rect">
            <a:avLst/>
          </a:prstGeom>
          <a:noFill/>
          <a:ln/>
        </p:spPr>
        <p:txBody>
          <a:bodyPr wrap="square" lIns="0" tIns="0" rIns="0" bIns="0" rtlCol="0" anchor="t"/>
          <a:lstStyle/>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The class labels are temporarily mapped to 0 = Good, 1 = Moderate, 2 = Poor purely so they can be drawn on an axis. pH values spread widely inside every class, so pH on its own separates the classes only weakly.</a:t>
            </a:r>
            <a:endParaRPr lang="en-US" sz="1100" dirty="0"/>
          </a:p>
        </p:txBody>
      </p:sp>
      <p:sp>
        <p:nvSpPr>
          <p:cNvPr id="9" name="Shape 5"/>
          <p:cNvSpPr/>
          <p:nvPr/>
        </p:nvSpPr>
        <p:spPr>
          <a:xfrm>
            <a:off x="6126480" y="4663440"/>
            <a:ext cx="5303520" cy="1463040"/>
          </a:xfrm>
          <a:prstGeom prst="roundRect">
            <a:avLst>
              <a:gd name="adj" fmla="val 5000"/>
            </a:avLst>
          </a:prstGeom>
          <a:solidFill>
            <a:srgbClr val="E3DFD2"/>
          </a:solidFill>
          <a:ln w="12700">
            <a:solidFill>
              <a:srgbClr val="E3DFD2"/>
            </a:solidFill>
            <a:prstDash val="solid"/>
          </a:ln>
        </p:spPr>
      </p:sp>
      <p:sp>
        <p:nvSpPr>
          <p:cNvPr id="10" name="Text 6"/>
          <p:cNvSpPr txBox="1"/>
          <p:nvPr/>
        </p:nvSpPr>
        <p:spPr>
          <a:xfrm>
            <a:off x="6355080" y="4828032"/>
            <a:ext cx="484632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Dissolved oxygen across the three classes</a:t>
            </a:r>
            <a:endParaRPr lang="en-US" sz="1400" dirty="0"/>
          </a:p>
        </p:txBody>
      </p:sp>
      <p:sp>
        <p:nvSpPr>
          <p:cNvPr id="11" name="Text 7"/>
          <p:cNvSpPr txBox="1"/>
          <p:nvPr/>
        </p:nvSpPr>
        <p:spPr>
          <a:xfrm>
            <a:off x="6355080" y="5175504"/>
            <a:ext cx="4846320" cy="777240"/>
          </a:xfrm>
          <a:prstGeom prst="rect">
            <a:avLst/>
          </a:prstGeom>
          <a:noFill/>
          <a:ln/>
        </p:spPr>
        <p:txBody>
          <a:bodyPr wrap="square" lIns="0" tIns="0" rIns="0" bIns="0" rtlCol="0" anchor="t"/>
          <a:lstStyle/>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A similar picture: helpful but not decisive alone. This is the argument for multivariate models — the classes are distinguished by combinations of measurements, not by any single threshold. Note the numeric mapping is for plotting only and never becomes a model input.</a:t>
            </a:r>
            <a:endParaRPr lang="en-US" sz="1100" dirty="0"/>
          </a:p>
        </p:txBody>
      </p:sp>
      <p:sp>
        <p:nvSpPr>
          <p:cNvPr id="12" name="Text 8"/>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44</a:t>
            </a:r>
            <a:endParaRPr lang="en-US" sz="900" dirty="0"/>
          </a:p>
        </p:txBody>
      </p:sp>
      <p:sp>
        <p:nvSpPr>
          <p:cNvPr id="13" name="Text 9"/>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B · EDA</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B · FEATURES</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Feature engineering &amp; the final feature set</a:t>
            </a:r>
            <a:endParaRPr lang="en-US" sz="28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926080"/>
                <a:gridCol w="2468880"/>
                <a:gridCol w="2468880"/>
                <a:gridCol w="3200400"/>
              </a:tblGrid>
              <a:tr h="502920">
                <a:tc>
                  <a:txBody>
                    <a:bodyPr/>
                    <a:lstStyle/>
                    <a:p>
                      <a:pPr indent="0" marL="0">
                        <a:buNone/>
                      </a:pPr>
                      <a:r>
                        <a:rPr lang="en-US" sz="1000" b="1" dirty="0">
                          <a:solidFill>
                            <a:srgbClr val="F6F2EA"/>
                          </a:solidFill>
                          <a:latin typeface="Calibri" pitchFamily="34" charset="0"/>
                          <a:ea typeface="Calibri" pitchFamily="34" charset="-122"/>
                          <a:cs typeface="Calibri" pitchFamily="34" charset="-120"/>
                        </a:rPr>
                        <a:t>New feature</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00" b="1" dirty="0">
                          <a:solidFill>
                            <a:srgbClr val="F6F2EA"/>
                          </a:solidFill>
                          <a:latin typeface="Calibri" pitchFamily="34" charset="0"/>
                          <a:ea typeface="Calibri" pitchFamily="34" charset="-122"/>
                          <a:cs typeface="Calibri" pitchFamily="34" charset="-120"/>
                        </a:rPr>
                        <a:t>Built from</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00" b="1" dirty="0">
                          <a:solidFill>
                            <a:srgbClr val="F6F2EA"/>
                          </a:solidFill>
                          <a:latin typeface="Calibri" pitchFamily="34" charset="0"/>
                          <a:ea typeface="Calibri" pitchFamily="34" charset="-122"/>
                          <a:cs typeface="Calibri" pitchFamily="34" charset="-120"/>
                        </a:rPr>
                        <a:t>How</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00" b="1" dirty="0">
                          <a:solidFill>
                            <a:srgbClr val="F6F2EA"/>
                          </a:solidFill>
                          <a:latin typeface="Calibri" pitchFamily="34" charset="0"/>
                          <a:ea typeface="Calibri" pitchFamily="34" charset="-122"/>
                          <a:cs typeface="Calibri" pitchFamily="34" charset="-120"/>
                        </a:rPr>
                        <a:t>Why</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r>
              <a:tr h="502920">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sample_year</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Sample Date</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dt.year</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Captures long-run trends and any change in laboratory practice between years</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502920">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sample_month</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Sample Date</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dt.month</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Water chemistry is seasonal — runoff, temperature and algal activity all vary by month</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sample_dayofyear</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Sample Date</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dt.dayofyear</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A finer seasonal position than month, useful for tree splits</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502920">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solids_conductivity_ratio</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total_solids ÷ electrical_conductance</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Zeros replaced with NaN first to avoid division by zero</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Relates dissolved material to how well the water conducts electricity — a physically meaningful ratio</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160520"/>
            <a:ext cx="5486400" cy="1691640"/>
          </a:xfrm>
          <a:prstGeom prst="roundRect">
            <a:avLst>
              <a:gd name="adj" fmla="val 4324"/>
            </a:avLst>
          </a:prstGeom>
          <a:solidFill>
            <a:srgbClr val="EAE3D6"/>
          </a:solidFill>
          <a:ln w="12700">
            <a:solidFill>
              <a:srgbClr val="EAE3D6"/>
            </a:solidFill>
            <a:prstDash val="solid"/>
          </a:ln>
        </p:spPr>
      </p:sp>
      <p:sp>
        <p:nvSpPr>
          <p:cNvPr id="6" name="Text 3"/>
          <p:cNvSpPr txBox="1"/>
          <p:nvPr/>
        </p:nvSpPr>
        <p:spPr>
          <a:xfrm>
            <a:off x="777240" y="4325112"/>
            <a:ext cx="50292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What is removed</a:t>
            </a:r>
            <a:endParaRPr lang="en-US" sz="1400" dirty="0"/>
          </a:p>
        </p:txBody>
      </p:sp>
      <p:sp>
        <p:nvSpPr>
          <p:cNvPr id="7" name="Text 4"/>
          <p:cNvSpPr txBox="1"/>
          <p:nvPr/>
        </p:nvSpPr>
        <p:spPr>
          <a:xfrm>
            <a:off x="777240" y="4672584"/>
            <a:ext cx="5029200" cy="1005840"/>
          </a:xfrm>
          <a:prstGeom prst="rect">
            <a:avLst/>
          </a:prstGeom>
          <a:noFill/>
          <a:ln/>
        </p:spPr>
        <p:txBody>
          <a:bodyPr wrap="square" lIns="0" tIns="0" rIns="0" bIns="0" rtlCol="0" anchor="t"/>
          <a:lstStyle/>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The raw Sample Date and Sample Time text columns are dropped once their useful parts have been extracted — a model cannot read a date string, and the information now lives in three clean numeric columns.</a:t>
            </a:r>
            <a:endParaRPr lang="en-US" sz="1100" dirty="0"/>
          </a:p>
          <a:p>
            <a:pPr indent="0" marL="0">
              <a:lnSpc>
                <a:spcPts val="1500"/>
              </a:lnSpc>
              <a:buNone/>
            </a:pPr>
            <a:endParaRPr lang="en-US" sz="1100" dirty="0"/>
          </a:p>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The final feature matrix is then restricted with select_dtypes(include=np.number), so only numeric predictors reach the five classifiers.</a:t>
            </a:r>
            <a:endParaRPr lang="en-US" sz="1100" dirty="0"/>
          </a:p>
        </p:txBody>
      </p:sp>
      <p:sp>
        <p:nvSpPr>
          <p:cNvPr id="8" name="Shape 5"/>
          <p:cNvSpPr/>
          <p:nvPr/>
        </p:nvSpPr>
        <p:spPr>
          <a:xfrm>
            <a:off x="6217920" y="4160520"/>
            <a:ext cx="5394960" cy="1691640"/>
          </a:xfrm>
          <a:prstGeom prst="roundRect">
            <a:avLst>
              <a:gd name="adj" fmla="val 4324"/>
            </a:avLst>
          </a:prstGeom>
          <a:solidFill>
            <a:srgbClr val="E3DFD2"/>
          </a:solidFill>
          <a:ln w="12700">
            <a:solidFill>
              <a:srgbClr val="E3DFD2"/>
            </a:solidFill>
            <a:prstDash val="solid"/>
          </a:ln>
        </p:spPr>
      </p:sp>
      <p:sp>
        <p:nvSpPr>
          <p:cNvPr id="9" name="Text 6"/>
          <p:cNvSpPr txBox="1"/>
          <p:nvPr/>
        </p:nvSpPr>
        <p:spPr>
          <a:xfrm>
            <a:off x="6446520" y="4325112"/>
            <a:ext cx="493776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Why no target-based features</a:t>
            </a:r>
            <a:endParaRPr lang="en-US" sz="1400" dirty="0"/>
          </a:p>
        </p:txBody>
      </p:sp>
      <p:sp>
        <p:nvSpPr>
          <p:cNvPr id="10" name="Text 7"/>
          <p:cNvSpPr txBox="1"/>
          <p:nvPr/>
        </p:nvSpPr>
        <p:spPr>
          <a:xfrm>
            <a:off x="6446520" y="4672584"/>
            <a:ext cx="4937760" cy="1005840"/>
          </a:xfrm>
          <a:prstGeom prst="rect">
            <a:avLst/>
          </a:prstGeom>
          <a:noFill/>
          <a:ln/>
        </p:spPr>
        <p:txBody>
          <a:bodyPr wrap="square" lIns="0" tIns="0" rIns="0" bIns="0" rtlCol="0" anchor="t"/>
          <a:lstStyle/>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Every engineered feature is built from input columns only. None of them consults Water_Quality_Class, so none can leak the answer — the same rule followed in Part A.</a:t>
            </a:r>
            <a:endParaRPr lang="en-US" sz="1100" dirty="0"/>
          </a:p>
          <a:p>
            <a:pPr indent="0" marL="0">
              <a:lnSpc>
                <a:spcPts val="1500"/>
              </a:lnSpc>
              <a:buNone/>
            </a:pPr>
            <a:endParaRPr lang="en-US" sz="1100" dirty="0"/>
          </a:p>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All features here are numerical; the only categorical column in the modelling set is the target itself, which is label-encoded rather than one-hot encoded.</a:t>
            </a:r>
            <a:endParaRPr lang="en-US" sz="1100" dirty="0"/>
          </a:p>
        </p:txBody>
      </p:sp>
      <p:sp>
        <p:nvSpPr>
          <p:cNvPr id="11" name="Text 8"/>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45</a:t>
            </a:r>
            <a:endParaRPr lang="en-US" sz="900" dirty="0"/>
          </a:p>
        </p:txBody>
      </p:sp>
      <p:sp>
        <p:nvSpPr>
          <p:cNvPr id="12" name="Text 9"/>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B · Features</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B · MODELLING</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Train/test split and the preprocessing pipeline</a:t>
            </a:r>
            <a:endParaRPr lang="en-US" sz="28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394960" cy="914400"/>
        </p:xfrm>
        <a:graphic>
          <a:graphicData uri="http://schemas.openxmlformats.org/drawingml/2006/table">
            <a:tbl>
              <a:tblPr/>
              <a:tblGrid>
                <a:gridCol w="2286000"/>
                <a:gridCol w="1554480"/>
                <a:gridCol w="1554480"/>
              </a:tblGrid>
              <a:tr h="347472">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Split</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Rows</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Share</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r>
              <a:tr h="347472">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Training set</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54,298</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80%</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47472">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Test set</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13,575</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r h="347472">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Total modelling rows</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67,873</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bl>
          </a:graphicData>
        </a:graphic>
      </p:graphicFrame>
      <p:sp>
        <p:nvSpPr>
          <p:cNvPr id="5" name="Shape 2"/>
          <p:cNvSpPr/>
          <p:nvPr/>
        </p:nvSpPr>
        <p:spPr>
          <a:xfrm>
            <a:off x="548640" y="2971800"/>
            <a:ext cx="5394960" cy="1417320"/>
          </a:xfrm>
          <a:prstGeom prst="roundRect">
            <a:avLst>
              <a:gd name="adj" fmla="val 5161"/>
            </a:avLst>
          </a:prstGeom>
          <a:solidFill>
            <a:srgbClr val="EAE3D6"/>
          </a:solidFill>
          <a:ln w="12700">
            <a:solidFill>
              <a:srgbClr val="EAE3D6"/>
            </a:solidFill>
            <a:prstDash val="solid"/>
          </a:ln>
        </p:spPr>
      </p:sp>
      <p:sp>
        <p:nvSpPr>
          <p:cNvPr id="6" name="Text 3"/>
          <p:cNvSpPr txBox="1"/>
          <p:nvPr/>
        </p:nvSpPr>
        <p:spPr>
          <a:xfrm>
            <a:off x="777240" y="3136392"/>
            <a:ext cx="493776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Stratified on the class label</a:t>
            </a:r>
            <a:endParaRPr lang="en-US" sz="1400" dirty="0"/>
          </a:p>
        </p:txBody>
      </p:sp>
      <p:sp>
        <p:nvSpPr>
          <p:cNvPr id="7" name="Text 4"/>
          <p:cNvSpPr txBox="1"/>
          <p:nvPr/>
        </p:nvSpPr>
        <p:spPr>
          <a:xfrm>
            <a:off x="777240" y="3483864"/>
            <a:ext cx="4937760" cy="731520"/>
          </a:xfrm>
          <a:prstGeom prst="rect">
            <a:avLst/>
          </a:prstGeom>
          <a:noFill/>
          <a:ln/>
        </p:spPr>
        <p:txBody>
          <a:bodyPr wrap="square" lIns="0" tIns="0" rIns="0" bIns="0" rtlCol="0" anchor="t"/>
          <a:lstStyle/>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train_test_split(..., test_size=0.20, random_state=42, stratify=y) keeps the 58 / 23 / 19 class mix identical in both sets. Without it the smallest class, Poor, could be under-represented in the test set and the scores would swing from run to run.</a:t>
            </a:r>
            <a:endParaRPr lang="en-US" sz="1100" dirty="0"/>
          </a:p>
        </p:txBody>
      </p:sp>
      <p:sp>
        <p:nvSpPr>
          <p:cNvPr id="8" name="Shape 5"/>
          <p:cNvSpPr/>
          <p:nvPr/>
        </p:nvSpPr>
        <p:spPr>
          <a:xfrm>
            <a:off x="548640" y="4572000"/>
            <a:ext cx="5394960" cy="1554480"/>
          </a:xfrm>
          <a:prstGeom prst="roundRect">
            <a:avLst>
              <a:gd name="adj" fmla="val 4706"/>
            </a:avLst>
          </a:prstGeom>
          <a:solidFill>
            <a:srgbClr val="E3DFD2"/>
          </a:solidFill>
          <a:ln w="12700">
            <a:solidFill>
              <a:srgbClr val="E3DFD2"/>
            </a:solidFill>
            <a:prstDash val="solid"/>
          </a:ln>
        </p:spPr>
      </p:sp>
      <p:sp>
        <p:nvSpPr>
          <p:cNvPr id="9" name="Text 6"/>
          <p:cNvSpPr txBox="1"/>
          <p:nvPr/>
        </p:nvSpPr>
        <p:spPr>
          <a:xfrm>
            <a:off x="777240" y="4736592"/>
            <a:ext cx="493776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Target encoding</a:t>
            </a:r>
            <a:endParaRPr lang="en-US" sz="1400" dirty="0"/>
          </a:p>
        </p:txBody>
      </p:sp>
      <p:sp>
        <p:nvSpPr>
          <p:cNvPr id="10" name="Text 7"/>
          <p:cNvSpPr txBox="1"/>
          <p:nvPr/>
        </p:nvSpPr>
        <p:spPr>
          <a:xfrm>
            <a:off x="777240" y="5084064"/>
            <a:ext cx="4937760" cy="868680"/>
          </a:xfrm>
          <a:prstGeom prst="rect">
            <a:avLst/>
          </a:prstGeom>
          <a:noFill/>
          <a:ln/>
        </p:spPr>
        <p:txBody>
          <a:bodyPr wrap="square" lIns="0" tIns="0" rIns="0" bIns="0" rtlCol="0" anchor="t"/>
          <a:lstStyle/>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LabelEncoder maps Good → 0, Moderate → 1, Poor → 2. It is fitted on the training labels and applied to the test labels. The original names are kept for confusion matrices and reports; this encoding touches the target only and never creates an input feature.</a:t>
            </a:r>
            <a:endParaRPr lang="en-US" sz="1100" dirty="0"/>
          </a:p>
        </p:txBody>
      </p:sp>
      <p:sp>
        <p:nvSpPr>
          <p:cNvPr id="11" name="Shape 8"/>
          <p:cNvSpPr/>
          <p:nvPr/>
        </p:nvSpPr>
        <p:spPr>
          <a:xfrm>
            <a:off x="6217920" y="1417320"/>
            <a:ext cx="5394960" cy="1417320"/>
          </a:xfrm>
          <a:prstGeom prst="roundRect">
            <a:avLst>
              <a:gd name="adj" fmla="val 3871"/>
            </a:avLst>
          </a:prstGeom>
          <a:solidFill>
            <a:srgbClr val="EAE3D6"/>
          </a:solidFill>
          <a:ln w="12700">
            <a:solidFill>
              <a:srgbClr val="F6F2EA"/>
            </a:solidFill>
            <a:prstDash val="solid"/>
          </a:ln>
        </p:spPr>
      </p:sp>
      <p:sp>
        <p:nvSpPr>
          <p:cNvPr id="12" name="Text 9"/>
          <p:cNvSpPr txBox="1"/>
          <p:nvPr/>
        </p:nvSpPr>
        <p:spPr>
          <a:xfrm>
            <a:off x="6446520" y="1554480"/>
            <a:ext cx="4937760" cy="274320"/>
          </a:xfrm>
          <a:prstGeom prst="rect">
            <a:avLst/>
          </a:prstGeom>
          <a:noFill/>
          <a:ln/>
        </p:spPr>
        <p:txBody>
          <a:bodyPr wrap="square" lIns="0" tIns="0" rIns="0" bIns="0" rtlCol="0" anchor="ctr"/>
          <a:lstStyle/>
          <a:p>
            <a:pPr indent="0" marL="0">
              <a:buNone/>
            </a:pPr>
            <a:r>
              <a:rPr lang="en-US" sz="1150" b="1" dirty="0">
                <a:solidFill>
                  <a:srgbClr val="A4613C"/>
                </a:solidFill>
                <a:latin typeface="Calibri" pitchFamily="34" charset="0"/>
                <a:ea typeface="Calibri" pitchFamily="34" charset="-122"/>
                <a:cs typeface="Calibri" pitchFamily="34" charset="-120"/>
              </a:rPr>
              <a:t>1. SimpleImputer(strategy='median')</a:t>
            </a:r>
            <a:endParaRPr lang="en-US" sz="1150" dirty="0"/>
          </a:p>
        </p:txBody>
      </p:sp>
      <p:sp>
        <p:nvSpPr>
          <p:cNvPr id="13" name="Text 10"/>
          <p:cNvSpPr txBox="1"/>
          <p:nvPr/>
        </p:nvSpPr>
        <p:spPr>
          <a:xfrm>
            <a:off x="6446520" y="1874520"/>
            <a:ext cx="4937760" cy="868680"/>
          </a:xfrm>
          <a:prstGeom prst="rect">
            <a:avLst/>
          </a:prstGeom>
          <a:noFill/>
          <a:ln/>
        </p:spPr>
        <p:txBody>
          <a:bodyPr wrap="square" lIns="0" tIns="0" rIns="0" bIns="0" rtlCol="0" anchor="ctr"/>
          <a:lstStyle/>
          <a:p>
            <a:pPr indent="0" marL="0">
              <a:lnSpc>
                <a:spcPts val="1350"/>
              </a:lnSpc>
              <a:buNone/>
            </a:pPr>
            <a:r>
              <a:rPr lang="en-US" sz="1050" dirty="0">
                <a:solidFill>
                  <a:srgbClr val="6E6658"/>
                </a:solidFill>
                <a:latin typeface="Calibri" pitchFamily="34" charset="0"/>
                <a:ea typeface="Calibri" pitchFamily="34" charset="-122"/>
                <a:cs typeface="Calibri" pitchFamily="34" charset="-120"/>
              </a:rPr>
              <a:t>Fills every missing measurement with that column's training-set median. The median is used rather than the mean because water chemistry has long tails.</a:t>
            </a:r>
            <a:endParaRPr lang="en-US" sz="1050" dirty="0"/>
          </a:p>
        </p:txBody>
      </p:sp>
      <p:sp>
        <p:nvSpPr>
          <p:cNvPr id="14" name="Shape 11"/>
          <p:cNvSpPr/>
          <p:nvPr/>
        </p:nvSpPr>
        <p:spPr>
          <a:xfrm>
            <a:off x="6217920" y="2926080"/>
            <a:ext cx="5394960" cy="1417320"/>
          </a:xfrm>
          <a:prstGeom prst="roundRect">
            <a:avLst>
              <a:gd name="adj" fmla="val 3871"/>
            </a:avLst>
          </a:prstGeom>
          <a:solidFill>
            <a:srgbClr val="E3DFD2"/>
          </a:solidFill>
          <a:ln w="12700">
            <a:solidFill>
              <a:srgbClr val="F6F2EA"/>
            </a:solidFill>
            <a:prstDash val="solid"/>
          </a:ln>
        </p:spPr>
      </p:sp>
      <p:sp>
        <p:nvSpPr>
          <p:cNvPr id="15" name="Text 12"/>
          <p:cNvSpPr txBox="1"/>
          <p:nvPr/>
        </p:nvSpPr>
        <p:spPr>
          <a:xfrm>
            <a:off x="6446520" y="3063240"/>
            <a:ext cx="4937760" cy="274320"/>
          </a:xfrm>
          <a:prstGeom prst="rect">
            <a:avLst/>
          </a:prstGeom>
          <a:noFill/>
          <a:ln/>
        </p:spPr>
        <p:txBody>
          <a:bodyPr wrap="square" lIns="0" tIns="0" rIns="0" bIns="0" rtlCol="0" anchor="ctr"/>
          <a:lstStyle/>
          <a:p>
            <a:pPr indent="0" marL="0">
              <a:buNone/>
            </a:pPr>
            <a:r>
              <a:rPr lang="en-US" sz="1150" b="1" dirty="0">
                <a:solidFill>
                  <a:srgbClr val="A4613C"/>
                </a:solidFill>
                <a:latin typeface="Calibri" pitchFamily="34" charset="0"/>
                <a:ea typeface="Calibri" pitchFamily="34" charset="-122"/>
                <a:cs typeface="Calibri" pitchFamily="34" charset="-120"/>
              </a:rPr>
              <a:t>2. IQRCapper (custom transformer)</a:t>
            </a:r>
            <a:endParaRPr lang="en-US" sz="1150" dirty="0"/>
          </a:p>
        </p:txBody>
      </p:sp>
      <p:sp>
        <p:nvSpPr>
          <p:cNvPr id="16" name="Text 13"/>
          <p:cNvSpPr txBox="1"/>
          <p:nvPr/>
        </p:nvSpPr>
        <p:spPr>
          <a:xfrm>
            <a:off x="6446520" y="3383280"/>
            <a:ext cx="4937760" cy="868680"/>
          </a:xfrm>
          <a:prstGeom prst="rect">
            <a:avLst/>
          </a:prstGeom>
          <a:noFill/>
          <a:ln/>
        </p:spPr>
        <p:txBody>
          <a:bodyPr wrap="square" lIns="0" tIns="0" rIns="0" bIns="0" rtlCol="0" anchor="ctr"/>
          <a:lstStyle/>
          <a:p>
            <a:pPr indent="0" marL="0">
              <a:lnSpc>
                <a:spcPts val="1350"/>
              </a:lnSpc>
              <a:buNone/>
            </a:pPr>
            <a:r>
              <a:rPr lang="en-US" sz="1050" dirty="0">
                <a:solidFill>
                  <a:srgbClr val="6E6658"/>
                </a:solidFill>
                <a:latin typeface="Calibri" pitchFamily="34" charset="0"/>
                <a:ea typeface="Calibri" pitchFamily="34" charset="-122"/>
                <a:cs typeface="Calibri" pitchFamily="34" charset="-120"/>
              </a:rPr>
              <a:t>A hand-written BaseEstimator/TransformerMixin class. In fit() it learns Q1, Q3 and IQR per column and stores bounds Q1 − 1.5·IQR and Q3 + 1.5·IQR; in transform() it clips values to those bounds.</a:t>
            </a:r>
            <a:endParaRPr lang="en-US" sz="1050" dirty="0"/>
          </a:p>
        </p:txBody>
      </p:sp>
      <p:sp>
        <p:nvSpPr>
          <p:cNvPr id="17" name="Shape 14"/>
          <p:cNvSpPr/>
          <p:nvPr/>
        </p:nvSpPr>
        <p:spPr>
          <a:xfrm>
            <a:off x="6217920" y="4434840"/>
            <a:ext cx="5394960" cy="1417320"/>
          </a:xfrm>
          <a:prstGeom prst="roundRect">
            <a:avLst>
              <a:gd name="adj" fmla="val 3871"/>
            </a:avLst>
          </a:prstGeom>
          <a:solidFill>
            <a:srgbClr val="EAE3D6"/>
          </a:solidFill>
          <a:ln w="12700">
            <a:solidFill>
              <a:srgbClr val="F6F2EA"/>
            </a:solidFill>
            <a:prstDash val="solid"/>
          </a:ln>
        </p:spPr>
      </p:sp>
      <p:sp>
        <p:nvSpPr>
          <p:cNvPr id="18" name="Text 15"/>
          <p:cNvSpPr txBox="1"/>
          <p:nvPr/>
        </p:nvSpPr>
        <p:spPr>
          <a:xfrm>
            <a:off x="6446520" y="4572000"/>
            <a:ext cx="4937760" cy="274320"/>
          </a:xfrm>
          <a:prstGeom prst="rect">
            <a:avLst/>
          </a:prstGeom>
          <a:noFill/>
          <a:ln/>
        </p:spPr>
        <p:txBody>
          <a:bodyPr wrap="square" lIns="0" tIns="0" rIns="0" bIns="0" rtlCol="0" anchor="ctr"/>
          <a:lstStyle/>
          <a:p>
            <a:pPr indent="0" marL="0">
              <a:buNone/>
            </a:pPr>
            <a:r>
              <a:rPr lang="en-US" sz="1150" b="1" dirty="0">
                <a:solidFill>
                  <a:srgbClr val="A4613C"/>
                </a:solidFill>
                <a:latin typeface="Calibri" pitchFamily="34" charset="0"/>
                <a:ea typeface="Calibri" pitchFamily="34" charset="-122"/>
                <a:cs typeface="Calibri" pitchFamily="34" charset="-120"/>
              </a:rPr>
              <a:t>3. StandardScaler()</a:t>
            </a:r>
            <a:endParaRPr lang="en-US" sz="1150" dirty="0"/>
          </a:p>
        </p:txBody>
      </p:sp>
      <p:sp>
        <p:nvSpPr>
          <p:cNvPr id="19" name="Text 16"/>
          <p:cNvSpPr txBox="1"/>
          <p:nvPr/>
        </p:nvSpPr>
        <p:spPr>
          <a:xfrm>
            <a:off x="6446520" y="4892040"/>
            <a:ext cx="4937760" cy="868680"/>
          </a:xfrm>
          <a:prstGeom prst="rect">
            <a:avLst/>
          </a:prstGeom>
          <a:noFill/>
          <a:ln/>
        </p:spPr>
        <p:txBody>
          <a:bodyPr wrap="square" lIns="0" tIns="0" rIns="0" bIns="0" rtlCol="0" anchor="ctr"/>
          <a:lstStyle/>
          <a:p>
            <a:pPr indent="0" marL="0">
              <a:lnSpc>
                <a:spcPts val="1350"/>
              </a:lnSpc>
              <a:buNone/>
            </a:pPr>
            <a:r>
              <a:rPr lang="en-US" sz="1050" dirty="0">
                <a:solidFill>
                  <a:srgbClr val="6E6658"/>
                </a:solidFill>
                <a:latin typeface="Calibri" pitchFamily="34" charset="0"/>
                <a:ea typeface="Calibri" pitchFamily="34" charset="-122"/>
                <a:cs typeface="Calibri" pitchFamily="34" charset="-120"/>
              </a:rPr>
              <a:t>Rescales each column to mean 0, standard deviation 1 so no measurement dominates by unit alone — essential for KNN and SVM.</a:t>
            </a:r>
            <a:endParaRPr lang="en-US" sz="1050" dirty="0"/>
          </a:p>
        </p:txBody>
      </p:sp>
      <p:sp>
        <p:nvSpPr>
          <p:cNvPr id="20" name="Text 17"/>
          <p:cNvSpPr txBox="1"/>
          <p:nvPr/>
        </p:nvSpPr>
        <p:spPr>
          <a:xfrm>
            <a:off x="6217920" y="5989320"/>
            <a:ext cx="5394960" cy="457200"/>
          </a:xfrm>
          <a:prstGeom prst="rect">
            <a:avLst/>
          </a:prstGeom>
          <a:noFill/>
          <a:ln/>
        </p:spPr>
        <p:txBody>
          <a:bodyPr wrap="square" lIns="0" tIns="0" rIns="0" bIns="0" rtlCol="0" anchor="ctr"/>
          <a:lstStyle/>
          <a:p>
            <a:pPr indent="0" marL="0">
              <a:lnSpc>
                <a:spcPts val="1300"/>
              </a:lnSpc>
              <a:buNone/>
            </a:pPr>
            <a:r>
              <a:rPr lang="en-US" sz="1000" i="1" dirty="0">
                <a:solidFill>
                  <a:srgbClr val="6E6658"/>
                </a:solidFill>
                <a:latin typeface="Calibri" pitchFamily="34" charset="0"/>
                <a:ea typeface="Calibri" pitchFamily="34" charset="-122"/>
                <a:cs typeface="Calibri" pitchFamily="34" charset="-120"/>
              </a:rPr>
              <a:t>Capping instead of deleting keeps every sample while limiting the influence of extreme readings — and because the bounds are learned in fit(), each cross-validation fold computes its own.</a:t>
            </a:r>
            <a:endParaRPr lang="en-US" sz="1000" dirty="0"/>
          </a:p>
        </p:txBody>
      </p:sp>
      <p:sp>
        <p:nvSpPr>
          <p:cNvPr id="21" name="Text 18"/>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46</a:t>
            </a:r>
            <a:endParaRPr lang="en-US" sz="900" dirty="0"/>
          </a:p>
        </p:txBody>
      </p:sp>
      <p:sp>
        <p:nvSpPr>
          <p:cNvPr id="22" name="Text 19"/>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B · Pipeline</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B · ALGORITHMS</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Algorithms 1–3 · Logistic Regression, KNN, Naive Bayes</a:t>
            </a:r>
            <a:endParaRPr lang="en-US" sz="2800" dirty="0"/>
          </a:p>
        </p:txBody>
      </p:sp>
      <p:sp>
        <p:nvSpPr>
          <p:cNvPr id="4" name="Shape 2"/>
          <p:cNvSpPr/>
          <p:nvPr/>
        </p:nvSpPr>
        <p:spPr>
          <a:xfrm>
            <a:off x="548640" y="1463040"/>
            <a:ext cx="11064240" cy="1481328"/>
          </a:xfrm>
          <a:prstGeom prst="roundRect">
            <a:avLst>
              <a:gd name="adj" fmla="val 3704"/>
            </a:avLst>
          </a:prstGeom>
          <a:solidFill>
            <a:srgbClr val="EAE3D6"/>
          </a:solidFill>
          <a:ln w="12700">
            <a:solidFill>
              <a:srgbClr val="F6F2EA"/>
            </a:solidFill>
            <a:prstDash val="solid"/>
          </a:ln>
        </p:spPr>
      </p:sp>
      <p:sp>
        <p:nvSpPr>
          <p:cNvPr id="5" name="Text 3"/>
          <p:cNvSpPr txBox="1"/>
          <p:nvPr/>
        </p:nvSpPr>
        <p:spPr>
          <a:xfrm>
            <a:off x="777240" y="1645920"/>
            <a:ext cx="2651760" cy="457200"/>
          </a:xfrm>
          <a:prstGeom prst="rect">
            <a:avLst/>
          </a:prstGeom>
          <a:noFill/>
          <a:ln/>
        </p:spPr>
        <p:txBody>
          <a:bodyPr wrap="square" lIns="0" tIns="0" rIns="0" bIns="0" rtlCol="0" anchor="ctr"/>
          <a:lstStyle/>
          <a:p>
            <a:pPr indent="0" marL="0">
              <a:buNone/>
            </a:pPr>
            <a:r>
              <a:rPr lang="en-US" sz="1300" b="1" dirty="0">
                <a:solidFill>
                  <a:srgbClr val="A4613C"/>
                </a:solidFill>
                <a:latin typeface="Cambria" pitchFamily="34" charset="0"/>
                <a:ea typeface="Cambria" pitchFamily="34" charset="-122"/>
                <a:cs typeface="Cambria" pitchFamily="34" charset="-120"/>
              </a:rPr>
              <a:t>1. Logistic Regression</a:t>
            </a:r>
            <a:endParaRPr lang="en-US" sz="1300" dirty="0"/>
          </a:p>
        </p:txBody>
      </p:sp>
      <p:sp>
        <p:nvSpPr>
          <p:cNvPr id="6" name="Text 4"/>
          <p:cNvSpPr txBox="1"/>
          <p:nvPr/>
        </p:nvSpPr>
        <p:spPr>
          <a:xfrm>
            <a:off x="777240" y="2176272"/>
            <a:ext cx="2651760" cy="685800"/>
          </a:xfrm>
          <a:prstGeom prst="rect">
            <a:avLst/>
          </a:prstGeom>
          <a:noFill/>
          <a:ln/>
        </p:spPr>
        <p:txBody>
          <a:bodyPr wrap="square" lIns="0" tIns="0" rIns="0" bIns="0" rtlCol="0" anchor="ctr"/>
          <a:lstStyle/>
          <a:p>
            <a:pPr indent="0" marL="0">
              <a:lnSpc>
                <a:spcPts val="1300"/>
              </a:lnSpc>
              <a:buNone/>
            </a:pPr>
            <a:r>
              <a:rPr lang="en-US" sz="1000" b="1" dirty="0">
                <a:solidFill>
                  <a:srgbClr val="2B2A26"/>
                </a:solidFill>
                <a:latin typeface="Calibri" pitchFamily="34" charset="0"/>
                <a:ea typeface="Calibri" pitchFamily="34" charset="-122"/>
                <a:cs typeface="Calibri" pitchFamily="34" charset="-120"/>
              </a:rPr>
              <a:t>Accuracy 0.6767 · Weighted F1 0.6600 · ROC-AUC 0.7833</a:t>
            </a:r>
            <a:endParaRPr lang="en-US" sz="1000" dirty="0"/>
          </a:p>
        </p:txBody>
      </p:sp>
      <p:sp>
        <p:nvSpPr>
          <p:cNvPr id="7" name="Text 5"/>
          <p:cNvSpPr txBox="1"/>
          <p:nvPr/>
        </p:nvSpPr>
        <p:spPr>
          <a:xfrm>
            <a:off x="3703320" y="1645920"/>
            <a:ext cx="7680960" cy="1143000"/>
          </a:xfrm>
          <a:prstGeom prst="rect">
            <a:avLst/>
          </a:prstGeom>
          <a:noFill/>
          <a:ln/>
        </p:spPr>
        <p:txBody>
          <a:bodyPr wrap="square" lIns="0" tIns="0" rIns="0" bIns="0" rtlCol="0" anchor="ctr"/>
          <a:lstStyle/>
          <a:p>
            <a:pPr indent="0" marL="0">
              <a:lnSpc>
                <a:spcPts val="1450"/>
              </a:lnSpc>
              <a:buNone/>
            </a:pPr>
            <a:r>
              <a:rPr lang="en-US" sz="1100" dirty="0">
                <a:solidFill>
                  <a:srgbClr val="6E6658"/>
                </a:solidFill>
                <a:latin typeface="Calibri" pitchFamily="34" charset="0"/>
                <a:ea typeface="Calibri" pitchFamily="34" charset="-122"/>
                <a:cs typeface="Calibri" pitchFamily="34" charset="-120"/>
              </a:rPr>
              <a:t>Estimates the probability of each class from a weighted sum of the features, then picks the highest. Multi-class handling is built in. Used as the baseline: simple, fast, and a fair reference point for everything else. max_iter=1000 so the solver converges on 54,298 rows.</a:t>
            </a:r>
            <a:endParaRPr lang="en-US" sz="1100" dirty="0"/>
          </a:p>
        </p:txBody>
      </p:sp>
      <p:sp>
        <p:nvSpPr>
          <p:cNvPr id="8" name="Shape 6"/>
          <p:cNvSpPr/>
          <p:nvPr/>
        </p:nvSpPr>
        <p:spPr>
          <a:xfrm>
            <a:off x="548640" y="3035808"/>
            <a:ext cx="11064240" cy="1481328"/>
          </a:xfrm>
          <a:prstGeom prst="roundRect">
            <a:avLst>
              <a:gd name="adj" fmla="val 3704"/>
            </a:avLst>
          </a:prstGeom>
          <a:solidFill>
            <a:srgbClr val="E3DFD2"/>
          </a:solidFill>
          <a:ln w="12700">
            <a:solidFill>
              <a:srgbClr val="F6F2EA"/>
            </a:solidFill>
            <a:prstDash val="solid"/>
          </a:ln>
        </p:spPr>
      </p:sp>
      <p:sp>
        <p:nvSpPr>
          <p:cNvPr id="9" name="Text 7"/>
          <p:cNvSpPr txBox="1"/>
          <p:nvPr/>
        </p:nvSpPr>
        <p:spPr>
          <a:xfrm>
            <a:off x="777240" y="3218688"/>
            <a:ext cx="2651760" cy="457200"/>
          </a:xfrm>
          <a:prstGeom prst="rect">
            <a:avLst/>
          </a:prstGeom>
          <a:noFill/>
          <a:ln/>
        </p:spPr>
        <p:txBody>
          <a:bodyPr wrap="square" lIns="0" tIns="0" rIns="0" bIns="0" rtlCol="0" anchor="ctr"/>
          <a:lstStyle/>
          <a:p>
            <a:pPr indent="0" marL="0">
              <a:buNone/>
            </a:pPr>
            <a:r>
              <a:rPr lang="en-US" sz="1300" b="1" dirty="0">
                <a:solidFill>
                  <a:srgbClr val="A4613C"/>
                </a:solidFill>
                <a:latin typeface="Cambria" pitchFamily="34" charset="0"/>
                <a:ea typeface="Cambria" pitchFamily="34" charset="-122"/>
                <a:cs typeface="Cambria" pitchFamily="34" charset="-120"/>
              </a:rPr>
              <a:t>2. K-Nearest Neighbours</a:t>
            </a:r>
            <a:endParaRPr lang="en-US" sz="1300" dirty="0"/>
          </a:p>
        </p:txBody>
      </p:sp>
      <p:sp>
        <p:nvSpPr>
          <p:cNvPr id="10" name="Text 8"/>
          <p:cNvSpPr txBox="1"/>
          <p:nvPr/>
        </p:nvSpPr>
        <p:spPr>
          <a:xfrm>
            <a:off x="777240" y="3749040"/>
            <a:ext cx="2651760" cy="685800"/>
          </a:xfrm>
          <a:prstGeom prst="rect">
            <a:avLst/>
          </a:prstGeom>
          <a:noFill/>
          <a:ln/>
        </p:spPr>
        <p:txBody>
          <a:bodyPr wrap="square" lIns="0" tIns="0" rIns="0" bIns="0" rtlCol="0" anchor="ctr"/>
          <a:lstStyle/>
          <a:p>
            <a:pPr indent="0" marL="0">
              <a:lnSpc>
                <a:spcPts val="1300"/>
              </a:lnSpc>
              <a:buNone/>
            </a:pPr>
            <a:r>
              <a:rPr lang="en-US" sz="1000" b="1" dirty="0">
                <a:solidFill>
                  <a:srgbClr val="2B2A26"/>
                </a:solidFill>
                <a:latin typeface="Calibri" pitchFamily="34" charset="0"/>
                <a:ea typeface="Calibri" pitchFamily="34" charset="-122"/>
                <a:cs typeface="Calibri" pitchFamily="34" charset="-120"/>
              </a:rPr>
              <a:t>Accuracy 0.7497 · Weighted F1 0.7483 · ROC-AUC 0.8480</a:t>
            </a:r>
            <a:endParaRPr lang="en-US" sz="1000" dirty="0"/>
          </a:p>
        </p:txBody>
      </p:sp>
      <p:sp>
        <p:nvSpPr>
          <p:cNvPr id="11" name="Text 9"/>
          <p:cNvSpPr txBox="1"/>
          <p:nvPr/>
        </p:nvSpPr>
        <p:spPr>
          <a:xfrm>
            <a:off x="3703320" y="3218688"/>
            <a:ext cx="7680960" cy="1143000"/>
          </a:xfrm>
          <a:prstGeom prst="rect">
            <a:avLst/>
          </a:prstGeom>
          <a:noFill/>
          <a:ln/>
        </p:spPr>
        <p:txBody>
          <a:bodyPr wrap="square" lIns="0" tIns="0" rIns="0" bIns="0" rtlCol="0" anchor="ctr"/>
          <a:lstStyle/>
          <a:p>
            <a:pPr indent="0" marL="0">
              <a:lnSpc>
                <a:spcPts val="1450"/>
              </a:lnSpc>
              <a:buNone/>
            </a:pPr>
            <a:r>
              <a:rPr lang="en-US" sz="1100" dirty="0">
                <a:solidFill>
                  <a:srgbClr val="6E6658"/>
                </a:solidFill>
                <a:latin typeface="Calibri" pitchFamily="34" charset="0"/>
                <a:ea typeface="Calibri" pitchFamily="34" charset="-122"/>
                <a:cs typeface="Calibri" pitchFamily="34" charset="-120"/>
              </a:rPr>
              <a:t>Classifies a sample by looking at the 5 nearest training samples and taking their majority class. It makes no assumption about the shape of the boundary, which suits chemistry data where classes curve around each other. Scaling is essential — distance is meaningless across mixed units.</a:t>
            </a:r>
            <a:endParaRPr lang="en-US" sz="1100" dirty="0"/>
          </a:p>
        </p:txBody>
      </p:sp>
      <p:sp>
        <p:nvSpPr>
          <p:cNvPr id="12" name="Shape 10"/>
          <p:cNvSpPr/>
          <p:nvPr/>
        </p:nvSpPr>
        <p:spPr>
          <a:xfrm>
            <a:off x="548640" y="4608576"/>
            <a:ext cx="11064240" cy="1481328"/>
          </a:xfrm>
          <a:prstGeom prst="roundRect">
            <a:avLst>
              <a:gd name="adj" fmla="val 3704"/>
            </a:avLst>
          </a:prstGeom>
          <a:solidFill>
            <a:srgbClr val="EAE3D6"/>
          </a:solidFill>
          <a:ln w="12700">
            <a:solidFill>
              <a:srgbClr val="F6F2EA"/>
            </a:solidFill>
            <a:prstDash val="solid"/>
          </a:ln>
        </p:spPr>
      </p:sp>
      <p:sp>
        <p:nvSpPr>
          <p:cNvPr id="13" name="Text 11"/>
          <p:cNvSpPr txBox="1"/>
          <p:nvPr/>
        </p:nvSpPr>
        <p:spPr>
          <a:xfrm>
            <a:off x="777240" y="4791456"/>
            <a:ext cx="2651760" cy="457200"/>
          </a:xfrm>
          <a:prstGeom prst="rect">
            <a:avLst/>
          </a:prstGeom>
          <a:noFill/>
          <a:ln/>
        </p:spPr>
        <p:txBody>
          <a:bodyPr wrap="square" lIns="0" tIns="0" rIns="0" bIns="0" rtlCol="0" anchor="ctr"/>
          <a:lstStyle/>
          <a:p>
            <a:pPr indent="0" marL="0">
              <a:buNone/>
            </a:pPr>
            <a:r>
              <a:rPr lang="en-US" sz="1300" b="1" dirty="0">
                <a:solidFill>
                  <a:srgbClr val="A4613C"/>
                </a:solidFill>
                <a:latin typeface="Cambria" pitchFamily="34" charset="0"/>
                <a:ea typeface="Cambria" pitchFamily="34" charset="-122"/>
                <a:cs typeface="Cambria" pitchFamily="34" charset="-120"/>
              </a:rPr>
              <a:t>3. Gaussian Naive Bayes</a:t>
            </a:r>
            <a:endParaRPr lang="en-US" sz="1300" dirty="0"/>
          </a:p>
        </p:txBody>
      </p:sp>
      <p:sp>
        <p:nvSpPr>
          <p:cNvPr id="14" name="Text 12"/>
          <p:cNvSpPr txBox="1"/>
          <p:nvPr/>
        </p:nvSpPr>
        <p:spPr>
          <a:xfrm>
            <a:off x="777240" y="5321808"/>
            <a:ext cx="2651760" cy="685800"/>
          </a:xfrm>
          <a:prstGeom prst="rect">
            <a:avLst/>
          </a:prstGeom>
          <a:noFill/>
          <a:ln/>
        </p:spPr>
        <p:txBody>
          <a:bodyPr wrap="square" lIns="0" tIns="0" rIns="0" bIns="0" rtlCol="0" anchor="ctr"/>
          <a:lstStyle/>
          <a:p>
            <a:pPr indent="0" marL="0">
              <a:lnSpc>
                <a:spcPts val="1300"/>
              </a:lnSpc>
              <a:buNone/>
            </a:pPr>
            <a:r>
              <a:rPr lang="en-US" sz="1000" b="1" dirty="0">
                <a:solidFill>
                  <a:srgbClr val="2B2A26"/>
                </a:solidFill>
                <a:latin typeface="Calibri" pitchFamily="34" charset="0"/>
                <a:ea typeface="Calibri" pitchFamily="34" charset="-122"/>
                <a:cs typeface="Calibri" pitchFamily="34" charset="-120"/>
              </a:rPr>
              <a:t>Accuracy 0.6703 · Weighted F1 0.6637 · ROC-AUC 0.7824</a:t>
            </a:r>
            <a:endParaRPr lang="en-US" sz="1000" dirty="0"/>
          </a:p>
        </p:txBody>
      </p:sp>
      <p:sp>
        <p:nvSpPr>
          <p:cNvPr id="15" name="Text 13"/>
          <p:cNvSpPr txBox="1"/>
          <p:nvPr/>
        </p:nvSpPr>
        <p:spPr>
          <a:xfrm>
            <a:off x="3703320" y="4791456"/>
            <a:ext cx="7680960" cy="1143000"/>
          </a:xfrm>
          <a:prstGeom prst="rect">
            <a:avLst/>
          </a:prstGeom>
          <a:noFill/>
          <a:ln/>
        </p:spPr>
        <p:txBody>
          <a:bodyPr wrap="square" lIns="0" tIns="0" rIns="0" bIns="0" rtlCol="0" anchor="ctr"/>
          <a:lstStyle/>
          <a:p>
            <a:pPr indent="0" marL="0">
              <a:lnSpc>
                <a:spcPts val="1450"/>
              </a:lnSpc>
              <a:buNone/>
            </a:pPr>
            <a:r>
              <a:rPr lang="en-US" sz="1100" dirty="0">
                <a:solidFill>
                  <a:srgbClr val="6E6658"/>
                </a:solidFill>
                <a:latin typeface="Calibri" pitchFamily="34" charset="0"/>
                <a:ea typeface="Calibri" pitchFamily="34" charset="-122"/>
                <a:cs typeface="Calibri" pitchFamily="34" charset="-120"/>
              </a:rPr>
              <a:t>Applies Bayes' theorem while assuming every feature is independent of the others given the class, with each modelled as a bell curve. The independence assumption is clearly false here (chemically linked measurements move together), which is why it trails KNN — but it is extremely fast and a useful probabilistic yardstick.</a:t>
            </a:r>
            <a:endParaRPr lang="en-US" sz="1100" dirty="0"/>
          </a:p>
        </p:txBody>
      </p:sp>
      <p:sp>
        <p:nvSpPr>
          <p:cNvPr id="16" name="Text 14"/>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47</a:t>
            </a:r>
            <a:endParaRPr lang="en-US" sz="900" dirty="0"/>
          </a:p>
        </p:txBody>
      </p:sp>
      <p:sp>
        <p:nvSpPr>
          <p:cNvPr id="17" name="Text 15"/>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B · Algorithms</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B · ALGORITHMS</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Algorithms 4–5 · Decision Tree and SVM</a:t>
            </a:r>
            <a:endParaRPr lang="en-US" sz="2800" dirty="0"/>
          </a:p>
        </p:txBody>
      </p:sp>
      <p:sp>
        <p:nvSpPr>
          <p:cNvPr id="4" name="Shape 2"/>
          <p:cNvSpPr/>
          <p:nvPr/>
        </p:nvSpPr>
        <p:spPr>
          <a:xfrm>
            <a:off x="548640" y="1463040"/>
            <a:ext cx="5486400" cy="2606040"/>
          </a:xfrm>
          <a:prstGeom prst="roundRect">
            <a:avLst>
              <a:gd name="adj" fmla="val 2807"/>
            </a:avLst>
          </a:prstGeom>
          <a:solidFill>
            <a:srgbClr val="EAE3D6"/>
          </a:solidFill>
          <a:ln w="12700">
            <a:solidFill>
              <a:srgbClr val="EAE3D6"/>
            </a:solidFill>
            <a:prstDash val="solid"/>
          </a:ln>
        </p:spPr>
      </p:sp>
      <p:sp>
        <p:nvSpPr>
          <p:cNvPr id="5" name="Text 3"/>
          <p:cNvSpPr txBox="1"/>
          <p:nvPr/>
        </p:nvSpPr>
        <p:spPr>
          <a:xfrm>
            <a:off x="777240" y="1627632"/>
            <a:ext cx="50292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4. Decision Tree Classifier</a:t>
            </a:r>
            <a:endParaRPr lang="en-US" sz="1400" dirty="0"/>
          </a:p>
        </p:txBody>
      </p:sp>
      <p:sp>
        <p:nvSpPr>
          <p:cNvPr id="6" name="Text 4"/>
          <p:cNvSpPr txBox="1"/>
          <p:nvPr/>
        </p:nvSpPr>
        <p:spPr>
          <a:xfrm>
            <a:off x="777240" y="1975104"/>
            <a:ext cx="5029200" cy="192024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Asks a sequence of yes/no questions about measurements ('is dissolved oxygen below x?') until it reaches a leaf holding a class.</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Strengths: it needs no scaling, handles non-linear boundaries naturally, and can be read and explained to a non-technical audience. Its feature importances are inspected later.</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Risk: an unlimited tree memorises the training data. max_depth and min_samples_split are therefore tuned by GridSearchCV.</a:t>
            </a:r>
            <a:endParaRPr lang="en-US" sz="1150" dirty="0"/>
          </a:p>
        </p:txBody>
      </p:sp>
      <p:sp>
        <p:nvSpPr>
          <p:cNvPr id="7" name="Shape 5"/>
          <p:cNvSpPr/>
          <p:nvPr/>
        </p:nvSpPr>
        <p:spPr>
          <a:xfrm>
            <a:off x="6217920" y="1463040"/>
            <a:ext cx="5394960" cy="2606040"/>
          </a:xfrm>
          <a:prstGeom prst="roundRect">
            <a:avLst>
              <a:gd name="adj" fmla="val 2807"/>
            </a:avLst>
          </a:prstGeom>
          <a:solidFill>
            <a:srgbClr val="E3DFD2"/>
          </a:solidFill>
          <a:ln w="12700">
            <a:solidFill>
              <a:srgbClr val="E3DFD2"/>
            </a:solidFill>
            <a:prstDash val="solid"/>
          </a:ln>
        </p:spPr>
      </p:sp>
      <p:sp>
        <p:nvSpPr>
          <p:cNvPr id="8" name="Text 6"/>
          <p:cNvSpPr txBox="1"/>
          <p:nvPr/>
        </p:nvSpPr>
        <p:spPr>
          <a:xfrm>
            <a:off x="6446520" y="1627632"/>
            <a:ext cx="493776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5. Support Vector Machine (SVC)</a:t>
            </a:r>
            <a:endParaRPr lang="en-US" sz="1400" dirty="0"/>
          </a:p>
        </p:txBody>
      </p:sp>
      <p:sp>
        <p:nvSpPr>
          <p:cNvPr id="9" name="Text 7"/>
          <p:cNvSpPr txBox="1"/>
          <p:nvPr/>
        </p:nvSpPr>
        <p:spPr>
          <a:xfrm>
            <a:off x="6446520" y="1975104"/>
            <a:ext cx="4937760" cy="192024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Looks for the boundary that separates the classes with the widest possible margin. Configured here with a linear kernel, C = 1.0 and max_iter = 1000.</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Scaling matters greatly because the boundary's position depends on feature magnitudes.</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On this dataset it performs poorly: the 1,000-iteration cap stops the linear solver long before convergence on 54,298 rows and 50+ features, so the boundary it returns is far from optimal.</a:t>
            </a:r>
            <a:endParaRPr lang="en-US" sz="1150" dirty="0"/>
          </a:p>
        </p:txBody>
      </p:sp>
      <p:sp>
        <p:nvSpPr>
          <p:cNvPr id="10" name="Text 8"/>
          <p:cNvSpPr txBox="1"/>
          <p:nvPr/>
        </p:nvSpPr>
        <p:spPr>
          <a:xfrm>
            <a:off x="548640" y="4343400"/>
            <a:ext cx="2743200" cy="685800"/>
          </a:xfrm>
          <a:prstGeom prst="rect">
            <a:avLst/>
          </a:prstGeom>
          <a:noFill/>
          <a:ln/>
        </p:spPr>
        <p:txBody>
          <a:bodyPr wrap="square" lIns="0" tIns="0" rIns="0" bIns="0" rtlCol="0" anchor="ctr"/>
          <a:lstStyle/>
          <a:p>
            <a:pPr indent="0" marL="0">
              <a:buNone/>
            </a:pPr>
            <a:r>
              <a:rPr lang="en-US" sz="3600" b="1" dirty="0">
                <a:solidFill>
                  <a:srgbClr val="A4613C"/>
                </a:solidFill>
                <a:latin typeface="Cambria" pitchFamily="34" charset="0"/>
                <a:ea typeface="Cambria" pitchFamily="34" charset="-122"/>
                <a:cs typeface="Cambria" pitchFamily="34" charset="-120"/>
              </a:rPr>
              <a:t>0.7184</a:t>
            </a:r>
            <a:endParaRPr lang="en-US" sz="3600" dirty="0"/>
          </a:p>
        </p:txBody>
      </p:sp>
      <p:sp>
        <p:nvSpPr>
          <p:cNvPr id="11" name="Text 9"/>
          <p:cNvSpPr txBox="1"/>
          <p:nvPr/>
        </p:nvSpPr>
        <p:spPr>
          <a:xfrm>
            <a:off x="548640" y="5001768"/>
            <a:ext cx="2743200" cy="457200"/>
          </a:xfrm>
          <a:prstGeom prst="rect">
            <a:avLst/>
          </a:prstGeom>
          <a:noFill/>
          <a:ln/>
        </p:spPr>
        <p:txBody>
          <a:bodyPr wrap="square" lIns="0" tIns="0" rIns="0" bIns="0" rtlCol="0" anchor="ctr"/>
          <a:lstStyle/>
          <a:p>
            <a:pPr indent="0" marL="0">
              <a:lnSpc>
                <a:spcPts val="1300"/>
              </a:lnSpc>
              <a:buNone/>
            </a:pPr>
            <a:r>
              <a:rPr lang="en-US" sz="1050" dirty="0">
                <a:solidFill>
                  <a:srgbClr val="6E6658"/>
                </a:solidFill>
                <a:latin typeface="Calibri" pitchFamily="34" charset="0"/>
                <a:ea typeface="Calibri" pitchFamily="34" charset="-122"/>
                <a:cs typeface="Calibri" pitchFamily="34" charset="-120"/>
              </a:rPr>
              <a:t>Decision Tree accuracy (untuned)</a:t>
            </a:r>
            <a:endParaRPr lang="en-US" sz="1050" dirty="0"/>
          </a:p>
        </p:txBody>
      </p:sp>
      <p:sp>
        <p:nvSpPr>
          <p:cNvPr id="12" name="Text 10"/>
          <p:cNvSpPr txBox="1"/>
          <p:nvPr/>
        </p:nvSpPr>
        <p:spPr>
          <a:xfrm>
            <a:off x="3566160" y="4343400"/>
            <a:ext cx="2743200" cy="685800"/>
          </a:xfrm>
          <a:prstGeom prst="rect">
            <a:avLst/>
          </a:prstGeom>
          <a:noFill/>
          <a:ln/>
        </p:spPr>
        <p:txBody>
          <a:bodyPr wrap="square" lIns="0" tIns="0" rIns="0" bIns="0" rtlCol="0" anchor="ctr"/>
          <a:lstStyle/>
          <a:p>
            <a:pPr indent="0" marL="0">
              <a:buNone/>
            </a:pPr>
            <a:r>
              <a:rPr lang="en-US" sz="3600" b="1" dirty="0">
                <a:solidFill>
                  <a:srgbClr val="A4613C"/>
                </a:solidFill>
                <a:latin typeface="Cambria" pitchFamily="34" charset="0"/>
                <a:ea typeface="Cambria" pitchFamily="34" charset="-122"/>
                <a:cs typeface="Cambria" pitchFamily="34" charset="-120"/>
              </a:rPr>
              <a:t>0.3758</a:t>
            </a:r>
            <a:endParaRPr lang="en-US" sz="3600" dirty="0"/>
          </a:p>
        </p:txBody>
      </p:sp>
      <p:sp>
        <p:nvSpPr>
          <p:cNvPr id="13" name="Text 11"/>
          <p:cNvSpPr txBox="1"/>
          <p:nvPr/>
        </p:nvSpPr>
        <p:spPr>
          <a:xfrm>
            <a:off x="3566160" y="5001768"/>
            <a:ext cx="2743200" cy="457200"/>
          </a:xfrm>
          <a:prstGeom prst="rect">
            <a:avLst/>
          </a:prstGeom>
          <a:noFill/>
          <a:ln/>
        </p:spPr>
        <p:txBody>
          <a:bodyPr wrap="square" lIns="0" tIns="0" rIns="0" bIns="0" rtlCol="0" anchor="ctr"/>
          <a:lstStyle/>
          <a:p>
            <a:pPr indent="0" marL="0">
              <a:lnSpc>
                <a:spcPts val="1300"/>
              </a:lnSpc>
              <a:buNone/>
            </a:pPr>
            <a:r>
              <a:rPr lang="en-US" sz="1050" dirty="0">
                <a:solidFill>
                  <a:srgbClr val="6E6658"/>
                </a:solidFill>
                <a:latin typeface="Calibri" pitchFamily="34" charset="0"/>
                <a:ea typeface="Calibri" pitchFamily="34" charset="-122"/>
                <a:cs typeface="Calibri" pitchFamily="34" charset="-120"/>
              </a:rPr>
              <a:t>SVM accuracy — the clear outlier</a:t>
            </a:r>
            <a:endParaRPr lang="en-US" sz="1050" dirty="0"/>
          </a:p>
        </p:txBody>
      </p:sp>
      <p:sp>
        <p:nvSpPr>
          <p:cNvPr id="14" name="Shape 12"/>
          <p:cNvSpPr/>
          <p:nvPr/>
        </p:nvSpPr>
        <p:spPr>
          <a:xfrm>
            <a:off x="6492240" y="4297680"/>
            <a:ext cx="5120640" cy="1600200"/>
          </a:xfrm>
          <a:prstGeom prst="roundRect">
            <a:avLst>
              <a:gd name="adj" fmla="val 4571"/>
            </a:avLst>
          </a:prstGeom>
          <a:solidFill>
            <a:srgbClr val="EAE3D6"/>
          </a:solidFill>
          <a:ln w="12700">
            <a:solidFill>
              <a:srgbClr val="EAE3D6"/>
            </a:solidFill>
            <a:prstDash val="solid"/>
          </a:ln>
        </p:spPr>
      </p:sp>
      <p:sp>
        <p:nvSpPr>
          <p:cNvPr id="15" name="Text 13"/>
          <p:cNvSpPr txBox="1"/>
          <p:nvPr/>
        </p:nvSpPr>
        <p:spPr>
          <a:xfrm>
            <a:off x="6720840" y="4462272"/>
            <a:ext cx="466344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Reading the SVM result honestly</a:t>
            </a:r>
            <a:endParaRPr lang="en-US" sz="1400" dirty="0"/>
          </a:p>
        </p:txBody>
      </p:sp>
      <p:sp>
        <p:nvSpPr>
          <p:cNvPr id="16" name="Text 14"/>
          <p:cNvSpPr txBox="1"/>
          <p:nvPr/>
        </p:nvSpPr>
        <p:spPr>
          <a:xfrm>
            <a:off x="6720840" y="4809744"/>
            <a:ext cx="4663440" cy="914400"/>
          </a:xfrm>
          <a:prstGeom prst="rect">
            <a:avLst/>
          </a:prstGeom>
          <a:noFill/>
          <a:ln/>
        </p:spPr>
        <p:txBody>
          <a:bodyPr wrap="square" lIns="0" tIns="0" rIns="0" bIns="0" rtlCol="0" anchor="t"/>
          <a:lstStyle/>
          <a:p>
            <a:pPr indent="0" marL="0">
              <a:lnSpc>
                <a:spcPts val="1500"/>
              </a:lnSpc>
              <a:buNone/>
            </a:pPr>
            <a:r>
              <a:rPr lang="en-US" sz="1050" dirty="0">
                <a:solidFill>
                  <a:srgbClr val="6E6658"/>
                </a:solidFill>
                <a:latin typeface="Calibri" pitchFamily="34" charset="0"/>
                <a:ea typeface="Calibri" pitchFamily="34" charset="-122"/>
                <a:cs typeface="Calibri" pitchFamily="34" charset="-120"/>
              </a:rPr>
              <a:t>An accuracy of 0.3758 is below the 58% that always guessing 'Moderate' would achieve, and its ROC-AUC of 0.5588 is barely better than chance. The conclusion is not that SVM is unsuitable for water-quality data, but that this particular configuration did not converge — raising max_iter or switching to an RBF kernel on a subsample would be the next step.</a:t>
            </a:r>
            <a:endParaRPr lang="en-US" sz="1050" dirty="0"/>
          </a:p>
        </p:txBody>
      </p:sp>
      <p:sp>
        <p:nvSpPr>
          <p:cNvPr id="17" name="Text 15"/>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48</a:t>
            </a:r>
            <a:endParaRPr lang="en-US" sz="900" dirty="0"/>
          </a:p>
        </p:txBody>
      </p:sp>
      <p:sp>
        <p:nvSpPr>
          <p:cNvPr id="18" name="Text 16"/>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B · Algorithms</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B · RESULTS</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Baseline evaluation — all five algorithms</a:t>
            </a:r>
            <a:endParaRPr lang="en-US" sz="28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858000" cy="914400"/>
        </p:xfrm>
        <a:graphic>
          <a:graphicData uri="http://schemas.openxmlformats.org/drawingml/2006/table">
            <a:tbl>
              <a:tblPr/>
              <a:tblGrid>
                <a:gridCol w="2011680"/>
                <a:gridCol w="969264"/>
                <a:gridCol w="969264"/>
                <a:gridCol w="969264"/>
                <a:gridCol w="1060704"/>
                <a:gridCol w="877824"/>
              </a:tblGrid>
              <a:tr h="384048">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Algorithm</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Accuracy</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Precision</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Recall</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Weighted F1</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ROC-AUC</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r>
              <a:tr h="384048">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KNN</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0.7497</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0.7477</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0.7497</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0.7483</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0.8480</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84048">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Decision Tree</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0.7184</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0.7186</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0.7184</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0.7185</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0.7455</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Logistic Regression</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0.6767</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0.6705</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0.6767</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0.6600</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0.7833</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84048">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Gaussian Naive Bayes</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0.6703</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0.6632</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0.6703</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0.6637</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0.7824</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SVM</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0.3758</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0.4686</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0.3758</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0.3857</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0.5588</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bl>
          </a:graphicData>
        </a:graphic>
      </p:graphicFrame>
      <p:sp>
        <p:nvSpPr>
          <p:cNvPr id="5" name="Text 2"/>
          <p:cNvSpPr txBox="1"/>
          <p:nvPr/>
        </p:nvSpPr>
        <p:spPr>
          <a:xfrm>
            <a:off x="7680960" y="1371600"/>
            <a:ext cx="3931920" cy="256032"/>
          </a:xfrm>
          <a:prstGeom prst="rect">
            <a:avLst/>
          </a:prstGeom>
          <a:noFill/>
          <a:ln/>
        </p:spPr>
        <p:txBody>
          <a:bodyPr wrap="square" lIns="0" tIns="0" rIns="0" bIns="0" rtlCol="0" anchor="ctr"/>
          <a:lstStyle/>
          <a:p>
            <a:pPr indent="0" marL="0">
              <a:buNone/>
            </a:pPr>
            <a:r>
              <a:rPr lang="en-US" sz="1150" b="1" dirty="0">
                <a:solidFill>
                  <a:srgbClr val="A4613C"/>
                </a:solidFill>
                <a:latin typeface="Calibri" pitchFamily="34" charset="0"/>
                <a:ea typeface="Calibri" pitchFamily="34" charset="-122"/>
                <a:cs typeface="Calibri" pitchFamily="34" charset="-120"/>
              </a:rPr>
              <a:t>Accuracy</a:t>
            </a:r>
            <a:endParaRPr lang="en-US" sz="1150" dirty="0"/>
          </a:p>
        </p:txBody>
      </p:sp>
      <p:sp>
        <p:nvSpPr>
          <p:cNvPr id="6" name="Text 3"/>
          <p:cNvSpPr txBox="1"/>
          <p:nvPr/>
        </p:nvSpPr>
        <p:spPr>
          <a:xfrm>
            <a:off x="7680960" y="1645920"/>
            <a:ext cx="3931920" cy="658368"/>
          </a:xfrm>
          <a:prstGeom prst="rect">
            <a:avLst/>
          </a:prstGeom>
          <a:noFill/>
          <a:ln/>
        </p:spPr>
        <p:txBody>
          <a:bodyPr wrap="square" lIns="0" tIns="0" rIns="0" bIns="0" rtlCol="0" anchor="ctr"/>
          <a:lstStyle/>
          <a:p>
            <a:pPr indent="0" marL="0">
              <a:lnSpc>
                <a:spcPts val="1250"/>
              </a:lnSpc>
              <a:buNone/>
            </a:pPr>
            <a:r>
              <a:rPr lang="en-US" sz="1000" dirty="0">
                <a:solidFill>
                  <a:srgbClr val="6E6658"/>
                </a:solidFill>
                <a:latin typeface="Calibri" pitchFamily="34" charset="0"/>
                <a:ea typeface="Calibri" pitchFamily="34" charset="-122"/>
                <a:cs typeface="Calibri" pitchFamily="34" charset="-120"/>
              </a:rPr>
              <a:t>Share of all samples classified correctly. Misleading on its own when one class holds 58% of the data.</a:t>
            </a:r>
            <a:endParaRPr lang="en-US" sz="1000" dirty="0"/>
          </a:p>
        </p:txBody>
      </p:sp>
      <p:sp>
        <p:nvSpPr>
          <p:cNvPr id="7" name="Text 4"/>
          <p:cNvSpPr txBox="1"/>
          <p:nvPr/>
        </p:nvSpPr>
        <p:spPr>
          <a:xfrm>
            <a:off x="7680960" y="2350008"/>
            <a:ext cx="3931920" cy="256032"/>
          </a:xfrm>
          <a:prstGeom prst="rect">
            <a:avLst/>
          </a:prstGeom>
          <a:noFill/>
          <a:ln/>
        </p:spPr>
        <p:txBody>
          <a:bodyPr wrap="square" lIns="0" tIns="0" rIns="0" bIns="0" rtlCol="0" anchor="ctr"/>
          <a:lstStyle/>
          <a:p>
            <a:pPr indent="0" marL="0">
              <a:buNone/>
            </a:pPr>
            <a:r>
              <a:rPr lang="en-US" sz="1150" b="1" dirty="0">
                <a:solidFill>
                  <a:srgbClr val="A4613C"/>
                </a:solidFill>
                <a:latin typeface="Calibri" pitchFamily="34" charset="0"/>
                <a:ea typeface="Calibri" pitchFamily="34" charset="-122"/>
                <a:cs typeface="Calibri" pitchFamily="34" charset="-120"/>
              </a:rPr>
              <a:t>Precision</a:t>
            </a:r>
            <a:endParaRPr lang="en-US" sz="1150" dirty="0"/>
          </a:p>
        </p:txBody>
      </p:sp>
      <p:sp>
        <p:nvSpPr>
          <p:cNvPr id="8" name="Text 5"/>
          <p:cNvSpPr txBox="1"/>
          <p:nvPr/>
        </p:nvSpPr>
        <p:spPr>
          <a:xfrm>
            <a:off x="7680960" y="2624328"/>
            <a:ext cx="3931920" cy="658368"/>
          </a:xfrm>
          <a:prstGeom prst="rect">
            <a:avLst/>
          </a:prstGeom>
          <a:noFill/>
          <a:ln/>
        </p:spPr>
        <p:txBody>
          <a:bodyPr wrap="square" lIns="0" tIns="0" rIns="0" bIns="0" rtlCol="0" anchor="ctr"/>
          <a:lstStyle/>
          <a:p>
            <a:pPr indent="0" marL="0">
              <a:lnSpc>
                <a:spcPts val="1250"/>
              </a:lnSpc>
              <a:buNone/>
            </a:pPr>
            <a:r>
              <a:rPr lang="en-US" sz="1000" dirty="0">
                <a:solidFill>
                  <a:srgbClr val="6E6658"/>
                </a:solidFill>
                <a:latin typeface="Calibri" pitchFamily="34" charset="0"/>
                <a:ea typeface="Calibri" pitchFamily="34" charset="-122"/>
                <a:cs typeface="Calibri" pitchFamily="34" charset="-120"/>
              </a:rPr>
              <a:t>Of the samples predicted to be in a class, how many really were — the cost of a false alarm.</a:t>
            </a:r>
            <a:endParaRPr lang="en-US" sz="1000" dirty="0"/>
          </a:p>
        </p:txBody>
      </p:sp>
      <p:sp>
        <p:nvSpPr>
          <p:cNvPr id="9" name="Text 6"/>
          <p:cNvSpPr txBox="1"/>
          <p:nvPr/>
        </p:nvSpPr>
        <p:spPr>
          <a:xfrm>
            <a:off x="7680960" y="3328416"/>
            <a:ext cx="3931920" cy="256032"/>
          </a:xfrm>
          <a:prstGeom prst="rect">
            <a:avLst/>
          </a:prstGeom>
          <a:noFill/>
          <a:ln/>
        </p:spPr>
        <p:txBody>
          <a:bodyPr wrap="square" lIns="0" tIns="0" rIns="0" bIns="0" rtlCol="0" anchor="ctr"/>
          <a:lstStyle/>
          <a:p>
            <a:pPr indent="0" marL="0">
              <a:buNone/>
            </a:pPr>
            <a:r>
              <a:rPr lang="en-US" sz="1150" b="1" dirty="0">
                <a:solidFill>
                  <a:srgbClr val="A4613C"/>
                </a:solidFill>
                <a:latin typeface="Calibri" pitchFamily="34" charset="0"/>
                <a:ea typeface="Calibri" pitchFamily="34" charset="-122"/>
                <a:cs typeface="Calibri" pitchFamily="34" charset="-120"/>
              </a:rPr>
              <a:t>Recall</a:t>
            </a:r>
            <a:endParaRPr lang="en-US" sz="1150" dirty="0"/>
          </a:p>
        </p:txBody>
      </p:sp>
      <p:sp>
        <p:nvSpPr>
          <p:cNvPr id="10" name="Text 7"/>
          <p:cNvSpPr txBox="1"/>
          <p:nvPr/>
        </p:nvSpPr>
        <p:spPr>
          <a:xfrm>
            <a:off x="7680960" y="3602736"/>
            <a:ext cx="3931920" cy="658368"/>
          </a:xfrm>
          <a:prstGeom prst="rect">
            <a:avLst/>
          </a:prstGeom>
          <a:noFill/>
          <a:ln/>
        </p:spPr>
        <p:txBody>
          <a:bodyPr wrap="square" lIns="0" tIns="0" rIns="0" bIns="0" rtlCol="0" anchor="ctr"/>
          <a:lstStyle/>
          <a:p>
            <a:pPr indent="0" marL="0">
              <a:lnSpc>
                <a:spcPts val="1250"/>
              </a:lnSpc>
              <a:buNone/>
            </a:pPr>
            <a:r>
              <a:rPr lang="en-US" sz="1000" dirty="0">
                <a:solidFill>
                  <a:srgbClr val="6E6658"/>
                </a:solidFill>
                <a:latin typeface="Calibri" pitchFamily="34" charset="0"/>
                <a:ea typeface="Calibri" pitchFamily="34" charset="-122"/>
                <a:cs typeface="Calibri" pitchFamily="34" charset="-120"/>
              </a:rPr>
              <a:t>Of the samples truly in a class, how many were found — the cost of a miss.</a:t>
            </a:r>
            <a:endParaRPr lang="en-US" sz="1000" dirty="0"/>
          </a:p>
        </p:txBody>
      </p:sp>
      <p:sp>
        <p:nvSpPr>
          <p:cNvPr id="11" name="Text 8"/>
          <p:cNvSpPr txBox="1"/>
          <p:nvPr/>
        </p:nvSpPr>
        <p:spPr>
          <a:xfrm>
            <a:off x="7680960" y="4306824"/>
            <a:ext cx="3931920" cy="256032"/>
          </a:xfrm>
          <a:prstGeom prst="rect">
            <a:avLst/>
          </a:prstGeom>
          <a:noFill/>
          <a:ln/>
        </p:spPr>
        <p:txBody>
          <a:bodyPr wrap="square" lIns="0" tIns="0" rIns="0" bIns="0" rtlCol="0" anchor="ctr"/>
          <a:lstStyle/>
          <a:p>
            <a:pPr indent="0" marL="0">
              <a:buNone/>
            </a:pPr>
            <a:r>
              <a:rPr lang="en-US" sz="1150" b="1" dirty="0">
                <a:solidFill>
                  <a:srgbClr val="A4613C"/>
                </a:solidFill>
                <a:latin typeface="Calibri" pitchFamily="34" charset="0"/>
                <a:ea typeface="Calibri" pitchFamily="34" charset="-122"/>
                <a:cs typeface="Calibri" pitchFamily="34" charset="-120"/>
              </a:rPr>
              <a:t>Weighted F1</a:t>
            </a:r>
            <a:endParaRPr lang="en-US" sz="1150" dirty="0"/>
          </a:p>
        </p:txBody>
      </p:sp>
      <p:sp>
        <p:nvSpPr>
          <p:cNvPr id="12" name="Text 9"/>
          <p:cNvSpPr txBox="1"/>
          <p:nvPr/>
        </p:nvSpPr>
        <p:spPr>
          <a:xfrm>
            <a:off x="7680960" y="4581144"/>
            <a:ext cx="3931920" cy="658368"/>
          </a:xfrm>
          <a:prstGeom prst="rect">
            <a:avLst/>
          </a:prstGeom>
          <a:noFill/>
          <a:ln/>
        </p:spPr>
        <p:txBody>
          <a:bodyPr wrap="square" lIns="0" tIns="0" rIns="0" bIns="0" rtlCol="0" anchor="ctr"/>
          <a:lstStyle/>
          <a:p>
            <a:pPr indent="0" marL="0">
              <a:lnSpc>
                <a:spcPts val="1250"/>
              </a:lnSpc>
              <a:buNone/>
            </a:pPr>
            <a:r>
              <a:rPr lang="en-US" sz="1000" dirty="0">
                <a:solidFill>
                  <a:srgbClr val="6E6658"/>
                </a:solidFill>
                <a:latin typeface="Calibri" pitchFamily="34" charset="0"/>
                <a:ea typeface="Calibri" pitchFamily="34" charset="-122"/>
                <a:cs typeface="Calibri" pitchFamily="34" charset="-120"/>
              </a:rPr>
              <a:t>Harmonic mean of precision and recall, averaged across classes in proportion to class size. The headline metric here.</a:t>
            </a:r>
            <a:endParaRPr lang="en-US" sz="1000" dirty="0"/>
          </a:p>
        </p:txBody>
      </p:sp>
      <p:sp>
        <p:nvSpPr>
          <p:cNvPr id="13" name="Text 10"/>
          <p:cNvSpPr txBox="1"/>
          <p:nvPr/>
        </p:nvSpPr>
        <p:spPr>
          <a:xfrm>
            <a:off x="7680960" y="5285232"/>
            <a:ext cx="3931920" cy="256032"/>
          </a:xfrm>
          <a:prstGeom prst="rect">
            <a:avLst/>
          </a:prstGeom>
          <a:noFill/>
          <a:ln/>
        </p:spPr>
        <p:txBody>
          <a:bodyPr wrap="square" lIns="0" tIns="0" rIns="0" bIns="0" rtlCol="0" anchor="ctr"/>
          <a:lstStyle/>
          <a:p>
            <a:pPr indent="0" marL="0">
              <a:buNone/>
            </a:pPr>
            <a:r>
              <a:rPr lang="en-US" sz="1150" b="1" dirty="0">
                <a:solidFill>
                  <a:srgbClr val="A4613C"/>
                </a:solidFill>
                <a:latin typeface="Calibri" pitchFamily="34" charset="0"/>
                <a:ea typeface="Calibri" pitchFamily="34" charset="-122"/>
                <a:cs typeface="Calibri" pitchFamily="34" charset="-120"/>
              </a:rPr>
              <a:t>ROC-AUC (OvR)</a:t>
            </a:r>
            <a:endParaRPr lang="en-US" sz="1150" dirty="0"/>
          </a:p>
        </p:txBody>
      </p:sp>
      <p:sp>
        <p:nvSpPr>
          <p:cNvPr id="14" name="Text 11"/>
          <p:cNvSpPr txBox="1"/>
          <p:nvPr/>
        </p:nvSpPr>
        <p:spPr>
          <a:xfrm>
            <a:off x="7680960" y="5559552"/>
            <a:ext cx="3931920" cy="658368"/>
          </a:xfrm>
          <a:prstGeom prst="rect">
            <a:avLst/>
          </a:prstGeom>
          <a:noFill/>
          <a:ln/>
        </p:spPr>
        <p:txBody>
          <a:bodyPr wrap="square" lIns="0" tIns="0" rIns="0" bIns="0" rtlCol="0" anchor="ctr"/>
          <a:lstStyle/>
          <a:p>
            <a:pPr indent="0" marL="0">
              <a:lnSpc>
                <a:spcPts val="1250"/>
              </a:lnSpc>
              <a:buNone/>
            </a:pPr>
            <a:r>
              <a:rPr lang="en-US" sz="1000" dirty="0">
                <a:solidFill>
                  <a:srgbClr val="6E6658"/>
                </a:solidFill>
                <a:latin typeface="Calibri" pitchFamily="34" charset="0"/>
                <a:ea typeface="Calibri" pitchFamily="34" charset="-122"/>
                <a:cs typeface="Calibri" pitchFamily="34" charset="-120"/>
              </a:rPr>
              <a:t>Probability the model ranks a random positive above a random negative, computed one class against the rest.</a:t>
            </a:r>
            <a:endParaRPr lang="en-US" sz="1000" dirty="0"/>
          </a:p>
        </p:txBody>
      </p:sp>
      <p:sp>
        <p:nvSpPr>
          <p:cNvPr id="15" name="Shape 12"/>
          <p:cNvSpPr/>
          <p:nvPr/>
        </p:nvSpPr>
        <p:spPr>
          <a:xfrm>
            <a:off x="548640" y="4206240"/>
            <a:ext cx="6858000" cy="1645920"/>
          </a:xfrm>
          <a:prstGeom prst="roundRect">
            <a:avLst>
              <a:gd name="adj" fmla="val 4444"/>
            </a:avLst>
          </a:prstGeom>
          <a:solidFill>
            <a:srgbClr val="EAE3D6"/>
          </a:solidFill>
          <a:ln w="12700">
            <a:solidFill>
              <a:srgbClr val="EAE3D6"/>
            </a:solidFill>
            <a:prstDash val="solid"/>
          </a:ln>
        </p:spPr>
      </p:sp>
      <p:sp>
        <p:nvSpPr>
          <p:cNvPr id="16" name="Text 13"/>
          <p:cNvSpPr txBox="1"/>
          <p:nvPr/>
        </p:nvSpPr>
        <p:spPr>
          <a:xfrm>
            <a:off x="777240" y="4370832"/>
            <a:ext cx="64008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What the table says</a:t>
            </a:r>
            <a:endParaRPr lang="en-US" sz="1400" dirty="0"/>
          </a:p>
        </p:txBody>
      </p:sp>
      <p:sp>
        <p:nvSpPr>
          <p:cNvPr id="17" name="Text 14"/>
          <p:cNvSpPr txBox="1"/>
          <p:nvPr/>
        </p:nvSpPr>
        <p:spPr>
          <a:xfrm>
            <a:off x="777240" y="4718304"/>
            <a:ext cx="6400800" cy="960120"/>
          </a:xfrm>
          <a:prstGeom prst="rect">
            <a:avLst/>
          </a:prstGeom>
          <a:noFill/>
          <a:ln/>
        </p:spPr>
        <p:txBody>
          <a:bodyPr wrap="square" lIns="0" tIns="0" rIns="0" bIns="0" rtlCol="0" anchor="t"/>
          <a:lstStyle/>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KNN leads every metric before tuning, which fits what the EDA showed — the classes are separated by combinations of measurements rather than by simple thresholds, and a neighbourhood vote captures that naturally. Precision and recall sit close together for the four working models, meaning no class is being systematically over- or under-predicted. SVM is the exception and is discussed on the previous slide.</a:t>
            </a:r>
            <a:endParaRPr lang="en-US" sz="1100" dirty="0"/>
          </a:p>
        </p:txBody>
      </p:sp>
      <p:sp>
        <p:nvSpPr>
          <p:cNvPr id="18" name="Text 15"/>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49</a:t>
            </a:r>
            <a:endParaRPr lang="en-US" sz="900" dirty="0"/>
          </a:p>
        </p:txBody>
      </p:sp>
      <p:sp>
        <p:nvSpPr>
          <p:cNvPr id="19" name="Text 16"/>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B · Results</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B · RESULTS</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Confusion matrices</a:t>
            </a:r>
            <a:endParaRPr lang="en-US" sz="2800" dirty="0"/>
          </a:p>
        </p:txBody>
      </p:sp>
      <p:pic>
        <p:nvPicPr>
          <p:cNvPr id="4" name="Image 0" descr="/home/claude/work/img/CLS_40_0.png">    </p:cNvPr>
          <p:cNvPicPr>
            <a:picLocks noChangeAspect="1"/>
          </p:cNvPicPr>
          <p:nvPr/>
        </p:nvPicPr>
        <p:blipFill>
          <a:blip r:embed="rId1"/>
          <a:stretch>
            <a:fillRect/>
          </a:stretch>
        </p:blipFill>
        <p:spPr>
          <a:xfrm>
            <a:off x="548640" y="1371600"/>
            <a:ext cx="7315200" cy="4480560"/>
          </a:xfrm>
          <a:prstGeom prst="rect">
            <a:avLst/>
          </a:prstGeom>
        </p:spPr>
      </p:pic>
      <p:sp>
        <p:nvSpPr>
          <p:cNvPr id="5" name="Shape 2"/>
          <p:cNvSpPr/>
          <p:nvPr/>
        </p:nvSpPr>
        <p:spPr>
          <a:xfrm>
            <a:off x="8138160" y="1371600"/>
            <a:ext cx="3474720" cy="2194560"/>
          </a:xfrm>
          <a:prstGeom prst="roundRect">
            <a:avLst>
              <a:gd name="adj" fmla="val 3333"/>
            </a:avLst>
          </a:prstGeom>
          <a:solidFill>
            <a:srgbClr val="EAE3D6"/>
          </a:solidFill>
          <a:ln w="12700">
            <a:solidFill>
              <a:srgbClr val="EAE3D6"/>
            </a:solidFill>
            <a:prstDash val="solid"/>
          </a:ln>
        </p:spPr>
      </p:sp>
      <p:sp>
        <p:nvSpPr>
          <p:cNvPr id="6" name="Text 3"/>
          <p:cNvSpPr txBox="1"/>
          <p:nvPr/>
        </p:nvSpPr>
        <p:spPr>
          <a:xfrm>
            <a:off x="8366760" y="1536192"/>
            <a:ext cx="301752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How to read one</a:t>
            </a:r>
            <a:endParaRPr lang="en-US" sz="1400" dirty="0"/>
          </a:p>
        </p:txBody>
      </p:sp>
      <p:sp>
        <p:nvSpPr>
          <p:cNvPr id="7" name="Text 4"/>
          <p:cNvSpPr txBox="1"/>
          <p:nvPr/>
        </p:nvSpPr>
        <p:spPr>
          <a:xfrm>
            <a:off x="8366760" y="1883664"/>
            <a:ext cx="3017520" cy="1508760"/>
          </a:xfrm>
          <a:prstGeom prst="rect">
            <a:avLst/>
          </a:prstGeom>
          <a:noFill/>
          <a:ln/>
        </p:spPr>
        <p:txBody>
          <a:bodyPr wrap="square" lIns="0" tIns="0" rIns="0" bIns="0" rtlCol="0" anchor="t"/>
          <a:lstStyle/>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Rows are the true class, columns the predicted class, in the order Good, Moderate, Poor. Cells on the diagonal are correct predictions; everything off the diagonal is a mistake, and its position says exactly which class was confused with which.</a:t>
            </a:r>
            <a:endParaRPr lang="en-US" sz="1100" dirty="0"/>
          </a:p>
        </p:txBody>
      </p:sp>
      <p:sp>
        <p:nvSpPr>
          <p:cNvPr id="8" name="Text 5"/>
          <p:cNvSpPr txBox="1"/>
          <p:nvPr/>
        </p:nvSpPr>
        <p:spPr>
          <a:xfrm>
            <a:off x="8275320" y="3749040"/>
            <a:ext cx="3246120" cy="2103120"/>
          </a:xfrm>
          <a:prstGeom prst="rect">
            <a:avLst/>
          </a:prstGeom>
          <a:noFill/>
          <a:ln/>
        </p:spPr>
        <p:txBody>
          <a:bodyPr wrap="square" lIns="0" tIns="0" rIns="0" bIns="0" rtlCol="0" anchor="t"/>
          <a:lstStyle/>
          <a:p>
            <a:pPr marL="342900" indent="-342900">
              <a:lnSpc>
                <a:spcPts val="1800"/>
              </a:lnSpc>
              <a:spcAft>
                <a:spcPts val="800"/>
              </a:spcAft>
              <a:buSzPct val="100000"/>
              <a:buChar char="•"/>
            </a:pPr>
            <a:r>
              <a:rPr lang="en-US" sz="1050" dirty="0">
                <a:solidFill>
                  <a:srgbClr val="2B2A26"/>
                </a:solidFill>
                <a:latin typeface="Calibri" pitchFamily="34" charset="0"/>
                <a:ea typeface="Calibri" pitchFamily="34" charset="-122"/>
                <a:cs typeface="Calibri" pitchFamily="34" charset="-120"/>
              </a:rPr>
              <a:t>Most errors fall between neighbouring quality levels — Good confused with Moderate, Moderate with Poor.</a:t>
            </a:r>
            <a:endParaRPr lang="en-US" sz="1050" dirty="0"/>
          </a:p>
          <a:p>
            <a:pPr marL="342900" indent="-342900">
              <a:lnSpc>
                <a:spcPts val="1800"/>
              </a:lnSpc>
              <a:spcAft>
                <a:spcPts val="800"/>
              </a:spcAft>
              <a:buSzPct val="100000"/>
              <a:buChar char="•"/>
            </a:pPr>
            <a:r>
              <a:rPr lang="en-US" sz="1050" dirty="0">
                <a:solidFill>
                  <a:srgbClr val="2B2A26"/>
                </a:solidFill>
                <a:latin typeface="Calibri" pitchFamily="34" charset="0"/>
                <a:ea typeface="Calibri" pitchFamily="34" charset="-122"/>
                <a:cs typeface="Calibri" pitchFamily="34" charset="-120"/>
              </a:rPr>
              <a:t>Confusing Good with Poor is rare, so the models learn the ordering of quality even though the labels are unordered.</a:t>
            </a:r>
            <a:endParaRPr lang="en-US" sz="1050" dirty="0"/>
          </a:p>
          <a:p>
            <a:pPr marL="342900" indent="-342900">
              <a:lnSpc>
                <a:spcPts val="1800"/>
              </a:lnSpc>
              <a:spcAft>
                <a:spcPts val="800"/>
              </a:spcAft>
              <a:buSzPct val="100000"/>
              <a:buChar char="•"/>
            </a:pPr>
            <a:r>
              <a:rPr lang="en-US" sz="1050" dirty="0">
                <a:solidFill>
                  <a:srgbClr val="2B2A26"/>
                </a:solidFill>
                <a:latin typeface="Calibri" pitchFamily="34" charset="0"/>
                <a:ea typeface="Calibri" pitchFamily="34" charset="-122"/>
                <a:cs typeface="Calibri" pitchFamily="34" charset="-120"/>
              </a:rPr>
              <a:t>The SVM panel collapses toward a single column, the visual signature of a boundary that never converged.</a:t>
            </a:r>
            <a:endParaRPr lang="en-US" sz="1050" dirty="0"/>
          </a:p>
        </p:txBody>
      </p:sp>
      <p:sp>
        <p:nvSpPr>
          <p:cNvPr id="9" name="Text 6"/>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50</a:t>
            </a:r>
            <a:endParaRPr lang="en-US" sz="900" dirty="0"/>
          </a:p>
        </p:txBody>
      </p:sp>
      <p:sp>
        <p:nvSpPr>
          <p:cNvPr id="10" name="Text 7"/>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B · Results</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B · RESULTS</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Multi-class ROC-AUC (One-vs-Rest)</a:t>
            </a:r>
            <a:endParaRPr lang="en-US" sz="2800" dirty="0"/>
          </a:p>
        </p:txBody>
      </p:sp>
      <p:pic>
        <p:nvPicPr>
          <p:cNvPr id="4" name="Image 0" descr="/home/claude/work/img/CLS_42_0.png">    </p:cNvPr>
          <p:cNvPicPr>
            <a:picLocks noChangeAspect="1"/>
          </p:cNvPicPr>
          <p:nvPr/>
        </p:nvPicPr>
        <p:blipFill>
          <a:blip r:embed="rId1"/>
          <a:stretch>
            <a:fillRect/>
          </a:stretch>
        </p:blipFill>
        <p:spPr>
          <a:xfrm>
            <a:off x="548640" y="1371600"/>
            <a:ext cx="6035040" cy="4480560"/>
          </a:xfrm>
          <a:prstGeom prst="rect">
            <a:avLst/>
          </a:prstGeom>
        </p:spPr>
      </p:pic>
      <p:sp>
        <p:nvSpPr>
          <p:cNvPr id="5" name="Shape 2"/>
          <p:cNvSpPr/>
          <p:nvPr/>
        </p:nvSpPr>
        <p:spPr>
          <a:xfrm>
            <a:off x="6949440" y="1371600"/>
            <a:ext cx="4663440" cy="2286000"/>
          </a:xfrm>
          <a:prstGeom prst="roundRect">
            <a:avLst>
              <a:gd name="adj" fmla="val 3200"/>
            </a:avLst>
          </a:prstGeom>
          <a:solidFill>
            <a:srgbClr val="EAE3D6"/>
          </a:solidFill>
          <a:ln w="12700">
            <a:solidFill>
              <a:srgbClr val="EAE3D6"/>
            </a:solidFill>
            <a:prstDash val="solid"/>
          </a:ln>
        </p:spPr>
      </p:sp>
      <p:sp>
        <p:nvSpPr>
          <p:cNvPr id="6" name="Text 3"/>
          <p:cNvSpPr txBox="1"/>
          <p:nvPr/>
        </p:nvSpPr>
        <p:spPr>
          <a:xfrm>
            <a:off x="7178040" y="1536192"/>
            <a:ext cx="420624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What One-vs-Rest means</a:t>
            </a:r>
            <a:endParaRPr lang="en-US" sz="1400" dirty="0"/>
          </a:p>
        </p:txBody>
      </p:sp>
      <p:sp>
        <p:nvSpPr>
          <p:cNvPr id="7" name="Text 4"/>
          <p:cNvSpPr txBox="1"/>
          <p:nvPr/>
        </p:nvSpPr>
        <p:spPr>
          <a:xfrm>
            <a:off x="7178040" y="1883664"/>
            <a:ext cx="4206240" cy="1600200"/>
          </a:xfrm>
          <a:prstGeom prst="rect">
            <a:avLst/>
          </a:prstGeom>
          <a:noFill/>
          <a:ln/>
        </p:spPr>
        <p:txBody>
          <a:bodyPr wrap="square" lIns="0" tIns="0" rIns="0" bIns="0" rtlCol="0" anchor="t"/>
          <a:lstStyle/>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A single ROC curve compares two classes. With three classes, each one is taken in turn as 'positive' and the other two combined as 'negative', giving three curves per model.</a:t>
            </a:r>
            <a:endParaRPr lang="en-US" sz="1100" dirty="0"/>
          </a:p>
          <a:p>
            <a:pPr indent="0" marL="0">
              <a:lnSpc>
                <a:spcPts val="1500"/>
              </a:lnSpc>
              <a:buNone/>
            </a:pPr>
            <a:endParaRPr lang="en-US" sz="1100" dirty="0"/>
          </a:p>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Each curve plots true-positive rate against false-positive rate as the decision threshold moves. The dashed diagonal is random guessing; the further a curve bulges toward the top-left, the better.</a:t>
            </a:r>
            <a:endParaRPr lang="en-US" sz="1100" dirty="0"/>
          </a:p>
        </p:txBody>
      </p:sp>
      <p:sp>
        <p:nvSpPr>
          <p:cNvPr id="8" name="Text 5"/>
          <p:cNvSpPr txBox="1"/>
          <p:nvPr/>
        </p:nvSpPr>
        <p:spPr>
          <a:xfrm>
            <a:off x="7086600" y="3840480"/>
            <a:ext cx="4389120" cy="2011680"/>
          </a:xfrm>
          <a:prstGeom prst="rect">
            <a:avLst/>
          </a:prstGeom>
          <a:noFill/>
          <a:ln/>
        </p:spPr>
        <p:txBody>
          <a:bodyPr wrap="square" lIns="0" tIns="0" rIns="0" bIns="0" rtlCol="0" anchor="t"/>
          <a:lstStyle/>
          <a:p>
            <a:pPr marL="342900" indent="-342900">
              <a:lnSpc>
                <a:spcPts val="1800"/>
              </a:lnSpc>
              <a:spcAft>
                <a:spcPts val="800"/>
              </a:spcAft>
              <a:buSzPct val="100000"/>
              <a:buChar char="•"/>
            </a:pPr>
            <a:r>
              <a:rPr lang="en-US" sz="1100" dirty="0">
                <a:solidFill>
                  <a:srgbClr val="2B2A26"/>
                </a:solidFill>
                <a:latin typeface="Calibri" pitchFamily="34" charset="0"/>
                <a:ea typeface="Calibri" pitchFamily="34" charset="-122"/>
                <a:cs typeface="Calibri" pitchFamily="34" charset="-120"/>
              </a:rPr>
              <a:t>KNN gives the highest baseline AUC at 0.8480, and the tuned Decision Tree tops the study at 0.8626.</a:t>
            </a:r>
            <a:endParaRPr lang="en-US" sz="1100" dirty="0"/>
          </a:p>
          <a:p>
            <a:pPr marL="342900" indent="-342900">
              <a:lnSpc>
                <a:spcPts val="1800"/>
              </a:lnSpc>
              <a:spcAft>
                <a:spcPts val="800"/>
              </a:spcAft>
              <a:buSzPct val="100000"/>
              <a:buChar char="•"/>
            </a:pPr>
            <a:r>
              <a:rPr lang="en-US" sz="1100" dirty="0">
                <a:solidFill>
                  <a:srgbClr val="2B2A26"/>
                </a:solidFill>
                <a:latin typeface="Calibri" pitchFamily="34" charset="0"/>
                <a:ea typeface="Calibri" pitchFamily="34" charset="-122"/>
                <a:cs typeface="Calibri" pitchFamily="34" charset="-120"/>
              </a:rPr>
              <a:t>Logistic Regression (0.7833) and Naive Bayes (0.7824) are close, despite different assumptions.</a:t>
            </a:r>
            <a:endParaRPr lang="en-US" sz="1100" dirty="0"/>
          </a:p>
          <a:p>
            <a:pPr marL="342900" indent="-342900">
              <a:lnSpc>
                <a:spcPts val="1800"/>
              </a:lnSpc>
              <a:spcAft>
                <a:spcPts val="800"/>
              </a:spcAft>
              <a:buSzPct val="100000"/>
              <a:buChar char="•"/>
            </a:pPr>
            <a:r>
              <a:rPr lang="en-US" sz="1100" dirty="0">
                <a:solidFill>
                  <a:srgbClr val="2B2A26"/>
                </a:solidFill>
                <a:latin typeface="Calibri" pitchFamily="34" charset="0"/>
                <a:ea typeface="Calibri" pitchFamily="34" charset="-122"/>
                <a:cs typeface="Calibri" pitchFamily="34" charset="-120"/>
              </a:rPr>
              <a:t>SVM sits at 0.5588 — near the diagonal, i.e. barely better than chance.</a:t>
            </a:r>
            <a:endParaRPr lang="en-US" sz="1100" dirty="0"/>
          </a:p>
        </p:txBody>
      </p:sp>
      <p:sp>
        <p:nvSpPr>
          <p:cNvPr id="9" name="Text 6"/>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51</a:t>
            </a:r>
            <a:endParaRPr lang="en-US" sz="900" dirty="0"/>
          </a:p>
        </p:txBody>
      </p:sp>
      <p:sp>
        <p:nvSpPr>
          <p:cNvPr id="10" name="Text 7"/>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B · Results</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B · MODELLING</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GridSearchCV hyperparameter tuning</a:t>
            </a:r>
            <a:endParaRPr lang="en-US" sz="2800" dirty="0"/>
          </a:p>
        </p:txBody>
      </p:sp>
      <p:sp>
        <p:nvSpPr>
          <p:cNvPr id="4" name="Shape 2"/>
          <p:cNvSpPr/>
          <p:nvPr/>
        </p:nvSpPr>
        <p:spPr>
          <a:xfrm>
            <a:off x="548640" y="1417320"/>
            <a:ext cx="5486400" cy="1828800"/>
          </a:xfrm>
          <a:prstGeom prst="roundRect">
            <a:avLst>
              <a:gd name="adj" fmla="val 4000"/>
            </a:avLst>
          </a:prstGeom>
          <a:solidFill>
            <a:srgbClr val="EAE3D6"/>
          </a:solidFill>
          <a:ln w="12700">
            <a:solidFill>
              <a:srgbClr val="EAE3D6"/>
            </a:solidFill>
            <a:prstDash val="solid"/>
          </a:ln>
        </p:spPr>
      </p:sp>
      <p:sp>
        <p:nvSpPr>
          <p:cNvPr id="5" name="Text 3"/>
          <p:cNvSpPr txBox="1"/>
          <p:nvPr/>
        </p:nvSpPr>
        <p:spPr>
          <a:xfrm>
            <a:off x="777240" y="1581912"/>
            <a:ext cx="50292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How the search works</a:t>
            </a:r>
            <a:endParaRPr lang="en-US" sz="1400" dirty="0"/>
          </a:p>
        </p:txBody>
      </p:sp>
      <p:sp>
        <p:nvSpPr>
          <p:cNvPr id="6" name="Text 4"/>
          <p:cNvSpPr txBox="1"/>
          <p:nvPr/>
        </p:nvSpPr>
        <p:spPr>
          <a:xfrm>
            <a:off x="777240" y="1929384"/>
            <a:ext cx="5029200" cy="114300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GridSearchCV trains a model for every combination in a parameter grid, scoring each with cross-validation on the training data only. Scoring metric: weighted F1.</a:t>
            </a:r>
            <a:endParaRPr lang="en-US" sz="1150" dirty="0"/>
          </a:p>
          <a:p>
            <a:pPr indent="0" marL="0">
              <a:lnSpc>
                <a:spcPts val="1500"/>
              </a:lnSpc>
              <a:buNone/>
            </a:pPr>
            <a:endParaRPr lang="en-US" sz="1150" dirty="0"/>
          </a:p>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Because preprocessing lives inside the same Pipeline object, every fold re-learns its own medians, IQR bounds and scaling — so the validation score is never inflated by information from the fold it is being tested on.</a:t>
            </a:r>
            <a:endParaRPr lang="en-US" sz="115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48640" y="3429000"/>
          <a:ext cx="5486400" cy="914400"/>
        </p:xfrm>
        <a:graphic>
          <a:graphicData uri="http://schemas.openxmlformats.org/drawingml/2006/table">
            <a:tbl>
              <a:tblPr/>
              <a:tblGrid>
                <a:gridCol w="1645920"/>
                <a:gridCol w="2103120"/>
                <a:gridCol w="1737360"/>
              </a:tblGrid>
              <a:tr h="548640">
                <a:tc>
                  <a:txBody>
                    <a:bodyPr/>
                    <a:lstStyle/>
                    <a:p>
                      <a:pPr indent="0" marL="0">
                        <a:buNone/>
                      </a:pPr>
                      <a:r>
                        <a:rPr lang="en-US" sz="1000" b="1" dirty="0">
                          <a:solidFill>
                            <a:srgbClr val="F6F2EA"/>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00" b="1" dirty="0">
                          <a:solidFill>
                            <a:srgbClr val="F6F2EA"/>
                          </a:solidFill>
                          <a:latin typeface="Calibri" pitchFamily="34" charset="0"/>
                          <a:ea typeface="Calibri" pitchFamily="34" charset="-122"/>
                          <a:cs typeface="Calibri" pitchFamily="34" charset="-120"/>
                        </a:rPr>
                        <a:t>Grid searched</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00" b="1" dirty="0">
                          <a:solidFill>
                            <a:srgbClr val="F6F2EA"/>
                          </a:solidFill>
                          <a:latin typeface="Calibri" pitchFamily="34" charset="0"/>
                          <a:ea typeface="Calibri" pitchFamily="34" charset="-122"/>
                          <a:cs typeface="Calibri" pitchFamily="34" charset="-120"/>
                        </a:rPr>
                        <a:t>Best</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r>
              <a:tr h="548640">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Logistic Regression</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C ∈ {0.1, 1.0}</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C = 1.0</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548640">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Decision Tree</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max_depth ∈ {10, 20}</a:t>
                      </a:r>
                      <a:endParaRPr lang="en-US" sz="1000" dirty="0">
                        <a:latin typeface="Calibri" charset="0"/>
                        <a:ea typeface="Calibri" charset="0"/>
                        <a:cs typeface="Calibri" charset="0"/>
                      </a:endParaRPr>
                    </a:p>
                    <a:p>
                      <a:pPr indent="0" marL="0">
                        <a:buNone/>
                      </a:pPr>
                      <a:r>
                        <a:rPr lang="en-US" sz="1000" dirty="0">
                          <a:solidFill>
                            <a:srgbClr val="2B2A26"/>
                          </a:solidFill>
                          <a:latin typeface="Calibri" pitchFamily="34" charset="0"/>
                          <a:ea typeface="Calibri" pitchFamily="34" charset="-122"/>
                          <a:cs typeface="Calibri" pitchFamily="34" charset="-120"/>
                        </a:rPr>
                        <a:t>min_samples_split ∈ {2, 5}</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max_depth = 10</a:t>
                      </a:r>
                      <a:endParaRPr lang="en-US" sz="1000" dirty="0">
                        <a:latin typeface="Calibri" charset="0"/>
                        <a:ea typeface="Calibri" charset="0"/>
                        <a:cs typeface="Calibri" charset="0"/>
                      </a:endParaRPr>
                    </a:p>
                    <a:p>
                      <a:pPr indent="0" marL="0">
                        <a:buNone/>
                      </a:pPr>
                      <a:r>
                        <a:rPr lang="en-US" sz="1000" dirty="0">
                          <a:solidFill>
                            <a:srgbClr val="2B2A26"/>
                          </a:solidFill>
                          <a:latin typeface="Calibri" pitchFamily="34" charset="0"/>
                          <a:ea typeface="Calibri" pitchFamily="34" charset="-122"/>
                          <a:cs typeface="Calibri" pitchFamily="34" charset="-120"/>
                        </a:rPr>
                        <a:t>min_samples_split = 5</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074920"/>
            <a:ext cx="5486400" cy="1005840"/>
          </a:xfrm>
          <a:prstGeom prst="roundRect">
            <a:avLst>
              <a:gd name="adj" fmla="val 7273"/>
            </a:avLst>
          </a:prstGeom>
          <a:solidFill>
            <a:srgbClr val="E3DFD2"/>
          </a:solidFill>
          <a:ln w="12700">
            <a:solidFill>
              <a:srgbClr val="E3DFD2"/>
            </a:solidFill>
            <a:prstDash val="solid"/>
          </a:ln>
        </p:spPr>
      </p:sp>
      <p:sp>
        <p:nvSpPr>
          <p:cNvPr id="9" name="Text 6"/>
          <p:cNvSpPr txBox="1"/>
          <p:nvPr/>
        </p:nvSpPr>
        <p:spPr>
          <a:xfrm>
            <a:off x="777240" y="5239512"/>
            <a:ext cx="50292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Why only two models are tuned</a:t>
            </a:r>
            <a:endParaRPr lang="en-US" sz="1400" dirty="0"/>
          </a:p>
        </p:txBody>
      </p:sp>
      <p:sp>
        <p:nvSpPr>
          <p:cNvPr id="10" name="Text 7"/>
          <p:cNvSpPr txBox="1"/>
          <p:nvPr/>
        </p:nvSpPr>
        <p:spPr>
          <a:xfrm>
            <a:off x="777240" y="5586984"/>
            <a:ext cx="5029200" cy="320040"/>
          </a:xfrm>
          <a:prstGeom prst="rect">
            <a:avLst/>
          </a:prstGeom>
          <a:noFill/>
          <a:ln/>
        </p:spPr>
        <p:txBody>
          <a:bodyPr wrap="square" lIns="0" tIns="0" rIns="0" bIns="0" rtlCol="0" anchor="t"/>
          <a:lstStyle/>
          <a:p>
            <a:pPr indent="0" marL="0">
              <a:lnSpc>
                <a:spcPts val="1500"/>
              </a:lnSpc>
              <a:buNone/>
            </a:pPr>
            <a:r>
              <a:rPr lang="en-US" sz="1050" dirty="0">
                <a:solidFill>
                  <a:srgbClr val="6E6658"/>
                </a:solidFill>
                <a:latin typeface="Calibri" pitchFamily="34" charset="0"/>
                <a:ea typeface="Calibri" pitchFamily="34" charset="-122"/>
                <a:cs typeface="Calibri" pitchFamily="34" charset="-120"/>
              </a:rPr>
              <a:t>The full dataset is large and KNN and SVM are the most expensive to refit repeatedly. Tuning is spent where it returns the most, and all five algorithms are still trained and reported.</a:t>
            </a:r>
            <a:endParaRPr lang="en-US" sz="1050" dirty="0"/>
          </a:p>
        </p:txBody>
      </p:sp>
      <p:graphicFrame>
        <p:nvGraphicFramePr>
          <p:cNvPr id="105" name="Table 1"/>
          <p:cNvGraphicFramePr>
            <a:graphicFrameLocks noGrp="1"/>
          </p:cNvGraphicFramePr>
          <p:nvPr>
            <p:extLst>
              <p:ext uri="{D42A27DB-BD31-4B8C-83A1-F6EECF244321}">
                <p14:modId xmlns:p14="http://schemas.microsoft.com/office/powerpoint/2010/main" val="1579011935"/>
              </p:ext>
            </p:extLst>
          </p:nvPr>
        </p:nvGraphicFramePr>
        <p:xfrm>
          <a:off x="6217920" y="1417320"/>
          <a:ext cx="5394960" cy="914400"/>
        </p:xfrm>
        <a:graphic>
          <a:graphicData uri="http://schemas.openxmlformats.org/drawingml/2006/table">
            <a:tbl>
              <a:tblPr/>
              <a:tblGrid>
                <a:gridCol w="2103120"/>
                <a:gridCol w="1097280"/>
                <a:gridCol w="1188720"/>
                <a:gridCol w="1005840"/>
              </a:tblGrid>
              <a:tr h="411480">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Tuned model</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Accuracy</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Weighted F1</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50" b="1" dirty="0">
                          <a:solidFill>
                            <a:srgbClr val="F6F2EA"/>
                          </a:solidFill>
                          <a:latin typeface="Calibri" pitchFamily="34" charset="0"/>
                          <a:ea typeface="Calibri" pitchFamily="34" charset="-122"/>
                          <a:cs typeface="Calibri" pitchFamily="34" charset="-120"/>
                        </a:rPr>
                        <a:t>ROC-AUC</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r>
              <a:tr h="411480">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Tuned Decision Tree</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0.7552</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0.7549</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0.8626</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411480">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Tuned Logistic Regression</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0.6767</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0.6600</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50" dirty="0">
                          <a:solidFill>
                            <a:srgbClr val="2B2A26"/>
                          </a:solidFill>
                          <a:latin typeface="Calibri" pitchFamily="34" charset="0"/>
                          <a:ea typeface="Calibri" pitchFamily="34" charset="-122"/>
                          <a:cs typeface="Calibri" pitchFamily="34" charset="-120"/>
                        </a:rPr>
                        <a:t>0.7833</a:t>
                      </a:r>
                      <a:endParaRPr lang="en-US" sz="105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bl>
          </a:graphicData>
        </a:graphic>
      </p:graphicFrame>
      <p:sp>
        <p:nvSpPr>
          <p:cNvPr id="12" name="Shape 8"/>
          <p:cNvSpPr/>
          <p:nvPr/>
        </p:nvSpPr>
        <p:spPr>
          <a:xfrm>
            <a:off x="6217920" y="3063240"/>
            <a:ext cx="5394960" cy="1783080"/>
          </a:xfrm>
          <a:prstGeom prst="roundRect">
            <a:avLst>
              <a:gd name="adj" fmla="val 4103"/>
            </a:avLst>
          </a:prstGeom>
          <a:solidFill>
            <a:srgbClr val="EAE3D6"/>
          </a:solidFill>
          <a:ln w="12700">
            <a:solidFill>
              <a:srgbClr val="EAE3D6"/>
            </a:solidFill>
            <a:prstDash val="solid"/>
          </a:ln>
        </p:spPr>
      </p:sp>
      <p:sp>
        <p:nvSpPr>
          <p:cNvPr id="13" name="Text 9"/>
          <p:cNvSpPr txBox="1"/>
          <p:nvPr/>
        </p:nvSpPr>
        <p:spPr>
          <a:xfrm>
            <a:off x="6446520" y="3227832"/>
            <a:ext cx="493776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What tuning achieved</a:t>
            </a:r>
            <a:endParaRPr lang="en-US" sz="1400" dirty="0"/>
          </a:p>
        </p:txBody>
      </p:sp>
      <p:sp>
        <p:nvSpPr>
          <p:cNvPr id="14" name="Text 10"/>
          <p:cNvSpPr txBox="1"/>
          <p:nvPr/>
        </p:nvSpPr>
        <p:spPr>
          <a:xfrm>
            <a:off x="6446520" y="3575304"/>
            <a:ext cx="4937760" cy="1097280"/>
          </a:xfrm>
          <a:prstGeom prst="rect">
            <a:avLst/>
          </a:prstGeom>
          <a:noFill/>
          <a:ln/>
        </p:spPr>
        <p:txBody>
          <a:bodyPr wrap="square" lIns="0" tIns="0" rIns="0" bIns="0" rtlCol="0" anchor="t"/>
          <a:lstStyle/>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The Decision Tree improved from 0.7185 to 0.7549 weighted F1 — limiting depth to 10 stopped it memorising the training rows, and its ROC-AUC jumped from 0.7455 to 0.8626, the best in the study.</a:t>
            </a:r>
            <a:endParaRPr lang="en-US" sz="1100" dirty="0"/>
          </a:p>
          <a:p>
            <a:pPr indent="0" marL="0">
              <a:lnSpc>
                <a:spcPts val="1500"/>
              </a:lnSpc>
              <a:buNone/>
            </a:pPr>
            <a:endParaRPr lang="en-US" sz="1100" dirty="0"/>
          </a:p>
          <a:p>
            <a:pPr indent="0" marL="0">
              <a:lnSpc>
                <a:spcPts val="1500"/>
              </a:lnSpc>
              <a:buNone/>
            </a:pPr>
            <a:r>
              <a:rPr lang="en-US" sz="1100" dirty="0">
                <a:solidFill>
                  <a:srgbClr val="6E6658"/>
                </a:solidFill>
                <a:latin typeface="Calibri" pitchFamily="34" charset="0"/>
                <a:ea typeface="Calibri" pitchFamily="34" charset="-122"/>
                <a:cs typeface="Calibri" pitchFamily="34" charset="-120"/>
              </a:rPr>
              <a:t>Logistic Regression did not move: C = 1.0 was already the default, so the grid simply confirmed the baseline.</a:t>
            </a:r>
            <a:endParaRPr lang="en-US" sz="1100" dirty="0"/>
          </a:p>
        </p:txBody>
      </p:sp>
      <p:graphicFrame>
        <p:nvGraphicFramePr>
          <p:cNvPr id="157" name="Table 2"/>
          <p:cNvGraphicFramePr>
            <a:graphicFrameLocks noGrp="1"/>
          </p:cNvGraphicFramePr>
          <p:nvPr>
            <p:extLst>
              <p:ext uri="{D42A27DB-BD31-4B8C-83A1-F6EECF244321}">
                <p14:modId xmlns:p14="http://schemas.microsoft.com/office/powerpoint/2010/main" val="1579011935"/>
              </p:ext>
            </p:extLst>
          </p:nvPr>
        </p:nvGraphicFramePr>
        <p:xfrm>
          <a:off x="6217920" y="4983480"/>
          <a:ext cx="5394960" cy="914400"/>
        </p:xfrm>
        <a:graphic>
          <a:graphicData uri="http://schemas.openxmlformats.org/drawingml/2006/table">
            <a:tbl>
              <a:tblPr/>
              <a:tblGrid>
                <a:gridCol w="2103120"/>
                <a:gridCol w="1188720"/>
                <a:gridCol w="1280160"/>
                <a:gridCol w="822960"/>
              </a:tblGrid>
              <a:tr h="384048">
                <a:tc>
                  <a:txBody>
                    <a:bodyPr/>
                    <a:lstStyle/>
                    <a:p>
                      <a:pPr indent="0" marL="0">
                        <a:buNone/>
                      </a:pPr>
                      <a:r>
                        <a:rPr lang="en-US" sz="1000" b="1" dirty="0">
                          <a:solidFill>
                            <a:srgbClr val="F6F2EA"/>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00" b="1" dirty="0">
                          <a:solidFill>
                            <a:srgbClr val="F6F2EA"/>
                          </a:solidFill>
                          <a:latin typeface="Calibri" pitchFamily="34" charset="0"/>
                          <a:ea typeface="Calibri" pitchFamily="34" charset="-122"/>
                          <a:cs typeface="Calibri" pitchFamily="34" charset="-120"/>
                        </a:rPr>
                        <a:t>GridSearch F1</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00" b="1" dirty="0">
                          <a:solidFill>
                            <a:srgbClr val="F6F2EA"/>
                          </a:solidFill>
                          <a:latin typeface="Calibri" pitchFamily="34" charset="0"/>
                          <a:ea typeface="Calibri" pitchFamily="34" charset="-122"/>
                          <a:cs typeface="Calibri" pitchFamily="34" charset="-120"/>
                        </a:rPr>
                        <a:t>Mean 5-fold F1</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c>
                  <a:txBody>
                    <a:bodyPr/>
                    <a:lstStyle/>
                    <a:p>
                      <a:pPr indent="0" marL="0">
                        <a:buNone/>
                      </a:pPr>
                      <a:r>
                        <a:rPr lang="en-US" sz="1000" b="1" dirty="0">
                          <a:solidFill>
                            <a:srgbClr val="F6F2EA"/>
                          </a:solidFill>
                          <a:latin typeface="Calibri" pitchFamily="34" charset="0"/>
                          <a:ea typeface="Calibri" pitchFamily="34" charset="-122"/>
                          <a:cs typeface="Calibri" pitchFamily="34" charset="-120"/>
                        </a:rPr>
                        <a:t>Std</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2E322C"/>
                    </a:solidFill>
                  </a:tcPr>
                </a:tc>
              </a:tr>
              <a:tr h="384048">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Tuned Decision Tree</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0.7438</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0.7495</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0.0047</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EAE3D6"/>
                    </a:solidFill>
                  </a:tcPr>
                </a:tc>
              </a:tr>
              <a:tr h="384048">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Tuned Logistic Regression</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0.6638</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0.6639</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c>
                  <a:txBody>
                    <a:bodyPr/>
                    <a:lstStyle/>
                    <a:p>
                      <a:pPr indent="0" marL="0">
                        <a:buNone/>
                      </a:pPr>
                      <a:r>
                        <a:rPr lang="en-US" sz="1000" dirty="0">
                          <a:solidFill>
                            <a:srgbClr val="2B2A26"/>
                          </a:solidFill>
                          <a:latin typeface="Calibri" pitchFamily="34" charset="0"/>
                          <a:ea typeface="Calibri" pitchFamily="34" charset="-122"/>
                          <a:cs typeface="Calibri" pitchFamily="34" charset="-120"/>
                        </a:rPr>
                        <a:t>0.0045</a:t>
                      </a:r>
                      <a:endParaRPr lang="en-US" sz="1000" dirty="0">
                        <a:latin typeface="Calibri" charset="0"/>
                        <a:ea typeface="Calibri" charset="0"/>
                        <a:cs typeface="Calibri" charset="0"/>
                      </a:endParaRPr>
                    </a:p>
                  </a:txBody>
                  <a:tcPr marL="54864" marR="54864" marT="54864" marB="54864" anchor="ctr">
                    <a:lnL w="12700" cap="flat" cmpd="sng" algn="ctr">
                      <a:solidFill>
                        <a:srgbClr val="F6F2EA"/>
                      </a:solidFill>
                      <a:prstDash val="solid"/>
                      <a:round/>
                      <a:headEnd type="none" w="med" len="med"/>
                      <a:tailEnd type="none" w="med" len="med"/>
                    </a:lnL>
                    <a:lnR w="12700" cap="flat" cmpd="sng" algn="ctr">
                      <a:solidFill>
                        <a:srgbClr val="F6F2EA"/>
                      </a:solidFill>
                      <a:prstDash val="solid"/>
                      <a:round/>
                      <a:headEnd type="none" w="med" len="med"/>
                      <a:tailEnd type="none" w="med" len="med"/>
                    </a:lnR>
                    <a:lnT w="12700" cap="flat" cmpd="sng" algn="ctr">
                      <a:solidFill>
                        <a:srgbClr val="F6F2EA"/>
                      </a:solidFill>
                      <a:prstDash val="solid"/>
                      <a:round/>
                      <a:headEnd type="none" w="med" len="med"/>
                      <a:tailEnd type="none" w="med" len="med"/>
                    </a:lnT>
                    <a:lnB w="12700" cap="flat" cmpd="sng" algn="ctr">
                      <a:solidFill>
                        <a:srgbClr val="F6F2EA"/>
                      </a:solidFill>
                      <a:prstDash val="solid"/>
                      <a:round/>
                      <a:headEnd type="none" w="med" len="med"/>
                      <a:tailEnd type="none" w="med" len="med"/>
                    </a:lnB>
                    <a:solidFill>
                      <a:srgbClr val="FFFFFF"/>
                    </a:solidFill>
                  </a:tcPr>
                </a:tc>
              </a:tr>
            </a:tbl>
          </a:graphicData>
        </a:graphic>
      </p:graphicFrame>
      <p:sp>
        <p:nvSpPr>
          <p:cNvPr id="16" name="Text 11"/>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52</a:t>
            </a:r>
            <a:endParaRPr lang="en-US" sz="900" dirty="0"/>
          </a:p>
        </p:txBody>
      </p:sp>
      <p:sp>
        <p:nvSpPr>
          <p:cNvPr id="17" name="Text 12"/>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B · Tuning</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B · RESULTS</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Final model selection</a:t>
            </a:r>
            <a:endParaRPr lang="en-US" sz="2800" dirty="0"/>
          </a:p>
        </p:txBody>
      </p:sp>
      <p:graphicFrame>
        <p:nvGraphicFramePr>
          <p:cNvPr id="4" name="Chart 0" descr=""/>
          <p:cNvGraphicFramePr/>
          <p:nvPr/>
        </p:nvGraphicFramePr>
        <p:xfrm>
          <a:off x="548640" y="1371600"/>
          <a:ext cx="676656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89520" y="1371600"/>
            <a:ext cx="4023360" cy="2286000"/>
          </a:xfrm>
          <a:prstGeom prst="roundRect">
            <a:avLst>
              <a:gd name="adj" fmla="val 3200"/>
            </a:avLst>
          </a:prstGeom>
          <a:solidFill>
            <a:srgbClr val="EAE3D6"/>
          </a:solidFill>
          <a:ln w="12700">
            <a:solidFill>
              <a:srgbClr val="EAE3D6"/>
            </a:solidFill>
            <a:prstDash val="solid"/>
          </a:ln>
        </p:spPr>
      </p:sp>
      <p:sp>
        <p:nvSpPr>
          <p:cNvPr id="6" name="Text 3"/>
          <p:cNvSpPr txBox="1"/>
          <p:nvPr/>
        </p:nvSpPr>
        <p:spPr>
          <a:xfrm>
            <a:off x="7818120" y="1536192"/>
            <a:ext cx="356616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How the winner was chosen</a:t>
            </a:r>
            <a:endParaRPr lang="en-US" sz="1400" dirty="0"/>
          </a:p>
        </p:txBody>
      </p:sp>
      <p:sp>
        <p:nvSpPr>
          <p:cNvPr id="7" name="Text 4"/>
          <p:cNvSpPr txBox="1"/>
          <p:nvPr/>
        </p:nvSpPr>
        <p:spPr>
          <a:xfrm>
            <a:off x="7818120" y="1883664"/>
            <a:ext cx="3566160" cy="1600200"/>
          </a:xfrm>
          <a:prstGeom prst="rect">
            <a:avLst/>
          </a:prstGeom>
          <a:noFill/>
          <a:ln/>
        </p:spPr>
        <p:txBody>
          <a:bodyPr wrap="square" lIns="0" tIns="0" rIns="0" bIns="0" rtlCol="0" anchor="t"/>
          <a:lstStyle/>
          <a:p>
            <a:pPr indent="0" marL="0">
              <a:lnSpc>
                <a:spcPts val="1500"/>
              </a:lnSpc>
              <a:buNone/>
            </a:pPr>
            <a:r>
              <a:rPr lang="en-US" sz="1050" dirty="0">
                <a:solidFill>
                  <a:srgbClr val="6E6658"/>
                </a:solidFill>
                <a:latin typeface="Calibri" pitchFamily="34" charset="0"/>
                <a:ea typeface="Calibri" pitchFamily="34" charset="-122"/>
                <a:cs typeface="Calibri" pitchFamily="34" charset="-120"/>
              </a:rPr>
              <a:t>Selection uses the mean 5-fold weighted F1 measured on the training data, not the test score. This keeps the test set untouched during decision-making, so its numbers remain an honest final evaluation rather than a figure the model was chosen to maximise.</a:t>
            </a:r>
            <a:endParaRPr lang="en-US" sz="1050" dirty="0"/>
          </a:p>
          <a:p>
            <a:pPr indent="0" marL="0">
              <a:lnSpc>
                <a:spcPts val="1500"/>
              </a:lnSpc>
              <a:buNone/>
            </a:pPr>
            <a:endParaRPr lang="en-US" sz="1050" dirty="0"/>
          </a:p>
          <a:p>
            <a:pPr indent="0" marL="0">
              <a:lnSpc>
                <a:spcPts val="1500"/>
              </a:lnSpc>
              <a:buNone/>
            </a:pPr>
            <a:r>
              <a:rPr lang="en-US" sz="1050" dirty="0">
                <a:solidFill>
                  <a:srgbClr val="6E6658"/>
                </a:solidFill>
                <a:latin typeface="Calibri" pitchFamily="34" charset="0"/>
                <a:ea typeface="Calibri" pitchFamily="34" charset="-122"/>
                <a:cs typeface="Calibri" pitchFamily="34" charset="-120"/>
              </a:rPr>
              <a:t>On that basis the Tuned Decision Tree wins with 0.7495 mean CV F1 against 0.6639 for Tuned Logistic Regression.</a:t>
            </a:r>
            <a:endParaRPr lang="en-US" sz="1050" dirty="0"/>
          </a:p>
        </p:txBody>
      </p:sp>
      <p:sp>
        <p:nvSpPr>
          <p:cNvPr id="8" name="Text 5"/>
          <p:cNvSpPr txBox="1"/>
          <p:nvPr/>
        </p:nvSpPr>
        <p:spPr>
          <a:xfrm>
            <a:off x="7726680" y="3931920"/>
            <a:ext cx="1828800" cy="685800"/>
          </a:xfrm>
          <a:prstGeom prst="rect">
            <a:avLst/>
          </a:prstGeom>
          <a:noFill/>
          <a:ln/>
        </p:spPr>
        <p:txBody>
          <a:bodyPr wrap="square" lIns="0" tIns="0" rIns="0" bIns="0" rtlCol="0" anchor="ctr"/>
          <a:lstStyle/>
          <a:p>
            <a:pPr indent="0" marL="0">
              <a:buNone/>
            </a:pPr>
            <a:r>
              <a:rPr lang="en-US" sz="3600" b="1" dirty="0">
                <a:solidFill>
                  <a:srgbClr val="A4613C"/>
                </a:solidFill>
                <a:latin typeface="Cambria" pitchFamily="34" charset="0"/>
                <a:ea typeface="Cambria" pitchFamily="34" charset="-122"/>
                <a:cs typeface="Cambria" pitchFamily="34" charset="-120"/>
              </a:rPr>
              <a:t>0.7552</a:t>
            </a:r>
            <a:endParaRPr lang="en-US" sz="3600" dirty="0"/>
          </a:p>
        </p:txBody>
      </p:sp>
      <p:sp>
        <p:nvSpPr>
          <p:cNvPr id="9" name="Text 6"/>
          <p:cNvSpPr txBox="1"/>
          <p:nvPr/>
        </p:nvSpPr>
        <p:spPr>
          <a:xfrm>
            <a:off x="7726680" y="4590288"/>
            <a:ext cx="1828800" cy="457200"/>
          </a:xfrm>
          <a:prstGeom prst="rect">
            <a:avLst/>
          </a:prstGeom>
          <a:noFill/>
          <a:ln/>
        </p:spPr>
        <p:txBody>
          <a:bodyPr wrap="square" lIns="0" tIns="0" rIns="0" bIns="0" rtlCol="0" anchor="ctr"/>
          <a:lstStyle/>
          <a:p>
            <a:pPr indent="0" marL="0">
              <a:lnSpc>
                <a:spcPts val="1300"/>
              </a:lnSpc>
              <a:buNone/>
            </a:pPr>
            <a:r>
              <a:rPr lang="en-US" sz="1050" dirty="0">
                <a:solidFill>
                  <a:srgbClr val="6E6658"/>
                </a:solidFill>
                <a:latin typeface="Calibri" pitchFamily="34" charset="0"/>
                <a:ea typeface="Calibri" pitchFamily="34" charset="-122"/>
                <a:cs typeface="Calibri" pitchFamily="34" charset="-120"/>
              </a:rPr>
              <a:t>final test accuracy</a:t>
            </a:r>
            <a:endParaRPr lang="en-US" sz="1050" dirty="0"/>
          </a:p>
        </p:txBody>
      </p:sp>
      <p:sp>
        <p:nvSpPr>
          <p:cNvPr id="10" name="Text 7"/>
          <p:cNvSpPr txBox="1"/>
          <p:nvPr/>
        </p:nvSpPr>
        <p:spPr>
          <a:xfrm>
            <a:off x="9692640" y="3931920"/>
            <a:ext cx="1828800" cy="685800"/>
          </a:xfrm>
          <a:prstGeom prst="rect">
            <a:avLst/>
          </a:prstGeom>
          <a:noFill/>
          <a:ln/>
        </p:spPr>
        <p:txBody>
          <a:bodyPr wrap="square" lIns="0" tIns="0" rIns="0" bIns="0" rtlCol="0" anchor="ctr"/>
          <a:lstStyle/>
          <a:p>
            <a:pPr indent="0" marL="0">
              <a:buNone/>
            </a:pPr>
            <a:r>
              <a:rPr lang="en-US" sz="3600" b="1" dirty="0">
                <a:solidFill>
                  <a:srgbClr val="A4613C"/>
                </a:solidFill>
                <a:latin typeface="Cambria" pitchFamily="34" charset="0"/>
                <a:ea typeface="Cambria" pitchFamily="34" charset="-122"/>
                <a:cs typeface="Cambria" pitchFamily="34" charset="-120"/>
              </a:rPr>
              <a:t>0.7549</a:t>
            </a:r>
            <a:endParaRPr lang="en-US" sz="3600" dirty="0"/>
          </a:p>
        </p:txBody>
      </p:sp>
      <p:sp>
        <p:nvSpPr>
          <p:cNvPr id="11" name="Text 8"/>
          <p:cNvSpPr txBox="1"/>
          <p:nvPr/>
        </p:nvSpPr>
        <p:spPr>
          <a:xfrm>
            <a:off x="9692640" y="4590288"/>
            <a:ext cx="1828800" cy="457200"/>
          </a:xfrm>
          <a:prstGeom prst="rect">
            <a:avLst/>
          </a:prstGeom>
          <a:noFill/>
          <a:ln/>
        </p:spPr>
        <p:txBody>
          <a:bodyPr wrap="square" lIns="0" tIns="0" rIns="0" bIns="0" rtlCol="0" anchor="ctr"/>
          <a:lstStyle/>
          <a:p>
            <a:pPr indent="0" marL="0">
              <a:lnSpc>
                <a:spcPts val="1300"/>
              </a:lnSpc>
              <a:buNone/>
            </a:pPr>
            <a:r>
              <a:rPr lang="en-US" sz="1050" dirty="0">
                <a:solidFill>
                  <a:srgbClr val="6E6658"/>
                </a:solidFill>
                <a:latin typeface="Calibri" pitchFamily="34" charset="0"/>
                <a:ea typeface="Calibri" pitchFamily="34" charset="-122"/>
                <a:cs typeface="Calibri" pitchFamily="34" charset="-120"/>
              </a:rPr>
              <a:t>final test weighted F1</a:t>
            </a:r>
            <a:endParaRPr lang="en-US" sz="1050" dirty="0"/>
          </a:p>
        </p:txBody>
      </p:sp>
      <p:sp>
        <p:nvSpPr>
          <p:cNvPr id="12" name="Shape 9"/>
          <p:cNvSpPr/>
          <p:nvPr/>
        </p:nvSpPr>
        <p:spPr>
          <a:xfrm>
            <a:off x="548640" y="5394960"/>
            <a:ext cx="6766560" cy="868680"/>
          </a:xfrm>
          <a:prstGeom prst="roundRect">
            <a:avLst>
              <a:gd name="adj" fmla="val 8421"/>
            </a:avLst>
          </a:prstGeom>
          <a:solidFill>
            <a:srgbClr val="E3DFD2"/>
          </a:solidFill>
          <a:ln w="12700">
            <a:solidFill>
              <a:srgbClr val="E3DFD2"/>
            </a:solidFill>
            <a:prstDash val="solid"/>
          </a:ln>
        </p:spPr>
      </p:sp>
      <p:sp>
        <p:nvSpPr>
          <p:cNvPr id="13" name="Text 10"/>
          <p:cNvSpPr txBox="1"/>
          <p:nvPr/>
        </p:nvSpPr>
        <p:spPr>
          <a:xfrm>
            <a:off x="777240" y="5559552"/>
            <a:ext cx="630936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Reading the chart</a:t>
            </a:r>
            <a:endParaRPr lang="en-US" sz="1400" dirty="0"/>
          </a:p>
        </p:txBody>
      </p:sp>
      <p:sp>
        <p:nvSpPr>
          <p:cNvPr id="14" name="Text 11"/>
          <p:cNvSpPr txBox="1"/>
          <p:nvPr/>
        </p:nvSpPr>
        <p:spPr>
          <a:xfrm>
            <a:off x="777240" y="5907024"/>
            <a:ext cx="6309360" cy="182880"/>
          </a:xfrm>
          <a:prstGeom prst="rect">
            <a:avLst/>
          </a:prstGeom>
          <a:noFill/>
          <a:ln/>
        </p:spPr>
        <p:txBody>
          <a:bodyPr wrap="square" lIns="0" tIns="0" rIns="0" bIns="0" rtlCol="0" anchor="t"/>
          <a:lstStyle/>
          <a:p>
            <a:pPr indent="0" marL="0">
              <a:lnSpc>
                <a:spcPts val="1500"/>
              </a:lnSpc>
              <a:buNone/>
            </a:pPr>
            <a:r>
              <a:rPr lang="en-US" sz="1050" dirty="0">
                <a:solidFill>
                  <a:srgbClr val="6E6658"/>
                </a:solidFill>
                <a:latin typeface="Calibri" pitchFamily="34" charset="0"/>
                <a:ea typeface="Calibri" pitchFamily="34" charset="-122"/>
                <a:cs typeface="Calibri" pitchFamily="34" charset="-120"/>
              </a:rPr>
              <a:t>Only 0.0066 F1 separates the tuned Decision Tree from untuned KNN — a tuned KNN would be the obvious next experiment.</a:t>
            </a:r>
            <a:endParaRPr lang="en-US" sz="1050" dirty="0"/>
          </a:p>
        </p:txBody>
      </p:sp>
      <p:sp>
        <p:nvSpPr>
          <p:cNvPr id="15" name="Shape 12"/>
          <p:cNvSpPr/>
          <p:nvPr/>
        </p:nvSpPr>
        <p:spPr>
          <a:xfrm>
            <a:off x="7589520" y="5029200"/>
            <a:ext cx="4023360" cy="1188720"/>
          </a:xfrm>
          <a:prstGeom prst="roundRect">
            <a:avLst>
              <a:gd name="adj" fmla="val 6154"/>
            </a:avLst>
          </a:prstGeom>
          <a:solidFill>
            <a:srgbClr val="E3DFD2"/>
          </a:solidFill>
          <a:ln w="12700">
            <a:solidFill>
              <a:srgbClr val="E3DFD2"/>
            </a:solidFill>
            <a:prstDash val="solid"/>
          </a:ln>
        </p:spPr>
      </p:sp>
      <p:sp>
        <p:nvSpPr>
          <p:cNvPr id="16" name="Text 13"/>
          <p:cNvSpPr txBox="1"/>
          <p:nvPr/>
        </p:nvSpPr>
        <p:spPr>
          <a:xfrm>
            <a:off x="7818120" y="5193792"/>
            <a:ext cx="356616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Saved artefacts</a:t>
            </a:r>
            <a:endParaRPr lang="en-US" sz="1400" dirty="0"/>
          </a:p>
        </p:txBody>
      </p:sp>
      <p:sp>
        <p:nvSpPr>
          <p:cNvPr id="17" name="Text 14"/>
          <p:cNvSpPr txBox="1"/>
          <p:nvPr/>
        </p:nvSpPr>
        <p:spPr>
          <a:xfrm>
            <a:off x="7818120" y="5541264"/>
            <a:ext cx="3566160" cy="502920"/>
          </a:xfrm>
          <a:prstGeom prst="rect">
            <a:avLst/>
          </a:prstGeom>
          <a:noFill/>
          <a:ln/>
        </p:spPr>
        <p:txBody>
          <a:bodyPr wrap="square" lIns="0" tIns="0" rIns="0" bIns="0" rtlCol="0" anchor="t"/>
          <a:lstStyle/>
          <a:p>
            <a:pPr indent="0" marL="0">
              <a:lnSpc>
                <a:spcPts val="1500"/>
              </a:lnSpc>
              <a:buNone/>
            </a:pPr>
            <a:r>
              <a:rPr lang="en-US" sz="1050" dirty="0">
                <a:solidFill>
                  <a:srgbClr val="6E6658"/>
                </a:solidFill>
                <a:latin typeface="Calibri" pitchFamily="34" charset="0"/>
                <a:ea typeface="Calibri" pitchFamily="34" charset="-122"/>
                <a:cs typeface="Calibri" pitchFamily="34" charset="-120"/>
              </a:rPr>
              <a:t>final_classification_model.pkl, target_label_encoder.pkl and three CSV result tables are written with joblib so the model can be reused without retraining.</a:t>
            </a:r>
            <a:endParaRPr lang="en-US" sz="1050" dirty="0"/>
          </a:p>
        </p:txBody>
      </p:sp>
      <p:sp>
        <p:nvSpPr>
          <p:cNvPr id="18" name="Text 15"/>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53</a:t>
            </a:r>
            <a:endParaRPr lang="en-US" sz="900" dirty="0"/>
          </a:p>
        </p:txBody>
      </p:sp>
      <p:sp>
        <p:nvSpPr>
          <p:cNvPr id="19" name="Text 16"/>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B · Results</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B · RESULTS</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Decision Tree interpretation</a:t>
            </a:r>
            <a:endParaRPr lang="en-US" sz="2800" dirty="0"/>
          </a:p>
        </p:txBody>
      </p:sp>
      <p:pic>
        <p:nvPicPr>
          <p:cNvPr id="4" name="Image 0" descr="/home/claude/work/img/CLS_56_0.png">    </p:cNvPr>
          <p:cNvPicPr>
            <a:picLocks noChangeAspect="1"/>
          </p:cNvPicPr>
          <p:nvPr/>
        </p:nvPicPr>
        <p:blipFill>
          <a:blip r:embed="rId1"/>
          <a:stretch>
            <a:fillRect/>
          </a:stretch>
        </p:blipFill>
        <p:spPr>
          <a:xfrm>
            <a:off x="548640" y="1371600"/>
            <a:ext cx="5120640" cy="3383280"/>
          </a:xfrm>
          <a:prstGeom prst="rect">
            <a:avLst/>
          </a:prstGeom>
        </p:spPr>
      </p:pic>
      <p:sp>
        <p:nvSpPr>
          <p:cNvPr id="5" name="Text 2"/>
          <p:cNvSpPr txBox="1"/>
          <p:nvPr/>
        </p:nvSpPr>
        <p:spPr>
          <a:xfrm>
            <a:off x="548640" y="4809744"/>
            <a:ext cx="5120640" cy="274320"/>
          </a:xfrm>
          <a:prstGeom prst="rect">
            <a:avLst/>
          </a:prstGeom>
          <a:noFill/>
          <a:ln/>
        </p:spPr>
        <p:txBody>
          <a:bodyPr wrap="square" lIns="0" tIns="0" rIns="0" bIns="0" rtlCol="0" anchor="ctr"/>
          <a:lstStyle/>
          <a:p>
            <a:pPr algn="ctr" indent="0" marL="0">
              <a:buNone/>
            </a:pPr>
            <a:r>
              <a:rPr lang="en-US" sz="950" i="1" dirty="0">
                <a:solidFill>
                  <a:srgbClr val="6E6658"/>
                </a:solidFill>
                <a:latin typeface="Calibri" pitchFamily="34" charset="0"/>
                <a:ea typeface="Calibri" pitchFamily="34" charset="-122"/>
                <a:cs typeface="Calibri" pitchFamily="34" charset="-120"/>
              </a:rPr>
              <a:t>Top 15 feature importances</a:t>
            </a:r>
            <a:endParaRPr lang="en-US" sz="950" dirty="0"/>
          </a:p>
        </p:txBody>
      </p:sp>
      <p:pic>
        <p:nvPicPr>
          <p:cNvPr id="6" name="Image 1" descr="/home/claude/work/img/CLS_56_1.png">    </p:cNvPr>
          <p:cNvPicPr>
            <a:picLocks noChangeAspect="1"/>
          </p:cNvPicPr>
          <p:nvPr/>
        </p:nvPicPr>
        <p:blipFill>
          <a:blip r:embed="rId2"/>
          <a:stretch>
            <a:fillRect/>
          </a:stretch>
        </p:blipFill>
        <p:spPr>
          <a:xfrm>
            <a:off x="5943600" y="1371600"/>
            <a:ext cx="5669280" cy="2834640"/>
          </a:xfrm>
          <a:prstGeom prst="rect">
            <a:avLst/>
          </a:prstGeom>
        </p:spPr>
      </p:pic>
      <p:sp>
        <p:nvSpPr>
          <p:cNvPr id="7" name="Text 3"/>
          <p:cNvSpPr txBox="1"/>
          <p:nvPr/>
        </p:nvSpPr>
        <p:spPr>
          <a:xfrm>
            <a:off x="5943600" y="4261104"/>
            <a:ext cx="5669280" cy="274320"/>
          </a:xfrm>
          <a:prstGeom prst="rect">
            <a:avLst/>
          </a:prstGeom>
          <a:noFill/>
          <a:ln/>
        </p:spPr>
        <p:txBody>
          <a:bodyPr wrap="square" lIns="0" tIns="0" rIns="0" bIns="0" rtlCol="0" anchor="ctr"/>
          <a:lstStyle/>
          <a:p>
            <a:pPr algn="ctr" indent="0" marL="0">
              <a:buNone/>
            </a:pPr>
            <a:r>
              <a:rPr lang="en-US" sz="950" i="1" dirty="0">
                <a:solidFill>
                  <a:srgbClr val="6E6658"/>
                </a:solidFill>
                <a:latin typeface="Calibri" pitchFamily="34" charset="0"/>
                <a:ea typeface="Calibri" pitchFamily="34" charset="-122"/>
                <a:cs typeface="Calibri" pitchFamily="34" charset="-120"/>
              </a:rPr>
              <a:t>Top levels of the fitted tree</a:t>
            </a:r>
            <a:endParaRPr lang="en-US" sz="950" dirty="0"/>
          </a:p>
        </p:txBody>
      </p:sp>
      <p:sp>
        <p:nvSpPr>
          <p:cNvPr id="8" name="Shape 4"/>
          <p:cNvSpPr/>
          <p:nvPr/>
        </p:nvSpPr>
        <p:spPr>
          <a:xfrm>
            <a:off x="548640" y="5029200"/>
            <a:ext cx="5120640" cy="1234440"/>
          </a:xfrm>
          <a:prstGeom prst="roundRect">
            <a:avLst>
              <a:gd name="adj" fmla="val 5926"/>
            </a:avLst>
          </a:prstGeom>
          <a:solidFill>
            <a:srgbClr val="EAE3D6"/>
          </a:solidFill>
          <a:ln w="12700">
            <a:solidFill>
              <a:srgbClr val="EAE3D6"/>
            </a:solidFill>
            <a:prstDash val="solid"/>
          </a:ln>
        </p:spPr>
      </p:sp>
      <p:sp>
        <p:nvSpPr>
          <p:cNvPr id="9" name="Text 5"/>
          <p:cNvSpPr txBox="1"/>
          <p:nvPr/>
        </p:nvSpPr>
        <p:spPr>
          <a:xfrm>
            <a:off x="777240" y="5193792"/>
            <a:ext cx="466344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Why importance matters here</a:t>
            </a:r>
            <a:endParaRPr lang="en-US" sz="1400" dirty="0"/>
          </a:p>
        </p:txBody>
      </p:sp>
      <p:sp>
        <p:nvSpPr>
          <p:cNvPr id="10" name="Text 6"/>
          <p:cNvSpPr txBox="1"/>
          <p:nvPr/>
        </p:nvSpPr>
        <p:spPr>
          <a:xfrm>
            <a:off x="777240" y="5541264"/>
            <a:ext cx="4663440" cy="548640"/>
          </a:xfrm>
          <a:prstGeom prst="rect">
            <a:avLst/>
          </a:prstGeom>
          <a:noFill/>
          <a:ln/>
        </p:spPr>
        <p:txBody>
          <a:bodyPr wrap="square" lIns="0" tIns="0" rIns="0" bIns="0" rtlCol="0" anchor="t"/>
          <a:lstStyle/>
          <a:p>
            <a:pPr indent="0" marL="0">
              <a:lnSpc>
                <a:spcPts val="1500"/>
              </a:lnSpc>
              <a:buNone/>
            </a:pPr>
            <a:r>
              <a:rPr lang="en-US" sz="1050" dirty="0">
                <a:solidFill>
                  <a:srgbClr val="6E6658"/>
                </a:solidFill>
                <a:latin typeface="Calibri" pitchFamily="34" charset="0"/>
                <a:ea typeface="Calibri" pitchFamily="34" charset="-122"/>
                <a:cs typeface="Calibri" pitchFamily="34" charset="-120"/>
              </a:rPr>
              <a:t>Importance measures how much each measurement reduced impurity across all the splits it was used in. It turns the model into an argument about water chemistry rather than a black box.</a:t>
            </a:r>
            <a:endParaRPr lang="en-US" sz="1050" dirty="0"/>
          </a:p>
        </p:txBody>
      </p:sp>
      <p:sp>
        <p:nvSpPr>
          <p:cNvPr id="11" name="Shape 7"/>
          <p:cNvSpPr/>
          <p:nvPr/>
        </p:nvSpPr>
        <p:spPr>
          <a:xfrm>
            <a:off x="5943600" y="4434840"/>
            <a:ext cx="5669280" cy="1828800"/>
          </a:xfrm>
          <a:prstGeom prst="roundRect">
            <a:avLst>
              <a:gd name="adj" fmla="val 4000"/>
            </a:avLst>
          </a:prstGeom>
          <a:solidFill>
            <a:srgbClr val="E3DFD2"/>
          </a:solidFill>
          <a:ln w="12700">
            <a:solidFill>
              <a:srgbClr val="E3DFD2"/>
            </a:solidFill>
            <a:prstDash val="solid"/>
          </a:ln>
        </p:spPr>
      </p:sp>
      <p:sp>
        <p:nvSpPr>
          <p:cNvPr id="12" name="Text 8"/>
          <p:cNvSpPr txBox="1"/>
          <p:nvPr/>
        </p:nvSpPr>
        <p:spPr>
          <a:xfrm>
            <a:off x="6172200" y="4599432"/>
            <a:ext cx="521208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What the tree shows</a:t>
            </a:r>
            <a:endParaRPr lang="en-US" sz="1400" dirty="0"/>
          </a:p>
        </p:txBody>
      </p:sp>
      <p:sp>
        <p:nvSpPr>
          <p:cNvPr id="13" name="Text 9"/>
          <p:cNvSpPr txBox="1"/>
          <p:nvPr/>
        </p:nvSpPr>
        <p:spPr>
          <a:xfrm>
            <a:off x="6172200" y="4946904"/>
            <a:ext cx="5212080" cy="1143000"/>
          </a:xfrm>
          <a:prstGeom prst="rect">
            <a:avLst/>
          </a:prstGeom>
          <a:noFill/>
          <a:ln/>
        </p:spPr>
        <p:txBody>
          <a:bodyPr wrap="square" lIns="0" tIns="0" rIns="0" bIns="0" rtlCol="0" anchor="t"/>
          <a:lstStyle/>
          <a:p>
            <a:pPr indent="0" marL="0">
              <a:lnSpc>
                <a:spcPts val="1500"/>
              </a:lnSpc>
              <a:buNone/>
            </a:pPr>
            <a:r>
              <a:rPr lang="en-US" sz="1050" dirty="0">
                <a:solidFill>
                  <a:srgbClr val="6E6658"/>
                </a:solidFill>
                <a:latin typeface="Calibri" pitchFamily="34" charset="0"/>
                <a:ea typeface="Calibri" pitchFamily="34" charset="-122"/>
                <a:cs typeface="Calibri" pitchFamily="34" charset="-120"/>
              </a:rPr>
              <a:t>Each node names the measurement being tested and the threshold applied; branches lead to the class that best fits the samples reaching that point.</a:t>
            </a:r>
            <a:endParaRPr lang="en-US" sz="1050" dirty="0"/>
          </a:p>
          <a:p>
            <a:pPr indent="0" marL="0">
              <a:lnSpc>
                <a:spcPts val="1500"/>
              </a:lnSpc>
              <a:buNone/>
            </a:pPr>
            <a:endParaRPr lang="en-US" sz="1050" dirty="0"/>
          </a:p>
          <a:p>
            <a:pPr indent="0" marL="0">
              <a:lnSpc>
                <a:spcPts val="1500"/>
              </a:lnSpc>
              <a:buNone/>
            </a:pPr>
            <a:r>
              <a:rPr lang="en-US" sz="1050" dirty="0">
                <a:solidFill>
                  <a:srgbClr val="6E6658"/>
                </a:solidFill>
                <a:latin typeface="Calibri" pitchFamily="34" charset="0"/>
                <a:ea typeface="Calibri" pitchFamily="34" charset="-122"/>
                <a:cs typeface="Calibri" pitchFamily="34" charset="-120"/>
              </a:rPr>
              <a:t>With max_depth limited to 10, the tree stays readable at the top levels — an analyst can follow the first few questions and see exactly why a sample was labelled Poor. The near-empty trace-element columns contribute almost nothing, which is what the audit predicted.</a:t>
            </a:r>
            <a:endParaRPr lang="en-US" sz="1050" dirty="0"/>
          </a:p>
        </p:txBody>
      </p:sp>
      <p:sp>
        <p:nvSpPr>
          <p:cNvPr id="14" name="Text 10"/>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54</a:t>
            </a:r>
            <a:endParaRPr lang="en-US" sz="900" dirty="0"/>
          </a:p>
        </p:txBody>
      </p:sp>
      <p:sp>
        <p:nvSpPr>
          <p:cNvPr id="15" name="Text 11"/>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B · Results</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6F2EA"/>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256032"/>
          </a:xfrm>
          <a:prstGeom prst="rect">
            <a:avLst/>
          </a:prstGeom>
          <a:noFill/>
          <a:ln/>
        </p:spPr>
        <p:txBody>
          <a:bodyPr wrap="square" lIns="0" tIns="0" rIns="0" bIns="0" rtlCol="0" anchor="ctr"/>
          <a:lstStyle/>
          <a:p>
            <a:pPr indent="0" marL="0">
              <a:buNone/>
            </a:pPr>
            <a:r>
              <a:rPr lang="en-US" sz="1050" b="1" spc="200" kern="0" dirty="0">
                <a:solidFill>
                  <a:srgbClr val="A4613C"/>
                </a:solidFill>
                <a:latin typeface="Calibri" pitchFamily="34" charset="0"/>
                <a:ea typeface="Calibri" pitchFamily="34" charset="-122"/>
                <a:cs typeface="Calibri" pitchFamily="34" charset="-120"/>
              </a:rPr>
              <a:t>PART B · CONCLUSION</a:t>
            </a:r>
            <a:endParaRPr lang="en-US" sz="1050" dirty="0"/>
          </a:p>
        </p:txBody>
      </p:sp>
      <p:sp>
        <p:nvSpPr>
          <p:cNvPr id="3" name="Text 1"/>
          <p:cNvSpPr txBox="1"/>
          <p:nvPr/>
        </p:nvSpPr>
        <p:spPr>
          <a:xfrm>
            <a:off x="548640" y="640080"/>
            <a:ext cx="11064240" cy="685800"/>
          </a:xfrm>
          <a:prstGeom prst="rect">
            <a:avLst/>
          </a:prstGeom>
          <a:noFill/>
          <a:ln/>
        </p:spPr>
        <p:txBody>
          <a:bodyPr wrap="square" lIns="0" tIns="0" rIns="0" bIns="0" rtlCol="0" anchor="t"/>
          <a:lstStyle/>
          <a:p>
            <a:pPr indent="0" marL="0">
              <a:buNone/>
            </a:pPr>
            <a:r>
              <a:rPr lang="en-US" sz="2800" b="1" dirty="0">
                <a:solidFill>
                  <a:srgbClr val="2B2A26"/>
                </a:solidFill>
                <a:latin typeface="Cambria" pitchFamily="34" charset="0"/>
                <a:ea typeface="Cambria" pitchFamily="34" charset="-122"/>
                <a:cs typeface="Cambria" pitchFamily="34" charset="-120"/>
              </a:rPr>
              <a:t>Classification — what we learned</a:t>
            </a:r>
            <a:endParaRPr lang="en-US" sz="2800" dirty="0"/>
          </a:p>
        </p:txBody>
      </p:sp>
      <p:sp>
        <p:nvSpPr>
          <p:cNvPr id="4" name="Shape 2"/>
          <p:cNvSpPr/>
          <p:nvPr/>
        </p:nvSpPr>
        <p:spPr>
          <a:xfrm>
            <a:off x="548640" y="1463040"/>
            <a:ext cx="5486400" cy="2103120"/>
          </a:xfrm>
          <a:prstGeom prst="roundRect">
            <a:avLst>
              <a:gd name="adj" fmla="val 3478"/>
            </a:avLst>
          </a:prstGeom>
          <a:solidFill>
            <a:srgbClr val="EAE3D6"/>
          </a:solidFill>
          <a:ln w="12700">
            <a:solidFill>
              <a:srgbClr val="EAE3D6"/>
            </a:solidFill>
            <a:prstDash val="solid"/>
          </a:ln>
        </p:spPr>
      </p:sp>
      <p:sp>
        <p:nvSpPr>
          <p:cNvPr id="5" name="Text 3"/>
          <p:cNvSpPr txBox="1"/>
          <p:nvPr/>
        </p:nvSpPr>
        <p:spPr>
          <a:xfrm>
            <a:off x="777240" y="1627632"/>
            <a:ext cx="50292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Best model</a:t>
            </a:r>
            <a:endParaRPr lang="en-US" sz="1400" dirty="0"/>
          </a:p>
        </p:txBody>
      </p:sp>
      <p:sp>
        <p:nvSpPr>
          <p:cNvPr id="6" name="Text 4"/>
          <p:cNvSpPr txBox="1"/>
          <p:nvPr/>
        </p:nvSpPr>
        <p:spPr>
          <a:xfrm>
            <a:off x="777240" y="1975104"/>
            <a:ext cx="5029200" cy="141732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Tuned Decision Tree — test accuracy 0.7552, weighted F1 0.7549, ROC-AUC 0.8626, selected on a mean 5-fold training F1 of 0.7495 (std 0.0047).</a:t>
            </a:r>
            <a:endParaRPr lang="en-US" sz="1150" dirty="0"/>
          </a:p>
        </p:txBody>
      </p:sp>
      <p:sp>
        <p:nvSpPr>
          <p:cNvPr id="7" name="Shape 5"/>
          <p:cNvSpPr/>
          <p:nvPr/>
        </p:nvSpPr>
        <p:spPr>
          <a:xfrm>
            <a:off x="6217920" y="1463040"/>
            <a:ext cx="5486400" cy="2103120"/>
          </a:xfrm>
          <a:prstGeom prst="roundRect">
            <a:avLst>
              <a:gd name="adj" fmla="val 3478"/>
            </a:avLst>
          </a:prstGeom>
          <a:solidFill>
            <a:srgbClr val="E3DFD2"/>
          </a:solidFill>
          <a:ln w="12700">
            <a:solidFill>
              <a:srgbClr val="E3DFD2"/>
            </a:solidFill>
            <a:prstDash val="solid"/>
          </a:ln>
        </p:spPr>
      </p:sp>
      <p:sp>
        <p:nvSpPr>
          <p:cNvPr id="8" name="Text 6"/>
          <p:cNvSpPr txBox="1"/>
          <p:nvPr/>
        </p:nvSpPr>
        <p:spPr>
          <a:xfrm>
            <a:off x="6446520" y="1627632"/>
            <a:ext cx="50292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Close runner-up</a:t>
            </a:r>
            <a:endParaRPr lang="en-US" sz="1400" dirty="0"/>
          </a:p>
        </p:txBody>
      </p:sp>
      <p:sp>
        <p:nvSpPr>
          <p:cNvPr id="9" name="Text 7"/>
          <p:cNvSpPr txBox="1"/>
          <p:nvPr/>
        </p:nvSpPr>
        <p:spPr>
          <a:xfrm>
            <a:off x="6446520" y="1975104"/>
            <a:ext cx="5029200" cy="141732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Untuned KNN at 0.7483 weighted F1 and 0.8480 ROC-AUC, confirming that local similarity between samples carries most of the signal.</a:t>
            </a:r>
            <a:endParaRPr lang="en-US" sz="1150" dirty="0"/>
          </a:p>
        </p:txBody>
      </p:sp>
      <p:sp>
        <p:nvSpPr>
          <p:cNvPr id="10" name="Shape 8"/>
          <p:cNvSpPr/>
          <p:nvPr/>
        </p:nvSpPr>
        <p:spPr>
          <a:xfrm>
            <a:off x="548640" y="3749040"/>
            <a:ext cx="5486400" cy="2103120"/>
          </a:xfrm>
          <a:prstGeom prst="roundRect">
            <a:avLst>
              <a:gd name="adj" fmla="val 3478"/>
            </a:avLst>
          </a:prstGeom>
          <a:solidFill>
            <a:srgbClr val="EAE3D6"/>
          </a:solidFill>
          <a:ln w="12700">
            <a:solidFill>
              <a:srgbClr val="EAE3D6"/>
            </a:solidFill>
            <a:prstDash val="solid"/>
          </a:ln>
        </p:spPr>
      </p:sp>
      <p:sp>
        <p:nvSpPr>
          <p:cNvPr id="11" name="Text 9"/>
          <p:cNvSpPr txBox="1"/>
          <p:nvPr/>
        </p:nvSpPr>
        <p:spPr>
          <a:xfrm>
            <a:off x="777240" y="3913632"/>
            <a:ext cx="50292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Data quality is the ceiling</a:t>
            </a:r>
            <a:endParaRPr lang="en-US" sz="1400" dirty="0"/>
          </a:p>
        </p:txBody>
      </p:sp>
      <p:sp>
        <p:nvSpPr>
          <p:cNvPr id="12" name="Text 10"/>
          <p:cNvSpPr txBox="1"/>
          <p:nvPr/>
        </p:nvSpPr>
        <p:spPr>
          <a:xfrm>
            <a:off x="777240" y="4261104"/>
            <a:ext cx="5029200" cy="141732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Many measurements are over 95% missing, so median imputation supplies a single repeated value for them. Better sampling coverage would lift performance more than any change of algorithm.</a:t>
            </a:r>
            <a:endParaRPr lang="en-US" sz="1150" dirty="0"/>
          </a:p>
        </p:txBody>
      </p:sp>
      <p:sp>
        <p:nvSpPr>
          <p:cNvPr id="13" name="Shape 11"/>
          <p:cNvSpPr/>
          <p:nvPr/>
        </p:nvSpPr>
        <p:spPr>
          <a:xfrm>
            <a:off x="6217920" y="3749040"/>
            <a:ext cx="5486400" cy="2103120"/>
          </a:xfrm>
          <a:prstGeom prst="roundRect">
            <a:avLst>
              <a:gd name="adj" fmla="val 3478"/>
            </a:avLst>
          </a:prstGeom>
          <a:solidFill>
            <a:srgbClr val="E3DFD2"/>
          </a:solidFill>
          <a:ln w="12700">
            <a:solidFill>
              <a:srgbClr val="E3DFD2"/>
            </a:solidFill>
            <a:prstDash val="solid"/>
          </a:ln>
        </p:spPr>
      </p:sp>
      <p:sp>
        <p:nvSpPr>
          <p:cNvPr id="14" name="Text 12"/>
          <p:cNvSpPr txBox="1"/>
          <p:nvPr/>
        </p:nvSpPr>
        <p:spPr>
          <a:xfrm>
            <a:off x="6446520" y="3913632"/>
            <a:ext cx="5029200" cy="292608"/>
          </a:xfrm>
          <a:prstGeom prst="rect">
            <a:avLst/>
          </a:prstGeom>
          <a:noFill/>
          <a:ln/>
        </p:spPr>
        <p:txBody>
          <a:bodyPr wrap="square" lIns="0" tIns="0" rIns="0" bIns="0" rtlCol="0" anchor="ctr"/>
          <a:lstStyle/>
          <a:p>
            <a:pPr indent="0" marL="0">
              <a:buNone/>
            </a:pPr>
            <a:r>
              <a:rPr lang="en-US" sz="1400" b="1" dirty="0">
                <a:solidFill>
                  <a:srgbClr val="2B2A26"/>
                </a:solidFill>
                <a:latin typeface="Cambria" pitchFamily="34" charset="0"/>
                <a:ea typeface="Cambria" pitchFamily="34" charset="-122"/>
                <a:cs typeface="Cambria" pitchFamily="34" charset="-120"/>
              </a:rPr>
              <a:t>Selection discipline</a:t>
            </a:r>
            <a:endParaRPr lang="en-US" sz="1400" dirty="0"/>
          </a:p>
        </p:txBody>
      </p:sp>
      <p:sp>
        <p:nvSpPr>
          <p:cNvPr id="15" name="Text 13"/>
          <p:cNvSpPr txBox="1"/>
          <p:nvPr/>
        </p:nvSpPr>
        <p:spPr>
          <a:xfrm>
            <a:off x="6446520" y="4261104"/>
            <a:ext cx="5029200" cy="1417320"/>
          </a:xfrm>
          <a:prstGeom prst="rect">
            <a:avLst/>
          </a:prstGeom>
          <a:noFill/>
          <a:ln/>
        </p:spPr>
        <p:txBody>
          <a:bodyPr wrap="square" lIns="0" tIns="0" rIns="0" bIns="0" rtlCol="0" anchor="t"/>
          <a:lstStyle/>
          <a:p>
            <a:pPr indent="0" marL="0">
              <a:lnSpc>
                <a:spcPts val="1500"/>
              </a:lnSpc>
              <a:buNone/>
            </a:pPr>
            <a:r>
              <a:rPr lang="en-US" sz="1150" dirty="0">
                <a:solidFill>
                  <a:srgbClr val="6E6658"/>
                </a:solidFill>
                <a:latin typeface="Calibri" pitchFamily="34" charset="0"/>
                <a:ea typeface="Calibri" pitchFamily="34" charset="-122"/>
                <a:cs typeface="Calibri" pitchFamily="34" charset="-120"/>
              </a:rPr>
              <a:t>Every preprocessing step was fitted inside the pipeline and the final model chosen on cross-validated training scores — the test set was used once, for reporting only.</a:t>
            </a:r>
            <a:endParaRPr lang="en-US" sz="1150" dirty="0"/>
          </a:p>
        </p:txBody>
      </p:sp>
      <p:sp>
        <p:nvSpPr>
          <p:cNvPr id="16" name="Text 14"/>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55</a:t>
            </a:r>
            <a:endParaRPr lang="en-US" sz="900" dirty="0"/>
          </a:p>
        </p:txBody>
      </p:sp>
      <p:sp>
        <p:nvSpPr>
          <p:cNvPr id="17" name="Text 15"/>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6E6658"/>
                </a:solidFill>
              </a:rPr>
              <a:t>Part B · Conclusion</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2E322C"/>
        </a:solidFill>
      </p:bgPr>
    </p:bg>
    <p:spTree>
      <p:nvGrpSpPr>
        <p:cNvPr id="1" name=""/>
        <p:cNvGrpSpPr/>
        <p:nvPr/>
      </p:nvGrpSpPr>
      <p:grpSpPr>
        <a:xfrm>
          <a:off x="0" y="0"/>
          <a:ext cx="0" cy="0"/>
          <a:chOff x="0" y="0"/>
          <a:chExt cx="0" cy="0"/>
        </a:xfrm>
      </p:grpSpPr>
      <p:sp>
        <p:nvSpPr>
          <p:cNvPr id="2" name="Text 0"/>
          <p:cNvSpPr txBox="1"/>
          <p:nvPr/>
        </p:nvSpPr>
        <p:spPr>
          <a:xfrm>
            <a:off x="822960" y="1188720"/>
            <a:ext cx="9144000" cy="320040"/>
          </a:xfrm>
          <a:prstGeom prst="rect">
            <a:avLst/>
          </a:prstGeom>
          <a:noFill/>
          <a:ln/>
        </p:spPr>
        <p:txBody>
          <a:bodyPr wrap="square" lIns="0" tIns="0" rIns="0" bIns="0" rtlCol="0" anchor="ctr"/>
          <a:lstStyle/>
          <a:p>
            <a:pPr indent="0" marL="0">
              <a:buNone/>
            </a:pPr>
            <a:r>
              <a:rPr lang="en-US" sz="1100" b="1" spc="300" kern="0" dirty="0">
                <a:solidFill>
                  <a:srgbClr val="A4613C"/>
                </a:solidFill>
                <a:latin typeface="Calibri" pitchFamily="34" charset="0"/>
                <a:ea typeface="Calibri" pitchFamily="34" charset="-122"/>
                <a:cs typeface="Calibri" pitchFamily="34" charset="-120"/>
              </a:rPr>
              <a:t>IN SUMMARY</a:t>
            </a:r>
            <a:endParaRPr lang="en-US" sz="1100" dirty="0"/>
          </a:p>
        </p:txBody>
      </p:sp>
      <p:sp>
        <p:nvSpPr>
          <p:cNvPr id="3" name="Text 1"/>
          <p:cNvSpPr txBox="1"/>
          <p:nvPr/>
        </p:nvSpPr>
        <p:spPr>
          <a:xfrm>
            <a:off x="822960" y="1554480"/>
            <a:ext cx="10058400" cy="731520"/>
          </a:xfrm>
          <a:prstGeom prst="rect">
            <a:avLst/>
          </a:prstGeom>
          <a:noFill/>
          <a:ln/>
        </p:spPr>
        <p:txBody>
          <a:bodyPr wrap="square" lIns="0" tIns="0" rIns="0" bIns="0" rtlCol="0" anchor="ctr"/>
          <a:lstStyle/>
          <a:p>
            <a:pPr indent="0" marL="0">
              <a:buNone/>
            </a:pPr>
            <a:r>
              <a:rPr lang="en-US" sz="3400" b="1" dirty="0">
                <a:solidFill>
                  <a:srgbClr val="F6F2EA"/>
                </a:solidFill>
                <a:latin typeface="Cambria" pitchFamily="34" charset="0"/>
                <a:ea typeface="Cambria" pitchFamily="34" charset="-122"/>
                <a:cs typeface="Cambria" pitchFamily="34" charset="-120"/>
              </a:rPr>
              <a:t>Two problems, one method</a:t>
            </a:r>
            <a:endParaRPr lang="en-US" sz="3400" dirty="0"/>
          </a:p>
        </p:txBody>
      </p:sp>
      <p:sp>
        <p:nvSpPr>
          <p:cNvPr id="4" name="Shape 2"/>
          <p:cNvSpPr/>
          <p:nvPr/>
        </p:nvSpPr>
        <p:spPr>
          <a:xfrm>
            <a:off x="822960" y="2606040"/>
            <a:ext cx="5257800" cy="1737360"/>
          </a:xfrm>
          <a:prstGeom prst="roundRect">
            <a:avLst>
              <a:gd name="adj" fmla="val 3684"/>
            </a:avLst>
          </a:prstGeom>
          <a:solidFill>
            <a:srgbClr val="3A3F38"/>
          </a:solidFill>
          <a:ln w="12700">
            <a:solidFill>
              <a:srgbClr val="3A3F38"/>
            </a:solidFill>
            <a:prstDash val="solid"/>
          </a:ln>
        </p:spPr>
      </p:sp>
      <p:sp>
        <p:nvSpPr>
          <p:cNvPr id="5" name="Text 3"/>
          <p:cNvSpPr txBox="1"/>
          <p:nvPr/>
        </p:nvSpPr>
        <p:spPr>
          <a:xfrm>
            <a:off x="1097280" y="2788920"/>
            <a:ext cx="4754880" cy="365760"/>
          </a:xfrm>
          <a:prstGeom prst="rect">
            <a:avLst/>
          </a:prstGeom>
          <a:noFill/>
          <a:ln/>
        </p:spPr>
        <p:txBody>
          <a:bodyPr wrap="square" lIns="0" tIns="0" rIns="0" bIns="0" rtlCol="0" anchor="ctr"/>
          <a:lstStyle/>
          <a:p>
            <a:pPr indent="0" marL="0">
              <a:buNone/>
            </a:pPr>
            <a:r>
              <a:rPr lang="en-US" sz="1600" b="1" dirty="0">
                <a:solidFill>
                  <a:srgbClr val="A4613C"/>
                </a:solidFill>
                <a:latin typeface="Cambria" pitchFamily="34" charset="0"/>
                <a:ea typeface="Cambria" pitchFamily="34" charset="-122"/>
                <a:cs typeface="Cambria" pitchFamily="34" charset="-120"/>
              </a:rPr>
              <a:t>Regression</a:t>
            </a:r>
            <a:endParaRPr lang="en-US" sz="1600" dirty="0"/>
          </a:p>
        </p:txBody>
      </p:sp>
      <p:sp>
        <p:nvSpPr>
          <p:cNvPr id="6" name="Text 4"/>
          <p:cNvSpPr txBox="1"/>
          <p:nvPr/>
        </p:nvSpPr>
        <p:spPr>
          <a:xfrm>
            <a:off x="1097280" y="3200400"/>
            <a:ext cx="4754880" cy="1005840"/>
          </a:xfrm>
          <a:prstGeom prst="rect">
            <a:avLst/>
          </a:prstGeom>
          <a:noFill/>
          <a:ln/>
        </p:spPr>
        <p:txBody>
          <a:bodyPr wrap="square" lIns="0" tIns="0" rIns="0" bIns="0" rtlCol="0" anchor="ctr"/>
          <a:lstStyle/>
          <a:p>
            <a:pPr indent="0" marL="0">
              <a:lnSpc>
                <a:spcPts val="1700"/>
              </a:lnSpc>
              <a:buNone/>
            </a:pPr>
            <a:r>
              <a:rPr lang="en-US" sz="1150" dirty="0">
                <a:solidFill>
                  <a:srgbClr val="C9C3B5"/>
                </a:solidFill>
                <a:latin typeface="Calibri" pitchFamily="34" charset="0"/>
                <a:ea typeface="Calibri" pitchFamily="34" charset="-122"/>
                <a:cs typeface="Calibri" pitchFamily="34" charset="-120"/>
              </a:rPr>
              <a:t>75,757 buildings · 65 predictors · 10 algorithms</a:t>
            </a:r>
            <a:endParaRPr lang="en-US" sz="1150" dirty="0"/>
          </a:p>
          <a:p>
            <a:pPr indent="0" marL="0">
              <a:lnSpc>
                <a:spcPts val="1700"/>
              </a:lnSpc>
              <a:buNone/>
            </a:pPr>
            <a:r>
              <a:rPr lang="en-US" sz="1150" dirty="0">
                <a:solidFill>
                  <a:srgbClr val="C9C3B5"/>
                </a:solidFill>
                <a:latin typeface="Calibri" pitchFamily="34" charset="0"/>
                <a:ea typeface="Calibri" pitchFamily="34" charset="-122"/>
                <a:cs typeface="Calibri" pitchFamily="34" charset="-120"/>
              </a:rPr>
              <a:t>Best: Random Forest — R² 0.5180, RMSE 40.63, MAE 19.24</a:t>
            </a:r>
            <a:endParaRPr lang="en-US" sz="1150" dirty="0"/>
          </a:p>
          <a:p>
            <a:pPr indent="0" marL="0">
              <a:lnSpc>
                <a:spcPts val="1700"/>
              </a:lnSpc>
              <a:buNone/>
            </a:pPr>
            <a:r>
              <a:rPr lang="en-US" sz="1150" dirty="0">
                <a:solidFill>
                  <a:srgbClr val="C9C3B5"/>
                </a:solidFill>
                <a:latin typeface="Calibri" pitchFamily="34" charset="0"/>
                <a:ea typeface="Calibri" pitchFamily="34" charset="-122"/>
                <a:cs typeface="Calibri" pitchFamily="34" charset="-120"/>
              </a:rPr>
              <a:t>Top driver: energy_star_rating (0.2503 importance)</a:t>
            </a:r>
            <a:endParaRPr lang="en-US" sz="1150" dirty="0"/>
          </a:p>
        </p:txBody>
      </p:sp>
      <p:sp>
        <p:nvSpPr>
          <p:cNvPr id="7" name="Shape 5"/>
          <p:cNvSpPr/>
          <p:nvPr/>
        </p:nvSpPr>
        <p:spPr>
          <a:xfrm>
            <a:off x="6355080" y="2606040"/>
            <a:ext cx="5257800" cy="1737360"/>
          </a:xfrm>
          <a:prstGeom prst="roundRect">
            <a:avLst>
              <a:gd name="adj" fmla="val 3684"/>
            </a:avLst>
          </a:prstGeom>
          <a:solidFill>
            <a:srgbClr val="3A3F38"/>
          </a:solidFill>
          <a:ln w="12700">
            <a:solidFill>
              <a:srgbClr val="3A3F38"/>
            </a:solidFill>
            <a:prstDash val="solid"/>
          </a:ln>
        </p:spPr>
      </p:sp>
      <p:sp>
        <p:nvSpPr>
          <p:cNvPr id="8" name="Text 6"/>
          <p:cNvSpPr txBox="1"/>
          <p:nvPr/>
        </p:nvSpPr>
        <p:spPr>
          <a:xfrm>
            <a:off x="6629400" y="2788920"/>
            <a:ext cx="4754880" cy="365760"/>
          </a:xfrm>
          <a:prstGeom prst="rect">
            <a:avLst/>
          </a:prstGeom>
          <a:noFill/>
          <a:ln/>
        </p:spPr>
        <p:txBody>
          <a:bodyPr wrap="square" lIns="0" tIns="0" rIns="0" bIns="0" rtlCol="0" anchor="ctr"/>
          <a:lstStyle/>
          <a:p>
            <a:pPr indent="0" marL="0">
              <a:buNone/>
            </a:pPr>
            <a:r>
              <a:rPr lang="en-US" sz="1600" b="1" dirty="0">
                <a:solidFill>
                  <a:srgbClr val="A4613C"/>
                </a:solidFill>
                <a:latin typeface="Cambria" pitchFamily="34" charset="0"/>
                <a:ea typeface="Cambria" pitchFamily="34" charset="-122"/>
                <a:cs typeface="Cambria" pitchFamily="34" charset="-120"/>
              </a:rPr>
              <a:t>Classification</a:t>
            </a:r>
            <a:endParaRPr lang="en-US" sz="1600" dirty="0"/>
          </a:p>
        </p:txBody>
      </p:sp>
      <p:sp>
        <p:nvSpPr>
          <p:cNvPr id="9" name="Text 7"/>
          <p:cNvSpPr txBox="1"/>
          <p:nvPr/>
        </p:nvSpPr>
        <p:spPr>
          <a:xfrm>
            <a:off x="6629400" y="3200400"/>
            <a:ext cx="4754880" cy="1005840"/>
          </a:xfrm>
          <a:prstGeom prst="rect">
            <a:avLst/>
          </a:prstGeom>
          <a:noFill/>
          <a:ln/>
        </p:spPr>
        <p:txBody>
          <a:bodyPr wrap="square" lIns="0" tIns="0" rIns="0" bIns="0" rtlCol="0" anchor="ctr"/>
          <a:lstStyle/>
          <a:p>
            <a:pPr indent="0" marL="0">
              <a:lnSpc>
                <a:spcPts val="1700"/>
              </a:lnSpc>
              <a:buNone/>
            </a:pPr>
            <a:r>
              <a:rPr lang="en-US" sz="1150" dirty="0">
                <a:solidFill>
                  <a:srgbClr val="C9C3B5"/>
                </a:solidFill>
                <a:latin typeface="Calibri" pitchFamily="34" charset="0"/>
                <a:ea typeface="Calibri" pitchFamily="34" charset="-122"/>
                <a:cs typeface="Calibri" pitchFamily="34" charset="-120"/>
              </a:rPr>
              <a:t>67,873 water samples · 3 classes · 5 algorithms</a:t>
            </a:r>
            <a:endParaRPr lang="en-US" sz="1150" dirty="0"/>
          </a:p>
          <a:p>
            <a:pPr indent="0" marL="0">
              <a:lnSpc>
                <a:spcPts val="1700"/>
              </a:lnSpc>
              <a:buNone/>
            </a:pPr>
            <a:r>
              <a:rPr lang="en-US" sz="1150" dirty="0">
                <a:solidFill>
                  <a:srgbClr val="C9C3B5"/>
                </a:solidFill>
                <a:latin typeface="Calibri" pitchFamily="34" charset="0"/>
                <a:ea typeface="Calibri" pitchFamily="34" charset="-122"/>
                <a:cs typeface="Calibri" pitchFamily="34" charset="-120"/>
              </a:rPr>
              <a:t>Best: Tuned Decision Tree — accuracy 0.7552, F1 0.7549</a:t>
            </a:r>
            <a:endParaRPr lang="en-US" sz="1150" dirty="0"/>
          </a:p>
          <a:p>
            <a:pPr indent="0" marL="0">
              <a:lnSpc>
                <a:spcPts val="1700"/>
              </a:lnSpc>
              <a:buNone/>
            </a:pPr>
            <a:r>
              <a:rPr lang="en-US" sz="1150" dirty="0">
                <a:solidFill>
                  <a:srgbClr val="C9C3B5"/>
                </a:solidFill>
                <a:latin typeface="Calibri" pitchFamily="34" charset="0"/>
                <a:ea typeface="Calibri" pitchFamily="34" charset="-122"/>
                <a:cs typeface="Calibri" pitchFamily="34" charset="-120"/>
              </a:rPr>
              <a:t>Selected on 5-fold training F1, ROC-AUC 0.8626</a:t>
            </a:r>
            <a:endParaRPr lang="en-US" sz="1150" dirty="0"/>
          </a:p>
        </p:txBody>
      </p:sp>
      <p:sp>
        <p:nvSpPr>
          <p:cNvPr id="10" name="Text 8"/>
          <p:cNvSpPr txBox="1"/>
          <p:nvPr/>
        </p:nvSpPr>
        <p:spPr>
          <a:xfrm>
            <a:off x="822960" y="4663440"/>
            <a:ext cx="10607040" cy="1097280"/>
          </a:xfrm>
          <a:prstGeom prst="rect">
            <a:avLst/>
          </a:prstGeom>
          <a:noFill/>
          <a:ln/>
        </p:spPr>
        <p:txBody>
          <a:bodyPr wrap="square" lIns="0" tIns="0" rIns="0" bIns="0" rtlCol="0" anchor="ctr"/>
          <a:lstStyle/>
          <a:p>
            <a:pPr indent="0" marL="0">
              <a:lnSpc>
                <a:spcPts val="2100"/>
              </a:lnSpc>
              <a:buNone/>
            </a:pPr>
            <a:r>
              <a:rPr lang="en-US" sz="1300" dirty="0">
                <a:solidFill>
                  <a:srgbClr val="C9C3B5"/>
                </a:solidFill>
                <a:latin typeface="Calibri" pitchFamily="34" charset="0"/>
                <a:ea typeface="Calibri" pitchFamily="34" charset="-122"/>
                <a:cs typeface="Calibri" pitchFamily="34" charset="-120"/>
              </a:rPr>
              <a:t>The same discipline carried both tracks: audit the data before touching it, justify every removal in writing, engineer features from domain knowledge, keep all learned preprocessing inside a pipeline fitted on training data alone, tune with cross-validation, and report the test set once.</a:t>
            </a:r>
            <a:endParaRPr lang="en-US" sz="1300" dirty="0"/>
          </a:p>
        </p:txBody>
      </p:sp>
      <p:sp>
        <p:nvSpPr>
          <p:cNvPr id="11" name="Text 9"/>
          <p:cNvSpPr txBox="1"/>
          <p:nvPr/>
        </p:nvSpPr>
        <p:spPr>
          <a:xfrm>
            <a:off x="11430000" y="6355080"/>
            <a:ext cx="457200" cy="274320"/>
          </a:xfrm>
          <a:prstGeom prst="rect">
            <a:avLst/>
          </a:prstGeom>
          <a:noFill/>
          <a:ln/>
        </p:spPr>
        <p:txBody>
          <a:bodyPr wrap="square" lIns="0" tIns="0" rIns="0" bIns="0" rtlCol="0" anchor="ctr"/>
          <a:lstStyle/>
          <a:p>
            <a:pPr algn="r" indent="0" marL="0">
              <a:buNone/>
            </a:pPr>
            <a:r>
              <a:rPr lang="en-US" sz="900" dirty="0">
                <a:solidFill>
                  <a:srgbClr val="6E6658"/>
                </a:solidFill>
              </a:rPr>
              <a:t>56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Case Study</dc:title>
  <dc:subject>PptxGenJS Presentation</dc:subject>
  <dc:creator>ML Case Study</dc:creator>
  <cp:lastModifiedBy>ML Case Study</cp:lastModifiedBy>
  <cp:revision>1</cp:revision>
  <dcterms:created xsi:type="dcterms:W3CDTF">2026-09-17T19:32:19Z</dcterms:created>
  <dcterms:modified xsi:type="dcterms:W3CDTF">2026-09-17T19:32:19Z</dcterms:modified>
</cp:coreProperties>
</file>